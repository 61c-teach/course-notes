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9" r:id="rId2"/>
  </p:sldMasterIdLst>
  <p:notesMasterIdLst>
    <p:notesMasterId r:id="rId10"/>
  </p:notesMasterIdLst>
  <p:sldIdLst>
    <p:sldId id="1389" r:id="rId3"/>
    <p:sldId id="1390" r:id="rId4"/>
    <p:sldId id="1394" r:id="rId5"/>
    <p:sldId id="1391" r:id="rId6"/>
    <p:sldId id="1395" r:id="rId7"/>
    <p:sldId id="1392" r:id="rId8"/>
    <p:sldId id="1393" r:id="rId9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223"/>
    <a:srgbClr val="00264A"/>
    <a:srgbClr val="00152A"/>
    <a:srgbClr val="002548"/>
    <a:srgbClr val="4991B2"/>
    <a:srgbClr val="000000"/>
    <a:srgbClr val="032141"/>
    <a:srgbClr val="D9E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025"/>
    <p:restoredTop sz="94304"/>
  </p:normalViewPr>
  <p:slideViewPr>
    <p:cSldViewPr snapToGrid="0">
      <p:cViewPr varScale="1">
        <p:scale>
          <a:sx n="112" d="100"/>
          <a:sy n="112" d="100"/>
        </p:scale>
        <p:origin x="2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9AFB-556A-7647-8681-E8CCC214AEB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562F5-9C85-F843-B903-B3B42F5C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68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DD108-0D54-7860-C097-DF42C2DA8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CDC5F-2A56-2128-F6EA-88ED0F60A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6AAB7-94B9-1613-FB8A-DAB18A408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28DC1-7F8A-C9EF-29BD-AC069A3E9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11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04FA-591E-160A-A57E-17174277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228BF-6D16-5F3A-E699-7BA8471FE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42622-9188-60CB-3977-22CECB785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5E348-945B-E430-D19A-409AEE136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36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D8BF6-8B24-1698-0B49-AE5E1FF9A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B7662C-DB13-235F-656D-40FF48551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2B710-E217-D87D-FC4A-4C130BABD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90157-194C-AC72-E63D-6073BB815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21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8701F-70D4-B745-010A-5BC5BFF3D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7892D-4FEF-C249-76B4-6A2C24BB2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7DD54-867B-84D2-873B-7668F5265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EEF2D-3486-DCB1-6839-FA27FF008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6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30B0-97A8-70A6-5D4B-9ADEEC76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7D5A1-0E5D-E73B-741D-EF225F3F6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B1CE4-F06E-A49D-59B4-9C0B1CC6F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9FD4C-518F-EB92-B454-5D67AE04C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15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A29EB-40B4-60C6-F605-32C4D703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912D9-2CFD-A12E-1B6C-135033D5A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F6767-91D9-6480-9D09-C762AB482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468F0-A5AB-05D1-9F04-6D5154FFA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19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emf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04D8-8C6A-A1BE-E710-691D034B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3F4E-7F7A-7010-DF2B-2B5FC40C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5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85DB5B-BEBF-6B87-32BE-E3D2FAA3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21" y="4561558"/>
            <a:ext cx="7789961" cy="761999"/>
          </a:xfrm>
          <a:prstGeom prst="rect">
            <a:avLst/>
          </a:prstGeom>
        </p:spPr>
        <p:txBody>
          <a:bodyPr/>
          <a:lstStyle>
            <a:lvl1pPr algn="ctr">
              <a:defRPr sz="42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695780-6F13-8D58-9C18-35AACFB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05076"/>
            <a:ext cx="6908800" cy="16328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>
                    <a:alpha val="99000"/>
                  </a:srgbClr>
                </a:solidFill>
                <a:effectLst/>
                <a:latin typeface="18 VAG Rounded Bold   07390" charset="0"/>
              </a:rPr>
              <a:t>CS61C</a:t>
            </a:r>
            <a:endParaRPr lang="en-US" sz="6400" b="1" dirty="0">
              <a:solidFill>
                <a:srgbClr val="4991B1">
                  <a:alpha val="99000"/>
                </a:srgbClr>
              </a:solidFill>
              <a:latin typeface="18 VAG Rounded Bold   07390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2D69298-76B5-35A4-3319-24FFE4F5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59824"/>
            <a:ext cx="6908800" cy="1540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in</a:t>
            </a:r>
            <a:b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</a:b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2">
                    <a:alpha val="99000"/>
                  </a:schemeClr>
                </a:solidFill>
                <a:latin typeface="18 VAG Rounded Thin   55390" pitchFamily="2" charset="0"/>
              </a:rPr>
              <a:t>(a.k.a. Machine Structures)</a:t>
            </a:r>
            <a:endParaRPr lang="en-US" sz="3833" b="1" dirty="0">
              <a:solidFill>
                <a:schemeClr val="bg2">
                  <a:alpha val="99000"/>
                </a:schemeClr>
              </a:solidFill>
              <a:latin typeface="18 VAG Rounded Bold   07390" charset="0"/>
            </a:endParaRPr>
          </a:p>
        </p:txBody>
      </p:sp>
      <p:pic>
        <p:nvPicPr>
          <p:cNvPr id="16" name="Google Shape;23;p49">
            <a:extLst>
              <a:ext uri="{FF2B5EF4-FFF2-40B4-BE49-F238E27FC236}">
                <a16:creationId xmlns:a16="http://schemas.microsoft.com/office/drawing/2014/main" id="{34967360-50B3-A7B0-0715-41A94158E827}"/>
              </a:ext>
            </a:extLst>
          </p:cNvPr>
          <p:cNvPicPr preferRelativeResize="0"/>
          <p:nvPr/>
        </p:nvPicPr>
        <p:blipFill>
          <a:blip r:embed="rId2"/>
          <a:srcRect l="481" r="481"/>
          <a:stretch/>
        </p:blipFill>
        <p:spPr>
          <a:xfrm>
            <a:off x="8888173" y="410681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CC42E-4CE3-4707-674B-71A0975151E3}"/>
              </a:ext>
            </a:extLst>
          </p:cNvPr>
          <p:cNvSpPr txBox="1"/>
          <p:nvPr/>
        </p:nvSpPr>
        <p:spPr>
          <a:xfrm>
            <a:off x="8410205" y="2493787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Assistant Teaching Professor</a:t>
            </a:r>
            <a:b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Lisa Yan</a:t>
            </a:r>
          </a:p>
        </p:txBody>
      </p:sp>
      <p:sp>
        <p:nvSpPr>
          <p:cNvPr id="19" name="Google Shape;24;p49">
            <a:extLst>
              <a:ext uri="{FF2B5EF4-FFF2-40B4-BE49-F238E27FC236}">
                <a16:creationId xmlns:a16="http://schemas.microsoft.com/office/drawing/2014/main" id="{55D34F2F-A07D-B6C8-15A2-8BEA5F388780}"/>
              </a:ext>
            </a:extLst>
          </p:cNvPr>
          <p:cNvSpPr/>
          <p:nvPr/>
        </p:nvSpPr>
        <p:spPr>
          <a:xfrm>
            <a:off x="3822337" y="6370191"/>
            <a:ext cx="4547326" cy="492388"/>
          </a:xfrm>
          <a:prstGeom prst="rect">
            <a:avLst/>
          </a:prstGeom>
          <a:gradFill>
            <a:gsLst>
              <a:gs pos="0">
                <a:srgbClr val="002A52"/>
              </a:gs>
              <a:gs pos="100000">
                <a:srgbClr val="003262"/>
              </a:gs>
            </a:gsLst>
            <a:lin ang="5400000" scaled="0"/>
          </a:gra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1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cs61c.org</a:t>
            </a:r>
            <a:r>
              <a:rPr lang="en-US"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199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19;p49">
            <a:extLst>
              <a:ext uri="{FF2B5EF4-FFF2-40B4-BE49-F238E27FC236}">
                <a16:creationId xmlns:a16="http://schemas.microsoft.com/office/drawing/2014/main" id="{6FB1CB93-C34B-732D-69A5-FDC99B477111}"/>
              </a:ext>
            </a:extLst>
          </p:cNvPr>
          <p:cNvSpPr/>
          <p:nvPr/>
        </p:nvSpPr>
        <p:spPr>
          <a:xfrm>
            <a:off x="3108960" y="5135309"/>
            <a:ext cx="5974080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5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4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D4BA-5CFB-7F64-C19D-CFBCDCDD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75" y="909321"/>
            <a:ext cx="5998909" cy="5364480"/>
          </a:xfrm>
        </p:spPr>
        <p:txBody>
          <a:bodyPr anchor="ctr">
            <a:normAutofit/>
          </a:bodyPr>
          <a:lstStyle>
            <a:lvl1pPr marL="609585" indent="-531271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3600" b="0" i="0">
                <a:solidFill>
                  <a:schemeClr val="bg1"/>
                </a:solidFill>
                <a:latin typeface="18 VAG Rounded Light   0239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CEBC6-3272-877B-6FC0-88185C9300D1}"/>
              </a:ext>
            </a:extLst>
          </p:cNvPr>
          <p:cNvSpPr/>
          <p:nvPr/>
        </p:nvSpPr>
        <p:spPr>
          <a:xfrm>
            <a:off x="0" y="908051"/>
            <a:ext cx="5514021" cy="536575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rgbClr val="3A7EA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18 VAG Rounded Light   0239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5CA34-43CE-D2B0-CA59-D41610FD01AD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1750-A405-1B89-FEC0-D5EA9AD8CE8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AF6151-774C-D88A-F797-71D61040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7" y="886850"/>
            <a:ext cx="5181600" cy="53657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78315" indent="0">
              <a:tabLst/>
              <a:defRPr sz="58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EE6D3610-51E7-072A-C443-EB48D2CE05B3}"/>
              </a:ext>
            </a:extLst>
          </p:cNvPr>
          <p:cNvSpPr/>
          <p:nvPr/>
        </p:nvSpPr>
        <p:spPr>
          <a:xfrm>
            <a:off x="330438" y="5084098"/>
            <a:ext cx="4740068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92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3AF8-3354-C1AF-87B5-7D4A714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4C7F-8368-7F6B-D89B-1288477C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413" y="916710"/>
            <a:ext cx="5303520" cy="5260254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8F-A65B-D532-67B0-48E3513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3316"/>
            <a:ext cx="5394960" cy="5243648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D10F-3A40-C609-3618-CF470B0B02F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E0520-96D2-C5AA-6269-0C246918494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4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1067-BA44-3904-7E43-138A62B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714379-5477-4D73-C7EF-823FDEF5649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669C0-8787-EED5-07F5-111A4D70AA8F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A3CF7-6031-BD55-66FF-DEF78D03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465" y="2306249"/>
            <a:ext cx="8137073" cy="2245505"/>
          </a:xfrm>
        </p:spPr>
        <p:txBody>
          <a:bodyPr>
            <a:noAutofit/>
          </a:bodyPr>
          <a:lstStyle>
            <a:lvl1pPr algn="ctr">
              <a:defRPr sz="8533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5D6C36-AF3C-3D5D-85D0-B0BCB39B2FA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BD31BE-11B0-12C9-4F44-86656D6D03F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E1F49-FF31-2B00-2304-6BCA278063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6AFDBD-60BE-5483-0C26-669A37732B99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13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2A-FB40-E32F-5166-4622746C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BE5D-916B-9810-03A4-1958ED6B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95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CE9ED49C-E0F6-3E47-BD59-EA863495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BAC4D5-0EE4-FD4C-8CC9-387D71F8E638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rgbClr val="E4DDD2"/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rgbClr val="E4DDD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6AA3AF-E757-5D40-AF18-590283A89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3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solidFill>
                  <a:srgbClr val="00BEE2"/>
                </a:solidFill>
                <a:latin typeface="VAG Rundschrift D Light" pitchFamily="2" charset="77"/>
              </a:defRPr>
            </a:lvl3pPr>
            <a:lvl4pPr marL="1685519" indent="-457189">
              <a:buClr>
                <a:srgbClr val="FFC117"/>
              </a:buClr>
              <a:buFont typeface="Arial" panose="020B0604020202020204" pitchFamily="34" charset="0"/>
              <a:buChar char="•"/>
              <a:defRPr sz="2400" b="0" i="0">
                <a:solidFill>
                  <a:srgbClr val="FFC117"/>
                </a:solidFill>
                <a:latin typeface="VAG Rundschrift D Light" pitchFamily="2" charset="77"/>
              </a:defRPr>
            </a:lvl4pPr>
            <a:lvl5pPr>
              <a:buClr>
                <a:srgbClr val="E4DDD2"/>
              </a:buClr>
              <a:defRPr b="0" i="0">
                <a:solidFill>
                  <a:srgbClr val="E4DDD2"/>
                </a:solidFill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89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2677E839-A4BD-EF4E-B7C9-4C82DFEEE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928127"/>
            <a:ext cx="3937000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33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928127"/>
            <a:ext cx="4000501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9E74F-8295-8546-AB63-B09A36C3C5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10502901" cy="5365751"/>
          </a:xfrm>
        </p:spPr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latin typeface="VAG Rundschrift D Light" pitchFamily="2" charset="77"/>
              </a:defRPr>
            </a:lvl3pPr>
            <a:lvl4pPr>
              <a:defRPr b="0" i="0">
                <a:latin typeface="VAG Rundschrift D Light" pitchFamily="2" charset="77"/>
              </a:defRPr>
            </a:lvl4pPr>
            <a:lvl5pPr>
              <a:defRPr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283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E29CF758-356F-D645-A544-8AD2373E3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825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843" y="901825"/>
            <a:ext cx="4980157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89000"/>
            <a:ext cx="54229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18 VAG Rounded Black   0939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18 VAG Rounded Black   0939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BEC86-E652-F848-AA3E-EC0AC5D44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0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8572501" cy="53657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53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8ECFEE2E-863C-C649-AF97-D7D700C3C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889000"/>
            <a:ext cx="3937000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889000"/>
            <a:ext cx="40005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FCD5E-49BF-E247-8C97-949C07F042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1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2DF9A1AA-6E36-A244-B9C8-150E2F1D4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3801021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68AA9D09-0281-BC43-ACED-6D4085FEB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5" name="Picture 14" descr="A picture containing light&#10;&#10;Description automatically generated">
            <a:extLst>
              <a:ext uri="{FF2B5EF4-FFF2-40B4-BE49-F238E27FC236}">
                <a16:creationId xmlns:a16="http://schemas.microsoft.com/office/drawing/2014/main" id="{019910D7-85CB-0247-9141-23A9945206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chemeClr val="bg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7AA5D-B271-D84F-A242-5CBE7971CF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36E3C-0B8E-D148-80CC-68FAAB4D55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ABD46-61F1-7C48-91F4-12BDB7C8B8CB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C28AFEE-91A4-6C48-A147-EC214E5A8F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  <a:lvl2pPr>
              <a:defRPr>
                <a:latin typeface="VAGRundschriftD" panose="00000500000000000000" pitchFamily="50" charset="0"/>
              </a:defRPr>
            </a:lvl2pPr>
            <a:lvl3pPr>
              <a:defRPr>
                <a:latin typeface="VAGRundschriftD" panose="00000500000000000000" pitchFamily="50" charset="0"/>
              </a:defRPr>
            </a:lvl3pPr>
            <a:lvl4pPr>
              <a:defRPr>
                <a:latin typeface="VAGRundschriftD" panose="00000500000000000000" pitchFamily="50" charset="0"/>
              </a:defRPr>
            </a:lvl4pPr>
            <a:lvl5pPr>
              <a:defRPr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997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8ED939BA-A982-714F-AC2A-BE41FDE65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EC63A20D-21AB-2B40-91E4-4FDA4EB93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889000"/>
            <a:ext cx="3937000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889000"/>
            <a:ext cx="3971925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C76881-1B14-4D4F-83AB-0BD4F70F885A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D8DF-85B5-244D-B7EE-8DE77A729BC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06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6BD88787-61C8-AE47-8735-AE6C83007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ADF33AB0-2DBB-E042-B8C0-EC348F7CC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165431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ood&#10;&#10;Description automatically generated">
            <a:extLst>
              <a:ext uri="{FF2B5EF4-FFF2-40B4-BE49-F238E27FC236}">
                <a16:creationId xmlns:a16="http://schemas.microsoft.com/office/drawing/2014/main" id="{6C194DF9-C0AF-304B-88A9-02036DD40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2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F8288F7D-1E3A-1E47-9FDA-D20C05CD8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3F85B7C0-ACB5-AB44-8C40-83F8FCB8A3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939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tiff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chemeClr val="tx1"/>
            </a:gs>
            <a:gs pos="100000">
              <a:srgbClr val="00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07444E4B-B667-204F-6CBC-6541042F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7" y="76200"/>
            <a:ext cx="10509504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FD2F-B4A1-0BFE-9946-F9ACEA1C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413" y="916710"/>
            <a:ext cx="11332079" cy="52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oogle Shape;13;p48">
            <a:extLst>
              <a:ext uri="{FF2B5EF4-FFF2-40B4-BE49-F238E27FC236}">
                <a16:creationId xmlns:a16="http://schemas.microsoft.com/office/drawing/2014/main" id="{86EC8A50-6ED8-8792-AC2D-624D27BA987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176" y="6362905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FE450-8072-3EB0-9EC8-CEC906BCB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0B3E7-42CF-CC16-BDE1-F34A834A2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200">
          <a:solidFill>
            <a:schemeClr val="bg2">
              <a:alpha val="99099"/>
            </a:schemeClr>
          </a:solidFill>
          <a:latin typeface="18 VAG Rounded Bold   07390" pitchFamily="2" charset="0"/>
          <a:ea typeface="+mj-ea"/>
          <a:cs typeface="+mj-cs"/>
        </a:defRPr>
      </a:lvl1pPr>
    </p:titleStyle>
    <p:bodyStyle>
      <a:lvl1pPr marL="467772" indent="-383108" algn="l" defTabSz="914377" rtl="0" eaLnBrk="1" latinLnBrk="0" hangingPunct="1">
        <a:lnSpc>
          <a:spcPct val="100000"/>
        </a:lnSpc>
        <a:spcBef>
          <a:spcPts val="1000"/>
        </a:spcBef>
        <a:buClrTx/>
        <a:buSzPct val="95000"/>
        <a:buFont typeface="Wingdings" pitchFamily="2" charset="2"/>
        <a:buChar char="§"/>
        <a:tabLst/>
        <a:defRPr sz="3600" b="1" i="0" kern="1200">
          <a:ln>
            <a:noFill/>
          </a:ln>
          <a:solidFill>
            <a:schemeClr val="bg1">
              <a:alpha val="99000"/>
            </a:schemeClr>
          </a:solidFill>
          <a:latin typeface="18 VAG Rounded Bold   07390" pitchFamily="2" charset="0"/>
          <a:ea typeface="+mn-ea"/>
          <a:cs typeface="+mn-cs"/>
        </a:defRPr>
      </a:lvl1pPr>
      <a:lvl2pPr marL="768331" indent="-311143" algn="l" defTabSz="914377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SzPct val="100000"/>
        <a:buFont typeface="Wingdings" pitchFamily="2" charset="2"/>
        <a:buChar char="§"/>
        <a:tabLst/>
        <a:defRPr sz="3200" b="0" i="0" kern="1200">
          <a:solidFill>
            <a:schemeClr val="accent2"/>
          </a:solidFill>
          <a:latin typeface="18 VAG Rounded Light   02390" pitchFamily="2" charset="0"/>
          <a:ea typeface="+mn-ea"/>
          <a:cs typeface="+mn-cs"/>
        </a:defRPr>
      </a:lvl2pPr>
      <a:lvl3pPr marL="1066773" indent="-298443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2800" b="0" i="0" kern="1200">
          <a:solidFill>
            <a:schemeClr val="accent1"/>
          </a:solidFill>
          <a:latin typeface="18 VAG Rounded Light   02390" pitchFamily="2" charset="0"/>
          <a:ea typeface="+mn-ea"/>
          <a:cs typeface="+mn-cs"/>
        </a:defRPr>
      </a:lvl3pPr>
      <a:lvl4pPr marL="1449881" indent="-298443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accent3"/>
          </a:solidFill>
          <a:latin typeface="18 VAG Rounded Light   02390" pitchFamily="2" charset="0"/>
          <a:ea typeface="+mn-ea"/>
          <a:cs typeface="+mn-cs"/>
        </a:defRPr>
      </a:lvl4pPr>
      <a:lvl5pPr marL="1763140" indent="-226478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bg2"/>
          </a:solidFill>
          <a:latin typeface="18 VAG Rounded Light   0239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DD4C6C20-F48B-6B49-86FF-DB6B770C574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5"/>
                </a:solidFill>
                <a:latin typeface="VAGRundschriftD" panose="00000500000000000000" pitchFamily="50" charset="0"/>
                <a:ea typeface="+mn-ea"/>
                <a:cs typeface="+mn-cs"/>
              </a:rPr>
              <a:t>RISC-V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115843" y="888611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00" y="908050"/>
            <a:ext cx="8572501" cy="536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0" rIns="130622" bIns="653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1"/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26C7-7ABA-BC4B-B059-3F085BB916B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3723A-86A7-6746-8062-52657EB054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4BFA1-742A-6040-9A02-17161CC49CF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67" kern="1200" spc="-119">
          <a:solidFill>
            <a:srgbClr val="E4DDD2"/>
          </a:solidFill>
          <a:latin typeface="18 VAG Rounded Bold   07390"/>
          <a:ea typeface="ＭＳ Ｐゴシック" charset="-128"/>
          <a:cs typeface="AppleGaramond Bd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5pPr>
      <a:lvl6pPr marL="54424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6pPr>
      <a:lvl7pPr marL="108849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7pPr>
      <a:lvl8pPr marL="163273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8pPr>
      <a:lvl9pPr marL="217698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9pPr>
    </p:titleStyle>
    <p:bodyStyle>
      <a:lvl1pPr marL="489442" indent="-408184" algn="l" rtl="0" eaLnBrk="0" fontAlgn="base" hangingPunct="0">
        <a:spcBef>
          <a:spcPts val="833"/>
        </a:spcBef>
        <a:spcAft>
          <a:spcPct val="0"/>
        </a:spcAft>
        <a:buClr>
          <a:srgbClr val="E4DDD2"/>
        </a:buClr>
        <a:buSzPct val="95000"/>
        <a:buFont typeface="Wingdings" pitchFamily="-1" charset="2"/>
        <a:buChar char=""/>
        <a:defRPr sz="3200" b="0" i="0" kern="1200">
          <a:solidFill>
            <a:schemeClr val="tx1"/>
          </a:solidFill>
          <a:latin typeface="VAG Rundschrift D Light" pitchFamily="2" charset="77"/>
          <a:ea typeface="ＭＳ Ｐゴシック" charset="-128"/>
          <a:cs typeface="VAG Rundschrift D Light" pitchFamily="2" charset="77"/>
        </a:defRPr>
      </a:lvl1pPr>
      <a:lvl2pPr marL="880619" indent="-340153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itchFamily="-1" charset="2"/>
        <a:buChar char=""/>
        <a:defRPr sz="2667" b="0" i="0" kern="1200">
          <a:solidFill>
            <a:srgbClr val="C5DBC3"/>
          </a:solidFill>
          <a:latin typeface="VAG Rundschrift D Light" pitchFamily="2" charset="77"/>
          <a:ea typeface="ＭＳ Ｐゴシック" charset="-128"/>
          <a:cs typeface="+mn-cs"/>
        </a:defRPr>
      </a:lvl2pPr>
      <a:lvl3pPr marL="1184868" indent="-272123" algn="l" rtl="0" eaLnBrk="0" fontAlgn="base" hangingPunct="0">
        <a:spcBef>
          <a:spcPct val="20000"/>
        </a:spcBef>
        <a:spcAft>
          <a:spcPct val="0"/>
        </a:spcAft>
        <a:buFont typeface="Wingdings 2" pitchFamily="-1" charset="2"/>
        <a:buChar char=""/>
        <a:defRPr sz="2667" b="0" i="0" kern="1200">
          <a:solidFill>
            <a:srgbClr val="00BEE2"/>
          </a:solidFill>
          <a:latin typeface="VAG Rundschrift D Light" pitchFamily="2" charset="77"/>
          <a:ea typeface="ＭＳ Ｐゴシック" charset="-128"/>
          <a:cs typeface="+mn-cs"/>
        </a:defRPr>
      </a:lvl3pPr>
      <a:lvl4pPr marL="1685519" indent="-457189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Font typeface="Arial" panose="020B0604020202020204" pitchFamily="34" charset="0"/>
        <a:buChar char="•"/>
        <a:defRPr sz="2500" b="0" i="0" kern="1200">
          <a:solidFill>
            <a:srgbClr val="FFC117"/>
          </a:solidFill>
          <a:latin typeface="VAG Rundschrift D Light" pitchFamily="2" charset="77"/>
          <a:ea typeface="ＭＳ Ｐゴシック" charset="-128"/>
          <a:cs typeface="+mn-cs"/>
        </a:defRPr>
      </a:lvl4pPr>
      <a:lvl5pPr marL="1763128" indent="-249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-1" charset="2"/>
        <a:buChar char=""/>
        <a:defRPr sz="2400" b="0" i="0" kern="1200">
          <a:solidFill>
            <a:srgbClr val="E4DDD2"/>
          </a:solidFill>
          <a:latin typeface="VAG Rundschrift D Light" pitchFamily="2" charset="77"/>
          <a:ea typeface="ＭＳ Ｐゴシック" charset="-128"/>
          <a:cs typeface="+mn-cs"/>
        </a:defRPr>
      </a:lvl5pPr>
      <a:lvl6pPr marL="2035476" indent="-25035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2264058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2492642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2721224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7B03F4-4F70-EB67-2FC8-0AEE5100B90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4264EDC-6D20-221A-1FA0-C23197F903B2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0CCFBA22-6BE9-68E7-5282-A1008D19A432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C917DCBB-1BFE-4AA0-DEE8-F585C1661471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DF03A4AA-19B8-4FB9-7F8F-2681AF43143E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7746EDF5-5F7C-7F2D-3B19-1C16310BFE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338B666B-9246-2990-5D3E-04B3917059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3E55B35-9E9E-E787-419E-A99F4788C7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985399C2-0900-0857-6908-7E0992938258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42F0B2-F341-D3A6-B467-28E3737D187C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DC1D61D-4B1E-ECCF-6F1D-5E0682AF1867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F644AB74-F9A6-3422-460F-E38E85DE7F6C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03FB4651-3EC4-9F91-65BF-D4BE3C40098A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45798298-E577-A327-7CBF-FA0995B6AD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E31C1B1-08ED-FA31-EA82-2543128D76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80FAFB5-E547-3846-D695-4267F69AEE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1C1646F1-7C78-BDC3-1D62-7284DFA5B33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8C285CD-B982-036A-7AB9-3A19144370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25A363BC-F3EC-F307-9C5F-C477F4E0BF5D}"/>
              </a:ext>
            </a:extLst>
          </p:cNvPr>
          <p:cNvGrpSpPr/>
          <p:nvPr/>
        </p:nvGrpSpPr>
        <p:grpSpPr>
          <a:xfrm>
            <a:off x="3793678" y="2375192"/>
            <a:ext cx="7343673" cy="1592748"/>
            <a:chOff x="3793678" y="2375192"/>
            <a:chExt cx="7343673" cy="1592748"/>
          </a:xfrm>
        </p:grpSpPr>
        <p:grpSp>
          <p:nvGrpSpPr>
            <p:cNvPr id="452" name="Group 451">
              <a:extLst>
                <a:ext uri="{FF2B5EF4-FFF2-40B4-BE49-F238E27FC236}">
                  <a16:creationId xmlns:a16="http://schemas.microsoft.com/office/drawing/2014/main" id="{3FDA88FA-A6E6-2ADA-DFF8-0D52C14D5FF7}"/>
                </a:ext>
              </a:extLst>
            </p:cNvPr>
            <p:cNvGrpSpPr/>
            <p:nvPr/>
          </p:nvGrpSpPr>
          <p:grpSpPr>
            <a:xfrm>
              <a:off x="3793678" y="2384802"/>
              <a:ext cx="7342632" cy="657210"/>
              <a:chOff x="3793678" y="2384802"/>
              <a:chExt cx="7342632" cy="657210"/>
            </a:xfrm>
          </p:grpSpPr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F51F4384-E489-2706-E123-A4AA9C01FFC3}"/>
                  </a:ext>
                </a:extLst>
              </p:cNvPr>
              <p:cNvCxnSpPr/>
              <p:nvPr/>
            </p:nvCxnSpPr>
            <p:spPr>
              <a:xfrm>
                <a:off x="3793678" y="2384802"/>
                <a:ext cx="7342632" cy="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Elbow Connector 457">
                <a:extLst>
                  <a:ext uri="{FF2B5EF4-FFF2-40B4-BE49-F238E27FC236}">
                    <a16:creationId xmlns:a16="http://schemas.microsoft.com/office/drawing/2014/main" id="{D043D99D-9440-E6BB-E443-47672CA460F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3" name="Elbow Connector 452">
              <a:extLst>
                <a:ext uri="{FF2B5EF4-FFF2-40B4-BE49-F238E27FC236}">
                  <a16:creationId xmlns:a16="http://schemas.microsoft.com/office/drawing/2014/main" id="{7434BE4B-4928-E601-6DAE-DA5857543D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1193" y="2375192"/>
              <a:ext cx="2276158" cy="1592748"/>
            </a:xfrm>
            <a:prstGeom prst="bentConnector3">
              <a:avLst>
                <a:gd name="adj1" fmla="val 99625"/>
              </a:avLst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F34E2EF-E6E4-480A-85BB-220BE1C28AFF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5E8AD9-296E-37B4-4E87-99DCBDA65600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4CABF1C-C840-9F3E-AB67-F1D6561813BC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4D1DEAE-7AAB-4FA5-9AC7-CEF254DF6C1E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3182A8-AAC2-5CFD-2ED1-D6AE1F38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/>
              <a:t> Datapath (6/6)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E2B3D3E-7682-F6FD-4010-CC6BCDC1F9B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C3F319D4-E9C9-BF79-1D0B-B024CF36D456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EFECB578-3A21-E891-8D71-0213F089D1C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7F7F169-A5F4-56F1-6936-D7E5E795DF1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5C8CA32-3065-E6B7-1BD4-077B2DB83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C9BC0A6-4DFD-877B-775C-BD92FA02190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CB4FC43-FB1E-DAD9-6933-1031DF7B151C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6C5600C-FF32-7B65-A838-616535BD3D13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05D2502-C217-CFAD-90DA-7224BAC69EC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3C014DA4-D84B-41C9-9809-76936069E596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795E669-F7FD-51D5-9708-7B3C9BD34CCE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5D422CF-1692-106D-093A-8F6E171C79D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FEB16DF6-43AA-9A5F-FFF9-30CB1A3DA5D6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B01F1A18-F34F-006C-C71D-DCC3DF9FCB76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45940B4-83F7-A371-DDED-84DC7989114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F1F7DB0-6CD9-15D8-A9C7-594A704DE0B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08456E4-D4F5-2EA1-FF19-789AA5C3F8D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08607ED-5082-B8EB-0CB6-ED344CA1BE73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77D15A79-CBAA-3476-E953-9E88EC542CA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0435E35-829A-9B0E-3C1B-8AC96951ACA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C2019ECA-1D43-2798-7640-624AE67C748A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D8640-1BD8-BEED-DD26-8BB1044FBB1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8A3D43-23D6-8073-FA9C-E13A73CB5D24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ECC671-A924-2356-B7DC-DE13636CBDA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A7E8C0-8665-164F-DB94-DAE69967F44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E730C79-AAC2-7A21-158E-0E25313D56F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05FC406-05B2-8242-650C-D6E9D3BC10DC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4C16BB-9DF8-AF11-E4A9-F5900F58BC4D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632A612-D2B9-ADCD-8A02-64FC0648A297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D0C1867-1FFD-F311-31BB-7C2A4E3DB4AD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2E54D0A-9FBB-BD56-7769-DC00BEB2FC6E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5F21712-74F9-1B1C-C348-211340BF727D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D295204-4CA2-FED3-4ABC-4B0EE63D057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B1182A6-0946-CC24-2378-F3DAB18A8640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1FA82655-74D3-4483-7C00-4AA72A5B4B28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FF65934-C540-D4EB-5E26-A7998F695809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4C30EE-0B46-F596-A1E7-DBBD05AA6E8C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50D48F20-2317-959C-0E0D-67B0974EEDE2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F62AB-D003-CE6D-95FC-D64854190426}"/>
              </a:ext>
            </a:extLst>
          </p:cNvPr>
          <p:cNvSpPr txBox="1"/>
          <p:nvPr/>
        </p:nvSpPr>
        <p:spPr>
          <a:xfrm>
            <a:off x="8834341" y="3722124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68353A1-9BC2-8230-F13A-FF44087243AD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5D2FDB-A24E-2C02-9670-E22393C0534C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0B220B-263C-D1ED-6CE8-90F0C0D10B0D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83C312F-A3A0-310E-0D52-F621E891E5A7}"/>
              </a:ext>
            </a:extLst>
          </p:cNvPr>
          <p:cNvCxnSpPr>
            <a:cxnSpLocks/>
          </p:cNvCxnSpPr>
          <p:nvPr/>
        </p:nvCxnSpPr>
        <p:spPr>
          <a:xfrm>
            <a:off x="7996240" y="4431194"/>
            <a:ext cx="301752" cy="149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60">
            <a:extLst>
              <a:ext uri="{FF2B5EF4-FFF2-40B4-BE49-F238E27FC236}">
                <a16:creationId xmlns:a16="http://schemas.microsoft.com/office/drawing/2014/main" id="{6570C08D-F85D-7767-D2B9-3D3341743EEF}"/>
              </a:ext>
            </a:extLst>
          </p:cNvPr>
          <p:cNvSpPr/>
          <p:nvPr/>
        </p:nvSpPr>
        <p:spPr>
          <a:xfrm>
            <a:off x="7685590" y="4433105"/>
            <a:ext cx="405114" cy="94053"/>
          </a:xfrm>
          <a:custGeom>
            <a:avLst/>
            <a:gdLst>
              <a:gd name="connsiteX0" fmla="*/ 0 w 405114"/>
              <a:gd name="connsiteY0" fmla="*/ 150471 h 162045"/>
              <a:gd name="connsiteX1" fmla="*/ 57873 w 405114"/>
              <a:gd name="connsiteY1" fmla="*/ 162045 h 162045"/>
              <a:gd name="connsiteX2" fmla="*/ 104172 w 405114"/>
              <a:gd name="connsiteY2" fmla="*/ 150471 h 162045"/>
              <a:gd name="connsiteX3" fmla="*/ 208344 w 405114"/>
              <a:gd name="connsiteY3" fmla="*/ 92597 h 162045"/>
              <a:gd name="connsiteX4" fmla="*/ 254643 w 405114"/>
              <a:gd name="connsiteY4" fmla="*/ 46298 h 162045"/>
              <a:gd name="connsiteX5" fmla="*/ 358815 w 405114"/>
              <a:gd name="connsiteY5" fmla="*/ 0 h 162045"/>
              <a:gd name="connsiteX6" fmla="*/ 405114 w 405114"/>
              <a:gd name="connsiteY6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114" h="162045">
                <a:moveTo>
                  <a:pt x="0" y="150471"/>
                </a:moveTo>
                <a:cubicBezTo>
                  <a:pt x="19291" y="154329"/>
                  <a:pt x="38200" y="162045"/>
                  <a:pt x="57873" y="162045"/>
                </a:cubicBezTo>
                <a:cubicBezTo>
                  <a:pt x="73781" y="162045"/>
                  <a:pt x="88876" y="154841"/>
                  <a:pt x="104172" y="150471"/>
                </a:cubicBezTo>
                <a:cubicBezTo>
                  <a:pt x="144925" y="138827"/>
                  <a:pt x="175184" y="125757"/>
                  <a:pt x="208344" y="92597"/>
                </a:cubicBezTo>
                <a:cubicBezTo>
                  <a:pt x="223777" y="77164"/>
                  <a:pt x="236483" y="58405"/>
                  <a:pt x="254643" y="46298"/>
                </a:cubicBezTo>
                <a:cubicBezTo>
                  <a:pt x="286113" y="25318"/>
                  <a:pt x="317492" y="0"/>
                  <a:pt x="358815" y="0"/>
                </a:cubicBezTo>
                <a:lnTo>
                  <a:pt x="405114" y="0"/>
                </a:lnTo>
              </a:path>
            </a:pathLst>
          </a:custGeom>
          <a:noFill/>
          <a:ln w="57150">
            <a:solidFill>
              <a:schemeClr val="accent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A0EA4394-E7E0-C0FE-AF54-AF787C6E3EE2}"/>
              </a:ext>
            </a:extLst>
          </p:cNvPr>
          <p:cNvGrpSpPr/>
          <p:nvPr/>
        </p:nvGrpSpPr>
        <p:grpSpPr>
          <a:xfrm>
            <a:off x="3766321" y="2375192"/>
            <a:ext cx="7379208" cy="1592748"/>
            <a:chOff x="3766321" y="2375192"/>
            <a:chExt cx="7379208" cy="1592748"/>
          </a:xfrm>
        </p:grpSpPr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10EE1678-1FBF-3563-0E3E-71E65667D8D6}"/>
                </a:ext>
              </a:extLst>
            </p:cNvPr>
            <p:cNvGrpSpPr/>
            <p:nvPr/>
          </p:nvGrpSpPr>
          <p:grpSpPr>
            <a:xfrm>
              <a:off x="3766321" y="2384802"/>
              <a:ext cx="7379208" cy="657210"/>
              <a:chOff x="3766321" y="2384802"/>
              <a:chExt cx="7379208" cy="657210"/>
            </a:xfrm>
          </p:grpSpPr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3326E8A9-E726-6F6C-6A60-9C0D2DCC98C3}"/>
                  </a:ext>
                </a:extLst>
              </p:cNvPr>
              <p:cNvCxnSpPr/>
              <p:nvPr/>
            </p:nvCxnSpPr>
            <p:spPr>
              <a:xfrm>
                <a:off x="3766321" y="2384802"/>
                <a:ext cx="7379208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Elbow Connector 462">
                <a:extLst>
                  <a:ext uri="{FF2B5EF4-FFF2-40B4-BE49-F238E27FC236}">
                    <a16:creationId xmlns:a16="http://schemas.microsoft.com/office/drawing/2014/main" id="{BD682324-99A1-9E14-9FF6-B184939CBE7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1" name="Elbow Connector 460">
              <a:extLst>
                <a:ext uri="{FF2B5EF4-FFF2-40B4-BE49-F238E27FC236}">
                  <a16:creationId xmlns:a16="http://schemas.microsoft.com/office/drawing/2014/main" id="{861B31DB-036C-56A5-406D-94FAD5208F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1193" y="2375192"/>
              <a:ext cx="2276158" cy="1592748"/>
            </a:xfrm>
            <a:prstGeom prst="bentConnector3">
              <a:avLst>
                <a:gd name="adj1" fmla="val 99625"/>
              </a:avLst>
            </a:prstGeom>
            <a:ln w="57150">
              <a:solidFill>
                <a:schemeClr val="accent4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55A1D23C-98A6-C877-632A-490F50B21AC0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48256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TextBox 482">
            <a:extLst>
              <a:ext uri="{FF2B5EF4-FFF2-40B4-BE49-F238E27FC236}">
                <a16:creationId xmlns:a16="http://schemas.microsoft.com/office/drawing/2014/main" id="{B1666656-08E2-6996-A9CE-1772584D8B04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A8BDDB36-B185-0572-9D6B-9856F9B13AAB}"/>
              </a:ext>
            </a:extLst>
          </p:cNvPr>
          <p:cNvSpPr txBox="1"/>
          <p:nvPr/>
        </p:nvSpPr>
        <p:spPr>
          <a:xfrm>
            <a:off x="10229952" y="998582"/>
            <a:ext cx="19071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ALU output to destination register.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0F29BF5A-B6C6-6BF1-F082-AA446956A51B}"/>
              </a:ext>
            </a:extLst>
          </p:cNvPr>
          <p:cNvSpPr txBox="1"/>
          <p:nvPr/>
        </p:nvSpPr>
        <p:spPr>
          <a:xfrm>
            <a:off x="6917336" y="998582"/>
            <a:ext cx="2356549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Control line </a:t>
            </a:r>
            <a:r>
              <a:rPr lang="en-US" sz="1800" dirty="0" err="1">
                <a:solidFill>
                  <a:schemeClr val="accent1"/>
                </a:solidFill>
                <a:latin typeface="18 VAG Rounded Light   02390" pitchFamily="2" charset="0"/>
              </a:rPr>
              <a:t>Bsel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=1 selects the generated immediate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 for ALU input B.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6305F79-2EB8-D107-1711-E4B4124B56F3}"/>
              </a:ext>
            </a:extLst>
          </p:cNvPr>
          <p:cNvSpPr txBox="1"/>
          <p:nvPr/>
        </p:nvSpPr>
        <p:spPr>
          <a:xfrm>
            <a:off x="3118252" y="1001582"/>
            <a:ext cx="2664586" cy="1147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i="1" dirty="0">
                <a:solidFill>
                  <a:schemeClr val="accent5"/>
                </a:solidFill>
                <a:latin typeface="18 VAG Rounded Light   02390" pitchFamily="2" charset="0"/>
              </a:rPr>
              <a:t>Immediate Generation Block 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builds a 32-bit immediate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 instruction bits.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17E2B2-0FD6-F632-0955-6B76FDE7B3F1}"/>
              </a:ext>
            </a:extLst>
          </p:cNvPr>
          <p:cNvGrpSpPr/>
          <p:nvPr/>
        </p:nvGrpSpPr>
        <p:grpSpPr>
          <a:xfrm>
            <a:off x="3062791" y="3425699"/>
            <a:ext cx="4696255" cy="2111811"/>
            <a:chOff x="3062791" y="3425699"/>
            <a:chExt cx="4696255" cy="2111811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7B073A7-A87E-BDB8-C84D-E78993E463DB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BEDCB37D-730D-EDEE-17E5-C8F1E5B2A9B1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8D059919-1CE8-3933-9A12-92631AB9B0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B4990C4D-8CC5-DD29-5197-05B16BC9BAC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4A62533-B74D-5C70-A149-4BA4C76CE68A}"/>
                </a:ext>
              </a:extLst>
            </p:cNvPr>
            <p:cNvGrpSpPr/>
            <p:nvPr/>
          </p:nvGrpSpPr>
          <p:grpSpPr>
            <a:xfrm>
              <a:off x="3062791" y="3425699"/>
              <a:ext cx="1761928" cy="524103"/>
              <a:chOff x="3062789" y="3425699"/>
              <a:chExt cx="1774643" cy="524103"/>
            </a:xfrm>
          </p:grpSpPr>
          <p:cxnSp>
            <p:nvCxnSpPr>
              <p:cNvPr id="8" name="Elbow Connector 7">
                <a:extLst>
                  <a:ext uri="{FF2B5EF4-FFF2-40B4-BE49-F238E27FC236}">
                    <a16:creationId xmlns:a16="http://schemas.microsoft.com/office/drawing/2014/main" id="{A8608BA6-FD32-A93E-0C1C-D5335A6506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613AD115-1CA9-1F64-7938-45A1466DDC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3043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6CB08AE-EF84-D361-9009-1D984CAE07F5}"/>
              </a:ext>
            </a:extLst>
          </p:cNvPr>
          <p:cNvSpPr txBox="1"/>
          <p:nvPr/>
        </p:nvSpPr>
        <p:spPr>
          <a:xfrm>
            <a:off x="4062897" y="5552119"/>
            <a:ext cx="817853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D242A0-E8FA-7E72-D9D1-434F5D1CFFC8}"/>
              </a:ext>
            </a:extLst>
          </p:cNvPr>
          <p:cNvSpPr txBox="1"/>
          <p:nvPr/>
        </p:nvSpPr>
        <p:spPr>
          <a:xfrm>
            <a:off x="5333604" y="5554208"/>
            <a:ext cx="885179" cy="7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E46055-A94A-08AF-62DE-99BE6654A422}"/>
              </a:ext>
            </a:extLst>
          </p:cNvPr>
          <p:cNvSpPr txBox="1"/>
          <p:nvPr/>
        </p:nvSpPr>
        <p:spPr>
          <a:xfrm>
            <a:off x="7558332" y="5524627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2F3760-0073-9212-0898-D7A547D865CA}"/>
              </a:ext>
            </a:extLst>
          </p:cNvPr>
          <p:cNvSpPr txBox="1"/>
          <p:nvPr/>
        </p:nvSpPr>
        <p:spPr>
          <a:xfrm>
            <a:off x="8421291" y="5536765"/>
            <a:ext cx="702436" cy="460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</p:spTree>
    <p:extLst>
      <p:ext uri="{BB962C8B-B14F-4D97-AF65-F5344CB8AC3E}">
        <p14:creationId xmlns:p14="http://schemas.microsoft.com/office/powerpoint/2010/main" val="426040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FED8-6B30-27B7-D173-455D8E63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E00903-CB06-3EB4-EE21-DBDE39923C65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E6DF807-E14E-D3E5-8BB4-E1ADA428E067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D101AA2D-AF4E-90EB-4638-F9C57BD33704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199CB921-EFF8-6226-2538-D31352FBBCA9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CB2B8EBB-DEC7-6657-6D7B-E96222117665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22AFAD52-C8D6-047E-CA5B-CEC30D512B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37C8D4CC-7813-DBB1-B2B9-85EB23B87D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A1CDBA35-3C0C-C280-ACC7-1AA3E4254B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08E85D37-92BC-D05B-E4BA-E4326B6DD1EA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466C2F3A-6734-0DBA-2D80-DC7856C5F6BF}"/>
              </a:ext>
            </a:extLst>
          </p:cNvPr>
          <p:cNvGrpSpPr/>
          <p:nvPr/>
        </p:nvGrpSpPr>
        <p:grpSpPr>
          <a:xfrm>
            <a:off x="3793678" y="2375192"/>
            <a:ext cx="7343673" cy="1592748"/>
            <a:chOff x="3793678" y="2375192"/>
            <a:chExt cx="7343673" cy="1592748"/>
          </a:xfrm>
        </p:grpSpPr>
        <p:grpSp>
          <p:nvGrpSpPr>
            <p:cNvPr id="452" name="Group 451">
              <a:extLst>
                <a:ext uri="{FF2B5EF4-FFF2-40B4-BE49-F238E27FC236}">
                  <a16:creationId xmlns:a16="http://schemas.microsoft.com/office/drawing/2014/main" id="{53950B78-4AC3-9B2F-8CAF-0BF9D283D622}"/>
                </a:ext>
              </a:extLst>
            </p:cNvPr>
            <p:cNvGrpSpPr/>
            <p:nvPr/>
          </p:nvGrpSpPr>
          <p:grpSpPr>
            <a:xfrm>
              <a:off x="3793678" y="2384802"/>
              <a:ext cx="7342632" cy="657210"/>
              <a:chOff x="3793678" y="2384802"/>
              <a:chExt cx="7342632" cy="657210"/>
            </a:xfrm>
          </p:grpSpPr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550E037F-5F03-15FF-931F-D3CB1977B804}"/>
                  </a:ext>
                </a:extLst>
              </p:cNvPr>
              <p:cNvCxnSpPr/>
              <p:nvPr/>
            </p:nvCxnSpPr>
            <p:spPr>
              <a:xfrm>
                <a:off x="3793678" y="2384802"/>
                <a:ext cx="7342632" cy="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Elbow Connector 457">
                <a:extLst>
                  <a:ext uri="{FF2B5EF4-FFF2-40B4-BE49-F238E27FC236}">
                    <a16:creationId xmlns:a16="http://schemas.microsoft.com/office/drawing/2014/main" id="{00CB8A9C-7C63-F759-B00C-88BAD1FCAC2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3" name="Elbow Connector 452">
              <a:extLst>
                <a:ext uri="{FF2B5EF4-FFF2-40B4-BE49-F238E27FC236}">
                  <a16:creationId xmlns:a16="http://schemas.microsoft.com/office/drawing/2014/main" id="{F9137DEF-AF10-D1AB-06BA-E02DC9B23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1193" y="2375192"/>
              <a:ext cx="2276158" cy="1592748"/>
            </a:xfrm>
            <a:prstGeom prst="bentConnector3">
              <a:avLst>
                <a:gd name="adj1" fmla="val 99625"/>
              </a:avLst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F7AF061-F744-B931-2FBA-2D5223AA3578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DF4BB6-20DB-7F86-787C-05F212DC4D47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33D7AAE2-A852-855A-17F7-7B9B32731962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580F391-D000-D1CA-643E-D5513B789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/>
              <a:t> Datapath (1/6)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C5B32C9E-9CD7-8006-629F-7370B0A55E8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966B7ECB-6E75-D68B-CBC9-F200D4DC347E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5DBEED0D-E766-5F9E-1E69-4F978A66E08F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A76072FD-FA93-06E9-645C-17FA01CB6EE4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5033488F-2F40-64A1-66A1-7A01E6733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3B411102-4941-8005-15BA-5E7F07904FD8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449692CE-B1CA-4DB2-0BDD-F17B47074D7A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8478FBE7-0F9B-9E48-5759-AA8661DB0A70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8B2A1233-F228-45AF-3E57-5412CD2B097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F77C51A3-BA7A-1913-B836-1E0E1E8CC48A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4EA7CCB9-DB90-6795-E311-2336FD672EA4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C7FD7704-2F43-4D73-63B5-FAA9FD37C3E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9DE28E25-864E-BC6C-4D90-3009FAF126B6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FDDA52E6-03F6-90C1-3923-B609B568E184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D1C971FB-537E-B86B-9D4D-F89E4C0C751D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CEF372F2-F87A-8967-752C-97F28E99F5C9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404CFB4-340E-FDA2-A382-5C90301C6DDD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8DB8BCE1-C3FC-6B3A-03F3-C592F7948FB0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B6712C79-A2D5-EB75-E8F0-FAE6B2923406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634B3630-EA27-0114-850D-AA3A93696EDE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8805FFED-63A8-A68D-C54D-36812048C3DB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A576A-841E-2A2A-010E-79C184A49721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85ED74-D893-19AE-3D8F-52FAA929BE44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24215D-23CD-D493-C23F-4E3E4584DA73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BF4AD42-698B-4C04-8E64-0FD765E4186A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EA41181E-13E8-60B3-7835-B27F25DCB705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613AA1B-C47A-79A3-472B-BB01256E4623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E7F2167-89E8-AC19-7B49-73A46E21D047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6DAF953-18B8-770B-9A93-A586AA4D118F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383991C-7637-CC9C-82A6-001F5E881934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EDE309E-4129-E6CD-5D31-8FD1FAF8579F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9EEF6707-77EB-FB1F-F61A-6905CD29BCD6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D5481FE-C49E-E9C8-11CA-A69774BC87E8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A2D538B3-32F0-F6B0-FB69-E3AED4D9E908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C3CA4BB9-EDB8-758E-5CC1-654ECDABA3F3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EE3272-AD20-60ED-5ED2-0F1F56C25A75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EB8F7A-D560-3B13-6B78-F2833FD52D61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8F81F0C2-60A8-31A9-B758-9ACD3BDC3860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1F991-FE96-1309-70D4-875D985FDE7E}"/>
              </a:ext>
            </a:extLst>
          </p:cNvPr>
          <p:cNvSpPr txBox="1"/>
          <p:nvPr/>
        </p:nvSpPr>
        <p:spPr>
          <a:xfrm>
            <a:off x="8834341" y="3722124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7E875D-DAC0-34CA-CB31-949ADB679AF7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BF25B41-C1FD-4FB1-105B-EC2B7F0EAC97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1CD834-FEB7-FD3B-B842-783D7F38D050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801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B5446-E9C2-B236-E721-F139B4FF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863AF6-17C1-6394-DE3C-F75E81A7FF52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6C80937D-0054-F19F-2FFF-F348166C96F9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45FCCF94-DE3D-20E0-1DAE-07E9B1431BE0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D9C6EB38-B235-E2BE-8646-51948C4DC750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DF2CD66E-2364-0A33-0B5B-728846CC9CEE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AC3AB239-36DF-85D2-90D3-ED51257ADF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FB9AF3B9-B124-6492-D4F4-E02D54004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BCB4D732-9B0C-552C-3966-6FD2B9E79D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B660644C-6026-93EF-2268-CDA7AA814E79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141D49D-1821-3379-CCBA-B8C0FF9AB535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3B7764F-20D6-4170-95C6-51889B67AE5C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8A9870A8-D111-9FED-09D0-3AE6DABF91B1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84ED45AC-9C80-873C-1A6C-D1241ABF683D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A72DA8F4-80BD-689D-FF5E-3D9DDA0D09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359140C2-0FB8-271F-69D0-28B2E0C5E0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B001A3C-05D8-742D-895C-D1EBB43D71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1047B681-95E2-7983-7A42-38585F07ADE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90B5193-5B4A-2043-B0C4-B816E7370F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D978B037-A214-47F8-47AE-90CE3744DC51}"/>
              </a:ext>
            </a:extLst>
          </p:cNvPr>
          <p:cNvGrpSpPr/>
          <p:nvPr/>
        </p:nvGrpSpPr>
        <p:grpSpPr>
          <a:xfrm>
            <a:off x="3793678" y="2375192"/>
            <a:ext cx="7343673" cy="1592748"/>
            <a:chOff x="3793678" y="2375192"/>
            <a:chExt cx="7343673" cy="1592748"/>
          </a:xfrm>
        </p:grpSpPr>
        <p:grpSp>
          <p:nvGrpSpPr>
            <p:cNvPr id="452" name="Group 451">
              <a:extLst>
                <a:ext uri="{FF2B5EF4-FFF2-40B4-BE49-F238E27FC236}">
                  <a16:creationId xmlns:a16="http://schemas.microsoft.com/office/drawing/2014/main" id="{5CCD7B6A-B155-D3A7-3B11-47187A1E496D}"/>
                </a:ext>
              </a:extLst>
            </p:cNvPr>
            <p:cNvGrpSpPr/>
            <p:nvPr/>
          </p:nvGrpSpPr>
          <p:grpSpPr>
            <a:xfrm>
              <a:off x="3793678" y="2384802"/>
              <a:ext cx="7342632" cy="657210"/>
              <a:chOff x="3793678" y="2384802"/>
              <a:chExt cx="7342632" cy="657210"/>
            </a:xfrm>
          </p:grpSpPr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7F205836-B71B-E12C-70AC-550CC45571A0}"/>
                  </a:ext>
                </a:extLst>
              </p:cNvPr>
              <p:cNvCxnSpPr/>
              <p:nvPr/>
            </p:nvCxnSpPr>
            <p:spPr>
              <a:xfrm>
                <a:off x="3793678" y="2384802"/>
                <a:ext cx="7342632" cy="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Elbow Connector 457">
                <a:extLst>
                  <a:ext uri="{FF2B5EF4-FFF2-40B4-BE49-F238E27FC236}">
                    <a16:creationId xmlns:a16="http://schemas.microsoft.com/office/drawing/2014/main" id="{FF00A12B-CFC2-18C3-40C6-6E5FFCD24F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3" name="Elbow Connector 452">
              <a:extLst>
                <a:ext uri="{FF2B5EF4-FFF2-40B4-BE49-F238E27FC236}">
                  <a16:creationId xmlns:a16="http://schemas.microsoft.com/office/drawing/2014/main" id="{1C4451FE-2152-38B5-12EF-745540A6DB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1193" y="2375192"/>
              <a:ext cx="2276158" cy="1592748"/>
            </a:xfrm>
            <a:prstGeom prst="bentConnector3">
              <a:avLst>
                <a:gd name="adj1" fmla="val 99625"/>
              </a:avLst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2CDE449-FF2F-9C11-7EFE-AC6054DFE78F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414412-4D4B-CF2A-5AD8-0B48BD6BF50B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F09F4DB2-7198-38F8-077E-D304B569FEAF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F0DC5D-C1A9-084C-3E24-8002B49C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/>
              <a:t> Datapath (2/6)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3E0064BA-7730-766D-B17C-2D15E97EF704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2A69F4DD-9253-5801-C21A-40FE3C64ADDA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47653CBC-52F3-9D7D-C959-6C485BA14F83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FCD5B409-2A81-8FFF-04EB-07431B383565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EDEE3330-0022-20B3-665C-5B00A50E3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EC9DB6AF-047F-F31A-17FA-5670EFB9822C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C1E5A91D-5B62-8038-04AB-3FDDF415ABAA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3390B876-1895-BF8F-3A78-A28FE5EDEE6D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C145043A-2677-A5FC-D1FF-3A459971DD77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8A4EA2FA-5006-0951-2286-05BBF631DB0A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8C901A97-D090-DFF0-160B-486770908B08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EA52209-E103-EC67-684A-2BA17F25D2B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595647E9-C6FF-969C-CB5D-0A5D80098092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CC131DE3-4D61-96AD-6BCF-BCB11FFAA10B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AA7F6086-5490-45B3-F077-B9A0AB788CAF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1ADFBD2E-6A41-1485-DF92-2DFCD530F302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CB2DDCF2-D714-3BBE-8DAF-CB498303E9C0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D164BC20-8F6B-A738-54A2-8CF040D9FC49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676BE64D-A38D-D5AA-B794-DBEEC30516AC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A6DBE97A-C4A4-03BF-286E-09F1512B7EFA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54953C2A-D744-AFAD-A252-A711F375371F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59F66F-3C1C-C160-E173-48C23B47E7B8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8BB77B-80C9-8D02-0015-226E654EB0D5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34A668-3E8F-DD33-C3A2-D31DC5E2CED6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4C289FC-7A5D-D238-22FE-D0D3EB778216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091CA39-1513-B6DE-2774-33B1D69E0B27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833C1C1-5957-FF83-2428-611FB77D5C4A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C07AD01-848D-D57D-1893-B1CED91A5219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3DC9109-B151-0DCE-84EB-1E8D44838823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763EDF4-8CAF-DB18-8637-29EAE6E49BA9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D63CDE1-6A78-1798-A139-D33C56637DA7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0A8AF38-9D8B-3462-C5B9-5DA2B61A6550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6639314-A3C6-7078-DEED-F33022376E89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058A551-1ACC-DF75-B5B5-724B7B034C8F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22A2E5C5-77B3-ACB2-16CC-CA6B3DE392B3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F16A42E-273C-1F71-EDFD-CF05E65958DD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3A53579-4301-D4EB-700C-667A84AA576A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CC4E63B2-1A10-6F26-392E-C2DA521CCC5C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29FEA-2716-AA6D-ADFB-89B3C12DB7B9}"/>
              </a:ext>
            </a:extLst>
          </p:cNvPr>
          <p:cNvSpPr txBox="1"/>
          <p:nvPr/>
        </p:nvSpPr>
        <p:spPr>
          <a:xfrm>
            <a:off x="8834341" y="3722124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B859B9-07D0-0D18-A678-FD692A621639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400BB78-C10F-E03D-7645-82385B33CD6A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7E72C3-8CF4-DDED-B121-E4E37E0559BD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B1F015A1-4A3E-FEEC-B525-D8A94340EA04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</p:spTree>
    <p:extLst>
      <p:ext uri="{BB962C8B-B14F-4D97-AF65-F5344CB8AC3E}">
        <p14:creationId xmlns:p14="http://schemas.microsoft.com/office/powerpoint/2010/main" val="2871306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9B0DA-13B8-0195-4487-28803DBB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50AA52-E2C2-D1B1-9F8E-EDD2D041CFE5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F8C2D1FE-097A-0876-7E6E-DA49DA689B9B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7E907A0B-4C1A-E123-A323-B45B16F532FF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1C729951-C3FE-CC04-6780-0B4BB2508D84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6745F97D-9725-CD5D-B7AE-32A59108BE05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3D5061F8-F9BC-D12A-86BE-800887C956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0A987B97-98E6-2FEE-8A02-B63E187B1C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97143509-4507-4658-30E0-0203D1BD32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ADD6BD11-68AC-78EC-240B-3AFAE1A7E26C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C39DAE-C06C-F52D-EB40-CB43DBB733B3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DC142CE-33BF-E5BE-0319-CCEC2F182E28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90B57609-C819-44CC-CE2F-268803EA4265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C3BE5E62-2B4E-1649-31DD-336D3467670B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463ED95D-A5C3-D77B-3755-186B8CE905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48D334BA-55EC-0AC2-3DCC-3B683E0DEF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AFAF6C6-4BA8-8E8F-1ED6-5BC7513EB6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B8E93620-B788-B1B3-F028-87878F063B9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F0CD0E8-1182-483E-DE2C-E8585BB241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DAA25003-581C-A322-0565-8EF2826357A2}"/>
              </a:ext>
            </a:extLst>
          </p:cNvPr>
          <p:cNvGrpSpPr/>
          <p:nvPr/>
        </p:nvGrpSpPr>
        <p:grpSpPr>
          <a:xfrm>
            <a:off x="3793678" y="2375192"/>
            <a:ext cx="7343673" cy="1592748"/>
            <a:chOff x="3793678" y="2375192"/>
            <a:chExt cx="7343673" cy="1592748"/>
          </a:xfrm>
        </p:grpSpPr>
        <p:grpSp>
          <p:nvGrpSpPr>
            <p:cNvPr id="452" name="Group 451">
              <a:extLst>
                <a:ext uri="{FF2B5EF4-FFF2-40B4-BE49-F238E27FC236}">
                  <a16:creationId xmlns:a16="http://schemas.microsoft.com/office/drawing/2014/main" id="{9A5443E4-CABE-60C9-8094-7F409BDEED0E}"/>
                </a:ext>
              </a:extLst>
            </p:cNvPr>
            <p:cNvGrpSpPr/>
            <p:nvPr/>
          </p:nvGrpSpPr>
          <p:grpSpPr>
            <a:xfrm>
              <a:off x="3793678" y="2384802"/>
              <a:ext cx="7342632" cy="657210"/>
              <a:chOff x="3793678" y="2384802"/>
              <a:chExt cx="7342632" cy="657210"/>
            </a:xfrm>
          </p:grpSpPr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9A71BE0B-A9BA-B410-8F47-C2D5C1B9C17B}"/>
                  </a:ext>
                </a:extLst>
              </p:cNvPr>
              <p:cNvCxnSpPr/>
              <p:nvPr/>
            </p:nvCxnSpPr>
            <p:spPr>
              <a:xfrm>
                <a:off x="3793678" y="2384802"/>
                <a:ext cx="7342632" cy="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Elbow Connector 457">
                <a:extLst>
                  <a:ext uri="{FF2B5EF4-FFF2-40B4-BE49-F238E27FC236}">
                    <a16:creationId xmlns:a16="http://schemas.microsoft.com/office/drawing/2014/main" id="{85DEAD87-FDD4-8D7F-21EC-EBEE0304884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3" name="Elbow Connector 452">
              <a:extLst>
                <a:ext uri="{FF2B5EF4-FFF2-40B4-BE49-F238E27FC236}">
                  <a16:creationId xmlns:a16="http://schemas.microsoft.com/office/drawing/2014/main" id="{FEAC5308-DA95-1B94-7C1D-362F829F8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1193" y="2375192"/>
              <a:ext cx="2276158" cy="1592748"/>
            </a:xfrm>
            <a:prstGeom prst="bentConnector3">
              <a:avLst>
                <a:gd name="adj1" fmla="val 99625"/>
              </a:avLst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78B9CCD-1D7F-A2FC-E994-80C344411D7E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61C8A9-A2C2-A2D0-5EA2-54416FFDC8BA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12913D39-EE7F-70BD-D8EC-271800EEB070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9235C0B8-11FF-3AD2-D13D-80863D6BFDC6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F1B1A11-6BBA-B765-2311-411F6BEC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/>
              <a:t> Datapath (3/6)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A54B65AB-944A-5091-C975-953AC3FBFF1B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BA26B822-A5CD-27CE-3827-7F931CF282DA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2C7E8D8E-73BA-AB50-265A-A0C3E923229B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DBCF7F61-0C8B-8B9B-57EB-863BC53D350F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09D3ABDA-482B-52A6-A68C-B1373EA73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3DBB9DA9-24BC-8180-4A0E-383F2BF25881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9153E7F-0C7F-B731-7722-F1420591AA10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35B045D9-9557-672C-E987-9F97620F65CE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641C279E-CCC3-49BE-9907-8123A4C7230A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4DF09E2E-90E6-BA7D-2E81-988CD7FBC4FD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7119529B-6D7A-0FAC-E094-10A340F76CFD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F71407F4-9463-E50A-03AB-C12F4BD851D6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6A3D3E25-1327-278B-8340-D404A9A513AC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4EC3979A-BECC-73F8-C61E-5468218E1DC9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77261BE8-21B5-117E-A90C-1F34A73AD61B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2469AFFB-6D13-ABE2-18D4-991D3CE40185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7B5872E9-B099-C222-8B9F-FA98CE96B802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0D132AC1-7DAF-05EA-0AB3-05B174CAEBC6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605BEE4B-D6AB-1F2C-72D5-1AF176A2B595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8851F9CF-5519-19A1-F664-48C4C40A064B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42763292-3C00-D7C9-2E60-3444FC018533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83CCA2-BFED-C135-F9F4-3EC4D8A66700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F77049-A359-035F-C3DD-346C480F2450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60911F-6FCB-3ACA-75D2-153A9C7A4BF4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3FE8DA-B790-7BE5-E897-B2E2125DECB1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CB69A999-9094-936E-D915-1ED517D301CD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6EFC04A-6327-B4A1-2D57-AF508FEE3559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FC2F4C9-5074-2EEA-008E-5D474DAA83B7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5E19FC4-3F8D-2062-7DBE-F103CE36D558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C1DF57C-890E-7718-6A2B-3523EF35CAC8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92BCF77B-9E89-A640-8BC8-18140204286F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68D48E34-D276-74E6-84A7-187112E32E5C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99D1470-2CC5-3766-98A1-6080E4BC69E5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0015D60-4F16-A822-5F61-8BD899113863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3AE551E1-9D40-DE45-148B-14BEA3820B8D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5FDDBED-ED06-8546-F175-DE9A1D2741F0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3FA9F66-70EC-B8EA-F7EB-66BFF2E6D947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3DB7DF01-6D96-81CF-C725-543764D10E1D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CA7DA-81AB-73B8-052C-0ADCD0645F85}"/>
              </a:ext>
            </a:extLst>
          </p:cNvPr>
          <p:cNvSpPr txBox="1"/>
          <p:nvPr/>
        </p:nvSpPr>
        <p:spPr>
          <a:xfrm>
            <a:off x="8834341" y="3722124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F025F83-2537-BE8E-805B-29F947F82895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67E46E2-3F54-3280-FB7E-7F88F6D788B8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19AD19-D054-3DE9-4849-5A2C2E8EBE67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6EE4BFA7-EA00-971A-45BB-47BF18F40671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25F377B5-2BC2-AAC8-CD76-0772FA4857E3}"/>
              </a:ext>
            </a:extLst>
          </p:cNvPr>
          <p:cNvSpPr txBox="1"/>
          <p:nvPr/>
        </p:nvSpPr>
        <p:spPr>
          <a:xfrm>
            <a:off x="3118252" y="1001582"/>
            <a:ext cx="2664586" cy="1147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i="1" dirty="0">
                <a:solidFill>
                  <a:schemeClr val="accent5"/>
                </a:solidFill>
                <a:latin typeface="18 VAG Rounded Light   02390" pitchFamily="2" charset="0"/>
              </a:rPr>
              <a:t>Immediate Generation Block 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builds a 32-bit immediate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 instruction bits.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A2D2D4-C198-545A-A499-5D95B5E4A1BB}"/>
              </a:ext>
            </a:extLst>
          </p:cNvPr>
          <p:cNvGrpSpPr/>
          <p:nvPr/>
        </p:nvGrpSpPr>
        <p:grpSpPr>
          <a:xfrm>
            <a:off x="3062791" y="3425699"/>
            <a:ext cx="4696255" cy="2111811"/>
            <a:chOff x="3062791" y="3425699"/>
            <a:chExt cx="4696255" cy="2111811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2E291E4F-E756-4D5B-17B0-095DCC733195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91D59658-A101-C3C0-0FC8-C776A36EB547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7F7D2085-60E2-0385-1EFD-0E7EE5E81E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36D6015B-1975-6A4D-F201-29B5B96355F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71819A8-6183-2424-EC00-C6C9803AA5A6}"/>
                </a:ext>
              </a:extLst>
            </p:cNvPr>
            <p:cNvGrpSpPr/>
            <p:nvPr/>
          </p:nvGrpSpPr>
          <p:grpSpPr>
            <a:xfrm>
              <a:off x="3062791" y="3425699"/>
              <a:ext cx="1761928" cy="524103"/>
              <a:chOff x="3062789" y="3425699"/>
              <a:chExt cx="1774643" cy="524103"/>
            </a:xfrm>
          </p:grpSpPr>
          <p:cxnSp>
            <p:nvCxnSpPr>
              <p:cNvPr id="8" name="Elbow Connector 7">
                <a:extLst>
                  <a:ext uri="{FF2B5EF4-FFF2-40B4-BE49-F238E27FC236}">
                    <a16:creationId xmlns:a16="http://schemas.microsoft.com/office/drawing/2014/main" id="{6A9EE8F6-B905-5AB1-DADD-E1AD82A221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0513AE6F-5F5C-C9FD-3F2E-4C27732077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3043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8ABAD82-F024-70F0-D624-B0BEC12BB18E}"/>
              </a:ext>
            </a:extLst>
          </p:cNvPr>
          <p:cNvSpPr txBox="1"/>
          <p:nvPr/>
        </p:nvSpPr>
        <p:spPr>
          <a:xfrm>
            <a:off x="4062897" y="5552119"/>
            <a:ext cx="817853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60897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8BF91-7976-231E-DBB1-F2C87F922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6CC0E6-1830-A7B6-1B8F-1E18D6235121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6A59BDEB-E5C2-EEC0-2BEE-0208F64D18AE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3AF21C5D-2885-7D79-2423-CB157F36B368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F87245F2-A7E6-66F6-3260-2DBCEB62CC7F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AE349FDA-9F91-B4F7-058B-0B2A7D8F59BA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3CF2C8B8-71F6-F471-1AF9-01647DE6A6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2CAAEEDE-E4F5-33EA-BD07-A4A4DDAC78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682AB1F-87C0-78B0-CC84-3663A13C6D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2EAC61D2-01B6-7156-99F5-EA590E4D2E25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9472DF-58CB-A676-9E2F-2F20055143A1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AFEB723-641F-2B7E-212F-2DFF374B1D79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D9C4DD80-082C-660A-C9E0-D339ECD1F855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7AF4E38A-63FE-8E56-8811-F1C3B79CD650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4910CD1D-21B6-016D-6E03-09DF62577D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2D5007CF-C6E5-A0DF-BC9B-9A7ABEA0D8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864F211-12DB-1101-446B-2004162A5D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553828CE-16B3-68CE-8702-E26E68D3F8F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5C2659D-0FEB-75EB-F51F-421398915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EBEDF4A3-76E2-FEB2-BA28-7D87F1C02221}"/>
              </a:ext>
            </a:extLst>
          </p:cNvPr>
          <p:cNvGrpSpPr/>
          <p:nvPr/>
        </p:nvGrpSpPr>
        <p:grpSpPr>
          <a:xfrm>
            <a:off x="3793678" y="2375192"/>
            <a:ext cx="7343673" cy="1592748"/>
            <a:chOff x="3793678" y="2375192"/>
            <a:chExt cx="7343673" cy="1592748"/>
          </a:xfrm>
        </p:grpSpPr>
        <p:grpSp>
          <p:nvGrpSpPr>
            <p:cNvPr id="452" name="Group 451">
              <a:extLst>
                <a:ext uri="{FF2B5EF4-FFF2-40B4-BE49-F238E27FC236}">
                  <a16:creationId xmlns:a16="http://schemas.microsoft.com/office/drawing/2014/main" id="{5F1C4B56-7AA0-AB97-4A74-B9809CF3C49E}"/>
                </a:ext>
              </a:extLst>
            </p:cNvPr>
            <p:cNvGrpSpPr/>
            <p:nvPr/>
          </p:nvGrpSpPr>
          <p:grpSpPr>
            <a:xfrm>
              <a:off x="3793678" y="2384802"/>
              <a:ext cx="7342632" cy="657210"/>
              <a:chOff x="3793678" y="2384802"/>
              <a:chExt cx="7342632" cy="657210"/>
            </a:xfrm>
          </p:grpSpPr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41FA9B76-5BD3-71E0-00AC-510E49083BDE}"/>
                  </a:ext>
                </a:extLst>
              </p:cNvPr>
              <p:cNvCxnSpPr/>
              <p:nvPr/>
            </p:nvCxnSpPr>
            <p:spPr>
              <a:xfrm>
                <a:off x="3793678" y="2384802"/>
                <a:ext cx="7342632" cy="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Elbow Connector 457">
                <a:extLst>
                  <a:ext uri="{FF2B5EF4-FFF2-40B4-BE49-F238E27FC236}">
                    <a16:creationId xmlns:a16="http://schemas.microsoft.com/office/drawing/2014/main" id="{B78AF410-C6C3-BBDC-489D-C3150E2954D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3" name="Elbow Connector 452">
              <a:extLst>
                <a:ext uri="{FF2B5EF4-FFF2-40B4-BE49-F238E27FC236}">
                  <a16:creationId xmlns:a16="http://schemas.microsoft.com/office/drawing/2014/main" id="{02119F90-F33F-0480-BF0F-C1AD8BB48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1193" y="2375192"/>
              <a:ext cx="2276158" cy="1592748"/>
            </a:xfrm>
            <a:prstGeom prst="bentConnector3">
              <a:avLst>
                <a:gd name="adj1" fmla="val 99625"/>
              </a:avLst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AEC4463-2DC5-D767-4697-F988A2849A3C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5B6638-1605-D8B8-C2BE-8A649A5F9AAE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48597EC-40C2-0B71-2297-B95A255BF316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7D610543-55A4-EF17-BF11-BAEF992EA5C8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BF33D9E-1D34-58AD-3722-F651CEC8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/>
              <a:t> Datapath (4/6)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A39BA17-BE3E-7316-5932-D6707420BE8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E08014FC-5F79-A10B-CABF-9901B4CEC9A2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F9D69472-DF9E-4C4D-1B3A-7953661E72C9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97863BF1-7C93-9C59-FE09-116081C526B0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2FE0993E-91CE-B49B-B9F0-56745A671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61AFFE9A-AB47-EA07-DA8D-DBDD75FF37AA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656952A4-20A9-FF01-FFEC-41B0B353E024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A8481BD2-6C8D-76F0-C588-04B2103A4A37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EB72EC65-D6B8-AFD4-D2D8-3DE8EB37CF2B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21299296-9363-D007-4A46-C6BD5AB2C860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2406B58C-E606-6F7E-52E8-514C6D4CFAA7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E203F3E2-52C8-014E-8C94-6A443B4E4EEA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1DD49CE4-B6AF-6448-CAA1-D95141653936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0D3B5AEA-7CC6-5196-028C-6EE5185BC37D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F44E85B1-C566-6FF2-0FF7-4AA9DB2A91A6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8849D1D8-FC16-688B-6DCF-E7422F956D6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0B94F920-C6B2-DD22-4662-391B49B76D4C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7637DFD8-3481-0F8E-DE79-15CD42EE5458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785550AD-B469-01C8-5769-414F0AE5B1B7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D0D63271-1941-4479-73CB-26173E7F07FB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750F3AA5-FB15-7064-4B74-AB5113E71E43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F66FFA-8EB5-F82A-83F9-488D0896019B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59E2E3-2981-DBE3-DA15-EE38D1635C12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B51D60-976B-193E-FFEC-ABFDCEC23CE3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0CE3EB7-4E83-FCFF-CA3F-A76A9DF1F439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D540B0B4-6295-4866-99C3-9DDD847B865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1509D3A-7D0F-154A-D60F-F5694527A02B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72CFC5D-80C6-CCF3-903A-D82CB8F627D7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157E0DC-EE3A-0CAB-F0CB-87E35F656E6C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03211E2-B0FC-90C0-B973-6D33DBF16440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FF18922-75DF-12EB-E533-3BFC6C45AE82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FEED333F-FDB5-1737-C0A2-B902E2743C65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4BC6BA8-FFA4-D716-5183-4B576EC4DA97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40719B1-35C3-82E0-5B56-CB852FC73C49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DF760DE1-4288-3BDB-7155-2CF8D5E5B26D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558AC29-9188-642E-236B-139A18C6466F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13BF93B-E0D8-E63D-7958-1553738C54F0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54128359-5A7B-F3DB-EF32-3886C8516F61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B23D1-840F-7D41-12AA-10699D4BD2F0}"/>
              </a:ext>
            </a:extLst>
          </p:cNvPr>
          <p:cNvSpPr txBox="1"/>
          <p:nvPr/>
        </p:nvSpPr>
        <p:spPr>
          <a:xfrm>
            <a:off x="8834341" y="3722124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132FC06-DBD7-2C4D-83C6-A4EBABD7B613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0DE0A37-2AE6-5B42-8918-F47147E03F7F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7B7BA3-B74D-C857-D541-2FAA6150EA88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FA583C99-C671-A529-1819-B2567144C094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4010D97D-0F64-BC65-2AE0-187C1859353B}"/>
              </a:ext>
            </a:extLst>
          </p:cNvPr>
          <p:cNvSpPr txBox="1"/>
          <p:nvPr/>
        </p:nvSpPr>
        <p:spPr>
          <a:xfrm>
            <a:off x="3118252" y="1001582"/>
            <a:ext cx="2664586" cy="1147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i="1" dirty="0">
                <a:solidFill>
                  <a:schemeClr val="accent5"/>
                </a:solidFill>
                <a:latin typeface="18 VAG Rounded Light   02390" pitchFamily="2" charset="0"/>
              </a:rPr>
              <a:t>Immediate Generation Block 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builds a 32-bit immediate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 instruction bits.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FA2458-73B6-2294-FCCA-32CBEEF3DC19}"/>
              </a:ext>
            </a:extLst>
          </p:cNvPr>
          <p:cNvGrpSpPr/>
          <p:nvPr/>
        </p:nvGrpSpPr>
        <p:grpSpPr>
          <a:xfrm>
            <a:off x="3062791" y="3425699"/>
            <a:ext cx="4696255" cy="2111811"/>
            <a:chOff x="3062791" y="3425699"/>
            <a:chExt cx="4696255" cy="2111811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F96BEB97-C516-1862-F804-023342A2A36A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95806F04-2F01-1A00-F408-65062AC80DAD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E684BE73-A67B-F9DE-0909-DEA7DD90E7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9EDF92FE-EE6D-0CA0-ED94-016E851595E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A9CAB34-4F11-AE63-D5FC-BCA29BE3FD41}"/>
                </a:ext>
              </a:extLst>
            </p:cNvPr>
            <p:cNvGrpSpPr/>
            <p:nvPr/>
          </p:nvGrpSpPr>
          <p:grpSpPr>
            <a:xfrm>
              <a:off x="3062791" y="3425699"/>
              <a:ext cx="1761928" cy="524103"/>
              <a:chOff x="3062789" y="3425699"/>
              <a:chExt cx="1774643" cy="524103"/>
            </a:xfrm>
          </p:grpSpPr>
          <p:cxnSp>
            <p:nvCxnSpPr>
              <p:cNvPr id="8" name="Elbow Connector 7">
                <a:extLst>
                  <a:ext uri="{FF2B5EF4-FFF2-40B4-BE49-F238E27FC236}">
                    <a16:creationId xmlns:a16="http://schemas.microsoft.com/office/drawing/2014/main" id="{5EFC82B6-E0E9-AE68-89B4-CBCF08E7C8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8031FF92-699B-A588-C88D-E6FB471E34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3043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A337610-36A9-D59F-F4C0-5A7A345EB52A}"/>
              </a:ext>
            </a:extLst>
          </p:cNvPr>
          <p:cNvSpPr txBox="1"/>
          <p:nvPr/>
        </p:nvSpPr>
        <p:spPr>
          <a:xfrm>
            <a:off x="4062897" y="5552119"/>
            <a:ext cx="817853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832182-773E-286F-C84C-729E0721FBFC}"/>
              </a:ext>
            </a:extLst>
          </p:cNvPr>
          <p:cNvSpPr txBox="1"/>
          <p:nvPr/>
        </p:nvSpPr>
        <p:spPr>
          <a:xfrm>
            <a:off x="5333604" y="5554208"/>
            <a:ext cx="885179" cy="7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EE56AD-70FF-6DF5-421F-DDBDFB2FAF09}"/>
              </a:ext>
            </a:extLst>
          </p:cNvPr>
          <p:cNvSpPr txBox="1"/>
          <p:nvPr/>
        </p:nvSpPr>
        <p:spPr>
          <a:xfrm>
            <a:off x="7558332" y="5524627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F29204-AC3F-3F2A-CDCE-EFF0EAA1D869}"/>
              </a:ext>
            </a:extLst>
          </p:cNvPr>
          <p:cNvSpPr txBox="1"/>
          <p:nvPr/>
        </p:nvSpPr>
        <p:spPr>
          <a:xfrm>
            <a:off x="8421291" y="5536765"/>
            <a:ext cx="702436" cy="460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</p:spTree>
    <p:extLst>
      <p:ext uri="{BB962C8B-B14F-4D97-AF65-F5344CB8AC3E}">
        <p14:creationId xmlns:p14="http://schemas.microsoft.com/office/powerpoint/2010/main" val="81545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5E68-FCAC-EC08-C97C-AA0D1C3F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D19AAC-C79A-B876-6D4C-1F8BEC00A0A1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B535D445-0EC6-0E5D-3401-46C5A2EE7624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7B416111-D409-0CC8-7A24-5E39244E027D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0B3AE5CD-EA69-EF95-1B98-3391DA91E3B4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F9657628-8841-8660-1115-DBB34A516382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BC82128E-3819-4952-0A77-BEC31E5DAD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5B86E417-9E68-1DE5-948A-25B9037B38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E1D21517-ADB2-16F8-237E-B050ACB6B8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478E3DCC-E7A9-F29E-DC77-0A55B87EF522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74066D-B9A6-53B2-FAA8-336318AF7ACD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DB8664B-F6B1-E940-67C3-DAAD21C4D0A3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12FAFE1E-E580-8545-58F5-B6B876210004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E310D83D-2D9D-F2AA-33B8-FD744A594CC9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E52FCFBF-473C-2FFA-8E21-78650817DD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AD5E6E2-4C66-1934-DA0D-3B6815EA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B304512-1E15-0A28-0EF1-8C777A6C8B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E811835F-8DA8-4B70-4F35-FA6C5D03EC4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F34046C-CCF2-926E-D17E-EB14BDD96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F77AAEC2-FD0E-DEA7-F8FB-56EFFFAC561E}"/>
              </a:ext>
            </a:extLst>
          </p:cNvPr>
          <p:cNvGrpSpPr/>
          <p:nvPr/>
        </p:nvGrpSpPr>
        <p:grpSpPr>
          <a:xfrm>
            <a:off x="3793678" y="2375192"/>
            <a:ext cx="7343673" cy="1592748"/>
            <a:chOff x="3793678" y="2375192"/>
            <a:chExt cx="7343673" cy="1592748"/>
          </a:xfrm>
        </p:grpSpPr>
        <p:grpSp>
          <p:nvGrpSpPr>
            <p:cNvPr id="452" name="Group 451">
              <a:extLst>
                <a:ext uri="{FF2B5EF4-FFF2-40B4-BE49-F238E27FC236}">
                  <a16:creationId xmlns:a16="http://schemas.microsoft.com/office/drawing/2014/main" id="{B04D01B9-C39D-B35D-D55B-974473082E66}"/>
                </a:ext>
              </a:extLst>
            </p:cNvPr>
            <p:cNvGrpSpPr/>
            <p:nvPr/>
          </p:nvGrpSpPr>
          <p:grpSpPr>
            <a:xfrm>
              <a:off x="3793678" y="2384802"/>
              <a:ext cx="7342632" cy="657210"/>
              <a:chOff x="3793678" y="2384802"/>
              <a:chExt cx="7342632" cy="657210"/>
            </a:xfrm>
          </p:grpSpPr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C879D996-9334-DE93-490B-BB8FE21C4646}"/>
                  </a:ext>
                </a:extLst>
              </p:cNvPr>
              <p:cNvCxnSpPr/>
              <p:nvPr/>
            </p:nvCxnSpPr>
            <p:spPr>
              <a:xfrm>
                <a:off x="3793678" y="2384802"/>
                <a:ext cx="7342632" cy="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Elbow Connector 457">
                <a:extLst>
                  <a:ext uri="{FF2B5EF4-FFF2-40B4-BE49-F238E27FC236}">
                    <a16:creationId xmlns:a16="http://schemas.microsoft.com/office/drawing/2014/main" id="{CF21C70C-FFBB-AAD5-5382-6146F3CEAA6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3" name="Elbow Connector 452">
              <a:extLst>
                <a:ext uri="{FF2B5EF4-FFF2-40B4-BE49-F238E27FC236}">
                  <a16:creationId xmlns:a16="http://schemas.microsoft.com/office/drawing/2014/main" id="{4CBB9169-C740-4725-CD7E-B1872A82B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1193" y="2375192"/>
              <a:ext cx="2276158" cy="1592748"/>
            </a:xfrm>
            <a:prstGeom prst="bentConnector3">
              <a:avLst>
                <a:gd name="adj1" fmla="val 99625"/>
              </a:avLst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43E84CE-9467-F6B7-D765-8F7A493677B1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C882B7-E99A-6F18-2675-0094B58284E9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061D27D3-A398-98D4-E716-4B08CECA318C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A3E39B5F-5D4A-4FAD-C444-09273A014A43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1C0F6CD-6623-7464-B344-F2BF33ED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/>
              <a:t> Datapath (5/6)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E3B82983-0EC1-AE82-3B3F-F19D6155A7D4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FAC1C7E0-9DF8-68E7-9604-E14A4E6A5284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63D3AB6F-BAE0-9EC0-0D3B-483D536DA36D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75E4DB0A-FE84-2FF6-86D6-1E52CD1695FF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68BE0B55-1667-423F-ABDF-4BFC7AB44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6B6B9F9B-9D17-976F-3CE8-673F4D82470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90F1A072-AC6A-5A2A-F780-D51662244A18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57F07D16-1100-D9AE-B7E4-16FC4CC777FC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BD2AD615-BBDA-00BD-288D-391E605B1637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9F66980-EC1F-709C-8234-744704D63550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EF547EF0-6197-2ECB-493E-0944452A4384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68C6B8E6-1340-29A7-FF61-B7E7A3906483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32555F80-2CB1-FF3C-A54A-453DCBECEB82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5B46AFC4-FD71-BEC9-2567-66B16185A49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FEE420D7-26FF-1359-A74E-603D7AB5F73D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3D57ACDF-43BC-89A4-A712-899016461F68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0D909879-9FEB-577D-6510-2B537AFAF198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D981DEB8-2BA3-DCAC-4ED1-536BF0426C4C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45809EC3-3DA8-89BD-AD72-FA7389D1627B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461564F3-8C82-36AC-2817-AA796187E45C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26A26371-82BA-5004-C858-336B0C6D1ACB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8987AA-12BB-5635-2994-2217C05AF667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FFD061-47BB-AB48-39C1-8C6B35A66DCA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97DD56-60A0-8AB3-1FEB-1D3EFC34EC17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163ACB-6458-93A7-82EA-4C921EEBCDD5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B3B5EB2E-7F77-D2E0-CECA-64398E1D5F30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E3BA056-A8BF-F4FD-1B17-38A85E8E009B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ADC4DB1-207D-20CF-44E8-89900593EBC7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DF3E5BD-FA78-DFFA-6A99-84521B03F6DF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382B2E6-17F2-5BF5-48A4-28FC087AB4DB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FB13C28-F25E-34BB-56DF-AFA90D5C72BB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1FD9240-389B-F429-E802-1F53F183FA26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15CEDDC-019A-D916-325A-403B6BA3C5C4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1F9866A9-E959-E17D-94F6-1DCC03E00DF0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6CD1A1F7-7375-DCB6-9A63-D31C414C1C6A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12AA98E-1B1F-DA82-FAC3-19BEB6C81B96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7586B17-6EBD-E901-220F-8D65E2395DE1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539C5A58-F654-9258-A8C7-4AA8CB23E7B5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B468B-6EDC-C7C8-136C-A738AD70459A}"/>
              </a:ext>
            </a:extLst>
          </p:cNvPr>
          <p:cNvSpPr txBox="1"/>
          <p:nvPr/>
        </p:nvSpPr>
        <p:spPr>
          <a:xfrm>
            <a:off x="8834341" y="3722124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D511C4C-7CB7-7CB8-06E2-DEEEAB87E724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BC155D-D271-4E17-C3E8-2879A6D333D4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640556-0B14-CA1E-F903-64F82549AEE9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3BDB8B4-5CD0-7D68-7C85-2A5D88D0DD19}"/>
              </a:ext>
            </a:extLst>
          </p:cNvPr>
          <p:cNvCxnSpPr>
            <a:cxnSpLocks/>
          </p:cNvCxnSpPr>
          <p:nvPr/>
        </p:nvCxnSpPr>
        <p:spPr>
          <a:xfrm>
            <a:off x="7996240" y="4431194"/>
            <a:ext cx="301752" cy="149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60">
            <a:extLst>
              <a:ext uri="{FF2B5EF4-FFF2-40B4-BE49-F238E27FC236}">
                <a16:creationId xmlns:a16="http://schemas.microsoft.com/office/drawing/2014/main" id="{9D9A12DC-B1DC-3C49-C976-AEFFF830540D}"/>
              </a:ext>
            </a:extLst>
          </p:cNvPr>
          <p:cNvSpPr/>
          <p:nvPr/>
        </p:nvSpPr>
        <p:spPr>
          <a:xfrm>
            <a:off x="7685590" y="4433105"/>
            <a:ext cx="405114" cy="94053"/>
          </a:xfrm>
          <a:custGeom>
            <a:avLst/>
            <a:gdLst>
              <a:gd name="connsiteX0" fmla="*/ 0 w 405114"/>
              <a:gd name="connsiteY0" fmla="*/ 150471 h 162045"/>
              <a:gd name="connsiteX1" fmla="*/ 57873 w 405114"/>
              <a:gd name="connsiteY1" fmla="*/ 162045 h 162045"/>
              <a:gd name="connsiteX2" fmla="*/ 104172 w 405114"/>
              <a:gd name="connsiteY2" fmla="*/ 150471 h 162045"/>
              <a:gd name="connsiteX3" fmla="*/ 208344 w 405114"/>
              <a:gd name="connsiteY3" fmla="*/ 92597 h 162045"/>
              <a:gd name="connsiteX4" fmla="*/ 254643 w 405114"/>
              <a:gd name="connsiteY4" fmla="*/ 46298 h 162045"/>
              <a:gd name="connsiteX5" fmla="*/ 358815 w 405114"/>
              <a:gd name="connsiteY5" fmla="*/ 0 h 162045"/>
              <a:gd name="connsiteX6" fmla="*/ 405114 w 405114"/>
              <a:gd name="connsiteY6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114" h="162045">
                <a:moveTo>
                  <a:pt x="0" y="150471"/>
                </a:moveTo>
                <a:cubicBezTo>
                  <a:pt x="19291" y="154329"/>
                  <a:pt x="38200" y="162045"/>
                  <a:pt x="57873" y="162045"/>
                </a:cubicBezTo>
                <a:cubicBezTo>
                  <a:pt x="73781" y="162045"/>
                  <a:pt x="88876" y="154841"/>
                  <a:pt x="104172" y="150471"/>
                </a:cubicBezTo>
                <a:cubicBezTo>
                  <a:pt x="144925" y="138827"/>
                  <a:pt x="175184" y="125757"/>
                  <a:pt x="208344" y="92597"/>
                </a:cubicBezTo>
                <a:cubicBezTo>
                  <a:pt x="223777" y="77164"/>
                  <a:pt x="236483" y="58405"/>
                  <a:pt x="254643" y="46298"/>
                </a:cubicBezTo>
                <a:cubicBezTo>
                  <a:pt x="286113" y="25318"/>
                  <a:pt x="317492" y="0"/>
                  <a:pt x="358815" y="0"/>
                </a:cubicBezTo>
                <a:lnTo>
                  <a:pt x="405114" y="0"/>
                </a:lnTo>
              </a:path>
            </a:pathLst>
          </a:custGeom>
          <a:noFill/>
          <a:ln w="57150">
            <a:solidFill>
              <a:schemeClr val="accent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794E9464-E794-004F-B4C0-1C0671456523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48256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TextBox 482">
            <a:extLst>
              <a:ext uri="{FF2B5EF4-FFF2-40B4-BE49-F238E27FC236}">
                <a16:creationId xmlns:a16="http://schemas.microsoft.com/office/drawing/2014/main" id="{BCF041EC-D539-94A7-C789-B8E528BBBC71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CB4AAA6C-A9EA-D262-613A-550875AB154B}"/>
              </a:ext>
            </a:extLst>
          </p:cNvPr>
          <p:cNvSpPr txBox="1"/>
          <p:nvPr/>
        </p:nvSpPr>
        <p:spPr>
          <a:xfrm>
            <a:off x="6917336" y="998582"/>
            <a:ext cx="2356549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Control line </a:t>
            </a:r>
            <a:r>
              <a:rPr lang="en-US" sz="1800" dirty="0" err="1">
                <a:solidFill>
                  <a:schemeClr val="accent1"/>
                </a:solidFill>
                <a:latin typeface="18 VAG Rounded Light   02390" pitchFamily="2" charset="0"/>
              </a:rPr>
              <a:t>Bsel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=1 selects the generated immediate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 for ALU input B.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C54341F5-03F7-D093-6722-20C05357B7F0}"/>
              </a:ext>
            </a:extLst>
          </p:cNvPr>
          <p:cNvSpPr txBox="1"/>
          <p:nvPr/>
        </p:nvSpPr>
        <p:spPr>
          <a:xfrm>
            <a:off x="3118252" y="1001582"/>
            <a:ext cx="2664586" cy="1147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i="1" dirty="0">
                <a:solidFill>
                  <a:schemeClr val="accent5"/>
                </a:solidFill>
                <a:latin typeface="18 VAG Rounded Light   02390" pitchFamily="2" charset="0"/>
              </a:rPr>
              <a:t>Immediate Generation Block 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builds a 32-bit immediate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 instruction bits.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095E2A-9F7C-5F34-2593-F2DBC0876517}"/>
              </a:ext>
            </a:extLst>
          </p:cNvPr>
          <p:cNvGrpSpPr/>
          <p:nvPr/>
        </p:nvGrpSpPr>
        <p:grpSpPr>
          <a:xfrm>
            <a:off x="3062791" y="3425699"/>
            <a:ext cx="4696255" cy="2111811"/>
            <a:chOff x="3062791" y="3425699"/>
            <a:chExt cx="4696255" cy="2111811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29BD1077-EB51-6883-02F5-9F21570C9178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3402A978-49FE-D9AC-B1ED-070984433E01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29476815-896B-288B-0C20-708128C6F8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6B649B90-7A1F-3353-092E-EBAD4CE1B03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301935-A19E-E610-169D-3F3CCE96A002}"/>
                </a:ext>
              </a:extLst>
            </p:cNvPr>
            <p:cNvGrpSpPr/>
            <p:nvPr/>
          </p:nvGrpSpPr>
          <p:grpSpPr>
            <a:xfrm>
              <a:off x="3062791" y="3425699"/>
              <a:ext cx="1761928" cy="524103"/>
              <a:chOff x="3062789" y="3425699"/>
              <a:chExt cx="1774643" cy="524103"/>
            </a:xfrm>
          </p:grpSpPr>
          <p:cxnSp>
            <p:nvCxnSpPr>
              <p:cNvPr id="8" name="Elbow Connector 7">
                <a:extLst>
                  <a:ext uri="{FF2B5EF4-FFF2-40B4-BE49-F238E27FC236}">
                    <a16:creationId xmlns:a16="http://schemas.microsoft.com/office/drawing/2014/main" id="{7F46BD79-CC80-8CDF-7AB7-EEF4A1C26A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EB438E0-8657-F701-7E04-512F9E6620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3043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3A6B145-C139-F51F-6E07-2A3AED8AE21B}"/>
              </a:ext>
            </a:extLst>
          </p:cNvPr>
          <p:cNvSpPr txBox="1"/>
          <p:nvPr/>
        </p:nvSpPr>
        <p:spPr>
          <a:xfrm>
            <a:off x="4062897" y="5552119"/>
            <a:ext cx="817853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56D348-B149-5B09-D042-7999BF4729A1}"/>
              </a:ext>
            </a:extLst>
          </p:cNvPr>
          <p:cNvSpPr txBox="1"/>
          <p:nvPr/>
        </p:nvSpPr>
        <p:spPr>
          <a:xfrm>
            <a:off x="5333604" y="5554208"/>
            <a:ext cx="885179" cy="7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E63A36-3D44-41DF-2E9A-94054533DDD2}"/>
              </a:ext>
            </a:extLst>
          </p:cNvPr>
          <p:cNvSpPr txBox="1"/>
          <p:nvPr/>
        </p:nvSpPr>
        <p:spPr>
          <a:xfrm>
            <a:off x="7558332" y="5524627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40F3B0-19F4-235E-5A6F-C793CFBCFC29}"/>
              </a:ext>
            </a:extLst>
          </p:cNvPr>
          <p:cNvSpPr txBox="1"/>
          <p:nvPr/>
        </p:nvSpPr>
        <p:spPr>
          <a:xfrm>
            <a:off x="8421291" y="5536765"/>
            <a:ext cx="702436" cy="460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</p:spTree>
    <p:extLst>
      <p:ext uri="{BB962C8B-B14F-4D97-AF65-F5344CB8AC3E}">
        <p14:creationId xmlns:p14="http://schemas.microsoft.com/office/powerpoint/2010/main" val="2463737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B5FF1-4B5D-85AB-A5C1-670DEFAA3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396C4A-4647-0A62-4185-80F64C139A3C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B15E5709-85D5-6073-C2EC-CA54F300D5CB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DBB376A1-88BA-3AF0-1761-8354429AA355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F94C78B5-0602-CFEB-B8A1-563EF25DB48D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C8ECF848-0149-A5E1-EE79-4E0502E085A2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57522BCA-81E8-A3D4-889C-500D6D70B0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77A20E1B-E182-833E-2EDE-51953B5FD7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7B476E3C-7C7A-246A-B28C-AB4CA98967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E0144B74-84D4-60EE-B1B0-F0CC8511989F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874E37-6992-A062-F1E9-C9F20614901D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AFA599C-EA0E-A85A-A2BC-AE353E01507B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DAABC37C-6711-B28A-6409-D06693485B42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E3CFBADB-3834-A0BA-2FB5-8094E472B472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0136DD50-5F15-8DE3-F2F1-BA529BCB99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3B88E0D-9187-4169-06AA-E28A2966DC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99FD6A4-022C-8F97-F8EB-8B664714F1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DBB00417-E7D7-36AF-FDA5-A2DAFA7F79C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74BBF8D-58F7-D74A-C07A-A2E76A930A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7DFA47CA-E7A3-9958-48E5-B137312A6391}"/>
              </a:ext>
            </a:extLst>
          </p:cNvPr>
          <p:cNvGrpSpPr/>
          <p:nvPr/>
        </p:nvGrpSpPr>
        <p:grpSpPr>
          <a:xfrm>
            <a:off x="3793678" y="2375192"/>
            <a:ext cx="7343673" cy="1592748"/>
            <a:chOff x="3793678" y="2375192"/>
            <a:chExt cx="7343673" cy="1592748"/>
          </a:xfrm>
        </p:grpSpPr>
        <p:grpSp>
          <p:nvGrpSpPr>
            <p:cNvPr id="452" name="Group 451">
              <a:extLst>
                <a:ext uri="{FF2B5EF4-FFF2-40B4-BE49-F238E27FC236}">
                  <a16:creationId xmlns:a16="http://schemas.microsoft.com/office/drawing/2014/main" id="{8B2BD6DC-102D-1A78-594B-0B07B20F8875}"/>
                </a:ext>
              </a:extLst>
            </p:cNvPr>
            <p:cNvGrpSpPr/>
            <p:nvPr/>
          </p:nvGrpSpPr>
          <p:grpSpPr>
            <a:xfrm>
              <a:off x="3793678" y="2384802"/>
              <a:ext cx="7342632" cy="657210"/>
              <a:chOff x="3793678" y="2384802"/>
              <a:chExt cx="7342632" cy="657210"/>
            </a:xfrm>
          </p:grpSpPr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5FBE169C-FE13-29D0-274E-81177C9618A1}"/>
                  </a:ext>
                </a:extLst>
              </p:cNvPr>
              <p:cNvCxnSpPr/>
              <p:nvPr/>
            </p:nvCxnSpPr>
            <p:spPr>
              <a:xfrm>
                <a:off x="3793678" y="2384802"/>
                <a:ext cx="7342632" cy="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Elbow Connector 457">
                <a:extLst>
                  <a:ext uri="{FF2B5EF4-FFF2-40B4-BE49-F238E27FC236}">
                    <a16:creationId xmlns:a16="http://schemas.microsoft.com/office/drawing/2014/main" id="{441EF5C4-6607-1C22-1359-D0FCBFA74E9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3" name="Elbow Connector 452">
              <a:extLst>
                <a:ext uri="{FF2B5EF4-FFF2-40B4-BE49-F238E27FC236}">
                  <a16:creationId xmlns:a16="http://schemas.microsoft.com/office/drawing/2014/main" id="{C1405CA9-CAA0-D481-DBB4-FA74AB4CF3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1193" y="2375192"/>
              <a:ext cx="2276158" cy="1592748"/>
            </a:xfrm>
            <a:prstGeom prst="bentConnector3">
              <a:avLst>
                <a:gd name="adj1" fmla="val 99625"/>
              </a:avLst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67FC9FC-442B-A73C-E12F-3C76C2373BC3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93BDB1-DF70-1458-B00A-25F9D56F5E42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F9675112-90D5-B146-4A81-08F48C108FE8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A48E4632-3C46-2DEA-6DB8-219AB060E15E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59CBE3A-9888-CD4E-E3F9-3578CD5BE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/>
              <a:t> Datapath (6/6)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C0C0C645-4609-C6FE-FDDE-717371C77070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E1DABB5D-165E-267C-18F8-E4B5D585E90B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2C080BA5-D483-5473-3A73-F1840E8456CC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7D69E788-7B84-4B48-133B-2F9D9165A574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FCDA6E82-45AA-1EEB-4820-1CB8E888E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4F57148A-33BC-9A59-F046-E1373EEFB81F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2CCAE1E7-2C28-8EEC-923A-BF2E4121B902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CC747F54-380D-9996-6C3C-8574E06EC46C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0C1122C7-DB6E-F478-6592-9E8321D64F12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5FF5EC84-97E6-41EC-7771-3DADDD66405E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4EEFA12D-E034-7AEC-A7D7-D2E4BD75D254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9359D9DD-B50F-A302-85E9-09E987FF132A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209CDC8F-9569-EDA9-2330-2FD0A542D037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0DE6427A-3C9A-4FA6-83F1-91EC21968817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A9463CC9-2F5D-13B9-CBDC-623D9586518F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AB198594-83A6-F666-7AA3-73FCE0FFB52D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A3A31E02-38A8-E815-50DC-D02959277AE4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47D206D-03A5-5CC6-F891-DF5F84889D35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94952680-68F5-55DD-E289-477608AE6903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AE037F60-9502-24C5-71D0-7531FE20809F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082C3F45-8BCE-8EA1-724E-5899B4A1B4CF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A0DB4-99BF-73FC-1B30-DA3C6E990B7A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2DCD43-5A39-A816-2494-181DED2F20EC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982E80-71C0-3510-C736-191A32B0DE54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38BDD2C-5D30-154F-FAF0-9C125FACBDE8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4B0498F-A64C-4A32-2ED8-A1E72AD1E971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DD45099-512A-68CA-E8C1-2A69DF0524D0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4FC57BB-C21F-A061-DD0D-F4ECC269ED2E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12454F3-3502-7C26-907B-E75BD10DD1F0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F118324-57C6-5D90-C1EE-59FAF980A2C3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68EEAD2-1BF1-55A5-47C6-C6044A61280E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C261824-472E-4CBA-84C5-E11CD2FA9491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F93AC96-FCDD-39DF-8781-AB696D197B04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B1DE5CB5-0B46-A8D9-3350-BBF7061E6FE6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19D904B0-93EA-85CC-6113-B61D212E9360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01BE4AB-90A5-BB34-5284-DA780FA80187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FDAF9FB-A6B7-5AAE-7681-A1643C2064BC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6B1DDEEF-3389-653F-983C-B7FDDDD041E6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9FF91-63C3-03B4-1FE5-6A889287E232}"/>
              </a:ext>
            </a:extLst>
          </p:cNvPr>
          <p:cNvSpPr txBox="1"/>
          <p:nvPr/>
        </p:nvSpPr>
        <p:spPr>
          <a:xfrm>
            <a:off x="8834341" y="3722124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FCB1212-51B8-B3F9-2B1A-4A8F260A11A4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CD7B9BC-9A72-AE44-A57E-3AD8F359642F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7E31C8-B2B6-EF8D-544C-A7F35F3C6C44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3010DC6-7E29-9D6E-5CCF-C165F3F4C8B0}"/>
              </a:ext>
            </a:extLst>
          </p:cNvPr>
          <p:cNvCxnSpPr>
            <a:cxnSpLocks/>
          </p:cNvCxnSpPr>
          <p:nvPr/>
        </p:nvCxnSpPr>
        <p:spPr>
          <a:xfrm>
            <a:off x="7996240" y="4431194"/>
            <a:ext cx="301752" cy="149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60">
            <a:extLst>
              <a:ext uri="{FF2B5EF4-FFF2-40B4-BE49-F238E27FC236}">
                <a16:creationId xmlns:a16="http://schemas.microsoft.com/office/drawing/2014/main" id="{061BF8CA-9B5F-7E85-10D8-39D1DC80EE66}"/>
              </a:ext>
            </a:extLst>
          </p:cNvPr>
          <p:cNvSpPr/>
          <p:nvPr/>
        </p:nvSpPr>
        <p:spPr>
          <a:xfrm>
            <a:off x="7685590" y="4433105"/>
            <a:ext cx="405114" cy="94053"/>
          </a:xfrm>
          <a:custGeom>
            <a:avLst/>
            <a:gdLst>
              <a:gd name="connsiteX0" fmla="*/ 0 w 405114"/>
              <a:gd name="connsiteY0" fmla="*/ 150471 h 162045"/>
              <a:gd name="connsiteX1" fmla="*/ 57873 w 405114"/>
              <a:gd name="connsiteY1" fmla="*/ 162045 h 162045"/>
              <a:gd name="connsiteX2" fmla="*/ 104172 w 405114"/>
              <a:gd name="connsiteY2" fmla="*/ 150471 h 162045"/>
              <a:gd name="connsiteX3" fmla="*/ 208344 w 405114"/>
              <a:gd name="connsiteY3" fmla="*/ 92597 h 162045"/>
              <a:gd name="connsiteX4" fmla="*/ 254643 w 405114"/>
              <a:gd name="connsiteY4" fmla="*/ 46298 h 162045"/>
              <a:gd name="connsiteX5" fmla="*/ 358815 w 405114"/>
              <a:gd name="connsiteY5" fmla="*/ 0 h 162045"/>
              <a:gd name="connsiteX6" fmla="*/ 405114 w 405114"/>
              <a:gd name="connsiteY6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114" h="162045">
                <a:moveTo>
                  <a:pt x="0" y="150471"/>
                </a:moveTo>
                <a:cubicBezTo>
                  <a:pt x="19291" y="154329"/>
                  <a:pt x="38200" y="162045"/>
                  <a:pt x="57873" y="162045"/>
                </a:cubicBezTo>
                <a:cubicBezTo>
                  <a:pt x="73781" y="162045"/>
                  <a:pt x="88876" y="154841"/>
                  <a:pt x="104172" y="150471"/>
                </a:cubicBezTo>
                <a:cubicBezTo>
                  <a:pt x="144925" y="138827"/>
                  <a:pt x="175184" y="125757"/>
                  <a:pt x="208344" y="92597"/>
                </a:cubicBezTo>
                <a:cubicBezTo>
                  <a:pt x="223777" y="77164"/>
                  <a:pt x="236483" y="58405"/>
                  <a:pt x="254643" y="46298"/>
                </a:cubicBezTo>
                <a:cubicBezTo>
                  <a:pt x="286113" y="25318"/>
                  <a:pt x="317492" y="0"/>
                  <a:pt x="358815" y="0"/>
                </a:cubicBezTo>
                <a:lnTo>
                  <a:pt x="405114" y="0"/>
                </a:lnTo>
              </a:path>
            </a:pathLst>
          </a:custGeom>
          <a:noFill/>
          <a:ln w="57150">
            <a:solidFill>
              <a:schemeClr val="accent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3E3E1CCE-D7C8-352B-E91F-91C95F93C581}"/>
              </a:ext>
            </a:extLst>
          </p:cNvPr>
          <p:cNvGrpSpPr/>
          <p:nvPr/>
        </p:nvGrpSpPr>
        <p:grpSpPr>
          <a:xfrm>
            <a:off x="3766321" y="2375192"/>
            <a:ext cx="7379208" cy="1592748"/>
            <a:chOff x="3766321" y="2375192"/>
            <a:chExt cx="7379208" cy="1592748"/>
          </a:xfrm>
        </p:grpSpPr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A313A3B2-738C-E335-7DA6-08CED015F4B9}"/>
                </a:ext>
              </a:extLst>
            </p:cNvPr>
            <p:cNvGrpSpPr/>
            <p:nvPr/>
          </p:nvGrpSpPr>
          <p:grpSpPr>
            <a:xfrm>
              <a:off x="3766321" y="2384802"/>
              <a:ext cx="7379208" cy="657210"/>
              <a:chOff x="3766321" y="2384802"/>
              <a:chExt cx="7379208" cy="657210"/>
            </a:xfrm>
          </p:grpSpPr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3379AC16-9AF9-6030-B16B-529E0593EDEF}"/>
                  </a:ext>
                </a:extLst>
              </p:cNvPr>
              <p:cNvCxnSpPr/>
              <p:nvPr/>
            </p:nvCxnSpPr>
            <p:spPr>
              <a:xfrm>
                <a:off x="3766321" y="2384802"/>
                <a:ext cx="7379208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Elbow Connector 462">
                <a:extLst>
                  <a:ext uri="{FF2B5EF4-FFF2-40B4-BE49-F238E27FC236}">
                    <a16:creationId xmlns:a16="http://schemas.microsoft.com/office/drawing/2014/main" id="{372F2297-DC36-A423-67B7-657BD953425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1" name="Elbow Connector 460">
              <a:extLst>
                <a:ext uri="{FF2B5EF4-FFF2-40B4-BE49-F238E27FC236}">
                  <a16:creationId xmlns:a16="http://schemas.microsoft.com/office/drawing/2014/main" id="{62ABC3FD-B83A-9D0A-D366-72564B85D3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1193" y="2375192"/>
              <a:ext cx="2276158" cy="1592748"/>
            </a:xfrm>
            <a:prstGeom prst="bentConnector3">
              <a:avLst>
                <a:gd name="adj1" fmla="val 99625"/>
              </a:avLst>
            </a:prstGeom>
            <a:ln w="57150">
              <a:solidFill>
                <a:schemeClr val="accent4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46A9C1C-9E39-FF26-8EEC-34922D77C731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48256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TextBox 482">
            <a:extLst>
              <a:ext uri="{FF2B5EF4-FFF2-40B4-BE49-F238E27FC236}">
                <a16:creationId xmlns:a16="http://schemas.microsoft.com/office/drawing/2014/main" id="{67FF044D-6167-A2F8-8DEC-E10CEEBFB5D1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02EBCD57-ED7C-80E9-BA4E-11F5A15446AB}"/>
              </a:ext>
            </a:extLst>
          </p:cNvPr>
          <p:cNvSpPr txBox="1"/>
          <p:nvPr/>
        </p:nvSpPr>
        <p:spPr>
          <a:xfrm>
            <a:off x="10229952" y="998582"/>
            <a:ext cx="19071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ALU output to destination register.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936009D7-6320-CAE6-72ED-BF107397D35C}"/>
              </a:ext>
            </a:extLst>
          </p:cNvPr>
          <p:cNvSpPr txBox="1"/>
          <p:nvPr/>
        </p:nvSpPr>
        <p:spPr>
          <a:xfrm>
            <a:off x="6917336" y="998582"/>
            <a:ext cx="2356549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Control line </a:t>
            </a:r>
            <a:r>
              <a:rPr lang="en-US" sz="1800" dirty="0" err="1">
                <a:solidFill>
                  <a:schemeClr val="accent1"/>
                </a:solidFill>
                <a:latin typeface="18 VAG Rounded Light   02390" pitchFamily="2" charset="0"/>
              </a:rPr>
              <a:t>Bsel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=1 selects the generated immediate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 for ALU input B.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BE41FEDC-C2AB-B49E-B5AF-97B5A988D860}"/>
              </a:ext>
            </a:extLst>
          </p:cNvPr>
          <p:cNvSpPr txBox="1"/>
          <p:nvPr/>
        </p:nvSpPr>
        <p:spPr>
          <a:xfrm>
            <a:off x="3118252" y="1001582"/>
            <a:ext cx="2664586" cy="1147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i="1" dirty="0">
                <a:solidFill>
                  <a:schemeClr val="accent5"/>
                </a:solidFill>
                <a:latin typeface="18 VAG Rounded Light   02390" pitchFamily="2" charset="0"/>
              </a:rPr>
              <a:t>Immediate Generation Block 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builds a 32-bit immediate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 instruction bits.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64DB4E-7798-0487-1626-C8BE92BBA9AC}"/>
              </a:ext>
            </a:extLst>
          </p:cNvPr>
          <p:cNvGrpSpPr/>
          <p:nvPr/>
        </p:nvGrpSpPr>
        <p:grpSpPr>
          <a:xfrm>
            <a:off x="3062791" y="3425699"/>
            <a:ext cx="4696255" cy="2111811"/>
            <a:chOff x="3062791" y="3425699"/>
            <a:chExt cx="4696255" cy="2111811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49F1A0D3-1B95-C2D3-7795-C1C91EB75E7D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A0E6BC4C-4695-E1A7-A0A7-4DF5588A52FF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B91661AA-1E40-D232-CA22-2B635614DD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6B2806CB-C1D0-E2F1-6412-622E6141DD4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A612B52-E6B8-181A-9DD9-4A26A6A34A4A}"/>
                </a:ext>
              </a:extLst>
            </p:cNvPr>
            <p:cNvGrpSpPr/>
            <p:nvPr/>
          </p:nvGrpSpPr>
          <p:grpSpPr>
            <a:xfrm>
              <a:off x="3062791" y="3425699"/>
              <a:ext cx="1761928" cy="524103"/>
              <a:chOff x="3062789" y="3425699"/>
              <a:chExt cx="1774643" cy="524103"/>
            </a:xfrm>
          </p:grpSpPr>
          <p:cxnSp>
            <p:nvCxnSpPr>
              <p:cNvPr id="8" name="Elbow Connector 7">
                <a:extLst>
                  <a:ext uri="{FF2B5EF4-FFF2-40B4-BE49-F238E27FC236}">
                    <a16:creationId xmlns:a16="http://schemas.microsoft.com/office/drawing/2014/main" id="{E068A98B-95B9-FD08-2C5B-AFEA614471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D3B6F156-287E-D137-FC0A-AD196BE20A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3043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94CDF82-0510-00A6-1637-75AF4F16E167}"/>
              </a:ext>
            </a:extLst>
          </p:cNvPr>
          <p:cNvSpPr txBox="1"/>
          <p:nvPr/>
        </p:nvSpPr>
        <p:spPr>
          <a:xfrm>
            <a:off x="4062897" y="5552119"/>
            <a:ext cx="817853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3F9519-2C56-A395-3C1B-FDA8702747BC}"/>
              </a:ext>
            </a:extLst>
          </p:cNvPr>
          <p:cNvSpPr txBox="1"/>
          <p:nvPr/>
        </p:nvSpPr>
        <p:spPr>
          <a:xfrm>
            <a:off x="5333604" y="5554208"/>
            <a:ext cx="885179" cy="7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E373A6-FE9C-AA34-5AB8-56427A8C9416}"/>
              </a:ext>
            </a:extLst>
          </p:cNvPr>
          <p:cNvSpPr txBox="1"/>
          <p:nvPr/>
        </p:nvSpPr>
        <p:spPr>
          <a:xfrm>
            <a:off x="7558332" y="5524627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FCF311-F2DE-6C40-C7D6-44393C891DBB}"/>
              </a:ext>
            </a:extLst>
          </p:cNvPr>
          <p:cNvSpPr txBox="1"/>
          <p:nvPr/>
        </p:nvSpPr>
        <p:spPr>
          <a:xfrm>
            <a:off x="8421291" y="5536765"/>
            <a:ext cx="702436" cy="460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</p:spTree>
    <p:extLst>
      <p:ext uri="{BB962C8B-B14F-4D97-AF65-F5344CB8AC3E}">
        <p14:creationId xmlns:p14="http://schemas.microsoft.com/office/powerpoint/2010/main" val="290835173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S61C-ly-new">
  <a:themeElements>
    <a:clrScheme name="Custom 10">
      <a:dk1>
        <a:srgbClr val="000000"/>
      </a:dk1>
      <a:lt1>
        <a:srgbClr val="FFFFFF"/>
      </a:lt1>
      <a:dk2>
        <a:srgbClr val="002E5D"/>
      </a:dk2>
      <a:lt2>
        <a:srgbClr val="E5DCD1"/>
      </a:lt2>
      <a:accent1>
        <a:srgbClr val="00BDE2"/>
      </a:accent1>
      <a:accent2>
        <a:srgbClr val="C6DAC3"/>
      </a:accent2>
      <a:accent3>
        <a:srgbClr val="FEC016"/>
      </a:accent3>
      <a:accent4>
        <a:srgbClr val="D9E056"/>
      </a:accent4>
      <a:accent5>
        <a:srgbClr val="EB1379"/>
      </a:accent5>
      <a:accent6>
        <a:srgbClr val="A97EFA"/>
      </a:accent6>
      <a:hlink>
        <a:srgbClr val="9ED1FF"/>
      </a:hlink>
      <a:folHlink>
        <a:srgbClr val="93C9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 sz="2000" dirty="0">
            <a:solidFill>
              <a:schemeClr val="accent1"/>
            </a:solidFill>
            <a:latin typeface="18 VAG Rounded Light   02390" pitchFamily="2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solidFill>
              <a:schemeClr val="accent1"/>
            </a:solidFill>
            <a:latin typeface="18 VAG Rounded Light   0239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new" id="{DFFA2BFF-9357-A24D-A947-9735921D71C4}" vid="{3C32BE93-C896-F84B-BEA8-5E6C5AC7E2C8}"/>
    </a:ext>
  </a:extLst>
</a:theme>
</file>

<file path=ppt/theme/theme2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134770"/>
      </a:hlink>
      <a:folHlink>
        <a:srgbClr val="7AF8CC"/>
      </a:folHlink>
    </a:clrScheme>
    <a:fontScheme name="Custom 1">
      <a:majorFont>
        <a:latin typeface="VAGRundschriftD"/>
        <a:ea typeface=""/>
        <a:cs typeface=""/>
      </a:majorFont>
      <a:minorFont>
        <a:latin typeface="VAGRundschriftD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latin typeface="18 VAG Rounded Thin   55390" pitchFamily="2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CS61C-ly-new</Template>
  <TotalTime>24987</TotalTime>
  <Words>816</Words>
  <Application>Microsoft Macintosh PowerPoint</Application>
  <PresentationFormat>Widescreen</PresentationFormat>
  <Paragraphs>344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18 VAG Rounded Black   09390</vt:lpstr>
      <vt:lpstr>18 VAG Rounded Bold   07390</vt:lpstr>
      <vt:lpstr>18 VAG Rounded Light   02390</vt:lpstr>
      <vt:lpstr>18 VAG Rounded Thin   55390</vt:lpstr>
      <vt:lpstr>VAG Rundschrift D Light</vt:lpstr>
      <vt:lpstr>VAGRundschriftD</vt:lpstr>
      <vt:lpstr>VAGRundschriftDLig</vt:lpstr>
      <vt:lpstr>Arial</vt:lpstr>
      <vt:lpstr>Calibri</vt:lpstr>
      <vt:lpstr>Corbel</vt:lpstr>
      <vt:lpstr>Courier</vt:lpstr>
      <vt:lpstr>Courier New</vt:lpstr>
      <vt:lpstr>Helvetica</vt:lpstr>
      <vt:lpstr>Helvetica Neue</vt:lpstr>
      <vt:lpstr>Wingdings</vt:lpstr>
      <vt:lpstr>Wingdings 2</vt:lpstr>
      <vt:lpstr>CS61C-ly-new</vt:lpstr>
      <vt:lpstr>Metro</vt:lpstr>
      <vt:lpstr>Tracing/Lighting the addi Datapath (6/6)</vt:lpstr>
      <vt:lpstr>Tracing/Lighting the addi Datapath (1/6)</vt:lpstr>
      <vt:lpstr>Tracing/Lighting the addi Datapath (2/6)</vt:lpstr>
      <vt:lpstr>Tracing/Lighting the addi Datapath (3/6)</vt:lpstr>
      <vt:lpstr>Tracing/Lighting the addi Datapath (4/6)</vt:lpstr>
      <vt:lpstr>Tracing/Lighting the addi Datapath (5/6)</vt:lpstr>
      <vt:lpstr>Tracing/Lighting the addi Datapath (6/6)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RISC-V (California Gold)</dc:title>
  <dc:creator>Lisa Yan</dc:creator>
  <cp:lastModifiedBy>Lisa Yan</cp:lastModifiedBy>
  <cp:revision>895</cp:revision>
  <cp:lastPrinted>2022-09-30T17:03:13Z</cp:lastPrinted>
  <dcterms:created xsi:type="dcterms:W3CDTF">2022-09-05T20:39:51Z</dcterms:created>
  <dcterms:modified xsi:type="dcterms:W3CDTF">2026-03-26T00:25:15Z</dcterms:modified>
</cp:coreProperties>
</file>