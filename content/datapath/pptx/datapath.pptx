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 id="2147483709" r:id="rId2"/>
    <p:sldMasterId id="2147483726" r:id="rId3"/>
  </p:sldMasterIdLst>
  <p:notesMasterIdLst>
    <p:notesMasterId r:id="rId35"/>
  </p:notesMasterIdLst>
  <p:sldIdLst>
    <p:sldId id="1343" r:id="rId4"/>
    <p:sldId id="1418" r:id="rId5"/>
    <p:sldId id="1419" r:id="rId6"/>
    <p:sldId id="1355" r:id="rId7"/>
    <p:sldId id="1410" r:id="rId8"/>
    <p:sldId id="1420" r:id="rId9"/>
    <p:sldId id="1400" r:id="rId10"/>
    <p:sldId id="1422" r:id="rId11"/>
    <p:sldId id="1401" r:id="rId12"/>
    <p:sldId id="1390" r:id="rId13"/>
    <p:sldId id="1434" r:id="rId14"/>
    <p:sldId id="1395" r:id="rId15"/>
    <p:sldId id="1396" r:id="rId16"/>
    <p:sldId id="1436" r:id="rId17"/>
    <p:sldId id="1383" r:id="rId18"/>
    <p:sldId id="1423" r:id="rId19"/>
    <p:sldId id="1424" r:id="rId20"/>
    <p:sldId id="1378" r:id="rId21"/>
    <p:sldId id="1433" r:id="rId22"/>
    <p:sldId id="1432" r:id="rId23"/>
    <p:sldId id="1431" r:id="rId24"/>
    <p:sldId id="1372" r:id="rId25"/>
    <p:sldId id="1361" r:id="rId26"/>
    <p:sldId id="270" r:id="rId27"/>
    <p:sldId id="1421" r:id="rId28"/>
    <p:sldId id="1437" r:id="rId29"/>
    <p:sldId id="321" r:id="rId30"/>
    <p:sldId id="1364" r:id="rId31"/>
    <p:sldId id="274" r:id="rId32"/>
    <p:sldId id="1438" r:id="rId33"/>
    <p:sldId id="1373" r:id="rId34"/>
  </p:sldIdLst>
  <p:sldSz cx="12192000" cy="6858000"/>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223"/>
    <a:srgbClr val="00264A"/>
    <a:srgbClr val="00152A"/>
    <a:srgbClr val="002548"/>
    <a:srgbClr val="4991B2"/>
    <a:srgbClr val="000000"/>
    <a:srgbClr val="032141"/>
    <a:srgbClr val="D9E1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304"/>
  </p:normalViewPr>
  <p:slideViewPr>
    <p:cSldViewPr snapToGrid="0">
      <p:cViewPr>
        <p:scale>
          <a:sx n="90" d="100"/>
          <a:sy n="90" d="100"/>
        </p:scale>
        <p:origin x="1360"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179AFB-556A-7647-8681-E8CCC214AEB4}" type="datetimeFigureOut">
              <a:rPr lang="en-US" smtClean="0"/>
              <a:t>3/25/26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4562F5-9C85-F843-B903-B3B42F5C4F35}" type="slidenum">
              <a:rPr lang="en-US" smtClean="0"/>
              <a:t>‹#›</a:t>
            </a:fld>
            <a:endParaRPr lang="en-US"/>
          </a:p>
        </p:txBody>
      </p:sp>
    </p:spTree>
    <p:extLst>
      <p:ext uri="{BB962C8B-B14F-4D97-AF65-F5344CB8AC3E}">
        <p14:creationId xmlns:p14="http://schemas.microsoft.com/office/powerpoint/2010/main" val="4219976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4562F5-9C85-F843-B903-B3B42F5C4F35}" type="slidenum">
              <a:rPr lang="en-US" smtClean="0"/>
              <a:t>1</a:t>
            </a:fld>
            <a:endParaRPr lang="en-US"/>
          </a:p>
        </p:txBody>
      </p:sp>
    </p:spTree>
    <p:extLst>
      <p:ext uri="{BB962C8B-B14F-4D97-AF65-F5344CB8AC3E}">
        <p14:creationId xmlns:p14="http://schemas.microsoft.com/office/powerpoint/2010/main" val="1291783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a:t>
            </a:fld>
            <a:endParaRPr lang="en-US"/>
          </a:p>
        </p:txBody>
      </p:sp>
    </p:spTree>
    <p:extLst>
      <p:ext uri="{BB962C8B-B14F-4D97-AF65-F5344CB8AC3E}">
        <p14:creationId xmlns:p14="http://schemas.microsoft.com/office/powerpoint/2010/main" val="3314783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3</a:t>
            </a:fld>
            <a:endParaRPr lang="en-US"/>
          </a:p>
        </p:txBody>
      </p:sp>
    </p:spTree>
    <p:extLst>
      <p:ext uri="{BB962C8B-B14F-4D97-AF65-F5344CB8AC3E}">
        <p14:creationId xmlns:p14="http://schemas.microsoft.com/office/powerpoint/2010/main" val="126582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4</a:t>
            </a:fld>
            <a:endParaRPr lang="en-US"/>
          </a:p>
        </p:txBody>
      </p:sp>
    </p:spTree>
    <p:extLst>
      <p:ext uri="{BB962C8B-B14F-4D97-AF65-F5344CB8AC3E}">
        <p14:creationId xmlns:p14="http://schemas.microsoft.com/office/powerpoint/2010/main" val="1472558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5</a:t>
            </a:fld>
            <a:endParaRPr lang="en-US"/>
          </a:p>
        </p:txBody>
      </p:sp>
    </p:spTree>
    <p:extLst>
      <p:ext uri="{BB962C8B-B14F-4D97-AF65-F5344CB8AC3E}">
        <p14:creationId xmlns:p14="http://schemas.microsoft.com/office/powerpoint/2010/main" val="1948063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6</a:t>
            </a:fld>
            <a:endParaRPr lang="en-US"/>
          </a:p>
        </p:txBody>
      </p:sp>
    </p:spTree>
    <p:extLst>
      <p:ext uri="{BB962C8B-B14F-4D97-AF65-F5344CB8AC3E}">
        <p14:creationId xmlns:p14="http://schemas.microsoft.com/office/powerpoint/2010/main" val="1925177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next time: switch with previous slide, remove wires</a:t>
            </a:r>
          </a:p>
        </p:txBody>
      </p:sp>
      <p:sp>
        <p:nvSpPr>
          <p:cNvPr id="4" name="Slide Number Placeholder 3"/>
          <p:cNvSpPr>
            <a:spLocks noGrp="1"/>
          </p:cNvSpPr>
          <p:nvPr>
            <p:ph type="sldNum" sz="quarter" idx="5"/>
          </p:nvPr>
        </p:nvSpPr>
        <p:spPr/>
        <p:txBody>
          <a:bodyPr/>
          <a:lstStyle/>
          <a:p>
            <a:fld id="{8C4562F5-9C85-F843-B903-B3B42F5C4F35}" type="slidenum">
              <a:rPr lang="en-US" smtClean="0"/>
              <a:t>7</a:t>
            </a:fld>
            <a:endParaRPr lang="en-US"/>
          </a:p>
        </p:txBody>
      </p:sp>
    </p:spTree>
    <p:extLst>
      <p:ext uri="{BB962C8B-B14F-4D97-AF65-F5344CB8AC3E}">
        <p14:creationId xmlns:p14="http://schemas.microsoft.com/office/powerpoint/2010/main" val="1727097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8</a:t>
            </a:fld>
            <a:endParaRPr lang="en-US"/>
          </a:p>
        </p:txBody>
      </p:sp>
    </p:spTree>
    <p:extLst>
      <p:ext uri="{BB962C8B-B14F-4D97-AF65-F5344CB8AC3E}">
        <p14:creationId xmlns:p14="http://schemas.microsoft.com/office/powerpoint/2010/main" val="1346608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9</a:t>
            </a:fld>
            <a:endParaRPr lang="en-US"/>
          </a:p>
        </p:txBody>
      </p:sp>
    </p:spTree>
    <p:extLst>
      <p:ext uri="{BB962C8B-B14F-4D97-AF65-F5344CB8AC3E}">
        <p14:creationId xmlns:p14="http://schemas.microsoft.com/office/powerpoint/2010/main" val="17273826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10</a:t>
            </a:fld>
            <a:endParaRPr lang="en-US"/>
          </a:p>
        </p:txBody>
      </p:sp>
    </p:spTree>
    <p:extLst>
      <p:ext uri="{BB962C8B-B14F-4D97-AF65-F5344CB8AC3E}">
        <p14:creationId xmlns:p14="http://schemas.microsoft.com/office/powerpoint/2010/main" val="3257116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B5F7C-9485-AD08-A56F-CDA4E2A5A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F27BC-3861-F577-3DA6-33567CA9B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ED3600-3BB6-58F6-E13A-B8205F5D49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2027A1-4ECB-18B0-1A31-1845F43A76AC}"/>
              </a:ext>
            </a:extLst>
          </p:cNvPr>
          <p:cNvSpPr>
            <a:spLocks noGrp="1"/>
          </p:cNvSpPr>
          <p:nvPr>
            <p:ph type="sldNum" sz="quarter" idx="5"/>
          </p:nvPr>
        </p:nvSpPr>
        <p:spPr/>
        <p:txBody>
          <a:bodyPr/>
          <a:lstStyle/>
          <a:p>
            <a:fld id="{8C4562F5-9C85-F843-B903-B3B42F5C4F35}" type="slidenum">
              <a:rPr lang="en-US" smtClean="0"/>
              <a:t>11</a:t>
            </a:fld>
            <a:endParaRPr lang="en-US"/>
          </a:p>
        </p:txBody>
      </p:sp>
    </p:spTree>
    <p:extLst>
      <p:ext uri="{BB962C8B-B14F-4D97-AF65-F5344CB8AC3E}">
        <p14:creationId xmlns:p14="http://schemas.microsoft.com/office/powerpoint/2010/main" val="27237984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12</a:t>
            </a:fld>
            <a:endParaRPr lang="en-US"/>
          </a:p>
        </p:txBody>
      </p:sp>
    </p:spTree>
    <p:extLst>
      <p:ext uri="{BB962C8B-B14F-4D97-AF65-F5344CB8AC3E}">
        <p14:creationId xmlns:p14="http://schemas.microsoft.com/office/powerpoint/2010/main" val="1885216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13</a:t>
            </a:fld>
            <a:endParaRPr lang="en-US"/>
          </a:p>
        </p:txBody>
      </p:sp>
    </p:spTree>
    <p:extLst>
      <p:ext uri="{BB962C8B-B14F-4D97-AF65-F5344CB8AC3E}">
        <p14:creationId xmlns:p14="http://schemas.microsoft.com/office/powerpoint/2010/main" val="14331000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14</a:t>
            </a:fld>
            <a:endParaRPr lang="en-US"/>
          </a:p>
        </p:txBody>
      </p:sp>
    </p:spTree>
    <p:extLst>
      <p:ext uri="{BB962C8B-B14F-4D97-AF65-F5344CB8AC3E}">
        <p14:creationId xmlns:p14="http://schemas.microsoft.com/office/powerpoint/2010/main" val="2393286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15</a:t>
            </a:fld>
            <a:endParaRPr lang="en-US"/>
          </a:p>
        </p:txBody>
      </p:sp>
    </p:spTree>
    <p:extLst>
      <p:ext uri="{BB962C8B-B14F-4D97-AF65-F5344CB8AC3E}">
        <p14:creationId xmlns:p14="http://schemas.microsoft.com/office/powerpoint/2010/main" val="4112251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16</a:t>
            </a:fld>
            <a:endParaRPr lang="en-US"/>
          </a:p>
        </p:txBody>
      </p:sp>
    </p:spTree>
    <p:extLst>
      <p:ext uri="{BB962C8B-B14F-4D97-AF65-F5344CB8AC3E}">
        <p14:creationId xmlns:p14="http://schemas.microsoft.com/office/powerpoint/2010/main" val="6994411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17</a:t>
            </a:fld>
            <a:endParaRPr lang="en-US"/>
          </a:p>
        </p:txBody>
      </p:sp>
    </p:spTree>
    <p:extLst>
      <p:ext uri="{BB962C8B-B14F-4D97-AF65-F5344CB8AC3E}">
        <p14:creationId xmlns:p14="http://schemas.microsoft.com/office/powerpoint/2010/main" val="4190300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18</a:t>
            </a:fld>
            <a:endParaRPr lang="en-US"/>
          </a:p>
        </p:txBody>
      </p:sp>
    </p:spTree>
    <p:extLst>
      <p:ext uri="{BB962C8B-B14F-4D97-AF65-F5344CB8AC3E}">
        <p14:creationId xmlns:p14="http://schemas.microsoft.com/office/powerpoint/2010/main" val="3045204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19</a:t>
            </a:fld>
            <a:endParaRPr lang="en-US"/>
          </a:p>
        </p:txBody>
      </p:sp>
    </p:spTree>
    <p:extLst>
      <p:ext uri="{BB962C8B-B14F-4D97-AF65-F5344CB8AC3E}">
        <p14:creationId xmlns:p14="http://schemas.microsoft.com/office/powerpoint/2010/main" val="11639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20</a:t>
            </a:fld>
            <a:endParaRPr lang="en-US"/>
          </a:p>
        </p:txBody>
      </p:sp>
    </p:spTree>
    <p:extLst>
      <p:ext uri="{BB962C8B-B14F-4D97-AF65-F5344CB8AC3E}">
        <p14:creationId xmlns:p14="http://schemas.microsoft.com/office/powerpoint/2010/main" val="8616307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21</a:t>
            </a:fld>
            <a:endParaRPr lang="en-US"/>
          </a:p>
        </p:txBody>
      </p:sp>
    </p:spTree>
    <p:extLst>
      <p:ext uri="{BB962C8B-B14F-4D97-AF65-F5344CB8AC3E}">
        <p14:creationId xmlns:p14="http://schemas.microsoft.com/office/powerpoint/2010/main" val="2323447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22</a:t>
            </a:fld>
            <a:endParaRPr lang="en-US"/>
          </a:p>
        </p:txBody>
      </p:sp>
    </p:spTree>
    <p:extLst>
      <p:ext uri="{BB962C8B-B14F-4D97-AF65-F5344CB8AC3E}">
        <p14:creationId xmlns:p14="http://schemas.microsoft.com/office/powerpoint/2010/main" val="37555238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23</a:t>
            </a:fld>
            <a:endParaRPr lang="en-US"/>
          </a:p>
        </p:txBody>
      </p:sp>
    </p:spTree>
    <p:extLst>
      <p:ext uri="{BB962C8B-B14F-4D97-AF65-F5344CB8AC3E}">
        <p14:creationId xmlns:p14="http://schemas.microsoft.com/office/powerpoint/2010/main" val="10530189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471cabb3c4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471cabb3c4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C4562F5-9C85-F843-B903-B3B42F5C4F35}" type="slidenum">
              <a:rPr lang="en-US" smtClean="0"/>
              <a:t>25</a:t>
            </a:fld>
            <a:endParaRPr lang="en-US"/>
          </a:p>
        </p:txBody>
      </p:sp>
    </p:spTree>
    <p:extLst>
      <p:ext uri="{BB962C8B-B14F-4D97-AF65-F5344CB8AC3E}">
        <p14:creationId xmlns:p14="http://schemas.microsoft.com/office/powerpoint/2010/main" val="2913879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A0336-8574-4030-1301-6FB97425F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83D22-9953-74C4-0CB4-BAB399D7C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0DA62C-4852-57B5-1AE4-42CA643F13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E445B5-891F-BB14-9446-091348D06AAD}"/>
              </a:ext>
            </a:extLst>
          </p:cNvPr>
          <p:cNvSpPr>
            <a:spLocks noGrp="1"/>
          </p:cNvSpPr>
          <p:nvPr>
            <p:ph type="sldNum" sz="quarter" idx="5"/>
          </p:nvPr>
        </p:nvSpPr>
        <p:spPr/>
        <p:txBody>
          <a:bodyPr/>
          <a:lstStyle/>
          <a:p>
            <a:fld id="{8C4562F5-9C85-F843-B903-B3B42F5C4F35}" type="slidenum">
              <a:rPr lang="en-US" smtClean="0"/>
              <a:t>26</a:t>
            </a:fld>
            <a:endParaRPr lang="en-US"/>
          </a:p>
        </p:txBody>
      </p:sp>
    </p:spTree>
    <p:extLst>
      <p:ext uri="{BB962C8B-B14F-4D97-AF65-F5344CB8AC3E}">
        <p14:creationId xmlns:p14="http://schemas.microsoft.com/office/powerpoint/2010/main" val="2164609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90BD9A7-939F-844E-AA9E-BD9AA1552764}" type="slidenum">
              <a:rPr lang="en-US" smtClean="0"/>
              <a:t>27</a:t>
            </a:fld>
            <a:endParaRPr lang="en-US"/>
          </a:p>
        </p:txBody>
      </p:sp>
    </p:spTree>
    <p:extLst>
      <p:ext uri="{BB962C8B-B14F-4D97-AF65-F5344CB8AC3E}">
        <p14:creationId xmlns:p14="http://schemas.microsoft.com/office/powerpoint/2010/main" val="5494889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471cabb3c4_1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471cabb3c4_1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086286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a:extLst>
            <a:ext uri="{FF2B5EF4-FFF2-40B4-BE49-F238E27FC236}">
              <a16:creationId xmlns:a16="http://schemas.microsoft.com/office/drawing/2014/main" id="{214DB5E6-76DA-1A18-D5F7-05AF41713E1E}"/>
            </a:ext>
          </a:extLst>
        </p:cNvPr>
        <p:cNvGrpSpPr/>
        <p:nvPr/>
      </p:nvGrpSpPr>
      <p:grpSpPr>
        <a:xfrm>
          <a:off x="0" y="0"/>
          <a:ext cx="0" cy="0"/>
          <a:chOff x="0" y="0"/>
          <a:chExt cx="0" cy="0"/>
        </a:xfrm>
      </p:grpSpPr>
      <p:sp>
        <p:nvSpPr>
          <p:cNvPr id="499" name="Google Shape;499;g3471cabb3c4_1_271:notes">
            <a:extLst>
              <a:ext uri="{FF2B5EF4-FFF2-40B4-BE49-F238E27FC236}">
                <a16:creationId xmlns:a16="http://schemas.microsoft.com/office/drawing/2014/main" id="{834C6890-F80D-98F3-1A41-5FEDDC771A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471cabb3c4_1_271:notes">
            <a:extLst>
              <a:ext uri="{FF2B5EF4-FFF2-40B4-BE49-F238E27FC236}">
                <a16:creationId xmlns:a16="http://schemas.microsoft.com/office/drawing/2014/main" id="{EA7B35ED-D56C-7645-C9B3-4BDEFBB6B9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7386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tiff"/><Relationship Id="rId4"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7.emf"/><Relationship Id="rId4" Type="http://schemas.openxmlformats.org/officeDocument/2006/relationships/image" Target="../media/image2.tif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7.emf"/><Relationship Id="rId4" Type="http://schemas.openxmlformats.org/officeDocument/2006/relationships/image" Target="../media/image2.tif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7.emf"/><Relationship Id="rId4" Type="http://schemas.openxmlformats.org/officeDocument/2006/relationships/image" Target="../media/image2.tif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1.pn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2.tiff"/><Relationship Id="rId5" Type="http://schemas.openxmlformats.org/officeDocument/2006/relationships/image" Target="../media/image9.jpg"/><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7.emf"/><Relationship Id="rId5" Type="http://schemas.openxmlformats.org/officeDocument/2006/relationships/image" Target="../media/image2.tiff"/><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504D8-8C6A-A1BE-E710-691D034BA2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7B3F4E-7F7A-7010-DF2B-2B5FC40C0C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36350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1185DB5B-BEBF-6B87-32BE-E3D2FAA3FCBC}"/>
              </a:ext>
            </a:extLst>
          </p:cNvPr>
          <p:cNvSpPr>
            <a:spLocks noGrp="1"/>
          </p:cNvSpPr>
          <p:nvPr>
            <p:ph type="title"/>
          </p:nvPr>
        </p:nvSpPr>
        <p:spPr>
          <a:xfrm>
            <a:off x="2201021" y="4561558"/>
            <a:ext cx="7789961" cy="761999"/>
          </a:xfrm>
          <a:prstGeom prst="rect">
            <a:avLst/>
          </a:prstGeom>
        </p:spPr>
        <p:txBody>
          <a:bodyPr/>
          <a:lstStyle>
            <a:lvl1pPr algn="ctr">
              <a:defRPr sz="4267" b="1" i="0">
                <a:solidFill>
                  <a:schemeClr val="accent3">
                    <a:alpha val="99000"/>
                  </a:schemeClr>
                </a:solidFill>
                <a:latin typeface="18 VAG Rounded Bold   07390" pitchFamily="2" charset="0"/>
              </a:defRPr>
            </a:lvl1pPr>
          </a:lstStyle>
          <a:p>
            <a:r>
              <a:rPr lang="en-US" dirty="0"/>
              <a:t>Click to edit Master title style</a:t>
            </a:r>
          </a:p>
        </p:txBody>
      </p:sp>
      <p:sp>
        <p:nvSpPr>
          <p:cNvPr id="12" name="Rectangle 4">
            <a:extLst>
              <a:ext uri="{FF2B5EF4-FFF2-40B4-BE49-F238E27FC236}">
                <a16:creationId xmlns:a16="http://schemas.microsoft.com/office/drawing/2014/main" id="{BD695780-6F13-8D58-9C18-35AACFB3588F}"/>
              </a:ext>
            </a:extLst>
          </p:cNvPr>
          <p:cNvSpPr>
            <a:spLocks noChangeArrowheads="1"/>
          </p:cNvSpPr>
          <p:nvPr/>
        </p:nvSpPr>
        <p:spPr bwMode="auto">
          <a:xfrm>
            <a:off x="2641600" y="405076"/>
            <a:ext cx="6908800" cy="1632842"/>
          </a:xfrm>
          <a:prstGeom prst="rect">
            <a:avLst/>
          </a:prstGeom>
          <a:noFill/>
          <a:ln w="12700">
            <a:noFill/>
            <a:miter lim="800000"/>
            <a:headEnd/>
            <a:tailEnd/>
          </a:ln>
          <a:scene3d>
            <a:camera prst="orthographicFront"/>
            <a:lightRig rig="threePt" dir="t"/>
          </a:scene3d>
          <a:sp3d>
            <a:contourClr>
              <a:schemeClr val="bg1"/>
            </a:contourClr>
          </a:sp3d>
        </p:spPr>
        <p:txBody>
          <a:bodyPr wrap="square" lIns="75592" tIns="30237" rIns="75592" bIns="30237" anchor="ctr">
            <a:prstTxWarp prst="textNoShape">
              <a:avLst/>
            </a:prstTxWarp>
            <a:spAutoFit/>
            <a:sp3d extrusionH="25400">
              <a:bevelT w="38100" h="31750"/>
              <a:contourClr>
                <a:srgbClr val="4991B1"/>
              </a:contourClr>
            </a:sp3d>
          </a:bodyPr>
          <a:lstStyle/>
          <a:p>
            <a:pPr algn="ctr" eaLnBrk="0" hangingPunct="0">
              <a:lnSpc>
                <a:spcPct val="77000"/>
              </a:lnSpc>
            </a:pPr>
            <a:r>
              <a:rPr lang="en-US" sz="12800" dirty="0">
                <a:ln w="0"/>
                <a:solidFill>
                  <a:srgbClr val="4991B1">
                    <a:alpha val="99000"/>
                  </a:srgbClr>
                </a:solidFill>
                <a:effectLst/>
                <a:latin typeface="18 VAG Rounded Bold   07390" charset="0"/>
              </a:rPr>
              <a:t>CS61C</a:t>
            </a:r>
            <a:endParaRPr lang="en-US" sz="6400" b="1" dirty="0">
              <a:solidFill>
                <a:srgbClr val="4991B1">
                  <a:alpha val="99000"/>
                </a:srgbClr>
              </a:solidFill>
              <a:latin typeface="18 VAG Rounded Bold   07390" charset="0"/>
            </a:endParaRPr>
          </a:p>
        </p:txBody>
      </p:sp>
      <p:sp>
        <p:nvSpPr>
          <p:cNvPr id="15" name="Rectangle 4">
            <a:extLst>
              <a:ext uri="{FF2B5EF4-FFF2-40B4-BE49-F238E27FC236}">
                <a16:creationId xmlns:a16="http://schemas.microsoft.com/office/drawing/2014/main" id="{62D69298-76B5-35A4-3319-24FFE4F5CE8B}"/>
              </a:ext>
            </a:extLst>
          </p:cNvPr>
          <p:cNvSpPr>
            <a:spLocks noChangeArrowheads="1"/>
          </p:cNvSpPr>
          <p:nvPr/>
        </p:nvSpPr>
        <p:spPr bwMode="auto">
          <a:xfrm>
            <a:off x="2641600" y="1859824"/>
            <a:ext cx="6908800" cy="1540509"/>
          </a:xfrm>
          <a:prstGeom prst="rect">
            <a:avLst/>
          </a:prstGeom>
          <a:noFill/>
          <a:ln w="12700">
            <a:noFill/>
            <a:miter lim="800000"/>
            <a:headEnd/>
            <a:tailEnd/>
          </a:ln>
        </p:spPr>
        <p:txBody>
          <a:bodyPr wrap="square" lIns="75592" tIns="30237" rIns="75592" bIns="30237" anchor="ctr">
            <a:prstTxWarp prst="textNoShape">
              <a:avLst/>
            </a:prstTxWarp>
            <a:spAutoFit/>
          </a:bodyPr>
          <a:lstStyle/>
          <a:p>
            <a:pPr algn="ctr" eaLnBrk="0" hangingPunct="0">
              <a:lnSpc>
                <a:spcPct val="77000"/>
              </a:lnSpc>
            </a:pPr>
            <a:r>
              <a:rPr lang="en-US" sz="3333" b="1" dirty="0">
                <a:solidFill>
                  <a:schemeClr val="bg1">
                    <a:alpha val="99000"/>
                  </a:schemeClr>
                </a:solidFill>
                <a:latin typeface="18 VAG Rounded Bold   07390" charset="0"/>
              </a:rPr>
              <a:t>Great Ideas</a:t>
            </a:r>
          </a:p>
          <a:p>
            <a:pPr algn="ctr" eaLnBrk="0" hangingPunct="0">
              <a:lnSpc>
                <a:spcPct val="77000"/>
              </a:lnSpc>
            </a:pPr>
            <a:r>
              <a:rPr lang="en-US" sz="3333" b="1" dirty="0">
                <a:solidFill>
                  <a:schemeClr val="bg1">
                    <a:alpha val="99000"/>
                  </a:schemeClr>
                </a:solidFill>
                <a:latin typeface="18 VAG Rounded Bold   07390" charset="0"/>
              </a:rPr>
              <a:t>in</a:t>
            </a:r>
            <a:br>
              <a:rPr lang="en-US" sz="3333" b="1" dirty="0">
                <a:solidFill>
                  <a:schemeClr val="bg1">
                    <a:alpha val="99000"/>
                  </a:schemeClr>
                </a:solidFill>
                <a:latin typeface="18 VAG Rounded Bold   07390" charset="0"/>
              </a:rPr>
            </a:br>
            <a:r>
              <a:rPr lang="en-US" sz="3333" b="1" dirty="0">
                <a:solidFill>
                  <a:schemeClr val="bg1">
                    <a:alpha val="99000"/>
                  </a:schemeClr>
                </a:solidFill>
                <a:latin typeface="18 VAG Rounded Bold   07390" charset="0"/>
              </a:rPr>
              <a:t>Computer Architecture</a:t>
            </a:r>
          </a:p>
          <a:p>
            <a:pPr algn="ctr" eaLnBrk="0" hangingPunct="0">
              <a:lnSpc>
                <a:spcPct val="77000"/>
              </a:lnSpc>
            </a:pPr>
            <a:r>
              <a:rPr lang="en-US" sz="2400" dirty="0">
                <a:solidFill>
                  <a:schemeClr val="bg2">
                    <a:alpha val="99000"/>
                  </a:schemeClr>
                </a:solidFill>
                <a:latin typeface="18 VAG Rounded Thin   55390" pitchFamily="2" charset="0"/>
              </a:rPr>
              <a:t>(a.k.a. Machine Structures)</a:t>
            </a:r>
            <a:endParaRPr lang="en-US" sz="3833" b="1" dirty="0">
              <a:solidFill>
                <a:schemeClr val="bg2">
                  <a:alpha val="99000"/>
                </a:schemeClr>
              </a:solidFill>
              <a:latin typeface="18 VAG Rounded Bold   07390" charset="0"/>
            </a:endParaRPr>
          </a:p>
        </p:txBody>
      </p:sp>
      <p:pic>
        <p:nvPicPr>
          <p:cNvPr id="16" name="Google Shape;23;p49">
            <a:extLst>
              <a:ext uri="{FF2B5EF4-FFF2-40B4-BE49-F238E27FC236}">
                <a16:creationId xmlns:a16="http://schemas.microsoft.com/office/drawing/2014/main" id="{34967360-50B3-A7B0-0715-41A94158E827}"/>
              </a:ext>
            </a:extLst>
          </p:cNvPr>
          <p:cNvPicPr preferRelativeResize="0"/>
          <p:nvPr/>
        </p:nvPicPr>
        <p:blipFill>
          <a:blip r:embed="rId2"/>
          <a:srcRect l="481" r="481"/>
          <a:stretch/>
        </p:blipFill>
        <p:spPr>
          <a:xfrm>
            <a:off x="8888173" y="410681"/>
            <a:ext cx="1266560" cy="1705135"/>
          </a:xfrm>
          <a:prstGeom prst="roundRect">
            <a:avLst>
              <a:gd name="adj" fmla="val 8594"/>
            </a:avLst>
          </a:prstGeom>
          <a:solidFill>
            <a:srgbClr val="ECECEC"/>
          </a:solidFill>
          <a:ln>
            <a:noFill/>
          </a:ln>
          <a:effectLst>
            <a:reflection stA="38000" endPos="28000" dist="5000" dir="5400000" sy="-100000" algn="bl" rotWithShape="0"/>
          </a:effectLst>
        </p:spPr>
      </p:pic>
      <p:sp>
        <p:nvSpPr>
          <p:cNvPr id="17" name="TextBox 16">
            <a:extLst>
              <a:ext uri="{FF2B5EF4-FFF2-40B4-BE49-F238E27FC236}">
                <a16:creationId xmlns:a16="http://schemas.microsoft.com/office/drawing/2014/main" id="{3BECC42E-4CE3-4707-674B-71A0975151E3}"/>
              </a:ext>
            </a:extLst>
          </p:cNvPr>
          <p:cNvSpPr txBox="1"/>
          <p:nvPr/>
        </p:nvSpPr>
        <p:spPr>
          <a:xfrm>
            <a:off x="8410205" y="2493787"/>
            <a:ext cx="2222500" cy="861967"/>
          </a:xfrm>
          <a:prstGeom prst="rect">
            <a:avLst/>
          </a:prstGeom>
          <a:noFill/>
        </p:spPr>
        <p:txBody>
          <a:bodyPr wrap="square">
            <a:spAutoFit/>
          </a:bodyPr>
          <a:lstStyle/>
          <a:p>
            <a:pPr algn="ctr">
              <a:defRPr/>
            </a:pPr>
            <a:r>
              <a:rPr lang="en-US" sz="1667" b="1" dirty="0">
                <a:solidFill>
                  <a:schemeClr val="bg1">
                    <a:lumMod val="50000"/>
                    <a:alpha val="99000"/>
                  </a:schemeClr>
                </a:solidFill>
                <a:latin typeface="18 VAG Rounded Bold   07390"/>
              </a:rPr>
              <a:t>Assistant Teaching Professor</a:t>
            </a:r>
            <a:br>
              <a:rPr lang="en-US" sz="1667" b="1" dirty="0">
                <a:solidFill>
                  <a:schemeClr val="bg1">
                    <a:lumMod val="50000"/>
                    <a:alpha val="99000"/>
                  </a:schemeClr>
                </a:solidFill>
                <a:latin typeface="18 VAG Rounded Bold   07390"/>
              </a:rPr>
            </a:br>
            <a:r>
              <a:rPr lang="en-US" sz="1667" b="1" dirty="0">
                <a:solidFill>
                  <a:schemeClr val="bg1">
                    <a:lumMod val="50000"/>
                    <a:alpha val="99000"/>
                  </a:schemeClr>
                </a:solidFill>
                <a:latin typeface="18 VAG Rounded Bold   07390"/>
              </a:rPr>
              <a:t>Lisa Yan</a:t>
            </a:r>
          </a:p>
        </p:txBody>
      </p:sp>
      <p:sp>
        <p:nvSpPr>
          <p:cNvPr id="19" name="Google Shape;24;p49">
            <a:extLst>
              <a:ext uri="{FF2B5EF4-FFF2-40B4-BE49-F238E27FC236}">
                <a16:creationId xmlns:a16="http://schemas.microsoft.com/office/drawing/2014/main" id="{55D34F2F-A07D-B6C8-15A2-8BEA5F388780}"/>
              </a:ext>
            </a:extLst>
          </p:cNvPr>
          <p:cNvSpPr/>
          <p:nvPr/>
        </p:nvSpPr>
        <p:spPr>
          <a:xfrm>
            <a:off x="3822337" y="6370191"/>
            <a:ext cx="4547326" cy="492388"/>
          </a:xfrm>
          <a:prstGeom prst="rect">
            <a:avLst/>
          </a:prstGeom>
          <a:gradFill>
            <a:gsLst>
              <a:gs pos="0">
                <a:srgbClr val="002A52"/>
              </a:gs>
              <a:gs pos="100000">
                <a:srgbClr val="003262"/>
              </a:gs>
            </a:gsLst>
            <a:lin ang="5400000" scaled="0"/>
          </a:gradFill>
          <a:ln>
            <a:noFill/>
          </a:ln>
        </p:spPr>
        <p:txBody>
          <a:bodyPr spcFirstLastPara="1" wrap="square" lIns="121900" tIns="60933" rIns="121900" bIns="60933" anchor="t" anchorCtr="0">
            <a:spAutoFit/>
          </a:bodyPr>
          <a:lstStyle/>
          <a:p>
            <a:pPr marL="0" marR="0" lvl="0" indent="0" algn="ctr" rtl="0">
              <a:spcBef>
                <a:spcPts val="0"/>
              </a:spcBef>
              <a:spcAft>
                <a:spcPts val="0"/>
              </a:spcAft>
              <a:buNone/>
            </a:pPr>
            <a:r>
              <a:rPr lang="en-US" sz="1867" b="1" i="0" u="none" strike="noStrike" cap="none">
                <a:solidFill>
                  <a:schemeClr val="lt1"/>
                </a:solidFill>
                <a:latin typeface="Courier"/>
                <a:ea typeface="Courier"/>
                <a:cs typeface="Courier"/>
                <a:sym typeface="Courier"/>
              </a:rPr>
              <a:t>cs61c.org</a:t>
            </a:r>
            <a:r>
              <a:rPr lang="en-US" sz="2400" b="1" i="0" u="none" strike="noStrike" cap="none">
                <a:solidFill>
                  <a:schemeClr val="lt1"/>
                </a:solidFill>
                <a:latin typeface="Helvetica Neue"/>
                <a:ea typeface="Helvetica Neue"/>
                <a:cs typeface="Helvetica Neue"/>
                <a:sym typeface="Helvetica Neue"/>
              </a:rPr>
              <a:t> </a:t>
            </a:r>
            <a:endParaRPr sz="21199" b="0" i="0" u="none" strike="noStrike" cap="none">
              <a:solidFill>
                <a:schemeClr val="lt1"/>
              </a:solidFill>
              <a:latin typeface="Helvetica Neue"/>
              <a:ea typeface="Helvetica Neue"/>
              <a:cs typeface="Helvetica Neue"/>
              <a:sym typeface="Helvetica Neue"/>
            </a:endParaRPr>
          </a:p>
        </p:txBody>
      </p:sp>
      <p:sp>
        <p:nvSpPr>
          <p:cNvPr id="20" name="Google Shape;19;p49">
            <a:extLst>
              <a:ext uri="{FF2B5EF4-FFF2-40B4-BE49-F238E27FC236}">
                <a16:creationId xmlns:a16="http://schemas.microsoft.com/office/drawing/2014/main" id="{6FB1CB93-C34B-732D-69A5-FDC99B477111}"/>
              </a:ext>
            </a:extLst>
          </p:cNvPr>
          <p:cNvSpPr/>
          <p:nvPr/>
        </p:nvSpPr>
        <p:spPr>
          <a:xfrm>
            <a:off x="3108960" y="5135309"/>
            <a:ext cx="5974080" cy="471948"/>
          </a:xfrm>
          <a:prstGeom prst="ellipse">
            <a:avLst/>
          </a:prstGeom>
          <a:solidFill>
            <a:srgbClr val="3A7EA2">
              <a:alpha val="16862"/>
            </a:srgbClr>
          </a:solidFill>
          <a:ln>
            <a:noFill/>
          </a:ln>
        </p:spPr>
        <p:txBody>
          <a:bodyPr spcFirstLastPara="1" wrap="square" lIns="108833" tIns="54400" rIns="108833" bIns="54400" anchor="ctr" anchorCtr="0">
            <a:noAutofit/>
          </a:bodyPr>
          <a:lstStyle/>
          <a:p>
            <a:pPr marL="0" marR="0" lvl="0" indent="0" algn="ctr" rtl="0">
              <a:spcBef>
                <a:spcPts val="0"/>
              </a:spcBef>
              <a:spcAft>
                <a:spcPts val="0"/>
              </a:spcAft>
              <a:buNone/>
            </a:pPr>
            <a:endParaRPr sz="19062" b="0" i="0" u="none" strike="noStrike" cap="none">
              <a:solidFill>
                <a:schemeClr val="lt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754323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27AE-C995-6797-2C40-9C48BCC624EE}"/>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2C64BA-0D42-6AAA-24D0-2B99AC909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AD4CD3E-7661-9ED1-E307-83D9CDBD2C60}"/>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EEA16AC-3D5F-DAA1-4E0B-B5CF4BF5390A}"/>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540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1D8D4BA-5CFB-7F64-C19D-CFBCDCDDFD60}"/>
              </a:ext>
            </a:extLst>
          </p:cNvPr>
          <p:cNvSpPr>
            <a:spLocks noGrp="1"/>
          </p:cNvSpPr>
          <p:nvPr>
            <p:ph type="body" idx="1"/>
          </p:nvPr>
        </p:nvSpPr>
        <p:spPr>
          <a:xfrm>
            <a:off x="5842475" y="909321"/>
            <a:ext cx="5998909" cy="5364480"/>
          </a:xfrm>
        </p:spPr>
        <p:txBody>
          <a:bodyPr anchor="ctr">
            <a:normAutofit/>
          </a:bodyPr>
          <a:lstStyle>
            <a:lvl1pPr marL="609585" indent="-531271">
              <a:lnSpc>
                <a:spcPct val="100000"/>
              </a:lnSpc>
              <a:buFont typeface="Arial" panose="020B0604020202020204" pitchFamily="34" charset="0"/>
              <a:buChar char="•"/>
              <a:tabLst/>
              <a:defRPr sz="3600" b="0" i="0">
                <a:solidFill>
                  <a:schemeClr val="bg1"/>
                </a:solidFill>
                <a:latin typeface="18 VAG Rounded Light   02390"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Click to edit Master text styles</a:t>
            </a:r>
          </a:p>
        </p:txBody>
      </p:sp>
      <p:sp>
        <p:nvSpPr>
          <p:cNvPr id="9" name="Rectangle 8">
            <a:extLst>
              <a:ext uri="{FF2B5EF4-FFF2-40B4-BE49-F238E27FC236}">
                <a16:creationId xmlns:a16="http://schemas.microsoft.com/office/drawing/2014/main" id="{F25CEBC6-3272-877B-6FC0-88185C9300D1}"/>
              </a:ext>
            </a:extLst>
          </p:cNvPr>
          <p:cNvSpPr/>
          <p:nvPr/>
        </p:nvSpPr>
        <p:spPr>
          <a:xfrm>
            <a:off x="0" y="908051"/>
            <a:ext cx="5514021" cy="5365751"/>
          </a:xfrm>
          <a:prstGeom prst="rect">
            <a:avLst/>
          </a:prstGeom>
          <a:gradFill>
            <a:gsLst>
              <a:gs pos="0">
                <a:schemeClr val="tx1">
                  <a:alpha val="15000"/>
                </a:schemeClr>
              </a:gs>
              <a:gs pos="100000">
                <a:srgbClr val="3A7EA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0" i="0">
              <a:latin typeface="18 VAG Rounded Light   02390" pitchFamily="2" charset="0"/>
            </a:endParaRPr>
          </a:p>
        </p:txBody>
      </p:sp>
      <p:cxnSp>
        <p:nvCxnSpPr>
          <p:cNvPr id="7" name="Straight Connector 6">
            <a:extLst>
              <a:ext uri="{FF2B5EF4-FFF2-40B4-BE49-F238E27FC236}">
                <a16:creationId xmlns:a16="http://schemas.microsoft.com/office/drawing/2014/main" id="{61C5CA34-43CE-D2B0-CA59-D41610FD01AD}"/>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F5A31750-A405-1B89-FEC0-D5EA9AD8CE83}"/>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36AF6151-774C-D88A-F797-71D61040CA9B}"/>
              </a:ext>
            </a:extLst>
          </p:cNvPr>
          <p:cNvSpPr>
            <a:spLocks noGrp="1"/>
          </p:cNvSpPr>
          <p:nvPr>
            <p:ph type="title"/>
          </p:nvPr>
        </p:nvSpPr>
        <p:spPr>
          <a:xfrm>
            <a:off x="330437" y="886850"/>
            <a:ext cx="5181600" cy="5365751"/>
          </a:xfrm>
          <a:prstGeom prst="rect">
            <a:avLst/>
          </a:prstGeom>
        </p:spPr>
        <p:txBody>
          <a:bodyPr anchor="ctr">
            <a:normAutofit/>
          </a:bodyPr>
          <a:lstStyle>
            <a:lvl1pPr marL="78315" indent="0">
              <a:tabLst/>
              <a:defRPr sz="5867" b="1" i="0">
                <a:solidFill>
                  <a:schemeClr val="accent3">
                    <a:alpha val="99000"/>
                  </a:schemeClr>
                </a:solidFill>
                <a:latin typeface="18 VAG Rounded Bold   07390" pitchFamily="2" charset="0"/>
              </a:defRPr>
            </a:lvl1pPr>
          </a:lstStyle>
          <a:p>
            <a:r>
              <a:rPr lang="en-US"/>
              <a:t>Click to edit Master title style</a:t>
            </a:r>
            <a:endParaRPr lang="en-US" dirty="0"/>
          </a:p>
        </p:txBody>
      </p:sp>
      <p:sp>
        <p:nvSpPr>
          <p:cNvPr id="13" name="Google Shape;19;p49">
            <a:extLst>
              <a:ext uri="{FF2B5EF4-FFF2-40B4-BE49-F238E27FC236}">
                <a16:creationId xmlns:a16="http://schemas.microsoft.com/office/drawing/2014/main" id="{EE6D3610-51E7-072A-C443-EB48D2CE05B3}"/>
              </a:ext>
            </a:extLst>
          </p:cNvPr>
          <p:cNvSpPr/>
          <p:nvPr/>
        </p:nvSpPr>
        <p:spPr>
          <a:xfrm>
            <a:off x="330438" y="5084098"/>
            <a:ext cx="4740068" cy="471948"/>
          </a:xfrm>
          <a:prstGeom prst="ellipse">
            <a:avLst/>
          </a:prstGeom>
          <a:solidFill>
            <a:srgbClr val="3A7EA2">
              <a:alpha val="16862"/>
            </a:srgbClr>
          </a:solidFill>
          <a:ln>
            <a:noFill/>
          </a:ln>
        </p:spPr>
        <p:txBody>
          <a:bodyPr spcFirstLastPara="1" wrap="square" lIns="108833" tIns="54400" rIns="108833" bIns="54400" anchor="ctr" anchorCtr="0">
            <a:noAutofit/>
          </a:bodyPr>
          <a:lstStyle/>
          <a:p>
            <a:pPr marL="0" marR="0" lvl="0" indent="0" algn="ctr" rtl="0">
              <a:spcBef>
                <a:spcPts val="0"/>
              </a:spcBef>
              <a:spcAft>
                <a:spcPts val="0"/>
              </a:spcAft>
              <a:buNone/>
            </a:pPr>
            <a:endParaRPr sz="19062" b="0" i="0" u="none" strike="noStrike" cap="none">
              <a:solidFill>
                <a:schemeClr val="lt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102920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3AF8-3354-C1AF-87B5-7D4A7143ADD8}"/>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41D4C7F-8368-7F6B-D89B-1288477CF36D}"/>
              </a:ext>
            </a:extLst>
          </p:cNvPr>
          <p:cNvSpPr>
            <a:spLocks noGrp="1"/>
          </p:cNvSpPr>
          <p:nvPr>
            <p:ph sz="half" idx="1"/>
          </p:nvPr>
        </p:nvSpPr>
        <p:spPr>
          <a:xfrm>
            <a:off x="288413" y="916710"/>
            <a:ext cx="5303520" cy="5260254"/>
          </a:xfrm>
        </p:spPr>
        <p:txBody>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9006F8F-A65B-D532-67B0-48E3513EBCAF}"/>
              </a:ext>
            </a:extLst>
          </p:cNvPr>
          <p:cNvSpPr>
            <a:spLocks noGrp="1"/>
          </p:cNvSpPr>
          <p:nvPr>
            <p:ph sz="half" idx="2"/>
          </p:nvPr>
        </p:nvSpPr>
        <p:spPr>
          <a:xfrm>
            <a:off x="6172200" y="933316"/>
            <a:ext cx="5394960" cy="5243648"/>
          </a:xfrm>
        </p:spPr>
        <p:txBody>
          <a:bodyPr/>
          <a:lstStyle>
            <a:lvl1pPr>
              <a:defRPr sz="3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8B77D10F-3A40-C609-3618-CF470B0B02F3}"/>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17E0520-96D2-C5AA-6269-0C2469184946}"/>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85543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1067-BA44-3904-7E43-138A62BA99D5}"/>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endParaRPr lang="en-US" dirty="0"/>
          </a:p>
        </p:txBody>
      </p:sp>
      <p:cxnSp>
        <p:nvCxnSpPr>
          <p:cNvPr id="6" name="Straight Connector 5">
            <a:extLst>
              <a:ext uri="{FF2B5EF4-FFF2-40B4-BE49-F238E27FC236}">
                <a16:creationId xmlns:a16="http://schemas.microsoft.com/office/drawing/2014/main" id="{BE714379-5477-4D73-C7EF-823FDEF56496}"/>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C46669C0-8787-EED5-07F5-111A4D70AA8F}"/>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81156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512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enter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9A3CF7-6031-BD55-66FF-DEF78D03F467}"/>
              </a:ext>
            </a:extLst>
          </p:cNvPr>
          <p:cNvSpPr>
            <a:spLocks noGrp="1"/>
          </p:cNvSpPr>
          <p:nvPr>
            <p:ph type="title"/>
          </p:nvPr>
        </p:nvSpPr>
        <p:spPr>
          <a:xfrm>
            <a:off x="2027465" y="2306249"/>
            <a:ext cx="8137073" cy="2245505"/>
          </a:xfrm>
        </p:spPr>
        <p:txBody>
          <a:bodyPr>
            <a:noAutofit/>
          </a:bodyPr>
          <a:lstStyle>
            <a:lvl1pPr algn="ctr">
              <a:defRPr sz="8533">
                <a:solidFill>
                  <a:schemeClr val="accent3"/>
                </a:solidFill>
              </a:defRPr>
            </a:lvl1pPr>
          </a:lstStyle>
          <a:p>
            <a:r>
              <a:rPr lang="en-US"/>
              <a:t>Click to edit Master title style</a:t>
            </a:r>
            <a:endParaRPr lang="en-US" dirty="0"/>
          </a:p>
        </p:txBody>
      </p:sp>
    </p:spTree>
    <p:extLst>
      <p:ext uri="{BB962C8B-B14F-4D97-AF65-F5344CB8AC3E}">
        <p14:creationId xmlns:p14="http://schemas.microsoft.com/office/powerpoint/2010/main" val="1030830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center">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75D6C36-AF3C-3D5D-85D0-B0BCB39B2FA3}"/>
              </a:ext>
            </a:extLst>
          </p:cNvPr>
          <p:cNvCxnSpPr/>
          <p:nvPr/>
        </p:nvCxnSpPr>
        <p:spPr>
          <a:xfrm>
            <a:off x="6096000" y="0"/>
            <a:ext cx="0" cy="6858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656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ne Column_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27AE-C995-6797-2C40-9C48BCC624EE}"/>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2C64BA-0D42-6AAA-24D0-2B99AC9097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AD4CD3E-7661-9ED1-E307-83D9CDBD2C60}"/>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EEA16AC-3D5F-DAA1-4E0B-B5CF4BF5390A}"/>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FABD31BE-11B0-12C9-4F44-86656D6D03F8}"/>
              </a:ext>
            </a:extLst>
          </p:cNvPr>
          <p:cNvCxnSpPr>
            <a:cxnSpLocks/>
          </p:cNvCxnSpPr>
          <p:nvPr/>
        </p:nvCxnSpPr>
        <p:spPr>
          <a:xfrm>
            <a:off x="6096000" y="0"/>
            <a:ext cx="0" cy="6858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29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Fa20_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27AE-C995-6797-2C40-9C48BCC624EE}"/>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2C64BA-0D42-6AAA-24D0-2B99AC90973D}"/>
              </a:ext>
            </a:extLst>
          </p:cNvPr>
          <p:cNvSpPr>
            <a:spLocks noGrp="1"/>
          </p:cNvSpPr>
          <p:nvPr>
            <p:ph idx="1"/>
          </p:nvPr>
        </p:nvSpPr>
        <p:spPr>
          <a:xfrm>
            <a:off x="3048000" y="898041"/>
            <a:ext cx="8572491" cy="5278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AD4CD3E-7661-9ED1-E307-83D9CDBD2C60}"/>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EEA16AC-3D5F-DAA1-4E0B-B5CF4BF5390A}"/>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49E1F49-FF31-2B00-2304-6BCA27806331}"/>
              </a:ext>
            </a:extLst>
          </p:cNvPr>
          <p:cNvCxnSpPr/>
          <p:nvPr/>
        </p:nvCxnSpPr>
        <p:spPr>
          <a:xfrm>
            <a:off x="3048000" y="0"/>
            <a:ext cx="0" cy="685800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66AFDBD-60BE-5483-0C26-669A37732B99}"/>
              </a:ext>
            </a:extLst>
          </p:cNvPr>
          <p:cNvCxnSpPr/>
          <p:nvPr/>
        </p:nvCxnSpPr>
        <p:spPr>
          <a:xfrm>
            <a:off x="7620000" y="0"/>
            <a:ext cx="0" cy="68580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4913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_Fa20_cent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27AE-C995-6797-2C40-9C48BCC624EE}"/>
              </a:ext>
            </a:extLst>
          </p:cNvPr>
          <p:cNvSpPr>
            <a:spLocks noGrp="1"/>
          </p:cNvSpPr>
          <p:nvPr>
            <p:ph type="title"/>
          </p:nvPr>
        </p:nvSpPr>
        <p:spPr>
          <a:xfrm>
            <a:off x="1104901" y="76199"/>
            <a:ext cx="10509504" cy="768096"/>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2C64BA-0D42-6AAA-24D0-2B99AC90973D}"/>
              </a:ext>
            </a:extLst>
          </p:cNvPr>
          <p:cNvSpPr>
            <a:spLocks noGrp="1"/>
          </p:cNvSpPr>
          <p:nvPr>
            <p:ph idx="1"/>
          </p:nvPr>
        </p:nvSpPr>
        <p:spPr>
          <a:xfrm>
            <a:off x="3048000" y="898041"/>
            <a:ext cx="8572491" cy="5278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8AD4CD3E-7661-9ED1-E307-83D9CDBD2C60}"/>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0EEA16AC-3D5F-DAA1-4E0B-B5CF4BF5390A}"/>
              </a:ext>
            </a:extLst>
          </p:cNvPr>
          <p:cNvCxnSpPr>
            <a:cxnSpLocks/>
          </p:cNvCxnSpPr>
          <p:nvPr/>
        </p:nvCxnSpPr>
        <p:spPr>
          <a:xfrm>
            <a:off x="1115843" y="888611"/>
            <a:ext cx="10466559" cy="389"/>
          </a:xfrm>
          <a:prstGeom prst="line">
            <a:avLst/>
          </a:prstGeom>
          <a:ln w="19050">
            <a:solidFill>
              <a:schemeClr val="bg1"/>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9032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68B2A-FB40-E32F-5166-4622746C42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7CBE5D-916B-9810-03A4-1958ED6BB4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4595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pic>
        <p:nvPicPr>
          <p:cNvPr id="17" name="Picture 16" descr="A picture containing food&#10;&#10;Description automatically generated">
            <a:extLst>
              <a:ext uri="{FF2B5EF4-FFF2-40B4-BE49-F238E27FC236}">
                <a16:creationId xmlns:a16="http://schemas.microsoft.com/office/drawing/2014/main" id="{CE9ED49C-E0F6-3E47-BD59-EA863495A67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3748BE3-3690-A64C-B81F-5D4836EADD7A}"/>
              </a:ext>
            </a:extLst>
          </p:cNvPr>
          <p:cNvSpPr>
            <a:spLocks noGrp="1"/>
          </p:cNvSpPr>
          <p:nvPr>
            <p:ph type="title"/>
          </p:nvPr>
        </p:nvSpPr>
        <p:spPr>
          <a:xfrm>
            <a:off x="3714751" y="4561556"/>
            <a:ext cx="7823200" cy="762000"/>
          </a:xfrm>
        </p:spPr>
        <p:txBody>
          <a:bodyPr/>
          <a:lstStyle>
            <a:lvl1pPr algn="ctr">
              <a:defRPr>
                <a:solidFill>
                  <a:srgbClr val="FFC117"/>
                </a:solidFill>
                <a:latin typeface="VAGRundschriftD" panose="00000500000000000000" pitchFamily="50" charset="0"/>
              </a:defRPr>
            </a:lvl1pPr>
          </a:lstStyle>
          <a:p>
            <a:r>
              <a:rPr lang="en-US" dirty="0"/>
              <a:t>Click to edit Master title style</a:t>
            </a:r>
          </a:p>
        </p:txBody>
      </p:sp>
      <p:sp>
        <p:nvSpPr>
          <p:cNvPr id="3" name="Rectangle 4">
            <a:extLst>
              <a:ext uri="{FF2B5EF4-FFF2-40B4-BE49-F238E27FC236}">
                <a16:creationId xmlns:a16="http://schemas.microsoft.com/office/drawing/2014/main" id="{61F4736C-1B40-EF40-A4E6-C67F6BA9BBD0}"/>
              </a:ext>
            </a:extLst>
          </p:cNvPr>
          <p:cNvSpPr>
            <a:spLocks noChangeArrowheads="1"/>
          </p:cNvSpPr>
          <p:nvPr userDrawn="1"/>
        </p:nvSpPr>
        <p:spPr bwMode="auto">
          <a:xfrm>
            <a:off x="4164531" y="405525"/>
            <a:ext cx="6908800" cy="1631944"/>
          </a:xfrm>
          <a:prstGeom prst="rect">
            <a:avLst/>
          </a:prstGeom>
          <a:noFill/>
          <a:ln w="12700">
            <a:noFill/>
            <a:miter lim="800000"/>
            <a:headEnd/>
            <a:tailEnd/>
          </a:ln>
          <a:scene3d>
            <a:camera prst="orthographicFront"/>
            <a:lightRig rig="threePt" dir="t"/>
          </a:scene3d>
          <a:sp3d>
            <a:contourClr>
              <a:schemeClr val="bg1"/>
            </a:contourClr>
          </a:sp3d>
        </p:spPr>
        <p:txBody>
          <a:bodyPr wrap="square" lIns="75592" tIns="30237" rIns="75592" bIns="30237" anchor="ctr">
            <a:prstTxWarp prst="textNoShape">
              <a:avLst/>
            </a:prstTxWarp>
            <a:spAutoFit/>
            <a:sp3d extrusionH="25400">
              <a:bevelT w="38100" h="31750"/>
              <a:contourClr>
                <a:srgbClr val="4991B1"/>
              </a:contourClr>
            </a:sp3d>
          </a:bodyPr>
          <a:lstStyle/>
          <a:p>
            <a:pPr algn="ctr" eaLnBrk="0" hangingPunct="0">
              <a:lnSpc>
                <a:spcPct val="77000"/>
              </a:lnSpc>
            </a:pPr>
            <a:r>
              <a:rPr lang="en-US" sz="12800" dirty="0">
                <a:ln w="0"/>
                <a:solidFill>
                  <a:srgbClr val="4991B1"/>
                </a:solidFill>
                <a:effectLst/>
                <a:latin typeface="VAGRundschriftD" panose="00000500000000000000" pitchFamily="50" charset="0"/>
              </a:rPr>
              <a:t>CS61C</a:t>
            </a:r>
            <a:endParaRPr lang="en-US" sz="6400" b="1" dirty="0">
              <a:solidFill>
                <a:srgbClr val="4991B1"/>
              </a:solidFill>
              <a:latin typeface="VAGRundschriftD" panose="00000500000000000000" pitchFamily="50" charset="0"/>
            </a:endParaRPr>
          </a:p>
        </p:txBody>
      </p:sp>
      <p:sp>
        <p:nvSpPr>
          <p:cNvPr id="5" name="Oval 4">
            <a:extLst>
              <a:ext uri="{FF2B5EF4-FFF2-40B4-BE49-F238E27FC236}">
                <a16:creationId xmlns:a16="http://schemas.microsoft.com/office/drawing/2014/main" id="{62742FAC-A915-9940-B071-1ACD580B8818}"/>
              </a:ext>
            </a:extLst>
          </p:cNvPr>
          <p:cNvSpPr/>
          <p:nvPr userDrawn="1"/>
        </p:nvSpPr>
        <p:spPr>
          <a:xfrm>
            <a:off x="3670301" y="5754635"/>
            <a:ext cx="7912099" cy="471948"/>
          </a:xfrm>
          <a:prstGeom prst="ellipse">
            <a:avLst/>
          </a:prstGeom>
          <a:solidFill>
            <a:schemeClr val="bg1">
              <a:alpha val="17000"/>
            </a:schemeClr>
          </a:solidFill>
          <a:ln>
            <a:noFill/>
          </a:ln>
          <a:effectLst>
            <a:softEdge rad="139700"/>
          </a:effectLst>
        </p:spPr>
        <p:style>
          <a:lnRef idx="1">
            <a:schemeClr val="accent1"/>
          </a:lnRef>
          <a:fillRef idx="3">
            <a:schemeClr val="accent1"/>
          </a:fillRef>
          <a:effectRef idx="2">
            <a:schemeClr val="accent1"/>
          </a:effectRef>
          <a:fontRef idx="minor">
            <a:schemeClr val="lt1"/>
          </a:fontRef>
        </p:style>
        <p:txBody>
          <a:bodyPr lIns="108852" tIns="54425" rIns="108852" bIns="54425" anchor="ctr"/>
          <a:lstStyle/>
          <a:p>
            <a:pPr algn="ctr" eaLnBrk="0" hangingPunct="0">
              <a:defRPr/>
            </a:pPr>
            <a:endParaRPr lang="en-US" sz="19062" dirty="0"/>
          </a:p>
        </p:txBody>
      </p:sp>
      <p:sp>
        <p:nvSpPr>
          <p:cNvPr id="6" name="TextBox 5">
            <a:extLst>
              <a:ext uri="{FF2B5EF4-FFF2-40B4-BE49-F238E27FC236}">
                <a16:creationId xmlns:a16="http://schemas.microsoft.com/office/drawing/2014/main" id="{1B67045E-1D2A-D347-9A70-A92ECBAE1DA8}"/>
              </a:ext>
            </a:extLst>
          </p:cNvPr>
          <p:cNvSpPr txBox="1"/>
          <p:nvPr userDrawn="1"/>
        </p:nvSpPr>
        <p:spPr>
          <a:xfrm>
            <a:off x="3083166" y="2494613"/>
            <a:ext cx="2222500" cy="861967"/>
          </a:xfrm>
          <a:prstGeom prst="rect">
            <a:avLst/>
          </a:prstGeom>
          <a:noFill/>
        </p:spPr>
        <p:txBody>
          <a:bodyPr wrap="square">
            <a:spAutoFit/>
          </a:bodyPr>
          <a:lstStyle/>
          <a:p>
            <a:pPr algn="ctr">
              <a:defRPr/>
            </a:pPr>
            <a:r>
              <a:rPr lang="en-US" sz="1667" b="1" dirty="0">
                <a:solidFill>
                  <a:schemeClr val="tx1">
                    <a:lumMod val="50000"/>
                  </a:schemeClr>
                </a:solidFill>
                <a:latin typeface="18 VAG Rounded Bold   07390"/>
              </a:rPr>
              <a:t>UC Berkeley</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Teaching Professor </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Dan Garcia</a:t>
            </a:r>
          </a:p>
        </p:txBody>
      </p:sp>
      <p:sp>
        <p:nvSpPr>
          <p:cNvPr id="7" name="TextBox 6">
            <a:extLst>
              <a:ext uri="{FF2B5EF4-FFF2-40B4-BE49-F238E27FC236}">
                <a16:creationId xmlns:a16="http://schemas.microsoft.com/office/drawing/2014/main" id="{84E8C054-0436-F542-9F61-8E0911ABF73E}"/>
              </a:ext>
            </a:extLst>
          </p:cNvPr>
          <p:cNvSpPr txBox="1"/>
          <p:nvPr userDrawn="1"/>
        </p:nvSpPr>
        <p:spPr>
          <a:xfrm>
            <a:off x="10318235" y="2493787"/>
            <a:ext cx="1672165" cy="861967"/>
          </a:xfrm>
          <a:prstGeom prst="rect">
            <a:avLst/>
          </a:prstGeom>
          <a:noFill/>
        </p:spPr>
        <p:txBody>
          <a:bodyPr wrap="square">
            <a:spAutoFit/>
          </a:bodyPr>
          <a:lstStyle/>
          <a:p>
            <a:pPr algn="ctr">
              <a:defRPr/>
            </a:pPr>
            <a:r>
              <a:rPr lang="en-US" sz="1667" b="1" dirty="0">
                <a:solidFill>
                  <a:schemeClr val="tx1">
                    <a:lumMod val="50000"/>
                  </a:schemeClr>
                </a:solidFill>
                <a:latin typeface="18 VAG Rounded Bold   07390"/>
              </a:rPr>
              <a:t>UC Berkeley</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Professor </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Bora </a:t>
            </a:r>
            <a:r>
              <a:rPr lang="en-US" sz="1667" b="1" dirty="0" err="1">
                <a:solidFill>
                  <a:schemeClr val="tx1">
                    <a:lumMod val="50000"/>
                  </a:schemeClr>
                </a:solidFill>
                <a:latin typeface="18 VAG Rounded Bold   07390"/>
              </a:rPr>
              <a:t>Nikolić</a:t>
            </a:r>
            <a:endParaRPr lang="en-US" sz="1667" b="1" dirty="0">
              <a:solidFill>
                <a:schemeClr val="tx1">
                  <a:lumMod val="50000"/>
                </a:schemeClr>
              </a:solidFill>
              <a:latin typeface="18 VAG Rounded Bold   07390"/>
            </a:endParaRPr>
          </a:p>
        </p:txBody>
      </p:sp>
      <p:pic>
        <p:nvPicPr>
          <p:cNvPr id="8" name="Picture 2">
            <a:extLst>
              <a:ext uri="{FF2B5EF4-FFF2-40B4-BE49-F238E27FC236}">
                <a16:creationId xmlns:a16="http://schemas.microsoft.com/office/drawing/2014/main" id="{57237754-4208-E64E-8670-01EE7AED6B0E}"/>
              </a:ext>
            </a:extLst>
          </p:cNvPr>
          <p:cNvPicPr>
            <a:picLocks noChangeAspect="1" noChangeArrowheads="1"/>
          </p:cNvPicPr>
          <p:nvPr userDrawn="1"/>
        </p:nvPicPr>
        <p:blipFill rotWithShape="1">
          <a:blip r:embed="rId3"/>
          <a:srcRect l="14185" t="1842" r="32155" b="47377"/>
          <a:stretch/>
        </p:blipFill>
        <p:spPr bwMode="auto">
          <a:xfrm>
            <a:off x="3512032" y="414398"/>
            <a:ext cx="1364768" cy="16905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62DD0B12-55F7-2546-8672-7E2D289F690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757" t="8236" r="5233" b="12909"/>
          <a:stretch/>
        </p:blipFill>
        <p:spPr>
          <a:xfrm>
            <a:off x="10521036" y="399773"/>
            <a:ext cx="1266560" cy="17051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Rectangle 9">
            <a:extLst>
              <a:ext uri="{FF2B5EF4-FFF2-40B4-BE49-F238E27FC236}">
                <a16:creationId xmlns:a16="http://schemas.microsoft.com/office/drawing/2014/main" id="{8BBAC4D5-0EE4-FD4C-8CC9-387D71F8E638}"/>
              </a:ext>
            </a:extLst>
          </p:cNvPr>
          <p:cNvSpPr/>
          <p:nvPr userDrawn="1"/>
        </p:nvSpPr>
        <p:spPr>
          <a:xfrm>
            <a:off x="6297061" y="6390958"/>
            <a:ext cx="2643739" cy="461665"/>
          </a:xfrm>
          <a:prstGeom prst="rect">
            <a:avLst/>
          </a:prstGeom>
        </p:spPr>
        <p:txBody>
          <a:bodyPr wrap="square">
            <a:spAutoFit/>
          </a:bodyPr>
          <a:lstStyle/>
          <a:p>
            <a:pPr algn="ctr"/>
            <a:r>
              <a:rPr lang="sr-Latn-RS" sz="1867" b="1" dirty="0">
                <a:solidFill>
                  <a:schemeClr val="tx1"/>
                </a:solidFill>
                <a:latin typeface="Courier" charset="0"/>
                <a:ea typeface="ＭＳ Ｐゴシック" charset="0"/>
                <a:cs typeface="Courier" charset="0"/>
                <a:sym typeface="Courier" charset="0"/>
              </a:rPr>
              <a:t>c</a:t>
            </a:r>
            <a:r>
              <a:rPr lang="en-US" sz="1867" b="1" dirty="0">
                <a:solidFill>
                  <a:schemeClr val="tx1"/>
                </a:solidFill>
                <a:latin typeface="Courier" charset="0"/>
                <a:ea typeface="ＭＳ Ｐゴシック" charset="0"/>
                <a:cs typeface="Courier" charset="0"/>
                <a:sym typeface="Courier" charset="0"/>
              </a:rPr>
              <a:t>s61c</a:t>
            </a:r>
            <a:r>
              <a:rPr lang="sr-Latn-RS" sz="1867" b="1" dirty="0">
                <a:solidFill>
                  <a:schemeClr val="tx1"/>
                </a:solidFill>
                <a:latin typeface="Courier" charset="0"/>
                <a:ea typeface="ＭＳ Ｐゴシック" charset="0"/>
                <a:cs typeface="Courier" charset="0"/>
                <a:sym typeface="Courier" charset="0"/>
              </a:rPr>
              <a:t>.org</a:t>
            </a:r>
            <a:r>
              <a:rPr lang="en-US" sz="2400" b="1" dirty="0">
                <a:solidFill>
                  <a:schemeClr val="tx1"/>
                </a:solidFill>
                <a:latin typeface="Helvetica" charset="0"/>
                <a:ea typeface="ＭＳ Ｐゴシック" charset="0"/>
                <a:cs typeface="Helvetica" charset="0"/>
                <a:sym typeface="Helvetica" charset="0"/>
              </a:rPr>
              <a:t> </a:t>
            </a:r>
            <a:endParaRPr lang="en-US" sz="21199" dirty="0">
              <a:solidFill>
                <a:schemeClr val="tx1"/>
              </a:solidFill>
            </a:endParaRPr>
          </a:p>
        </p:txBody>
      </p:sp>
      <p:sp>
        <p:nvSpPr>
          <p:cNvPr id="11" name="Rectangle 4">
            <a:extLst>
              <a:ext uri="{FF2B5EF4-FFF2-40B4-BE49-F238E27FC236}">
                <a16:creationId xmlns:a16="http://schemas.microsoft.com/office/drawing/2014/main" id="{4983A71A-E6AB-F34C-BE07-4CD0CE150AA1}"/>
              </a:ext>
            </a:extLst>
          </p:cNvPr>
          <p:cNvSpPr>
            <a:spLocks noChangeArrowheads="1"/>
          </p:cNvSpPr>
          <p:nvPr userDrawn="1"/>
        </p:nvSpPr>
        <p:spPr bwMode="auto">
          <a:xfrm>
            <a:off x="4160129" y="1859888"/>
            <a:ext cx="6908800" cy="1540380"/>
          </a:xfrm>
          <a:prstGeom prst="rect">
            <a:avLst/>
          </a:prstGeom>
          <a:noFill/>
          <a:ln w="12700">
            <a:noFill/>
            <a:miter lim="800000"/>
            <a:headEnd/>
            <a:tailEnd/>
          </a:ln>
        </p:spPr>
        <p:txBody>
          <a:bodyPr wrap="square" lIns="75592" tIns="30237" rIns="75592" bIns="30237" anchor="ctr">
            <a:prstTxWarp prst="textNoShape">
              <a:avLst/>
            </a:prstTxWarp>
            <a:spAutoFit/>
          </a:bodyPr>
          <a:lstStyle/>
          <a:p>
            <a:pPr algn="ctr" eaLnBrk="0" hangingPunct="0">
              <a:lnSpc>
                <a:spcPct val="77000"/>
              </a:lnSpc>
            </a:pPr>
            <a:r>
              <a:rPr lang="en-US" sz="3333" b="1" dirty="0">
                <a:solidFill>
                  <a:schemeClr val="tx1"/>
                </a:solidFill>
                <a:latin typeface="VAGRundschriftD" panose="00000500000000000000" pitchFamily="50" charset="0"/>
              </a:rPr>
              <a:t>Great Ideas</a:t>
            </a:r>
          </a:p>
          <a:p>
            <a:pPr algn="ctr" eaLnBrk="0" hangingPunct="0">
              <a:lnSpc>
                <a:spcPct val="77000"/>
              </a:lnSpc>
            </a:pPr>
            <a:r>
              <a:rPr lang="en-US" sz="3333" b="1" dirty="0">
                <a:solidFill>
                  <a:schemeClr val="tx1"/>
                </a:solidFill>
                <a:latin typeface="VAGRundschriftD" panose="00000500000000000000" pitchFamily="50" charset="0"/>
              </a:rPr>
              <a:t>in</a:t>
            </a:r>
            <a:br>
              <a:rPr lang="en-US" sz="3333" b="1" dirty="0">
                <a:solidFill>
                  <a:schemeClr val="tx1"/>
                </a:solidFill>
                <a:latin typeface="VAGRundschriftD" panose="00000500000000000000" pitchFamily="50" charset="0"/>
              </a:rPr>
            </a:br>
            <a:r>
              <a:rPr lang="en-US" sz="3333" b="1" dirty="0">
                <a:solidFill>
                  <a:schemeClr val="tx1"/>
                </a:solidFill>
                <a:latin typeface="VAGRundschriftD" panose="00000500000000000000" pitchFamily="50" charset="0"/>
              </a:rPr>
              <a:t>Computer Architecture</a:t>
            </a:r>
          </a:p>
          <a:p>
            <a:pPr algn="ctr" eaLnBrk="0" hangingPunct="0">
              <a:lnSpc>
                <a:spcPct val="77000"/>
              </a:lnSpc>
            </a:pPr>
            <a:r>
              <a:rPr lang="en-US" sz="2400" dirty="0">
                <a:solidFill>
                  <a:srgbClr val="E4DDD2"/>
                </a:solidFill>
                <a:latin typeface="VAGRundschriftD" panose="00000500000000000000" pitchFamily="50" charset="0"/>
              </a:rPr>
              <a:t>(a.k.a. Machine Structures)</a:t>
            </a:r>
            <a:endParaRPr lang="en-US" sz="3833" b="1" dirty="0">
              <a:solidFill>
                <a:srgbClr val="E4DDD2"/>
              </a:solidFill>
              <a:latin typeface="VAGRundschriftD" panose="00000500000000000000" pitchFamily="50" charset="0"/>
            </a:endParaRPr>
          </a:p>
        </p:txBody>
      </p:sp>
      <p:sp>
        <p:nvSpPr>
          <p:cNvPr id="13" name="Rectangle 11">
            <a:extLst>
              <a:ext uri="{FF2B5EF4-FFF2-40B4-BE49-F238E27FC236}">
                <a16:creationId xmlns:a16="http://schemas.microsoft.com/office/drawing/2014/main" id="{EB3944F9-06D2-8C43-B653-2C25027065D0}"/>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VAGRundschriftDLig" panose="00000400000000000000" pitchFamily="50" charset="0"/>
                <a:ea typeface="+mn-ea"/>
                <a:cs typeface="+mn-cs"/>
              </a:rPr>
              <a:t>Garcia, </a:t>
            </a:r>
            <a:r>
              <a:rPr lang="en-US" sz="1167" b="0" i="0" dirty="0" err="1">
                <a:solidFill>
                  <a:schemeClr val="tx1"/>
                </a:solidFill>
                <a:latin typeface="VAGRundschriftDLig" panose="00000400000000000000" pitchFamily="50" charset="0"/>
                <a:ea typeface="+mn-ea"/>
                <a:cs typeface="+mn-cs"/>
              </a:rPr>
              <a:t>Nikolić</a:t>
            </a:r>
            <a:endParaRPr lang="en-US" sz="1167" b="0" i="0" dirty="0">
              <a:solidFill>
                <a:schemeClr val="tx1"/>
              </a:solidFill>
              <a:latin typeface="VAGRundschriftDLig" panose="00000400000000000000" pitchFamily="50" charset="0"/>
              <a:ea typeface="+mn-ea"/>
              <a:cs typeface="+mn-cs"/>
            </a:endParaRPr>
          </a:p>
        </p:txBody>
      </p:sp>
      <p:pic>
        <p:nvPicPr>
          <p:cNvPr id="14" name="Picture 13">
            <a:extLst>
              <a:ext uri="{FF2B5EF4-FFF2-40B4-BE49-F238E27FC236}">
                <a16:creationId xmlns:a16="http://schemas.microsoft.com/office/drawing/2014/main" id="{8B45346C-6CDA-0242-B211-E679E89FE3EB}"/>
              </a:ext>
            </a:extLst>
          </p:cNvPr>
          <p:cNvPicPr>
            <a:picLocks noChangeAspect="1"/>
          </p:cNvPicPr>
          <p:nvPr userDrawn="1"/>
        </p:nvPicPr>
        <p:blipFill>
          <a:blip r:embed="rId5"/>
          <a:stretch>
            <a:fillRect/>
          </a:stretch>
        </p:blipFill>
        <p:spPr>
          <a:xfrm>
            <a:off x="11112283" y="6480099"/>
            <a:ext cx="1079717" cy="377901"/>
          </a:xfrm>
          <a:prstGeom prst="rect">
            <a:avLst/>
          </a:prstGeom>
        </p:spPr>
      </p:pic>
      <p:pic>
        <p:nvPicPr>
          <p:cNvPr id="16" name="Picture 15">
            <a:extLst>
              <a:ext uri="{FF2B5EF4-FFF2-40B4-BE49-F238E27FC236}">
                <a16:creationId xmlns:a16="http://schemas.microsoft.com/office/drawing/2014/main" id="{1D8CC368-03BC-234A-917E-B8B2D872148F}"/>
              </a:ext>
            </a:extLst>
          </p:cNvPr>
          <p:cNvPicPr>
            <a:picLocks noChangeAspect="1"/>
          </p:cNvPicPr>
          <p:nvPr userDrawn="1"/>
        </p:nvPicPr>
        <p:blipFill>
          <a:blip r:embed="rId6"/>
          <a:srcRect/>
          <a:stretch/>
        </p:blipFill>
        <p:spPr>
          <a:xfrm>
            <a:off x="101600" y="76200"/>
            <a:ext cx="812800" cy="812800"/>
          </a:xfrm>
          <a:prstGeom prst="rect">
            <a:avLst/>
          </a:prstGeom>
        </p:spPr>
      </p:pic>
      <p:pic>
        <p:nvPicPr>
          <p:cNvPr id="15" name="Picture 14">
            <a:extLst>
              <a:ext uri="{FF2B5EF4-FFF2-40B4-BE49-F238E27FC236}">
                <a16:creationId xmlns:a16="http://schemas.microsoft.com/office/drawing/2014/main" id="{FD6AA3AF-E757-5D40-AF18-590283A894E1}"/>
              </a:ext>
            </a:extLst>
          </p:cNvPr>
          <p:cNvPicPr>
            <a:picLocks noChangeAspect="1"/>
          </p:cNvPicPr>
          <p:nvPr userDrawn="1"/>
        </p:nvPicPr>
        <p:blipFill>
          <a:blip r:embed="rId7"/>
          <a:stretch>
            <a:fillRect/>
          </a:stretch>
        </p:blipFill>
        <p:spPr>
          <a:xfrm>
            <a:off x="3018141" y="6375400"/>
            <a:ext cx="1264675" cy="389467"/>
          </a:xfrm>
          <a:prstGeom prst="rect">
            <a:avLst/>
          </a:prstGeom>
        </p:spPr>
      </p:pic>
    </p:spTree>
    <p:extLst>
      <p:ext uri="{BB962C8B-B14F-4D97-AF65-F5344CB8AC3E}">
        <p14:creationId xmlns:p14="http://schemas.microsoft.com/office/powerpoint/2010/main" val="3445803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i="0">
                <a:latin typeface="VAG Rundschrift D Light" pitchFamily="2" charset="77"/>
              </a:defRPr>
            </a:lvl1pPr>
            <a:lvl2pPr>
              <a:defRPr b="0" i="0">
                <a:latin typeface="VAG Rundschrift D Light" pitchFamily="2" charset="77"/>
              </a:defRPr>
            </a:lvl2pPr>
            <a:lvl3pPr>
              <a:defRPr b="0" i="0">
                <a:solidFill>
                  <a:srgbClr val="00BEE2"/>
                </a:solidFill>
                <a:latin typeface="VAG Rundschrift D Light" pitchFamily="2" charset="77"/>
              </a:defRPr>
            </a:lvl3pPr>
            <a:lvl4pPr marL="1685519" indent="-457189">
              <a:buClr>
                <a:srgbClr val="FFC117"/>
              </a:buClr>
              <a:buFont typeface="Arial" panose="020B0604020202020204" pitchFamily="34" charset="0"/>
              <a:buChar char="•"/>
              <a:defRPr sz="2400" b="0" i="0">
                <a:solidFill>
                  <a:srgbClr val="FFC117"/>
                </a:solidFill>
                <a:latin typeface="VAG Rundschrift D Light" pitchFamily="2" charset="77"/>
              </a:defRPr>
            </a:lvl4pPr>
            <a:lvl5pPr>
              <a:buClr>
                <a:srgbClr val="E4DDD2"/>
              </a:buClr>
              <a:defRPr b="0" i="0">
                <a:solidFill>
                  <a:srgbClr val="E4DDD2"/>
                </a:solidFill>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a:extLst>
              <a:ext uri="{FF2B5EF4-FFF2-40B4-BE49-F238E27FC236}">
                <a16:creationId xmlns:a16="http://schemas.microsoft.com/office/drawing/2014/main" id="{64A448BC-C94B-E240-BBCC-5B2F3975E19B}"/>
              </a:ext>
            </a:extLst>
          </p:cNvPr>
          <p:cNvSpPr>
            <a:spLocks noGrp="1"/>
          </p:cNvSpPr>
          <p:nvPr>
            <p:ph type="title"/>
          </p:nvPr>
        </p:nvSpPr>
        <p:spPr/>
        <p:txBody>
          <a:bodyPr/>
          <a:lstStyle>
            <a:lvl1pPr>
              <a:defRPr>
                <a:latin typeface="VAGRundschriftD" panose="00000500000000000000" pitchFamily="50" charset="0"/>
              </a:defRPr>
            </a:lvl1pPr>
          </a:lstStyle>
          <a:p>
            <a:r>
              <a:rPr lang="en-US" dirty="0"/>
              <a:t>Click to edit Master title style</a:t>
            </a:r>
          </a:p>
        </p:txBody>
      </p:sp>
    </p:spTree>
    <p:extLst>
      <p:ext uri="{BB962C8B-B14F-4D97-AF65-F5344CB8AC3E}">
        <p14:creationId xmlns:p14="http://schemas.microsoft.com/office/powerpoint/2010/main" val="1268896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lumn">
    <p:spTree>
      <p:nvGrpSpPr>
        <p:cNvPr id="1" name=""/>
        <p:cNvGrpSpPr/>
        <p:nvPr/>
      </p:nvGrpSpPr>
      <p:grpSpPr>
        <a:xfrm>
          <a:off x="0" y="0"/>
          <a:ext cx="0" cy="0"/>
          <a:chOff x="0" y="0"/>
          <a:chExt cx="0" cy="0"/>
        </a:xfrm>
      </p:grpSpPr>
      <p:pic>
        <p:nvPicPr>
          <p:cNvPr id="13" name="Picture 12" descr="A picture containing food&#10;&#10;Description automatically generated">
            <a:extLst>
              <a:ext uri="{FF2B5EF4-FFF2-40B4-BE49-F238E27FC236}">
                <a16:creationId xmlns:a16="http://schemas.microsoft.com/office/drawing/2014/main" id="{2677E839-A4BD-EF4E-B7C9-4C82DFEEEF7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p:cNvSpPr>
            <a:spLocks noGrp="1"/>
          </p:cNvSpPr>
          <p:nvPr>
            <p:ph sz="half" idx="1"/>
          </p:nvPr>
        </p:nvSpPr>
        <p:spPr>
          <a:xfrm>
            <a:off x="3048000" y="928127"/>
            <a:ext cx="3937000" cy="5368340"/>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33"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620000" y="928127"/>
            <a:ext cx="4000501" cy="5368340"/>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67"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46EA538D-CE12-4F4E-B8F9-BE50989C1758}"/>
              </a:ext>
            </a:extLst>
          </p:cNvPr>
          <p:cNvCxnSpPr>
            <a:cxnSpLocks/>
          </p:cNvCxnSpPr>
          <p:nvPr userDrawn="1"/>
        </p:nvCxnSpPr>
        <p:spPr>
          <a:xfrm>
            <a:off x="1115843" y="889000"/>
            <a:ext cx="10466559" cy="389"/>
          </a:xfrm>
          <a:prstGeom prst="line">
            <a:avLst/>
          </a:prstGeom>
          <a:ln>
            <a:solidFill>
              <a:schemeClr val="tx2"/>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
        <p:nvSpPr>
          <p:cNvPr id="14" name="Rectangle 10">
            <a:extLst>
              <a:ext uri="{FF2B5EF4-FFF2-40B4-BE49-F238E27FC236}">
                <a16:creationId xmlns:a16="http://schemas.microsoft.com/office/drawing/2014/main" id="{844558A7-D2FB-5F4B-864B-BFC87E4F4116}"/>
              </a:ext>
            </a:extLst>
          </p:cNvPr>
          <p:cNvSpPr>
            <a:spLocks noChangeArrowheads="1"/>
          </p:cNvSpPr>
          <p:nvPr userDrawn="1"/>
        </p:nvSpPr>
        <p:spPr bwMode="auto">
          <a:xfrm>
            <a:off x="3048000" y="6578929"/>
            <a:ext cx="9144000" cy="291897"/>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ctr" eaLnBrk="0" hangingPunct="0">
              <a:defRPr/>
            </a:pPr>
            <a:r>
              <a:rPr lang="en-US" sz="1500" b="1" dirty="0">
                <a:solidFill>
                  <a:srgbClr val="FFC117"/>
                </a:solidFill>
                <a:latin typeface="VAGRundschriftD" panose="00000500000000000000" pitchFamily="50" charset="0"/>
                <a:ea typeface="+mn-ea"/>
                <a:cs typeface="+mn-cs"/>
              </a:rPr>
              <a:t>Introduction</a:t>
            </a:r>
            <a:r>
              <a:rPr lang="en-US" sz="1500" b="1" dirty="0">
                <a:solidFill>
                  <a:srgbClr val="FFFF00"/>
                </a:solidFill>
                <a:latin typeface="VAGRundschriftD" panose="00000500000000000000" pitchFamily="50" charset="0"/>
                <a:ea typeface="+mn-ea"/>
                <a:cs typeface="+mn-cs"/>
              </a:rPr>
              <a:t> </a:t>
            </a:r>
            <a:r>
              <a:rPr lang="en-US" sz="1500" b="1" dirty="0">
                <a:solidFill>
                  <a:schemeClr val="tx1"/>
                </a:solidFill>
                <a:latin typeface="VAGRundschriftD" panose="00000500000000000000" pitchFamily="50" charset="0"/>
                <a:ea typeface="+mn-ea"/>
                <a:cs typeface="+mn-cs"/>
              </a:rPr>
              <a:t>(</a:t>
            </a:r>
            <a:fld id="{F6F39CF2-87E7-FF4A-9C8E-A745CB692DE9}" type="slidenum">
              <a:rPr lang="en-US" sz="1500" b="1">
                <a:solidFill>
                  <a:schemeClr val="tx1"/>
                </a:solidFill>
                <a:latin typeface="VAGRundschriftD" panose="00000500000000000000" pitchFamily="50" charset="0"/>
                <a:ea typeface="+mn-ea"/>
                <a:cs typeface="+mn-cs"/>
              </a:rPr>
              <a:pPr algn="ctr" eaLnBrk="0" hangingPunct="0">
                <a:defRPr/>
              </a:pPr>
              <a:t>‹#›</a:t>
            </a:fld>
            <a:r>
              <a:rPr lang="en-US" sz="1500" b="1" dirty="0">
                <a:solidFill>
                  <a:schemeClr val="tx1"/>
                </a:solidFill>
                <a:latin typeface="VAGRundschriftD" panose="00000500000000000000" pitchFamily="50" charset="0"/>
                <a:ea typeface="+mn-ea"/>
                <a:cs typeface="+mn-cs"/>
              </a:rPr>
              <a:t>)</a:t>
            </a:r>
          </a:p>
        </p:txBody>
      </p:sp>
      <p:sp>
        <p:nvSpPr>
          <p:cNvPr id="16" name="Rectangle 11">
            <a:extLst>
              <a:ext uri="{FF2B5EF4-FFF2-40B4-BE49-F238E27FC236}">
                <a16:creationId xmlns:a16="http://schemas.microsoft.com/office/drawing/2014/main" id="{8F52F5B9-E725-A74B-AAA1-88E65AD7B9DD}"/>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VAGRundschriftDLig" panose="00000400000000000000" pitchFamily="50" charset="0"/>
                <a:ea typeface="+mn-ea"/>
                <a:cs typeface="+mn-cs"/>
              </a:rPr>
              <a:t>Garcia, </a:t>
            </a:r>
            <a:r>
              <a:rPr lang="en-US" sz="1167" b="0" i="0" dirty="0" err="1">
                <a:solidFill>
                  <a:schemeClr val="tx1"/>
                </a:solidFill>
                <a:latin typeface="VAGRundschriftDLig" panose="00000400000000000000" pitchFamily="50" charset="0"/>
                <a:ea typeface="+mn-ea"/>
                <a:cs typeface="+mn-cs"/>
              </a:rPr>
              <a:t>Nikolić</a:t>
            </a:r>
            <a:endParaRPr lang="en-US" sz="1167" b="0" i="0" dirty="0">
              <a:solidFill>
                <a:schemeClr val="tx1"/>
              </a:solidFill>
              <a:latin typeface="VAGRundschriftDLig" panose="00000400000000000000" pitchFamily="50" charset="0"/>
              <a:ea typeface="+mn-ea"/>
              <a:cs typeface="+mn-cs"/>
            </a:endParaRPr>
          </a:p>
        </p:txBody>
      </p:sp>
      <p:pic>
        <p:nvPicPr>
          <p:cNvPr id="17" name="Picture 16">
            <a:extLst>
              <a:ext uri="{FF2B5EF4-FFF2-40B4-BE49-F238E27FC236}">
                <a16:creationId xmlns:a16="http://schemas.microsoft.com/office/drawing/2014/main" id="{8160B7DD-B895-2049-804B-344CFFDA4DD8}"/>
              </a:ext>
            </a:extLst>
          </p:cNvPr>
          <p:cNvPicPr>
            <a:picLocks noChangeAspect="1"/>
          </p:cNvPicPr>
          <p:nvPr userDrawn="1"/>
        </p:nvPicPr>
        <p:blipFill>
          <a:blip r:embed="rId3"/>
          <a:srcRect/>
          <a:stretch/>
        </p:blipFill>
        <p:spPr>
          <a:xfrm>
            <a:off x="101600" y="76200"/>
            <a:ext cx="812800" cy="812800"/>
          </a:xfrm>
          <a:prstGeom prst="rect">
            <a:avLst/>
          </a:prstGeom>
        </p:spPr>
      </p:pic>
      <p:pic>
        <p:nvPicPr>
          <p:cNvPr id="18" name="Picture 17">
            <a:extLst>
              <a:ext uri="{FF2B5EF4-FFF2-40B4-BE49-F238E27FC236}">
                <a16:creationId xmlns:a16="http://schemas.microsoft.com/office/drawing/2014/main" id="{067B7BEE-7519-024E-B9B3-6388E1716D05}"/>
              </a:ext>
            </a:extLst>
          </p:cNvPr>
          <p:cNvPicPr>
            <a:picLocks noChangeAspect="1"/>
          </p:cNvPicPr>
          <p:nvPr userDrawn="1"/>
        </p:nvPicPr>
        <p:blipFill>
          <a:blip r:embed="rId4"/>
          <a:stretch>
            <a:fillRect/>
          </a:stretch>
        </p:blipFill>
        <p:spPr>
          <a:xfrm>
            <a:off x="11112283" y="6480099"/>
            <a:ext cx="1079717" cy="377901"/>
          </a:xfrm>
          <a:prstGeom prst="rect">
            <a:avLst/>
          </a:prstGeom>
        </p:spPr>
      </p:pic>
      <p:sp>
        <p:nvSpPr>
          <p:cNvPr id="11" name="Title Placeholder 21">
            <a:extLst>
              <a:ext uri="{FF2B5EF4-FFF2-40B4-BE49-F238E27FC236}">
                <a16:creationId xmlns:a16="http://schemas.microsoft.com/office/drawing/2014/main" id="{83907F55-8DA3-AB4E-B199-AF2531DB4EB0}"/>
              </a:ext>
            </a:extLst>
          </p:cNvPr>
          <p:cNvSpPr>
            <a:spLocks noGrp="1"/>
          </p:cNvSpPr>
          <p:nvPr>
            <p:ph type="title"/>
          </p:nvPr>
        </p:nvSpPr>
        <p:spPr>
          <a:xfrm>
            <a:off x="1117600" y="76200"/>
            <a:ext cx="10502901" cy="762000"/>
          </a:xfrm>
          <a:prstGeom prst="rect">
            <a:avLst/>
          </a:prstGeom>
        </p:spPr>
        <p:txBody>
          <a:bodyPr vert="horz" lIns="130622" tIns="65310" rIns="130622" bIns="65310" anchor="t">
            <a:noAutofit/>
          </a:bodyPr>
          <a:lstStyle>
            <a:lvl1pPr>
              <a:defRPr>
                <a:solidFill>
                  <a:srgbClr val="E4DDD2"/>
                </a:solidFill>
                <a:latin typeface="VAGRundschriftD" panose="00000500000000000000" pitchFamily="50" charset="0"/>
              </a:defRPr>
            </a:lvl1pPr>
          </a:lstStyle>
          <a:p>
            <a:r>
              <a:rPr lang="en-US" dirty="0"/>
              <a:t>Click to edit Master title style</a:t>
            </a:r>
          </a:p>
        </p:txBody>
      </p:sp>
      <p:pic>
        <p:nvPicPr>
          <p:cNvPr id="15" name="Picture 14">
            <a:extLst>
              <a:ext uri="{FF2B5EF4-FFF2-40B4-BE49-F238E27FC236}">
                <a16:creationId xmlns:a16="http://schemas.microsoft.com/office/drawing/2014/main" id="{7DD9E74F-8295-8546-AB63-B09A36C3C5C9}"/>
              </a:ext>
            </a:extLst>
          </p:cNvPr>
          <p:cNvPicPr>
            <a:picLocks noChangeAspect="1"/>
          </p:cNvPicPr>
          <p:nvPr userDrawn="1"/>
        </p:nvPicPr>
        <p:blipFill>
          <a:blip r:embed="rId5"/>
          <a:stretch>
            <a:fillRect/>
          </a:stretch>
        </p:blipFill>
        <p:spPr>
          <a:xfrm>
            <a:off x="3018141" y="6375400"/>
            <a:ext cx="1264675" cy="389467"/>
          </a:xfrm>
          <a:prstGeom prst="rect">
            <a:avLst/>
          </a:prstGeom>
        </p:spPr>
      </p:pic>
    </p:spTree>
    <p:extLst>
      <p:ext uri="{BB962C8B-B14F-4D97-AF65-F5344CB8AC3E}">
        <p14:creationId xmlns:p14="http://schemas.microsoft.com/office/powerpoint/2010/main" val="1322278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One Column">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7600" y="908050"/>
            <a:ext cx="10502901" cy="5365751"/>
          </a:xfrm>
        </p:spPr>
        <p:txBody>
          <a:bodyPr/>
          <a:lstStyle>
            <a:lvl1pPr>
              <a:defRPr b="0" i="0">
                <a:latin typeface="VAG Rundschrift D Light" pitchFamily="2" charset="77"/>
              </a:defRPr>
            </a:lvl1pPr>
            <a:lvl2pPr>
              <a:defRPr b="0" i="0">
                <a:latin typeface="VAG Rundschrift D Light" pitchFamily="2" charset="77"/>
              </a:defRPr>
            </a:lvl2pPr>
            <a:lvl3pPr>
              <a:defRPr b="0" i="0">
                <a:latin typeface="VAG Rundschrift D Light" pitchFamily="2" charset="77"/>
              </a:defRPr>
            </a:lvl3pPr>
            <a:lvl4pPr>
              <a:defRPr b="0" i="0">
                <a:latin typeface="VAG Rundschrift D Light" pitchFamily="2" charset="77"/>
              </a:defRPr>
            </a:lvl4pPr>
            <a:lvl5pPr>
              <a:defRPr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a:extLst>
              <a:ext uri="{FF2B5EF4-FFF2-40B4-BE49-F238E27FC236}">
                <a16:creationId xmlns:a16="http://schemas.microsoft.com/office/drawing/2014/main" id="{64A448BC-C94B-E240-BBCC-5B2F3975E19B}"/>
              </a:ext>
            </a:extLst>
          </p:cNvPr>
          <p:cNvSpPr>
            <a:spLocks noGrp="1"/>
          </p:cNvSpPr>
          <p:nvPr>
            <p:ph type="title"/>
          </p:nvPr>
        </p:nvSpPr>
        <p:spPr/>
        <p:txBody>
          <a:bodyPr/>
          <a:lstStyle>
            <a:lvl1pPr>
              <a:defRPr>
                <a:latin typeface="VAGRundschriftD" panose="00000500000000000000" pitchFamily="50" charset="0"/>
              </a:defRPr>
            </a:lvl1pPr>
          </a:lstStyle>
          <a:p>
            <a:r>
              <a:rPr lang="en-US" dirty="0"/>
              <a:t>Click to edit Master title style</a:t>
            </a:r>
          </a:p>
        </p:txBody>
      </p:sp>
    </p:spTree>
    <p:extLst>
      <p:ext uri="{BB962C8B-B14F-4D97-AF65-F5344CB8AC3E}">
        <p14:creationId xmlns:p14="http://schemas.microsoft.com/office/powerpoint/2010/main" val="1169283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wo Column">
    <p:spTree>
      <p:nvGrpSpPr>
        <p:cNvPr id="1" name=""/>
        <p:cNvGrpSpPr/>
        <p:nvPr/>
      </p:nvGrpSpPr>
      <p:grpSpPr>
        <a:xfrm>
          <a:off x="0" y="0"/>
          <a:ext cx="0" cy="0"/>
          <a:chOff x="0" y="0"/>
          <a:chExt cx="0" cy="0"/>
        </a:xfrm>
      </p:grpSpPr>
      <p:pic>
        <p:nvPicPr>
          <p:cNvPr id="13" name="Picture 12" descr="A picture containing food&#10;&#10;Description automatically generated">
            <a:extLst>
              <a:ext uri="{FF2B5EF4-FFF2-40B4-BE49-F238E27FC236}">
                <a16:creationId xmlns:a16="http://schemas.microsoft.com/office/drawing/2014/main" id="{E29CF758-356F-D645-A544-8AD2373E333C}"/>
              </a:ext>
            </a:extLst>
          </p:cNvPr>
          <p:cNvPicPr>
            <a:picLocks noChangeAspect="1"/>
          </p:cNvPicPr>
          <p:nvPr userDrawn="1"/>
        </p:nvPicPr>
        <p:blipFill>
          <a:blip r:embed="rId2"/>
          <a:stretch>
            <a:fillRect/>
          </a:stretch>
        </p:blipFill>
        <p:spPr>
          <a:xfrm>
            <a:off x="0" y="12825"/>
            <a:ext cx="12192000" cy="6858000"/>
          </a:xfrm>
          <a:prstGeom prst="rect">
            <a:avLst/>
          </a:prstGeom>
        </p:spPr>
      </p:pic>
      <p:sp>
        <p:nvSpPr>
          <p:cNvPr id="3" name="Content Placeholder 2"/>
          <p:cNvSpPr>
            <a:spLocks noGrp="1"/>
          </p:cNvSpPr>
          <p:nvPr>
            <p:ph sz="half" idx="1"/>
          </p:nvPr>
        </p:nvSpPr>
        <p:spPr>
          <a:xfrm>
            <a:off x="1115843" y="901825"/>
            <a:ext cx="4980157" cy="5407467"/>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67"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889000"/>
            <a:ext cx="5422901" cy="5407467"/>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67"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46EA538D-CE12-4F4E-B8F9-BE50989C1758}"/>
              </a:ext>
            </a:extLst>
          </p:cNvPr>
          <p:cNvCxnSpPr>
            <a:cxnSpLocks/>
          </p:cNvCxnSpPr>
          <p:nvPr userDrawn="1"/>
        </p:nvCxnSpPr>
        <p:spPr>
          <a:xfrm>
            <a:off x="1115843" y="889000"/>
            <a:ext cx="10466559" cy="389"/>
          </a:xfrm>
          <a:prstGeom prst="line">
            <a:avLst/>
          </a:prstGeom>
          <a:ln>
            <a:solidFill>
              <a:schemeClr val="tx2"/>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
        <p:nvSpPr>
          <p:cNvPr id="14" name="Rectangle 10">
            <a:extLst>
              <a:ext uri="{FF2B5EF4-FFF2-40B4-BE49-F238E27FC236}">
                <a16:creationId xmlns:a16="http://schemas.microsoft.com/office/drawing/2014/main" id="{844558A7-D2FB-5F4B-864B-BFC87E4F4116}"/>
              </a:ext>
            </a:extLst>
          </p:cNvPr>
          <p:cNvSpPr>
            <a:spLocks noChangeArrowheads="1"/>
          </p:cNvSpPr>
          <p:nvPr userDrawn="1"/>
        </p:nvSpPr>
        <p:spPr bwMode="auto">
          <a:xfrm>
            <a:off x="3048000" y="6578929"/>
            <a:ext cx="9144000" cy="291897"/>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ctr" eaLnBrk="0" hangingPunct="0">
              <a:defRPr/>
            </a:pPr>
            <a:r>
              <a:rPr lang="en-US" sz="1500" b="1" dirty="0">
                <a:solidFill>
                  <a:srgbClr val="FFC117"/>
                </a:solidFill>
                <a:latin typeface="18 VAG Rounded Black   09390"/>
                <a:ea typeface="+mn-ea"/>
                <a:cs typeface="+mn-cs"/>
              </a:rPr>
              <a:t>Introduction</a:t>
            </a:r>
            <a:r>
              <a:rPr lang="en-US" sz="1500" b="1" dirty="0">
                <a:solidFill>
                  <a:srgbClr val="FFFF00"/>
                </a:solidFill>
                <a:latin typeface="18 VAG Rounded Black   09390"/>
                <a:ea typeface="+mn-ea"/>
                <a:cs typeface="+mn-cs"/>
              </a:rPr>
              <a:t> </a:t>
            </a:r>
            <a:r>
              <a:rPr lang="en-US" sz="1500" b="1" dirty="0">
                <a:solidFill>
                  <a:schemeClr val="tx1"/>
                </a:solidFill>
                <a:latin typeface="18 VAG Rounded Black   09390"/>
                <a:ea typeface="+mn-ea"/>
                <a:cs typeface="+mn-cs"/>
              </a:rPr>
              <a:t>(</a:t>
            </a:r>
            <a:fld id="{F6F39CF2-87E7-FF4A-9C8E-A745CB692DE9}" type="slidenum">
              <a:rPr lang="en-US" sz="1500" b="1">
                <a:solidFill>
                  <a:schemeClr val="tx1"/>
                </a:solidFill>
                <a:latin typeface="18 VAG Rounded Black   09390"/>
                <a:ea typeface="+mn-ea"/>
                <a:cs typeface="+mn-cs"/>
              </a:rPr>
              <a:pPr algn="ctr" eaLnBrk="0" hangingPunct="0">
                <a:defRPr/>
              </a:pPr>
              <a:t>‹#›</a:t>
            </a:fld>
            <a:r>
              <a:rPr lang="en-US" sz="1500" b="1" dirty="0">
                <a:solidFill>
                  <a:schemeClr val="tx1"/>
                </a:solidFill>
                <a:latin typeface="18 VAG Rounded Black   09390"/>
                <a:ea typeface="+mn-ea"/>
                <a:cs typeface="+mn-cs"/>
              </a:rPr>
              <a:t>)</a:t>
            </a:r>
          </a:p>
        </p:txBody>
      </p:sp>
      <p:sp>
        <p:nvSpPr>
          <p:cNvPr id="16" name="Rectangle 11">
            <a:extLst>
              <a:ext uri="{FF2B5EF4-FFF2-40B4-BE49-F238E27FC236}">
                <a16:creationId xmlns:a16="http://schemas.microsoft.com/office/drawing/2014/main" id="{8F52F5B9-E725-A74B-AAA1-88E65AD7B9DD}"/>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18 VAG Rounded Thin   55390" pitchFamily="2" charset="0"/>
                <a:ea typeface="+mn-ea"/>
                <a:cs typeface="+mn-cs"/>
              </a:rPr>
              <a:t>Garcia, </a:t>
            </a:r>
            <a:r>
              <a:rPr lang="en-US" sz="1167" b="0" i="0" dirty="0" err="1">
                <a:solidFill>
                  <a:schemeClr val="tx1"/>
                </a:solidFill>
                <a:latin typeface="18 VAG Rounded Thin   55390" pitchFamily="2" charset="0"/>
                <a:ea typeface="+mn-ea"/>
                <a:cs typeface="+mn-cs"/>
              </a:rPr>
              <a:t>Nikolić</a:t>
            </a:r>
            <a:endParaRPr lang="en-US" sz="1167" b="0" i="0" dirty="0">
              <a:solidFill>
                <a:schemeClr val="tx1"/>
              </a:solidFill>
              <a:latin typeface="18 VAG Rounded Thin   55390" pitchFamily="2" charset="0"/>
              <a:ea typeface="+mn-ea"/>
              <a:cs typeface="+mn-cs"/>
            </a:endParaRPr>
          </a:p>
        </p:txBody>
      </p:sp>
      <p:pic>
        <p:nvPicPr>
          <p:cNvPr id="17" name="Picture 16">
            <a:extLst>
              <a:ext uri="{FF2B5EF4-FFF2-40B4-BE49-F238E27FC236}">
                <a16:creationId xmlns:a16="http://schemas.microsoft.com/office/drawing/2014/main" id="{8160B7DD-B895-2049-804B-344CFFDA4DD8}"/>
              </a:ext>
            </a:extLst>
          </p:cNvPr>
          <p:cNvPicPr>
            <a:picLocks noChangeAspect="1"/>
          </p:cNvPicPr>
          <p:nvPr userDrawn="1"/>
        </p:nvPicPr>
        <p:blipFill>
          <a:blip r:embed="rId3"/>
          <a:srcRect/>
          <a:stretch/>
        </p:blipFill>
        <p:spPr>
          <a:xfrm>
            <a:off x="101600" y="76200"/>
            <a:ext cx="812800" cy="812800"/>
          </a:xfrm>
          <a:prstGeom prst="rect">
            <a:avLst/>
          </a:prstGeom>
        </p:spPr>
      </p:pic>
      <p:pic>
        <p:nvPicPr>
          <p:cNvPr id="18" name="Picture 17">
            <a:extLst>
              <a:ext uri="{FF2B5EF4-FFF2-40B4-BE49-F238E27FC236}">
                <a16:creationId xmlns:a16="http://schemas.microsoft.com/office/drawing/2014/main" id="{067B7BEE-7519-024E-B9B3-6388E1716D05}"/>
              </a:ext>
            </a:extLst>
          </p:cNvPr>
          <p:cNvPicPr>
            <a:picLocks noChangeAspect="1"/>
          </p:cNvPicPr>
          <p:nvPr userDrawn="1"/>
        </p:nvPicPr>
        <p:blipFill>
          <a:blip r:embed="rId4"/>
          <a:stretch>
            <a:fillRect/>
          </a:stretch>
        </p:blipFill>
        <p:spPr>
          <a:xfrm>
            <a:off x="11112283" y="6480099"/>
            <a:ext cx="1079717" cy="377901"/>
          </a:xfrm>
          <a:prstGeom prst="rect">
            <a:avLst/>
          </a:prstGeom>
        </p:spPr>
      </p:pic>
      <p:sp>
        <p:nvSpPr>
          <p:cNvPr id="11" name="Title Placeholder 21">
            <a:extLst>
              <a:ext uri="{FF2B5EF4-FFF2-40B4-BE49-F238E27FC236}">
                <a16:creationId xmlns:a16="http://schemas.microsoft.com/office/drawing/2014/main" id="{83907F55-8DA3-AB4E-B199-AF2531DB4EB0}"/>
              </a:ext>
            </a:extLst>
          </p:cNvPr>
          <p:cNvSpPr>
            <a:spLocks noGrp="1"/>
          </p:cNvSpPr>
          <p:nvPr>
            <p:ph type="title"/>
          </p:nvPr>
        </p:nvSpPr>
        <p:spPr>
          <a:xfrm>
            <a:off x="1117600" y="76200"/>
            <a:ext cx="10502901" cy="762000"/>
          </a:xfrm>
          <a:prstGeom prst="rect">
            <a:avLst/>
          </a:prstGeom>
        </p:spPr>
        <p:txBody>
          <a:bodyPr vert="horz" lIns="130622" tIns="65310" rIns="130622" bIns="65310" anchor="t">
            <a:noAutofit/>
          </a:bodyPr>
          <a:lstStyle>
            <a:lvl1pPr>
              <a:defRPr>
                <a:solidFill>
                  <a:srgbClr val="E4DDD2"/>
                </a:solidFill>
              </a:defRPr>
            </a:lvl1pPr>
          </a:lstStyle>
          <a:p>
            <a:r>
              <a:rPr lang="en-US" dirty="0"/>
              <a:t>Click to edit Master title style</a:t>
            </a:r>
          </a:p>
        </p:txBody>
      </p:sp>
      <p:pic>
        <p:nvPicPr>
          <p:cNvPr id="15" name="Picture 14">
            <a:extLst>
              <a:ext uri="{FF2B5EF4-FFF2-40B4-BE49-F238E27FC236}">
                <a16:creationId xmlns:a16="http://schemas.microsoft.com/office/drawing/2014/main" id="{CA0BEC86-E652-F848-AA3E-EC0AC5D44BB2}"/>
              </a:ext>
            </a:extLst>
          </p:cNvPr>
          <p:cNvPicPr>
            <a:picLocks noChangeAspect="1"/>
          </p:cNvPicPr>
          <p:nvPr userDrawn="1"/>
        </p:nvPicPr>
        <p:blipFill>
          <a:blip r:embed="rId5"/>
          <a:stretch>
            <a:fillRect/>
          </a:stretch>
        </p:blipFill>
        <p:spPr>
          <a:xfrm>
            <a:off x="3018141" y="6375400"/>
            <a:ext cx="1264675" cy="389467"/>
          </a:xfrm>
          <a:prstGeom prst="rect">
            <a:avLst/>
          </a:prstGeom>
        </p:spPr>
      </p:pic>
    </p:spTree>
    <p:extLst>
      <p:ext uri="{BB962C8B-B14F-4D97-AF65-F5344CB8AC3E}">
        <p14:creationId xmlns:p14="http://schemas.microsoft.com/office/powerpoint/2010/main" val="26777006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One Column">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7600" y="908050"/>
            <a:ext cx="8572501" cy="53657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a:extLst>
              <a:ext uri="{FF2B5EF4-FFF2-40B4-BE49-F238E27FC236}">
                <a16:creationId xmlns:a16="http://schemas.microsoft.com/office/drawing/2014/main" id="{64A448BC-C94B-E240-BBCC-5B2F3975E19B}"/>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20749531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2_Two Column">
    <p:spTree>
      <p:nvGrpSpPr>
        <p:cNvPr id="1" name=""/>
        <p:cNvGrpSpPr/>
        <p:nvPr/>
      </p:nvGrpSpPr>
      <p:grpSpPr>
        <a:xfrm>
          <a:off x="0" y="0"/>
          <a:ext cx="0" cy="0"/>
          <a:chOff x="0" y="0"/>
          <a:chExt cx="0" cy="0"/>
        </a:xfrm>
      </p:grpSpPr>
      <p:pic>
        <p:nvPicPr>
          <p:cNvPr id="13" name="Picture 12" descr="A picture containing food&#10;&#10;Description automatically generated">
            <a:extLst>
              <a:ext uri="{FF2B5EF4-FFF2-40B4-BE49-F238E27FC236}">
                <a16:creationId xmlns:a16="http://schemas.microsoft.com/office/drawing/2014/main" id="{8ECFEE2E-863C-C649-AF97-D7D700C3CC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Content Placeholder 2"/>
          <p:cNvSpPr>
            <a:spLocks noGrp="1"/>
          </p:cNvSpPr>
          <p:nvPr>
            <p:ph sz="half" idx="1"/>
          </p:nvPr>
        </p:nvSpPr>
        <p:spPr>
          <a:xfrm>
            <a:off x="1117600" y="889000"/>
            <a:ext cx="3937000" cy="5407467"/>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67"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689600" y="889000"/>
            <a:ext cx="4000501" cy="5407467"/>
          </a:xfrm>
        </p:spPr>
        <p:txBody>
          <a:bodyPr/>
          <a:lstStyle>
            <a:lvl1pPr>
              <a:defRPr sz="3333" b="0" i="0">
                <a:latin typeface="VAG Rundschrift D Light" pitchFamily="2" charset="77"/>
              </a:defRPr>
            </a:lvl1pPr>
            <a:lvl2pPr>
              <a:defRPr sz="2833" b="0" i="0">
                <a:latin typeface="VAG Rundschrift D Light" pitchFamily="2" charset="77"/>
              </a:defRPr>
            </a:lvl2pPr>
            <a:lvl3pPr>
              <a:defRPr sz="2417" b="0" i="0">
                <a:latin typeface="VAG Rundschrift D Light" pitchFamily="2" charset="77"/>
              </a:defRPr>
            </a:lvl3pPr>
            <a:lvl4pPr>
              <a:defRPr sz="2167" b="0" i="0">
                <a:latin typeface="VAG Rundschrift D Light" pitchFamily="2" charset="77"/>
              </a:defRPr>
            </a:lvl4pPr>
            <a:lvl5pPr>
              <a:defRPr sz="2167" b="0" i="0">
                <a:latin typeface="VAG Rundschrift D Light"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2" name="Straight Connector 11">
            <a:extLst>
              <a:ext uri="{FF2B5EF4-FFF2-40B4-BE49-F238E27FC236}">
                <a16:creationId xmlns:a16="http://schemas.microsoft.com/office/drawing/2014/main" id="{46EA538D-CE12-4F4E-B8F9-BE50989C1758}"/>
              </a:ext>
            </a:extLst>
          </p:cNvPr>
          <p:cNvCxnSpPr>
            <a:cxnSpLocks/>
          </p:cNvCxnSpPr>
          <p:nvPr userDrawn="1"/>
        </p:nvCxnSpPr>
        <p:spPr>
          <a:xfrm>
            <a:off x="1115843" y="889000"/>
            <a:ext cx="10466559" cy="389"/>
          </a:xfrm>
          <a:prstGeom prst="line">
            <a:avLst/>
          </a:prstGeom>
          <a:ln>
            <a:solidFill>
              <a:schemeClr val="tx2"/>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
        <p:nvSpPr>
          <p:cNvPr id="14" name="Rectangle 10">
            <a:extLst>
              <a:ext uri="{FF2B5EF4-FFF2-40B4-BE49-F238E27FC236}">
                <a16:creationId xmlns:a16="http://schemas.microsoft.com/office/drawing/2014/main" id="{844558A7-D2FB-5F4B-864B-BFC87E4F4116}"/>
              </a:ext>
            </a:extLst>
          </p:cNvPr>
          <p:cNvSpPr>
            <a:spLocks noChangeArrowheads="1"/>
          </p:cNvSpPr>
          <p:nvPr userDrawn="1"/>
        </p:nvSpPr>
        <p:spPr bwMode="auto">
          <a:xfrm>
            <a:off x="3048000" y="6578929"/>
            <a:ext cx="9144000" cy="291897"/>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ctr" eaLnBrk="0" hangingPunct="0">
              <a:defRPr/>
            </a:pPr>
            <a:r>
              <a:rPr lang="en-US" sz="1500" b="1" dirty="0">
                <a:solidFill>
                  <a:srgbClr val="FFC117"/>
                </a:solidFill>
                <a:latin typeface="VAGRundschriftD" panose="00000500000000000000" pitchFamily="50" charset="0"/>
                <a:ea typeface="+mn-ea"/>
                <a:cs typeface="+mn-cs"/>
              </a:rPr>
              <a:t>Introduction</a:t>
            </a:r>
            <a:r>
              <a:rPr lang="en-US" sz="1500" b="1" dirty="0">
                <a:solidFill>
                  <a:srgbClr val="FFFF00"/>
                </a:solidFill>
                <a:latin typeface="VAGRundschriftD" panose="00000500000000000000" pitchFamily="50" charset="0"/>
                <a:ea typeface="+mn-ea"/>
                <a:cs typeface="+mn-cs"/>
              </a:rPr>
              <a:t> </a:t>
            </a:r>
            <a:r>
              <a:rPr lang="en-US" sz="1500" b="1" dirty="0">
                <a:solidFill>
                  <a:schemeClr val="tx1"/>
                </a:solidFill>
                <a:latin typeface="VAGRundschriftD" panose="00000500000000000000" pitchFamily="50" charset="0"/>
                <a:ea typeface="+mn-ea"/>
                <a:cs typeface="+mn-cs"/>
              </a:rPr>
              <a:t>(</a:t>
            </a:r>
            <a:fld id="{F6F39CF2-87E7-FF4A-9C8E-A745CB692DE9}" type="slidenum">
              <a:rPr lang="en-US" sz="1500" b="1">
                <a:solidFill>
                  <a:schemeClr val="tx1"/>
                </a:solidFill>
                <a:latin typeface="VAGRundschriftD" panose="00000500000000000000" pitchFamily="50" charset="0"/>
                <a:ea typeface="+mn-ea"/>
                <a:cs typeface="+mn-cs"/>
              </a:rPr>
              <a:pPr algn="ctr" eaLnBrk="0" hangingPunct="0">
                <a:defRPr/>
              </a:pPr>
              <a:t>‹#›</a:t>
            </a:fld>
            <a:r>
              <a:rPr lang="en-US" sz="1500" b="1" dirty="0">
                <a:solidFill>
                  <a:schemeClr val="tx1"/>
                </a:solidFill>
                <a:latin typeface="VAGRundschriftD" panose="00000500000000000000" pitchFamily="50" charset="0"/>
                <a:ea typeface="+mn-ea"/>
                <a:cs typeface="+mn-cs"/>
              </a:rPr>
              <a:t>)</a:t>
            </a:r>
          </a:p>
        </p:txBody>
      </p:sp>
      <p:sp>
        <p:nvSpPr>
          <p:cNvPr id="16" name="Rectangle 11">
            <a:extLst>
              <a:ext uri="{FF2B5EF4-FFF2-40B4-BE49-F238E27FC236}">
                <a16:creationId xmlns:a16="http://schemas.microsoft.com/office/drawing/2014/main" id="{8F52F5B9-E725-A74B-AAA1-88E65AD7B9DD}"/>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VAGRundschriftDLig" panose="00000400000000000000" pitchFamily="50" charset="0"/>
                <a:ea typeface="+mn-ea"/>
                <a:cs typeface="+mn-cs"/>
              </a:rPr>
              <a:t>Garcia, </a:t>
            </a:r>
            <a:r>
              <a:rPr lang="en-US" sz="1167" b="0" i="0" dirty="0" err="1">
                <a:solidFill>
                  <a:schemeClr val="tx1"/>
                </a:solidFill>
                <a:latin typeface="VAGRundschriftDLig" panose="00000400000000000000" pitchFamily="50" charset="0"/>
                <a:ea typeface="+mn-ea"/>
                <a:cs typeface="+mn-cs"/>
              </a:rPr>
              <a:t>Nikolić</a:t>
            </a:r>
            <a:endParaRPr lang="en-US" sz="1167" b="0" i="0" dirty="0">
              <a:solidFill>
                <a:schemeClr val="tx1"/>
              </a:solidFill>
              <a:latin typeface="VAGRundschriftDLig" panose="00000400000000000000" pitchFamily="50" charset="0"/>
              <a:ea typeface="+mn-ea"/>
              <a:cs typeface="+mn-cs"/>
            </a:endParaRPr>
          </a:p>
        </p:txBody>
      </p:sp>
      <p:pic>
        <p:nvPicPr>
          <p:cNvPr id="17" name="Picture 16">
            <a:extLst>
              <a:ext uri="{FF2B5EF4-FFF2-40B4-BE49-F238E27FC236}">
                <a16:creationId xmlns:a16="http://schemas.microsoft.com/office/drawing/2014/main" id="{8160B7DD-B895-2049-804B-344CFFDA4DD8}"/>
              </a:ext>
            </a:extLst>
          </p:cNvPr>
          <p:cNvPicPr>
            <a:picLocks noChangeAspect="1"/>
          </p:cNvPicPr>
          <p:nvPr userDrawn="1"/>
        </p:nvPicPr>
        <p:blipFill>
          <a:blip r:embed="rId3"/>
          <a:srcRect/>
          <a:stretch/>
        </p:blipFill>
        <p:spPr>
          <a:xfrm>
            <a:off x="101600" y="76200"/>
            <a:ext cx="812800" cy="812800"/>
          </a:xfrm>
          <a:prstGeom prst="rect">
            <a:avLst/>
          </a:prstGeom>
        </p:spPr>
      </p:pic>
      <p:pic>
        <p:nvPicPr>
          <p:cNvPr id="18" name="Picture 17">
            <a:extLst>
              <a:ext uri="{FF2B5EF4-FFF2-40B4-BE49-F238E27FC236}">
                <a16:creationId xmlns:a16="http://schemas.microsoft.com/office/drawing/2014/main" id="{067B7BEE-7519-024E-B9B3-6388E1716D05}"/>
              </a:ext>
            </a:extLst>
          </p:cNvPr>
          <p:cNvPicPr>
            <a:picLocks noChangeAspect="1"/>
          </p:cNvPicPr>
          <p:nvPr userDrawn="1"/>
        </p:nvPicPr>
        <p:blipFill>
          <a:blip r:embed="rId4"/>
          <a:stretch>
            <a:fillRect/>
          </a:stretch>
        </p:blipFill>
        <p:spPr>
          <a:xfrm>
            <a:off x="11112283" y="6480099"/>
            <a:ext cx="1079717" cy="377901"/>
          </a:xfrm>
          <a:prstGeom prst="rect">
            <a:avLst/>
          </a:prstGeom>
        </p:spPr>
      </p:pic>
      <p:sp>
        <p:nvSpPr>
          <p:cNvPr id="11" name="Title Placeholder 21">
            <a:extLst>
              <a:ext uri="{FF2B5EF4-FFF2-40B4-BE49-F238E27FC236}">
                <a16:creationId xmlns:a16="http://schemas.microsoft.com/office/drawing/2014/main" id="{83907F55-8DA3-AB4E-B199-AF2531DB4EB0}"/>
              </a:ext>
            </a:extLst>
          </p:cNvPr>
          <p:cNvSpPr>
            <a:spLocks noGrp="1"/>
          </p:cNvSpPr>
          <p:nvPr>
            <p:ph type="title"/>
          </p:nvPr>
        </p:nvSpPr>
        <p:spPr>
          <a:xfrm>
            <a:off x="1117600" y="76200"/>
            <a:ext cx="10502901" cy="762000"/>
          </a:xfrm>
          <a:prstGeom prst="rect">
            <a:avLst/>
          </a:prstGeom>
        </p:spPr>
        <p:txBody>
          <a:bodyPr vert="horz" lIns="130622" tIns="65310" rIns="130622" bIns="65310" anchor="t">
            <a:noAutofit/>
          </a:bodyPr>
          <a:lstStyle>
            <a:lvl1pPr>
              <a:defRPr>
                <a:solidFill>
                  <a:srgbClr val="E4DDD2"/>
                </a:solidFill>
                <a:latin typeface="VAGRundschriftD" panose="00000500000000000000" pitchFamily="50" charset="0"/>
              </a:defRPr>
            </a:lvl1pPr>
          </a:lstStyle>
          <a:p>
            <a:r>
              <a:rPr lang="en-US" dirty="0"/>
              <a:t>Click to edit Master title style</a:t>
            </a:r>
          </a:p>
        </p:txBody>
      </p:sp>
      <p:pic>
        <p:nvPicPr>
          <p:cNvPr id="15" name="Picture 14">
            <a:extLst>
              <a:ext uri="{FF2B5EF4-FFF2-40B4-BE49-F238E27FC236}">
                <a16:creationId xmlns:a16="http://schemas.microsoft.com/office/drawing/2014/main" id="{82AFCD5E-49BF-E247-8C97-949C07F042FD}"/>
              </a:ext>
            </a:extLst>
          </p:cNvPr>
          <p:cNvPicPr>
            <a:picLocks noChangeAspect="1"/>
          </p:cNvPicPr>
          <p:nvPr userDrawn="1"/>
        </p:nvPicPr>
        <p:blipFill>
          <a:blip r:embed="rId5"/>
          <a:stretch>
            <a:fillRect/>
          </a:stretch>
        </p:blipFill>
        <p:spPr>
          <a:xfrm>
            <a:off x="3018141" y="6375400"/>
            <a:ext cx="1264675" cy="389467"/>
          </a:xfrm>
          <a:prstGeom prst="rect">
            <a:avLst/>
          </a:prstGeom>
        </p:spPr>
      </p:pic>
    </p:spTree>
    <p:extLst>
      <p:ext uri="{BB962C8B-B14F-4D97-AF65-F5344CB8AC3E}">
        <p14:creationId xmlns:p14="http://schemas.microsoft.com/office/powerpoint/2010/main" val="38135417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ub Title">
    <p:spTree>
      <p:nvGrpSpPr>
        <p:cNvPr id="1" name=""/>
        <p:cNvGrpSpPr/>
        <p:nvPr/>
      </p:nvGrpSpPr>
      <p:grpSpPr>
        <a:xfrm>
          <a:off x="0" y="0"/>
          <a:ext cx="0" cy="0"/>
          <a:chOff x="0" y="0"/>
          <a:chExt cx="0" cy="0"/>
        </a:xfrm>
      </p:grpSpPr>
      <p:pic>
        <p:nvPicPr>
          <p:cNvPr id="8" name="Picture 7" descr="A picture containing food&#10;&#10;Description automatically generated">
            <a:extLst>
              <a:ext uri="{FF2B5EF4-FFF2-40B4-BE49-F238E27FC236}">
                <a16:creationId xmlns:a16="http://schemas.microsoft.com/office/drawing/2014/main" id="{2DF9A1AA-6E36-A244-B9C8-150E2F1D418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p:cNvSpPr/>
          <p:nvPr/>
        </p:nvSpPr>
        <p:spPr>
          <a:xfrm>
            <a:off x="412756" y="681039"/>
            <a:ext cx="61383"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5" name="Rectangle 4"/>
          <p:cNvSpPr/>
          <p:nvPr/>
        </p:nvSpPr>
        <p:spPr>
          <a:xfrm>
            <a:off x="357719" y="681039"/>
            <a:ext cx="381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6" name="Rectangle 5"/>
          <p:cNvSpPr/>
          <p:nvPr/>
        </p:nvSpPr>
        <p:spPr>
          <a:xfrm>
            <a:off x="332319" y="681039"/>
            <a:ext cx="127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a:p>
        </p:txBody>
      </p:sp>
      <p:sp>
        <p:nvSpPr>
          <p:cNvPr id="7" name="Rectangle 6"/>
          <p:cNvSpPr/>
          <p:nvPr/>
        </p:nvSpPr>
        <p:spPr>
          <a:xfrm>
            <a:off x="296333" y="681039"/>
            <a:ext cx="10584"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9" name="Subtitle 8"/>
          <p:cNvSpPr>
            <a:spLocks noGrp="1"/>
          </p:cNvSpPr>
          <p:nvPr>
            <p:ph type="subTitle" idx="1"/>
          </p:nvPr>
        </p:nvSpPr>
        <p:spPr>
          <a:xfrm>
            <a:off x="3657600" y="2834640"/>
            <a:ext cx="7924800" cy="1508760"/>
          </a:xfrm>
        </p:spPr>
        <p:txBody>
          <a:bodyPr lIns="143685" anchor="ctr">
            <a:scene3d>
              <a:camera prst="orthographicFront"/>
              <a:lightRig rig="flat" dir="tl">
                <a:rot lat="0" lon="0" rev="6600000"/>
              </a:lightRig>
            </a:scene3d>
            <a:sp3d extrusionH="25400" contourW="8890">
              <a:bevelT w="38100" h="31750"/>
              <a:contourClr>
                <a:srgbClr val="D0940C"/>
              </a:contourClr>
            </a:sp3d>
          </a:bodyPr>
          <a:lstStyle>
            <a:lvl1pPr marL="0" indent="0" algn="ctr">
              <a:spcBef>
                <a:spcPts val="0"/>
              </a:spcBef>
              <a:buNone/>
              <a:defRPr sz="8417" b="1" cap="none" spc="0">
                <a:ln w="11430"/>
                <a:solidFill>
                  <a:srgbClr val="D0940C"/>
                </a:solidFill>
                <a:effectLst>
                  <a:outerShdw blurRad="50800" dist="39000" dir="5460000" algn="tl">
                    <a:srgbClr val="000000">
                      <a:alpha val="38000"/>
                    </a:srgbClr>
                  </a:outerShdw>
                </a:effectLst>
                <a:latin typeface="VAGRundschriftD" panose="00000500000000000000" pitchFamily="50" charset="0"/>
              </a:defRPr>
            </a:lvl1pPr>
            <a:lvl2pPr marL="544245" indent="0" algn="ctr">
              <a:buNone/>
            </a:lvl2pPr>
            <a:lvl3pPr marL="1088490" indent="0" algn="ctr">
              <a:buNone/>
            </a:lvl3pPr>
            <a:lvl4pPr marL="1632735" indent="0" algn="ctr">
              <a:buNone/>
            </a:lvl4pPr>
            <a:lvl5pPr marL="2176980" indent="0" algn="ctr">
              <a:buNone/>
            </a:lvl5pPr>
            <a:lvl6pPr marL="2721224" indent="0" algn="ctr">
              <a:buNone/>
            </a:lvl6pPr>
            <a:lvl7pPr marL="3265469" indent="0" algn="ctr">
              <a:buNone/>
            </a:lvl7pPr>
            <a:lvl8pPr marL="3809714" indent="0" algn="ctr">
              <a:buNone/>
            </a:lvl8pPr>
            <a:lvl9pPr marL="4353959" indent="0" algn="ctr">
              <a:buNone/>
            </a:lvl9pPr>
          </a:lstStyle>
          <a:p>
            <a:r>
              <a:rPr lang="en-US" dirty="0"/>
              <a:t>Click to edit Master subtitle style</a:t>
            </a:r>
          </a:p>
        </p:txBody>
      </p:sp>
      <p:sp>
        <p:nvSpPr>
          <p:cNvPr id="11" name="Oval 10"/>
          <p:cNvSpPr/>
          <p:nvPr userDrawn="1"/>
        </p:nvSpPr>
        <p:spPr>
          <a:xfrm>
            <a:off x="3692918" y="5575709"/>
            <a:ext cx="7864084" cy="393291"/>
          </a:xfrm>
          <a:prstGeom prst="ellipse">
            <a:avLst/>
          </a:prstGeom>
          <a:solidFill>
            <a:schemeClr val="bg1">
              <a:alpha val="17000"/>
            </a:schemeClr>
          </a:solidFill>
          <a:ln>
            <a:noFill/>
          </a:ln>
          <a:effectLst>
            <a:softEdge rad="139700"/>
          </a:effectLst>
        </p:spPr>
        <p:style>
          <a:lnRef idx="1">
            <a:schemeClr val="accent1"/>
          </a:lnRef>
          <a:fillRef idx="3">
            <a:schemeClr val="accent1"/>
          </a:fillRef>
          <a:effectRef idx="2">
            <a:schemeClr val="accent1"/>
          </a:effectRef>
          <a:fontRef idx="minor">
            <a:schemeClr val="lt1"/>
          </a:fontRef>
        </p:style>
        <p:txBody>
          <a:bodyPr lIns="76200" tIns="38100" rIns="76200" bIns="38100" anchor="ctr"/>
          <a:lstStyle/>
          <a:p>
            <a:pPr algn="ctr">
              <a:defRPr/>
            </a:pPr>
            <a:endParaRPr lang="en-US" sz="19062" dirty="0"/>
          </a:p>
        </p:txBody>
      </p:sp>
    </p:spTree>
    <p:extLst>
      <p:ext uri="{BB962C8B-B14F-4D97-AF65-F5344CB8AC3E}">
        <p14:creationId xmlns:p14="http://schemas.microsoft.com/office/powerpoint/2010/main" val="38010211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Lines">
    <p:spTree>
      <p:nvGrpSpPr>
        <p:cNvPr id="1" name=""/>
        <p:cNvGrpSpPr/>
        <p:nvPr/>
      </p:nvGrpSpPr>
      <p:grpSpPr>
        <a:xfrm>
          <a:off x="0" y="0"/>
          <a:ext cx="0" cy="0"/>
          <a:chOff x="0" y="0"/>
          <a:chExt cx="0" cy="0"/>
        </a:xfrm>
      </p:grpSpPr>
      <p:pic>
        <p:nvPicPr>
          <p:cNvPr id="17" name="Picture 16" descr="A picture containing food&#10;&#10;Description automatically generated">
            <a:extLst>
              <a:ext uri="{FF2B5EF4-FFF2-40B4-BE49-F238E27FC236}">
                <a16:creationId xmlns:a16="http://schemas.microsoft.com/office/drawing/2014/main" id="{68AA9D09-0281-BC43-ACED-6D4085FEB572}"/>
              </a:ext>
            </a:extLst>
          </p:cNvPr>
          <p:cNvPicPr>
            <a:picLocks noChangeAspect="1"/>
          </p:cNvPicPr>
          <p:nvPr userDrawn="1"/>
        </p:nvPicPr>
        <p:blipFill>
          <a:blip r:embed="rId2"/>
          <a:stretch>
            <a:fillRect/>
          </a:stretch>
        </p:blipFill>
        <p:spPr>
          <a:xfrm>
            <a:off x="-1" y="0"/>
            <a:ext cx="12192000" cy="6858000"/>
          </a:xfrm>
          <a:prstGeom prst="rect">
            <a:avLst/>
          </a:prstGeom>
        </p:spPr>
      </p:pic>
      <p:pic>
        <p:nvPicPr>
          <p:cNvPr id="15" name="Picture 14" descr="A picture containing light&#10;&#10;Description automatically generated">
            <a:extLst>
              <a:ext uri="{FF2B5EF4-FFF2-40B4-BE49-F238E27FC236}">
                <a16:creationId xmlns:a16="http://schemas.microsoft.com/office/drawing/2014/main" id="{019910D7-85CB-0247-9141-23A994520677}"/>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3748BE3-3690-A64C-B81F-5D4836EADD7A}"/>
              </a:ext>
            </a:extLst>
          </p:cNvPr>
          <p:cNvSpPr>
            <a:spLocks noGrp="1"/>
          </p:cNvSpPr>
          <p:nvPr>
            <p:ph type="title"/>
          </p:nvPr>
        </p:nvSpPr>
        <p:spPr>
          <a:xfrm>
            <a:off x="3714751" y="4561556"/>
            <a:ext cx="7823200" cy="762000"/>
          </a:xfrm>
        </p:spPr>
        <p:txBody>
          <a:bodyPr/>
          <a:lstStyle>
            <a:lvl1pPr algn="ctr">
              <a:defRPr>
                <a:solidFill>
                  <a:srgbClr val="FFC117"/>
                </a:solidFill>
                <a:latin typeface="VAGRundschriftD" panose="00000500000000000000" pitchFamily="50" charset="0"/>
              </a:defRPr>
            </a:lvl1pPr>
          </a:lstStyle>
          <a:p>
            <a:r>
              <a:rPr lang="en-US" dirty="0"/>
              <a:t>Click to edit Master title style</a:t>
            </a:r>
          </a:p>
        </p:txBody>
      </p:sp>
      <p:sp>
        <p:nvSpPr>
          <p:cNvPr id="5" name="Oval 4">
            <a:extLst>
              <a:ext uri="{FF2B5EF4-FFF2-40B4-BE49-F238E27FC236}">
                <a16:creationId xmlns:a16="http://schemas.microsoft.com/office/drawing/2014/main" id="{62742FAC-A915-9940-B071-1ACD580B8818}"/>
              </a:ext>
            </a:extLst>
          </p:cNvPr>
          <p:cNvSpPr/>
          <p:nvPr userDrawn="1"/>
        </p:nvSpPr>
        <p:spPr>
          <a:xfrm>
            <a:off x="3670301" y="5754635"/>
            <a:ext cx="7912099" cy="471948"/>
          </a:xfrm>
          <a:prstGeom prst="ellipse">
            <a:avLst/>
          </a:prstGeom>
          <a:solidFill>
            <a:schemeClr val="bg1">
              <a:alpha val="17000"/>
            </a:schemeClr>
          </a:solidFill>
          <a:ln>
            <a:noFill/>
          </a:ln>
          <a:effectLst>
            <a:softEdge rad="139700"/>
          </a:effectLst>
        </p:spPr>
        <p:style>
          <a:lnRef idx="1">
            <a:schemeClr val="accent1"/>
          </a:lnRef>
          <a:fillRef idx="3">
            <a:schemeClr val="accent1"/>
          </a:fillRef>
          <a:effectRef idx="2">
            <a:schemeClr val="accent1"/>
          </a:effectRef>
          <a:fontRef idx="minor">
            <a:schemeClr val="lt1"/>
          </a:fontRef>
        </p:style>
        <p:txBody>
          <a:bodyPr lIns="108852" tIns="54425" rIns="108852" bIns="54425" anchor="ctr"/>
          <a:lstStyle/>
          <a:p>
            <a:pPr algn="ctr" eaLnBrk="0" hangingPunct="0">
              <a:defRPr/>
            </a:pPr>
            <a:endParaRPr lang="en-US" sz="19062" dirty="0"/>
          </a:p>
        </p:txBody>
      </p:sp>
      <p:sp>
        <p:nvSpPr>
          <p:cNvPr id="6" name="TextBox 5">
            <a:extLst>
              <a:ext uri="{FF2B5EF4-FFF2-40B4-BE49-F238E27FC236}">
                <a16:creationId xmlns:a16="http://schemas.microsoft.com/office/drawing/2014/main" id="{1B67045E-1D2A-D347-9A70-A92ECBAE1DA8}"/>
              </a:ext>
            </a:extLst>
          </p:cNvPr>
          <p:cNvSpPr txBox="1"/>
          <p:nvPr userDrawn="1"/>
        </p:nvSpPr>
        <p:spPr>
          <a:xfrm>
            <a:off x="3083166" y="2494613"/>
            <a:ext cx="2222500" cy="861967"/>
          </a:xfrm>
          <a:prstGeom prst="rect">
            <a:avLst/>
          </a:prstGeom>
          <a:noFill/>
        </p:spPr>
        <p:txBody>
          <a:bodyPr wrap="square">
            <a:spAutoFit/>
          </a:bodyPr>
          <a:lstStyle/>
          <a:p>
            <a:pPr algn="ctr">
              <a:defRPr/>
            </a:pPr>
            <a:r>
              <a:rPr lang="en-US" sz="1667" b="1" dirty="0">
                <a:solidFill>
                  <a:schemeClr val="tx1">
                    <a:lumMod val="50000"/>
                  </a:schemeClr>
                </a:solidFill>
                <a:latin typeface="18 VAG Rounded Bold   07390"/>
              </a:rPr>
              <a:t>UC Berkeley</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Teaching Professor </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Dan Garcia</a:t>
            </a:r>
          </a:p>
        </p:txBody>
      </p:sp>
      <p:sp>
        <p:nvSpPr>
          <p:cNvPr id="7" name="TextBox 6">
            <a:extLst>
              <a:ext uri="{FF2B5EF4-FFF2-40B4-BE49-F238E27FC236}">
                <a16:creationId xmlns:a16="http://schemas.microsoft.com/office/drawing/2014/main" id="{84E8C054-0436-F542-9F61-8E0911ABF73E}"/>
              </a:ext>
            </a:extLst>
          </p:cNvPr>
          <p:cNvSpPr txBox="1"/>
          <p:nvPr userDrawn="1"/>
        </p:nvSpPr>
        <p:spPr>
          <a:xfrm>
            <a:off x="10318235" y="2493787"/>
            <a:ext cx="1672165" cy="861967"/>
          </a:xfrm>
          <a:prstGeom prst="rect">
            <a:avLst/>
          </a:prstGeom>
          <a:noFill/>
        </p:spPr>
        <p:txBody>
          <a:bodyPr wrap="square">
            <a:spAutoFit/>
          </a:bodyPr>
          <a:lstStyle/>
          <a:p>
            <a:pPr algn="ctr">
              <a:defRPr/>
            </a:pPr>
            <a:r>
              <a:rPr lang="en-US" sz="1667" b="1" dirty="0">
                <a:solidFill>
                  <a:schemeClr val="tx1">
                    <a:lumMod val="50000"/>
                  </a:schemeClr>
                </a:solidFill>
                <a:latin typeface="18 VAG Rounded Bold   07390"/>
              </a:rPr>
              <a:t>UC Berkeley</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Professor </a:t>
            </a:r>
            <a:br>
              <a:rPr lang="en-US" sz="1667" b="1" dirty="0">
                <a:solidFill>
                  <a:schemeClr val="tx1">
                    <a:lumMod val="50000"/>
                  </a:schemeClr>
                </a:solidFill>
                <a:latin typeface="18 VAG Rounded Bold   07390"/>
              </a:rPr>
            </a:br>
            <a:r>
              <a:rPr lang="en-US" sz="1667" b="1" dirty="0">
                <a:solidFill>
                  <a:schemeClr val="tx1">
                    <a:lumMod val="50000"/>
                  </a:schemeClr>
                </a:solidFill>
                <a:latin typeface="18 VAG Rounded Bold   07390"/>
              </a:rPr>
              <a:t>Bora </a:t>
            </a:r>
            <a:r>
              <a:rPr lang="en-US" sz="1667" b="1" dirty="0" err="1">
                <a:solidFill>
                  <a:schemeClr val="tx1">
                    <a:lumMod val="50000"/>
                  </a:schemeClr>
                </a:solidFill>
                <a:latin typeface="18 VAG Rounded Bold   07390"/>
              </a:rPr>
              <a:t>Nikolić</a:t>
            </a:r>
            <a:endParaRPr lang="en-US" sz="1667" b="1" dirty="0">
              <a:solidFill>
                <a:schemeClr val="tx1">
                  <a:lumMod val="50000"/>
                </a:schemeClr>
              </a:solidFill>
              <a:latin typeface="18 VAG Rounded Bold   07390"/>
            </a:endParaRPr>
          </a:p>
        </p:txBody>
      </p:sp>
      <p:pic>
        <p:nvPicPr>
          <p:cNvPr id="8" name="Picture 2">
            <a:extLst>
              <a:ext uri="{FF2B5EF4-FFF2-40B4-BE49-F238E27FC236}">
                <a16:creationId xmlns:a16="http://schemas.microsoft.com/office/drawing/2014/main" id="{57237754-4208-E64E-8670-01EE7AED6B0E}"/>
              </a:ext>
            </a:extLst>
          </p:cNvPr>
          <p:cNvPicPr>
            <a:picLocks noChangeAspect="1" noChangeArrowheads="1"/>
          </p:cNvPicPr>
          <p:nvPr userDrawn="1"/>
        </p:nvPicPr>
        <p:blipFill rotWithShape="1">
          <a:blip r:embed="rId4"/>
          <a:srcRect l="14185" t="1842" r="32155" b="47377"/>
          <a:stretch/>
        </p:blipFill>
        <p:spPr bwMode="auto">
          <a:xfrm>
            <a:off x="3512032" y="414398"/>
            <a:ext cx="1364768" cy="169050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a:extLst>
              <a:ext uri="{FF2B5EF4-FFF2-40B4-BE49-F238E27FC236}">
                <a16:creationId xmlns:a16="http://schemas.microsoft.com/office/drawing/2014/main" id="{62DD0B12-55F7-2546-8672-7E2D289F690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6757" t="8236" r="5233" b="12909"/>
          <a:stretch/>
        </p:blipFill>
        <p:spPr>
          <a:xfrm>
            <a:off x="10521036" y="399773"/>
            <a:ext cx="1266560" cy="17051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Rectangle 4">
            <a:extLst>
              <a:ext uri="{FF2B5EF4-FFF2-40B4-BE49-F238E27FC236}">
                <a16:creationId xmlns:a16="http://schemas.microsoft.com/office/drawing/2014/main" id="{4983A71A-E6AB-F34C-BE07-4CD0CE150AA1}"/>
              </a:ext>
            </a:extLst>
          </p:cNvPr>
          <p:cNvSpPr>
            <a:spLocks noChangeArrowheads="1"/>
          </p:cNvSpPr>
          <p:nvPr userDrawn="1"/>
        </p:nvSpPr>
        <p:spPr bwMode="auto">
          <a:xfrm>
            <a:off x="4160129" y="1859888"/>
            <a:ext cx="6908800" cy="1540380"/>
          </a:xfrm>
          <a:prstGeom prst="rect">
            <a:avLst/>
          </a:prstGeom>
          <a:noFill/>
          <a:ln w="12700">
            <a:noFill/>
            <a:miter lim="800000"/>
            <a:headEnd/>
            <a:tailEnd/>
          </a:ln>
        </p:spPr>
        <p:txBody>
          <a:bodyPr wrap="square" lIns="75592" tIns="30237" rIns="75592" bIns="30237" anchor="ctr">
            <a:prstTxWarp prst="textNoShape">
              <a:avLst/>
            </a:prstTxWarp>
            <a:spAutoFit/>
          </a:bodyPr>
          <a:lstStyle/>
          <a:p>
            <a:pPr algn="ctr" eaLnBrk="0" hangingPunct="0">
              <a:lnSpc>
                <a:spcPct val="77000"/>
              </a:lnSpc>
            </a:pPr>
            <a:r>
              <a:rPr lang="en-US" sz="3333" b="1" dirty="0">
                <a:solidFill>
                  <a:schemeClr val="tx1"/>
                </a:solidFill>
                <a:latin typeface="VAGRundschriftD" panose="00000500000000000000" pitchFamily="50" charset="0"/>
              </a:rPr>
              <a:t>Great Ideas</a:t>
            </a:r>
          </a:p>
          <a:p>
            <a:pPr algn="ctr" eaLnBrk="0" hangingPunct="0">
              <a:lnSpc>
                <a:spcPct val="77000"/>
              </a:lnSpc>
            </a:pPr>
            <a:r>
              <a:rPr lang="en-US" sz="3333" b="1" dirty="0">
                <a:solidFill>
                  <a:schemeClr val="tx1"/>
                </a:solidFill>
                <a:latin typeface="VAGRundschriftD" panose="00000500000000000000" pitchFamily="50" charset="0"/>
              </a:rPr>
              <a:t>in</a:t>
            </a:r>
            <a:br>
              <a:rPr lang="en-US" sz="3333" b="1" dirty="0">
                <a:solidFill>
                  <a:schemeClr val="tx1"/>
                </a:solidFill>
                <a:latin typeface="VAGRundschriftD" panose="00000500000000000000" pitchFamily="50" charset="0"/>
              </a:rPr>
            </a:br>
            <a:r>
              <a:rPr lang="en-US" sz="3333" b="1" dirty="0">
                <a:solidFill>
                  <a:schemeClr val="tx1"/>
                </a:solidFill>
                <a:latin typeface="VAGRundschriftD" panose="00000500000000000000" pitchFamily="50" charset="0"/>
              </a:rPr>
              <a:t>Computer Architecture</a:t>
            </a:r>
          </a:p>
          <a:p>
            <a:pPr algn="ctr" eaLnBrk="0" hangingPunct="0">
              <a:lnSpc>
                <a:spcPct val="77000"/>
              </a:lnSpc>
            </a:pPr>
            <a:r>
              <a:rPr lang="en-US" sz="2400" dirty="0">
                <a:solidFill>
                  <a:schemeClr val="tx1">
                    <a:lumMod val="50000"/>
                  </a:schemeClr>
                </a:solidFill>
                <a:latin typeface="VAGRundschriftD" panose="00000500000000000000" pitchFamily="50" charset="0"/>
              </a:rPr>
              <a:t>(a.k.a. Machine Structures)</a:t>
            </a:r>
            <a:endParaRPr lang="en-US" sz="3833" b="1" dirty="0">
              <a:solidFill>
                <a:schemeClr val="bg2"/>
              </a:solidFill>
              <a:latin typeface="VAGRundschriftD" panose="00000500000000000000" pitchFamily="50" charset="0"/>
            </a:endParaRPr>
          </a:p>
        </p:txBody>
      </p:sp>
      <p:sp>
        <p:nvSpPr>
          <p:cNvPr id="13" name="Rectangle 11">
            <a:extLst>
              <a:ext uri="{FF2B5EF4-FFF2-40B4-BE49-F238E27FC236}">
                <a16:creationId xmlns:a16="http://schemas.microsoft.com/office/drawing/2014/main" id="{EB3944F9-06D2-8C43-B653-2C25027065D0}"/>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VAGRundschriftDLig" panose="00000400000000000000" pitchFamily="50" charset="0"/>
                <a:ea typeface="+mn-ea"/>
                <a:cs typeface="+mn-cs"/>
              </a:rPr>
              <a:t>Garcia, </a:t>
            </a:r>
            <a:r>
              <a:rPr lang="en-US" sz="1167" b="0" i="0" dirty="0" err="1">
                <a:solidFill>
                  <a:schemeClr val="tx1"/>
                </a:solidFill>
                <a:latin typeface="VAGRundschriftDLig" panose="00000400000000000000" pitchFamily="50" charset="0"/>
                <a:ea typeface="+mn-ea"/>
                <a:cs typeface="+mn-cs"/>
              </a:rPr>
              <a:t>Nikolić</a:t>
            </a:r>
            <a:endParaRPr lang="en-US" sz="1167" b="0" i="0" dirty="0">
              <a:solidFill>
                <a:schemeClr val="tx1"/>
              </a:solidFill>
              <a:latin typeface="VAGRundschriftDLig" panose="00000400000000000000" pitchFamily="50" charset="0"/>
              <a:ea typeface="+mn-ea"/>
              <a:cs typeface="+mn-cs"/>
            </a:endParaRPr>
          </a:p>
        </p:txBody>
      </p:sp>
      <p:pic>
        <p:nvPicPr>
          <p:cNvPr id="14" name="Picture 13">
            <a:extLst>
              <a:ext uri="{FF2B5EF4-FFF2-40B4-BE49-F238E27FC236}">
                <a16:creationId xmlns:a16="http://schemas.microsoft.com/office/drawing/2014/main" id="{8B45346C-6CDA-0242-B211-E679E89FE3EB}"/>
              </a:ext>
            </a:extLst>
          </p:cNvPr>
          <p:cNvPicPr>
            <a:picLocks noChangeAspect="1"/>
          </p:cNvPicPr>
          <p:nvPr userDrawn="1"/>
        </p:nvPicPr>
        <p:blipFill>
          <a:blip r:embed="rId6"/>
          <a:stretch>
            <a:fillRect/>
          </a:stretch>
        </p:blipFill>
        <p:spPr>
          <a:xfrm>
            <a:off x="11112283" y="6480099"/>
            <a:ext cx="1079717" cy="377901"/>
          </a:xfrm>
          <a:prstGeom prst="rect">
            <a:avLst/>
          </a:prstGeom>
        </p:spPr>
      </p:pic>
      <p:pic>
        <p:nvPicPr>
          <p:cNvPr id="18" name="Picture 17">
            <a:extLst>
              <a:ext uri="{FF2B5EF4-FFF2-40B4-BE49-F238E27FC236}">
                <a16:creationId xmlns:a16="http://schemas.microsoft.com/office/drawing/2014/main" id="{DA07AA5D-B271-D84F-A242-5CBE7971CFF9}"/>
              </a:ext>
            </a:extLst>
          </p:cNvPr>
          <p:cNvPicPr>
            <a:picLocks noChangeAspect="1"/>
          </p:cNvPicPr>
          <p:nvPr userDrawn="1"/>
        </p:nvPicPr>
        <p:blipFill>
          <a:blip r:embed="rId7"/>
          <a:srcRect/>
          <a:stretch/>
        </p:blipFill>
        <p:spPr>
          <a:xfrm>
            <a:off x="101600" y="76200"/>
            <a:ext cx="812800" cy="812800"/>
          </a:xfrm>
          <a:prstGeom prst="rect">
            <a:avLst/>
          </a:prstGeom>
        </p:spPr>
      </p:pic>
      <p:pic>
        <p:nvPicPr>
          <p:cNvPr id="19" name="Picture 18">
            <a:extLst>
              <a:ext uri="{FF2B5EF4-FFF2-40B4-BE49-F238E27FC236}">
                <a16:creationId xmlns:a16="http://schemas.microsoft.com/office/drawing/2014/main" id="{D1A36E3C-0B8E-D148-80CC-68FAAB4D55A7}"/>
              </a:ext>
            </a:extLst>
          </p:cNvPr>
          <p:cNvPicPr>
            <a:picLocks noChangeAspect="1"/>
          </p:cNvPicPr>
          <p:nvPr userDrawn="1"/>
        </p:nvPicPr>
        <p:blipFill>
          <a:blip r:embed="rId8"/>
          <a:stretch>
            <a:fillRect/>
          </a:stretch>
        </p:blipFill>
        <p:spPr>
          <a:xfrm>
            <a:off x="3018141" y="6375400"/>
            <a:ext cx="1264675" cy="389467"/>
          </a:xfrm>
          <a:prstGeom prst="rect">
            <a:avLst/>
          </a:prstGeom>
        </p:spPr>
      </p:pic>
      <p:sp>
        <p:nvSpPr>
          <p:cNvPr id="20" name="Rectangle 19">
            <a:extLst>
              <a:ext uri="{FF2B5EF4-FFF2-40B4-BE49-F238E27FC236}">
                <a16:creationId xmlns:a16="http://schemas.microsoft.com/office/drawing/2014/main" id="{06BABD46-61F1-7C48-91F4-12BDB7C8B8CB}"/>
              </a:ext>
            </a:extLst>
          </p:cNvPr>
          <p:cNvSpPr/>
          <p:nvPr userDrawn="1"/>
        </p:nvSpPr>
        <p:spPr>
          <a:xfrm>
            <a:off x="6297061" y="6390958"/>
            <a:ext cx="2643739" cy="461665"/>
          </a:xfrm>
          <a:prstGeom prst="rect">
            <a:avLst/>
          </a:prstGeom>
        </p:spPr>
        <p:txBody>
          <a:bodyPr wrap="square">
            <a:spAutoFit/>
          </a:bodyPr>
          <a:lstStyle/>
          <a:p>
            <a:pPr algn="ctr"/>
            <a:r>
              <a:rPr lang="sr-Latn-RS" sz="1867" b="1" dirty="0">
                <a:solidFill>
                  <a:schemeClr val="tx1"/>
                </a:solidFill>
                <a:latin typeface="Courier" charset="0"/>
                <a:ea typeface="ＭＳ Ｐゴシック" charset="0"/>
                <a:cs typeface="Courier" charset="0"/>
                <a:sym typeface="Courier" charset="0"/>
              </a:rPr>
              <a:t>c</a:t>
            </a:r>
            <a:r>
              <a:rPr lang="en-US" sz="1867" b="1" dirty="0">
                <a:solidFill>
                  <a:schemeClr val="tx1"/>
                </a:solidFill>
                <a:latin typeface="Courier" charset="0"/>
                <a:ea typeface="ＭＳ Ｐゴシック" charset="0"/>
                <a:cs typeface="Courier" charset="0"/>
                <a:sym typeface="Courier" charset="0"/>
              </a:rPr>
              <a:t>s61c</a:t>
            </a:r>
            <a:r>
              <a:rPr lang="sr-Latn-RS" sz="1867" b="1" dirty="0">
                <a:solidFill>
                  <a:schemeClr val="tx1"/>
                </a:solidFill>
                <a:latin typeface="Courier" charset="0"/>
                <a:ea typeface="ＭＳ Ｐゴシック" charset="0"/>
                <a:cs typeface="Courier" charset="0"/>
                <a:sym typeface="Courier" charset="0"/>
              </a:rPr>
              <a:t>.org</a:t>
            </a:r>
            <a:r>
              <a:rPr lang="en-US" sz="2400" b="1" dirty="0">
                <a:solidFill>
                  <a:schemeClr val="tx1"/>
                </a:solidFill>
                <a:latin typeface="Helvetica" charset="0"/>
                <a:ea typeface="ＭＳ Ｐゴシック" charset="0"/>
                <a:cs typeface="Helvetica" charset="0"/>
                <a:sym typeface="Helvetica" charset="0"/>
              </a:rPr>
              <a:t> </a:t>
            </a:r>
            <a:endParaRPr lang="en-US" sz="21199" dirty="0">
              <a:solidFill>
                <a:schemeClr val="tx1"/>
              </a:solidFill>
            </a:endParaRPr>
          </a:p>
        </p:txBody>
      </p:sp>
      <p:sp>
        <p:nvSpPr>
          <p:cNvPr id="23" name="Rectangle 4">
            <a:extLst>
              <a:ext uri="{FF2B5EF4-FFF2-40B4-BE49-F238E27FC236}">
                <a16:creationId xmlns:a16="http://schemas.microsoft.com/office/drawing/2014/main" id="{FC28AFEE-91A4-6C48-A147-EC214E5A8FE8}"/>
              </a:ext>
            </a:extLst>
          </p:cNvPr>
          <p:cNvSpPr>
            <a:spLocks noChangeArrowheads="1"/>
          </p:cNvSpPr>
          <p:nvPr userDrawn="1"/>
        </p:nvSpPr>
        <p:spPr bwMode="auto">
          <a:xfrm>
            <a:off x="4164531" y="405525"/>
            <a:ext cx="6908800" cy="1631944"/>
          </a:xfrm>
          <a:prstGeom prst="rect">
            <a:avLst/>
          </a:prstGeom>
          <a:noFill/>
          <a:ln w="12700">
            <a:noFill/>
            <a:miter lim="800000"/>
            <a:headEnd/>
            <a:tailEnd/>
          </a:ln>
          <a:scene3d>
            <a:camera prst="orthographicFront"/>
            <a:lightRig rig="threePt" dir="t"/>
          </a:scene3d>
          <a:sp3d>
            <a:contourClr>
              <a:schemeClr val="bg1"/>
            </a:contourClr>
          </a:sp3d>
        </p:spPr>
        <p:txBody>
          <a:bodyPr wrap="square" lIns="75592" tIns="30237" rIns="75592" bIns="30237" anchor="ctr">
            <a:prstTxWarp prst="textNoShape">
              <a:avLst/>
            </a:prstTxWarp>
            <a:spAutoFit/>
            <a:sp3d extrusionH="25400">
              <a:bevelT w="38100" h="31750"/>
              <a:contourClr>
                <a:srgbClr val="4991B1"/>
              </a:contourClr>
            </a:sp3d>
          </a:bodyPr>
          <a:lstStyle/>
          <a:p>
            <a:pPr algn="ctr" eaLnBrk="0" hangingPunct="0">
              <a:lnSpc>
                <a:spcPct val="77000"/>
              </a:lnSpc>
            </a:pPr>
            <a:r>
              <a:rPr lang="en-US" sz="12800" dirty="0">
                <a:ln w="0"/>
                <a:solidFill>
                  <a:srgbClr val="4991B1"/>
                </a:solidFill>
                <a:effectLst/>
                <a:latin typeface="VAGRundschriftD" panose="00000500000000000000" pitchFamily="50" charset="0"/>
              </a:rPr>
              <a:t>CS61C</a:t>
            </a:r>
            <a:endParaRPr lang="en-US" sz="6400" b="1" dirty="0">
              <a:solidFill>
                <a:srgbClr val="4991B1"/>
              </a:solidFill>
              <a:latin typeface="VAGRundschriftD" panose="00000500000000000000" pitchFamily="50" charset="0"/>
            </a:endParaRPr>
          </a:p>
        </p:txBody>
      </p:sp>
    </p:spTree>
    <p:extLst>
      <p:ext uri="{BB962C8B-B14F-4D97-AF65-F5344CB8AC3E}">
        <p14:creationId xmlns:p14="http://schemas.microsoft.com/office/powerpoint/2010/main" val="17449919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One Column Li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AGRundschriftD" panose="00000500000000000000" pitchFamily="50"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VAGRundschriftD" panose="00000500000000000000" pitchFamily="50" charset="0"/>
              </a:defRPr>
            </a:lvl1pPr>
            <a:lvl2pPr>
              <a:defRPr>
                <a:latin typeface="VAGRundschriftD" panose="00000500000000000000" pitchFamily="50" charset="0"/>
              </a:defRPr>
            </a:lvl2pPr>
            <a:lvl3pPr>
              <a:defRPr>
                <a:latin typeface="VAGRundschriftD" panose="00000500000000000000" pitchFamily="50" charset="0"/>
              </a:defRPr>
            </a:lvl3pPr>
            <a:lvl4pPr>
              <a:defRPr>
                <a:latin typeface="VAGRundschriftD" panose="00000500000000000000" pitchFamily="50" charset="0"/>
              </a:defRPr>
            </a:lvl4pPr>
            <a:lvl5pPr>
              <a:defRPr>
                <a:latin typeface="VAGRundschriftD" panose="00000500000000000000"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99972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wo Column Lines">
    <p:spTree>
      <p:nvGrpSpPr>
        <p:cNvPr id="1" name=""/>
        <p:cNvGrpSpPr/>
        <p:nvPr/>
      </p:nvGrpSpPr>
      <p:grpSpPr>
        <a:xfrm>
          <a:off x="0" y="0"/>
          <a:ext cx="0" cy="0"/>
          <a:chOff x="0" y="0"/>
          <a:chExt cx="0" cy="0"/>
        </a:xfrm>
      </p:grpSpPr>
      <p:pic>
        <p:nvPicPr>
          <p:cNvPr id="12" name="Picture 11" descr="A picture containing food&#10;&#10;Description automatically generated">
            <a:extLst>
              <a:ext uri="{FF2B5EF4-FFF2-40B4-BE49-F238E27FC236}">
                <a16:creationId xmlns:a16="http://schemas.microsoft.com/office/drawing/2014/main" id="{8ED939BA-A982-714F-AC2A-BE41FDE6573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13" name="Picture 12" descr="A picture containing light&#10;&#10;Description automatically generated">
            <a:extLst>
              <a:ext uri="{FF2B5EF4-FFF2-40B4-BE49-F238E27FC236}">
                <a16:creationId xmlns:a16="http://schemas.microsoft.com/office/drawing/2014/main" id="{EC63A20D-21AB-2B40-91E4-4FDA4EB93B45}"/>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3" name="Content Placeholder 2"/>
          <p:cNvSpPr>
            <a:spLocks noGrp="1"/>
          </p:cNvSpPr>
          <p:nvPr>
            <p:ph sz="half" idx="1"/>
          </p:nvPr>
        </p:nvSpPr>
        <p:spPr>
          <a:xfrm>
            <a:off x="3048000" y="889000"/>
            <a:ext cx="3937000" cy="5407467"/>
          </a:xfrm>
        </p:spPr>
        <p:txBody>
          <a:bodyPr/>
          <a:lstStyle>
            <a:lvl1pPr>
              <a:defRPr sz="3333">
                <a:latin typeface="VAGRundschriftD" panose="00000500000000000000" pitchFamily="50" charset="0"/>
              </a:defRPr>
            </a:lvl1pPr>
            <a:lvl2pPr>
              <a:defRPr sz="2833">
                <a:latin typeface="VAGRundschriftD" panose="00000500000000000000" pitchFamily="50" charset="0"/>
              </a:defRPr>
            </a:lvl2pPr>
            <a:lvl3pPr>
              <a:defRPr sz="2417">
                <a:latin typeface="VAGRundschriftD" panose="00000500000000000000" pitchFamily="50" charset="0"/>
              </a:defRPr>
            </a:lvl3pPr>
            <a:lvl4pPr>
              <a:defRPr sz="2167">
                <a:latin typeface="VAGRundschriftD" panose="00000500000000000000" pitchFamily="50" charset="0"/>
              </a:defRPr>
            </a:lvl4pPr>
            <a:lvl5pPr>
              <a:defRPr sz="2167">
                <a:latin typeface="VAGRundschriftD" panose="00000500000000000000" pitchFamily="50"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620000" y="889000"/>
            <a:ext cx="3971925" cy="5407467"/>
          </a:xfrm>
        </p:spPr>
        <p:txBody>
          <a:bodyPr/>
          <a:lstStyle>
            <a:lvl1pPr>
              <a:defRPr sz="3333">
                <a:latin typeface="VAGRundschriftD" panose="00000500000000000000" pitchFamily="50" charset="0"/>
              </a:defRPr>
            </a:lvl1pPr>
            <a:lvl2pPr>
              <a:defRPr sz="2833">
                <a:latin typeface="VAGRundschriftD" panose="00000500000000000000" pitchFamily="50" charset="0"/>
              </a:defRPr>
            </a:lvl2pPr>
            <a:lvl3pPr>
              <a:defRPr sz="2417">
                <a:latin typeface="VAGRundschriftD" panose="00000500000000000000" pitchFamily="50" charset="0"/>
              </a:defRPr>
            </a:lvl3pPr>
            <a:lvl4pPr>
              <a:defRPr sz="2167">
                <a:latin typeface="VAGRundschriftD" panose="00000500000000000000" pitchFamily="50" charset="0"/>
              </a:defRPr>
            </a:lvl4pPr>
            <a:lvl5pPr>
              <a:defRPr sz="2167">
                <a:latin typeface="VAGRundschriftD" panose="00000500000000000000" pitchFamily="50"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Placeholder 21">
            <a:extLst>
              <a:ext uri="{FF2B5EF4-FFF2-40B4-BE49-F238E27FC236}">
                <a16:creationId xmlns:a16="http://schemas.microsoft.com/office/drawing/2014/main" id="{83907F55-8DA3-AB4E-B199-AF2531DB4EB0}"/>
              </a:ext>
            </a:extLst>
          </p:cNvPr>
          <p:cNvSpPr>
            <a:spLocks noGrp="1"/>
          </p:cNvSpPr>
          <p:nvPr>
            <p:ph type="title"/>
          </p:nvPr>
        </p:nvSpPr>
        <p:spPr>
          <a:xfrm>
            <a:off x="1117600" y="76200"/>
            <a:ext cx="10502901" cy="762000"/>
          </a:xfrm>
          <a:prstGeom prst="rect">
            <a:avLst/>
          </a:prstGeom>
        </p:spPr>
        <p:txBody>
          <a:bodyPr vert="horz" lIns="130622" tIns="65310" rIns="130622" bIns="65310" anchor="t">
            <a:noAutofit/>
          </a:bodyPr>
          <a:lstStyle>
            <a:lvl1pPr>
              <a:defRPr>
                <a:latin typeface="VAGRundschriftD" panose="00000500000000000000" pitchFamily="50" charset="0"/>
              </a:defRPr>
            </a:lvl1pPr>
          </a:lstStyle>
          <a:p>
            <a:r>
              <a:rPr lang="en-US" dirty="0"/>
              <a:t>Click to edit Master title style</a:t>
            </a:r>
          </a:p>
        </p:txBody>
      </p:sp>
      <p:sp>
        <p:nvSpPr>
          <p:cNvPr id="14" name="Rectangle 10">
            <a:extLst>
              <a:ext uri="{FF2B5EF4-FFF2-40B4-BE49-F238E27FC236}">
                <a16:creationId xmlns:a16="http://schemas.microsoft.com/office/drawing/2014/main" id="{844558A7-D2FB-5F4B-864B-BFC87E4F4116}"/>
              </a:ext>
            </a:extLst>
          </p:cNvPr>
          <p:cNvSpPr>
            <a:spLocks noChangeArrowheads="1"/>
          </p:cNvSpPr>
          <p:nvPr userDrawn="1"/>
        </p:nvSpPr>
        <p:spPr bwMode="auto">
          <a:xfrm>
            <a:off x="3048000" y="6578929"/>
            <a:ext cx="9144000" cy="291897"/>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ctr" eaLnBrk="0" hangingPunct="0">
              <a:defRPr/>
            </a:pPr>
            <a:r>
              <a:rPr lang="en-US" sz="1500" b="1" dirty="0">
                <a:solidFill>
                  <a:srgbClr val="FFC117"/>
                </a:solidFill>
                <a:latin typeface="VAGRundschriftD" panose="00000500000000000000" pitchFamily="50" charset="0"/>
                <a:ea typeface="+mn-ea"/>
                <a:cs typeface="+mn-cs"/>
              </a:rPr>
              <a:t>Introduction</a:t>
            </a:r>
            <a:r>
              <a:rPr lang="en-US" sz="1500" b="1" dirty="0">
                <a:solidFill>
                  <a:srgbClr val="FFFF00"/>
                </a:solidFill>
                <a:latin typeface="VAGRundschriftD" panose="00000500000000000000" pitchFamily="50" charset="0"/>
                <a:ea typeface="+mn-ea"/>
                <a:cs typeface="+mn-cs"/>
              </a:rPr>
              <a:t> </a:t>
            </a:r>
            <a:r>
              <a:rPr lang="en-US" sz="1500" b="1" dirty="0">
                <a:solidFill>
                  <a:schemeClr val="tx1"/>
                </a:solidFill>
                <a:latin typeface="VAGRundschriftD" panose="00000500000000000000" pitchFamily="50" charset="0"/>
                <a:ea typeface="+mn-ea"/>
                <a:cs typeface="+mn-cs"/>
              </a:rPr>
              <a:t>(</a:t>
            </a:r>
            <a:fld id="{F6F39CF2-87E7-FF4A-9C8E-A745CB692DE9}" type="slidenum">
              <a:rPr lang="en-US" sz="1500" b="1">
                <a:solidFill>
                  <a:schemeClr val="tx1"/>
                </a:solidFill>
                <a:latin typeface="VAGRundschriftD" panose="00000500000000000000" pitchFamily="50" charset="0"/>
                <a:ea typeface="+mn-ea"/>
                <a:cs typeface="+mn-cs"/>
              </a:rPr>
              <a:pPr algn="ctr" eaLnBrk="0" hangingPunct="0">
                <a:defRPr/>
              </a:pPr>
              <a:t>‹#›</a:t>
            </a:fld>
            <a:r>
              <a:rPr lang="en-US" sz="1500" b="1" dirty="0">
                <a:solidFill>
                  <a:schemeClr val="tx1"/>
                </a:solidFill>
                <a:latin typeface="VAGRundschriftD" panose="00000500000000000000" pitchFamily="50" charset="0"/>
                <a:ea typeface="+mn-ea"/>
                <a:cs typeface="+mn-cs"/>
              </a:rPr>
              <a:t>)</a:t>
            </a:r>
          </a:p>
        </p:txBody>
      </p:sp>
      <p:sp>
        <p:nvSpPr>
          <p:cNvPr id="16" name="Rectangle 11">
            <a:extLst>
              <a:ext uri="{FF2B5EF4-FFF2-40B4-BE49-F238E27FC236}">
                <a16:creationId xmlns:a16="http://schemas.microsoft.com/office/drawing/2014/main" id="{8F52F5B9-E725-A74B-AAA1-88E65AD7B9DD}"/>
              </a:ext>
            </a:extLst>
          </p:cNvPr>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VAGRundschriftDLig" panose="00000400000000000000" pitchFamily="50" charset="0"/>
                <a:ea typeface="+mn-ea"/>
                <a:cs typeface="+mn-cs"/>
              </a:rPr>
              <a:t>Garcia, </a:t>
            </a:r>
            <a:r>
              <a:rPr lang="en-US" sz="1167" b="0" i="0" dirty="0" err="1">
                <a:solidFill>
                  <a:schemeClr val="tx1"/>
                </a:solidFill>
                <a:latin typeface="VAGRundschriftDLig" panose="00000400000000000000" pitchFamily="50" charset="0"/>
                <a:ea typeface="+mn-ea"/>
                <a:cs typeface="+mn-cs"/>
              </a:rPr>
              <a:t>Nikolić</a:t>
            </a:r>
            <a:endParaRPr lang="en-US" sz="1167" b="0" i="0" dirty="0">
              <a:solidFill>
                <a:schemeClr val="tx1"/>
              </a:solidFill>
              <a:latin typeface="VAGRundschriftDLig" panose="00000400000000000000" pitchFamily="50" charset="0"/>
              <a:ea typeface="+mn-ea"/>
              <a:cs typeface="+mn-cs"/>
            </a:endParaRPr>
          </a:p>
        </p:txBody>
      </p:sp>
      <p:pic>
        <p:nvPicPr>
          <p:cNvPr id="17" name="Picture 16">
            <a:extLst>
              <a:ext uri="{FF2B5EF4-FFF2-40B4-BE49-F238E27FC236}">
                <a16:creationId xmlns:a16="http://schemas.microsoft.com/office/drawing/2014/main" id="{8160B7DD-B895-2049-804B-344CFFDA4DD8}"/>
              </a:ext>
            </a:extLst>
          </p:cNvPr>
          <p:cNvPicPr>
            <a:picLocks noChangeAspect="1"/>
          </p:cNvPicPr>
          <p:nvPr userDrawn="1"/>
        </p:nvPicPr>
        <p:blipFill>
          <a:blip r:embed="rId4"/>
          <a:srcRect/>
          <a:stretch/>
        </p:blipFill>
        <p:spPr>
          <a:xfrm>
            <a:off x="101600" y="76200"/>
            <a:ext cx="812800" cy="812800"/>
          </a:xfrm>
          <a:prstGeom prst="rect">
            <a:avLst/>
          </a:prstGeom>
        </p:spPr>
      </p:pic>
      <p:pic>
        <p:nvPicPr>
          <p:cNvPr id="18" name="Picture 17">
            <a:extLst>
              <a:ext uri="{FF2B5EF4-FFF2-40B4-BE49-F238E27FC236}">
                <a16:creationId xmlns:a16="http://schemas.microsoft.com/office/drawing/2014/main" id="{067B7BEE-7519-024E-B9B3-6388E1716D05}"/>
              </a:ext>
            </a:extLst>
          </p:cNvPr>
          <p:cNvPicPr>
            <a:picLocks noChangeAspect="1"/>
          </p:cNvPicPr>
          <p:nvPr userDrawn="1"/>
        </p:nvPicPr>
        <p:blipFill>
          <a:blip r:embed="rId5"/>
          <a:stretch>
            <a:fillRect/>
          </a:stretch>
        </p:blipFill>
        <p:spPr>
          <a:xfrm>
            <a:off x="11112283" y="6480099"/>
            <a:ext cx="1079717" cy="377901"/>
          </a:xfrm>
          <a:prstGeom prst="rect">
            <a:avLst/>
          </a:prstGeom>
        </p:spPr>
      </p:pic>
      <p:cxnSp>
        <p:nvCxnSpPr>
          <p:cNvPr id="19" name="Straight Connector 18">
            <a:extLst>
              <a:ext uri="{FF2B5EF4-FFF2-40B4-BE49-F238E27FC236}">
                <a16:creationId xmlns:a16="http://schemas.microsoft.com/office/drawing/2014/main" id="{BBC76881-1B14-4D4F-83AB-0BD4F70F885A}"/>
              </a:ext>
            </a:extLst>
          </p:cNvPr>
          <p:cNvCxnSpPr>
            <a:cxnSpLocks/>
          </p:cNvCxnSpPr>
          <p:nvPr userDrawn="1"/>
        </p:nvCxnSpPr>
        <p:spPr>
          <a:xfrm>
            <a:off x="1115843" y="889000"/>
            <a:ext cx="10466559" cy="389"/>
          </a:xfrm>
          <a:prstGeom prst="line">
            <a:avLst/>
          </a:prstGeom>
          <a:ln>
            <a:solidFill>
              <a:schemeClr val="tx2"/>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F1BAD8DF-85B5-244D-B7EE-8DE77A729BC9}"/>
              </a:ext>
            </a:extLst>
          </p:cNvPr>
          <p:cNvPicPr>
            <a:picLocks noChangeAspect="1"/>
          </p:cNvPicPr>
          <p:nvPr userDrawn="1"/>
        </p:nvPicPr>
        <p:blipFill>
          <a:blip r:embed="rId6"/>
          <a:stretch>
            <a:fillRect/>
          </a:stretch>
        </p:blipFill>
        <p:spPr>
          <a:xfrm>
            <a:off x="3018141" y="6375400"/>
            <a:ext cx="1264675" cy="389467"/>
          </a:xfrm>
          <a:prstGeom prst="rect">
            <a:avLst/>
          </a:prstGeom>
        </p:spPr>
      </p:pic>
    </p:spTree>
    <p:extLst>
      <p:ext uri="{BB962C8B-B14F-4D97-AF65-F5344CB8AC3E}">
        <p14:creationId xmlns:p14="http://schemas.microsoft.com/office/powerpoint/2010/main" val="5951068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ub Title Lines">
    <p:spTree>
      <p:nvGrpSpPr>
        <p:cNvPr id="1" name=""/>
        <p:cNvGrpSpPr/>
        <p:nvPr/>
      </p:nvGrpSpPr>
      <p:grpSpPr>
        <a:xfrm>
          <a:off x="0" y="0"/>
          <a:ext cx="0" cy="0"/>
          <a:chOff x="0" y="0"/>
          <a:chExt cx="0" cy="0"/>
        </a:xfrm>
      </p:grpSpPr>
      <p:pic>
        <p:nvPicPr>
          <p:cNvPr id="10" name="Picture 9" descr="A picture containing food&#10;&#10;Description automatically generated">
            <a:extLst>
              <a:ext uri="{FF2B5EF4-FFF2-40B4-BE49-F238E27FC236}">
                <a16:creationId xmlns:a16="http://schemas.microsoft.com/office/drawing/2014/main" id="{6BD88787-61C8-AE47-8735-AE6C83007A2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8" name="Picture 7" descr="A picture containing light&#10;&#10;Description automatically generated">
            <a:extLst>
              <a:ext uri="{FF2B5EF4-FFF2-40B4-BE49-F238E27FC236}">
                <a16:creationId xmlns:a16="http://schemas.microsoft.com/office/drawing/2014/main" id="{ADF33AB0-2DBB-E042-B8C0-EC348F7CC18C}"/>
              </a:ext>
            </a:extLst>
          </p:cNvPr>
          <p:cNvPicPr>
            <a:picLocks noChangeAspect="1"/>
          </p:cNvPicPr>
          <p:nvPr userDrawn="1"/>
        </p:nvPicPr>
        <p:blipFill>
          <a:blip r:embed="rId3"/>
          <a:stretch>
            <a:fillRect/>
          </a:stretch>
        </p:blipFill>
        <p:spPr>
          <a:xfrm>
            <a:off x="0" y="0"/>
            <a:ext cx="12192000" cy="6858000"/>
          </a:xfrm>
          <a:prstGeom prst="rect">
            <a:avLst/>
          </a:prstGeom>
        </p:spPr>
      </p:pic>
      <p:sp>
        <p:nvSpPr>
          <p:cNvPr id="4" name="Rectangle 3"/>
          <p:cNvSpPr/>
          <p:nvPr/>
        </p:nvSpPr>
        <p:spPr>
          <a:xfrm>
            <a:off x="412756" y="681039"/>
            <a:ext cx="61383"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5" name="Rectangle 4"/>
          <p:cNvSpPr/>
          <p:nvPr/>
        </p:nvSpPr>
        <p:spPr>
          <a:xfrm>
            <a:off x="357719" y="681039"/>
            <a:ext cx="381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6" name="Rectangle 5"/>
          <p:cNvSpPr/>
          <p:nvPr/>
        </p:nvSpPr>
        <p:spPr>
          <a:xfrm>
            <a:off x="332319" y="681039"/>
            <a:ext cx="127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a:p>
        </p:txBody>
      </p:sp>
      <p:sp>
        <p:nvSpPr>
          <p:cNvPr id="7" name="Rectangle 6"/>
          <p:cNvSpPr/>
          <p:nvPr/>
        </p:nvSpPr>
        <p:spPr>
          <a:xfrm>
            <a:off x="296333" y="681039"/>
            <a:ext cx="10584"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9" name="Subtitle 8"/>
          <p:cNvSpPr>
            <a:spLocks noGrp="1"/>
          </p:cNvSpPr>
          <p:nvPr>
            <p:ph type="subTitle" idx="1"/>
          </p:nvPr>
        </p:nvSpPr>
        <p:spPr>
          <a:xfrm>
            <a:off x="3657600" y="2834640"/>
            <a:ext cx="7924800" cy="1508760"/>
          </a:xfrm>
        </p:spPr>
        <p:txBody>
          <a:bodyPr lIns="143685" anchor="ctr">
            <a:scene3d>
              <a:camera prst="orthographicFront"/>
              <a:lightRig rig="flat" dir="tl">
                <a:rot lat="0" lon="0" rev="6600000"/>
              </a:lightRig>
            </a:scene3d>
            <a:sp3d extrusionH="25400" contourW="8890">
              <a:bevelT w="38100" h="31750"/>
              <a:contourClr>
                <a:srgbClr val="D0940C"/>
              </a:contourClr>
            </a:sp3d>
          </a:bodyPr>
          <a:lstStyle>
            <a:lvl1pPr marL="0" indent="0" algn="ctr">
              <a:spcBef>
                <a:spcPts val="0"/>
              </a:spcBef>
              <a:buNone/>
              <a:defRPr sz="8417" b="1" cap="none" spc="0">
                <a:ln w="11430"/>
                <a:solidFill>
                  <a:srgbClr val="D0940C"/>
                </a:solidFill>
                <a:effectLst>
                  <a:outerShdw blurRad="50800" dist="39000" dir="5460000" algn="tl">
                    <a:srgbClr val="000000">
                      <a:alpha val="38000"/>
                    </a:srgbClr>
                  </a:outerShdw>
                </a:effectLst>
                <a:latin typeface="VAGRundschriftD" panose="00000500000000000000" pitchFamily="50" charset="0"/>
              </a:defRPr>
            </a:lvl1pPr>
            <a:lvl2pPr marL="544245" indent="0" algn="ctr">
              <a:buNone/>
            </a:lvl2pPr>
            <a:lvl3pPr marL="1088490" indent="0" algn="ctr">
              <a:buNone/>
            </a:lvl3pPr>
            <a:lvl4pPr marL="1632735" indent="0" algn="ctr">
              <a:buNone/>
            </a:lvl4pPr>
            <a:lvl5pPr marL="2176980" indent="0" algn="ctr">
              <a:buNone/>
            </a:lvl5pPr>
            <a:lvl6pPr marL="2721224" indent="0" algn="ctr">
              <a:buNone/>
            </a:lvl6pPr>
            <a:lvl7pPr marL="3265469" indent="0" algn="ctr">
              <a:buNone/>
            </a:lvl7pPr>
            <a:lvl8pPr marL="3809714" indent="0" algn="ctr">
              <a:buNone/>
            </a:lvl8pPr>
            <a:lvl9pPr marL="4353959" indent="0" algn="ctr">
              <a:buNone/>
            </a:lvl9pPr>
          </a:lstStyle>
          <a:p>
            <a:r>
              <a:rPr lang="en-US" dirty="0"/>
              <a:t>Click to edit Master subtitle style</a:t>
            </a:r>
          </a:p>
        </p:txBody>
      </p:sp>
      <p:sp>
        <p:nvSpPr>
          <p:cNvPr id="11" name="Oval 10"/>
          <p:cNvSpPr/>
          <p:nvPr userDrawn="1"/>
        </p:nvSpPr>
        <p:spPr>
          <a:xfrm>
            <a:off x="3692918" y="5575709"/>
            <a:ext cx="7864084" cy="393291"/>
          </a:xfrm>
          <a:prstGeom prst="ellipse">
            <a:avLst/>
          </a:prstGeom>
          <a:solidFill>
            <a:schemeClr val="bg1">
              <a:alpha val="17000"/>
            </a:schemeClr>
          </a:solidFill>
          <a:ln>
            <a:noFill/>
          </a:ln>
          <a:effectLst>
            <a:softEdge rad="139700"/>
          </a:effectLst>
        </p:spPr>
        <p:style>
          <a:lnRef idx="1">
            <a:schemeClr val="accent1"/>
          </a:lnRef>
          <a:fillRef idx="3">
            <a:schemeClr val="accent1"/>
          </a:fillRef>
          <a:effectRef idx="2">
            <a:schemeClr val="accent1"/>
          </a:effectRef>
          <a:fontRef idx="minor">
            <a:schemeClr val="lt1"/>
          </a:fontRef>
        </p:style>
        <p:txBody>
          <a:bodyPr lIns="76200" tIns="38100" rIns="76200" bIns="38100" anchor="ctr"/>
          <a:lstStyle/>
          <a:p>
            <a:pPr algn="ctr">
              <a:defRPr/>
            </a:pPr>
            <a:endParaRPr lang="en-US" sz="19062" dirty="0"/>
          </a:p>
        </p:txBody>
      </p:sp>
    </p:spTree>
    <p:extLst>
      <p:ext uri="{BB962C8B-B14F-4D97-AF65-F5344CB8AC3E}">
        <p14:creationId xmlns:p14="http://schemas.microsoft.com/office/powerpoint/2010/main" val="1654314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2" name="Picture 1" descr="A picture containing food&#10;&#10;Description automatically generated">
            <a:extLst>
              <a:ext uri="{FF2B5EF4-FFF2-40B4-BE49-F238E27FC236}">
                <a16:creationId xmlns:a16="http://schemas.microsoft.com/office/drawing/2014/main" id="{6C194DF9-C0AF-304B-88A9-02036DD4062B}"/>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118122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Lines">
    <p:spTree>
      <p:nvGrpSpPr>
        <p:cNvPr id="1" name=""/>
        <p:cNvGrpSpPr/>
        <p:nvPr/>
      </p:nvGrpSpPr>
      <p:grpSpPr>
        <a:xfrm>
          <a:off x="0" y="0"/>
          <a:ext cx="0" cy="0"/>
          <a:chOff x="0" y="0"/>
          <a:chExt cx="0" cy="0"/>
        </a:xfrm>
      </p:grpSpPr>
      <p:pic>
        <p:nvPicPr>
          <p:cNvPr id="8" name="Picture 7" descr="A picture containing food&#10;&#10;Description automatically generated">
            <a:extLst>
              <a:ext uri="{FF2B5EF4-FFF2-40B4-BE49-F238E27FC236}">
                <a16:creationId xmlns:a16="http://schemas.microsoft.com/office/drawing/2014/main" id="{F8288F7D-1E3A-1E47-9FDA-D20C05CD808D}"/>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4" name="Rectangle 3"/>
          <p:cNvSpPr/>
          <p:nvPr/>
        </p:nvSpPr>
        <p:spPr>
          <a:xfrm>
            <a:off x="412756" y="681039"/>
            <a:ext cx="61383"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5" name="Rectangle 4"/>
          <p:cNvSpPr/>
          <p:nvPr/>
        </p:nvSpPr>
        <p:spPr>
          <a:xfrm>
            <a:off x="357719" y="681039"/>
            <a:ext cx="381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6" name="Rectangle 5"/>
          <p:cNvSpPr/>
          <p:nvPr/>
        </p:nvSpPr>
        <p:spPr>
          <a:xfrm>
            <a:off x="332319" y="681039"/>
            <a:ext cx="12700"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a:p>
        </p:txBody>
      </p:sp>
      <p:sp>
        <p:nvSpPr>
          <p:cNvPr id="7" name="Rectangle 6"/>
          <p:cNvSpPr/>
          <p:nvPr/>
        </p:nvSpPr>
        <p:spPr>
          <a:xfrm>
            <a:off x="296333" y="681039"/>
            <a:ext cx="10584"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lIns="108852" tIns="54425" rIns="108852" bIns="54425" anchor="ctr"/>
          <a:lstStyle/>
          <a:p>
            <a:pPr algn="ctr">
              <a:defRPr/>
            </a:pPr>
            <a:endParaRPr lang="en-US" sz="19062" dirty="0"/>
          </a:p>
        </p:txBody>
      </p:sp>
      <p:sp>
        <p:nvSpPr>
          <p:cNvPr id="11" name="Oval 10"/>
          <p:cNvSpPr/>
          <p:nvPr userDrawn="1"/>
        </p:nvSpPr>
        <p:spPr>
          <a:xfrm>
            <a:off x="3692918" y="5575709"/>
            <a:ext cx="7864084" cy="393291"/>
          </a:xfrm>
          <a:prstGeom prst="ellipse">
            <a:avLst/>
          </a:prstGeom>
          <a:solidFill>
            <a:schemeClr val="bg1">
              <a:alpha val="17000"/>
            </a:schemeClr>
          </a:solidFill>
          <a:ln>
            <a:noFill/>
          </a:ln>
          <a:effectLst>
            <a:softEdge rad="139700"/>
          </a:effectLst>
        </p:spPr>
        <p:style>
          <a:lnRef idx="1">
            <a:schemeClr val="accent1"/>
          </a:lnRef>
          <a:fillRef idx="3">
            <a:schemeClr val="accent1"/>
          </a:fillRef>
          <a:effectRef idx="2">
            <a:schemeClr val="accent1"/>
          </a:effectRef>
          <a:fontRef idx="minor">
            <a:schemeClr val="lt1"/>
          </a:fontRef>
        </p:style>
        <p:txBody>
          <a:bodyPr lIns="76200" tIns="38100" rIns="76200" bIns="38100" anchor="ctr"/>
          <a:lstStyle/>
          <a:p>
            <a:pPr algn="ctr">
              <a:defRPr/>
            </a:pPr>
            <a:endParaRPr lang="en-US" sz="19062" dirty="0"/>
          </a:p>
        </p:txBody>
      </p:sp>
      <p:pic>
        <p:nvPicPr>
          <p:cNvPr id="12" name="Picture 11" descr="A picture containing light&#10;&#10;Description automatically generated">
            <a:extLst>
              <a:ext uri="{FF2B5EF4-FFF2-40B4-BE49-F238E27FC236}">
                <a16:creationId xmlns:a16="http://schemas.microsoft.com/office/drawing/2014/main" id="{3F85B7C0-ACB5-AB44-8C40-83F8FCB8A383}"/>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1077133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lvl1pPr>
              <a:defRPr/>
            </a:lvl1pPr>
          </a:lstStyle>
          <a:p>
            <a:endParaRPr lang="en-US" dirty="0"/>
          </a:p>
        </p:txBody>
      </p:sp>
    </p:spTree>
    <p:extLst>
      <p:ext uri="{BB962C8B-B14F-4D97-AF65-F5344CB8AC3E}">
        <p14:creationId xmlns:p14="http://schemas.microsoft.com/office/powerpoint/2010/main" val="3864193929"/>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lor Reference">
  <p:cSld name="Color Reference">
    <p:spTree>
      <p:nvGrpSpPr>
        <p:cNvPr id="1" name="Shape 13"/>
        <p:cNvGrpSpPr/>
        <p:nvPr/>
      </p:nvGrpSpPr>
      <p:grpSpPr>
        <a:xfrm>
          <a:off x="0" y="0"/>
          <a:ext cx="0" cy="0"/>
          <a:chOff x="0" y="0"/>
          <a:chExt cx="0" cy="0"/>
        </a:xfrm>
      </p:grpSpPr>
      <p:sp>
        <p:nvSpPr>
          <p:cNvPr id="14" name="Google Shape;14;p2"/>
          <p:cNvSpPr/>
          <p:nvPr/>
        </p:nvSpPr>
        <p:spPr>
          <a:xfrm>
            <a:off x="536267" y="1751900"/>
            <a:ext cx="763600" cy="763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15" name="Google Shape;15;p2"/>
          <p:cNvSpPr/>
          <p:nvPr/>
        </p:nvSpPr>
        <p:spPr>
          <a:xfrm>
            <a:off x="1608900" y="1751900"/>
            <a:ext cx="763600" cy="763600"/>
          </a:xfrm>
          <a:prstGeom prst="rect">
            <a:avLst/>
          </a:prstGeom>
          <a:solidFill>
            <a:schemeClr val="dk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16" name="Google Shape;16;p2"/>
          <p:cNvSpPr/>
          <p:nvPr/>
        </p:nvSpPr>
        <p:spPr>
          <a:xfrm>
            <a:off x="2681533" y="1751900"/>
            <a:ext cx="763600" cy="763600"/>
          </a:xfrm>
          <a:prstGeom prst="rect">
            <a:avLst/>
          </a:prstGeom>
          <a:solidFill>
            <a:srgbClr val="FFFFFF"/>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17" name="Google Shape;17;p2"/>
          <p:cNvSpPr/>
          <p:nvPr/>
        </p:nvSpPr>
        <p:spPr>
          <a:xfrm>
            <a:off x="536267" y="2910433"/>
            <a:ext cx="763600" cy="763600"/>
          </a:xfrm>
          <a:prstGeom prst="rect">
            <a:avLst/>
          </a:prstGeom>
          <a:solidFill>
            <a:srgbClr val="01013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18" name="Google Shape;18;p2"/>
          <p:cNvSpPr/>
          <p:nvPr/>
        </p:nvSpPr>
        <p:spPr>
          <a:xfrm>
            <a:off x="1608900" y="2910433"/>
            <a:ext cx="763600" cy="763600"/>
          </a:xfrm>
          <a:prstGeom prst="rect">
            <a:avLst/>
          </a:prstGeom>
          <a:solidFill>
            <a:schemeClr val="accen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19" name="Google Shape;19;p2"/>
          <p:cNvSpPr/>
          <p:nvPr/>
        </p:nvSpPr>
        <p:spPr>
          <a:xfrm>
            <a:off x="2681533" y="2910433"/>
            <a:ext cx="763600" cy="763600"/>
          </a:xfrm>
          <a:prstGeom prst="rect">
            <a:avLst/>
          </a:prstGeom>
          <a:solidFill>
            <a:srgbClr val="00553A"/>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0" name="Google Shape;20;p2"/>
          <p:cNvSpPr/>
          <p:nvPr/>
        </p:nvSpPr>
        <p:spPr>
          <a:xfrm>
            <a:off x="3754167" y="2910433"/>
            <a:ext cx="763600" cy="763600"/>
          </a:xfrm>
          <a:prstGeom prst="rect">
            <a:avLst/>
          </a:prstGeom>
          <a:solidFill>
            <a:srgbClr val="770747"/>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1" name="Google Shape;21;p2"/>
          <p:cNvSpPr/>
          <p:nvPr/>
        </p:nvSpPr>
        <p:spPr>
          <a:xfrm>
            <a:off x="4755267" y="2910433"/>
            <a:ext cx="763600" cy="763600"/>
          </a:xfrm>
          <a:prstGeom prst="rect">
            <a:avLst/>
          </a:prstGeom>
          <a:solidFill>
            <a:srgbClr val="431170"/>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2" name="Google Shape;22;p2"/>
          <p:cNvSpPr/>
          <p:nvPr/>
        </p:nvSpPr>
        <p:spPr>
          <a:xfrm>
            <a:off x="536267" y="4068967"/>
            <a:ext cx="763600" cy="763600"/>
          </a:xfrm>
          <a:prstGeom prst="rect">
            <a:avLst/>
          </a:prstGeom>
          <a:solidFill>
            <a:schemeClr val="lt2"/>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3" name="Google Shape;23;p2"/>
          <p:cNvSpPr/>
          <p:nvPr/>
        </p:nvSpPr>
        <p:spPr>
          <a:xfrm>
            <a:off x="1608900" y="4068967"/>
            <a:ext cx="763600" cy="763600"/>
          </a:xfrm>
          <a:prstGeom prst="rect">
            <a:avLst/>
          </a:prstGeom>
          <a:solidFill>
            <a:srgbClr val="FFC31B"/>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4" name="Google Shape;24;p2"/>
          <p:cNvSpPr/>
          <p:nvPr/>
        </p:nvSpPr>
        <p:spPr>
          <a:xfrm>
            <a:off x="2681533" y="4068967"/>
            <a:ext cx="763600" cy="763600"/>
          </a:xfrm>
          <a:prstGeom prst="rect">
            <a:avLst/>
          </a:prstGeom>
          <a:solidFill>
            <a:srgbClr val="01894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5" name="Google Shape;25;p2"/>
          <p:cNvSpPr/>
          <p:nvPr/>
        </p:nvSpPr>
        <p:spPr>
          <a:xfrm>
            <a:off x="3754167" y="4068967"/>
            <a:ext cx="763600" cy="763600"/>
          </a:xfrm>
          <a:prstGeom prst="rect">
            <a:avLst/>
          </a:prstGeom>
          <a:solidFill>
            <a:srgbClr val="E7115E"/>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6" name="Google Shape;26;p2"/>
          <p:cNvSpPr/>
          <p:nvPr/>
        </p:nvSpPr>
        <p:spPr>
          <a:xfrm>
            <a:off x="4755267" y="4068967"/>
            <a:ext cx="763600" cy="763600"/>
          </a:xfrm>
          <a:prstGeom prst="rect">
            <a:avLst/>
          </a:prstGeom>
          <a:solidFill>
            <a:srgbClr val="8236C7"/>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7" name="Google Shape;27;p2"/>
          <p:cNvSpPr/>
          <p:nvPr/>
        </p:nvSpPr>
        <p:spPr>
          <a:xfrm>
            <a:off x="536267" y="5227500"/>
            <a:ext cx="763600" cy="763600"/>
          </a:xfrm>
          <a:prstGeom prst="rect">
            <a:avLst/>
          </a:prstGeom>
          <a:solidFill>
            <a:schemeClr val="accent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8" name="Google Shape;28;p2"/>
          <p:cNvSpPr/>
          <p:nvPr/>
        </p:nvSpPr>
        <p:spPr>
          <a:xfrm>
            <a:off x="1608900" y="5227500"/>
            <a:ext cx="763600" cy="763600"/>
          </a:xfrm>
          <a:prstGeom prst="rect">
            <a:avLst/>
          </a:prstGeom>
          <a:solidFill>
            <a:srgbClr val="FFE88D"/>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29" name="Google Shape;29;p2"/>
          <p:cNvSpPr/>
          <p:nvPr/>
        </p:nvSpPr>
        <p:spPr>
          <a:xfrm>
            <a:off x="2681533" y="5227500"/>
            <a:ext cx="763600" cy="763600"/>
          </a:xfrm>
          <a:prstGeom prst="rect">
            <a:avLst/>
          </a:prstGeom>
          <a:solidFill>
            <a:schemeClr val="accent3"/>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0" name="Google Shape;30;p2"/>
          <p:cNvSpPr/>
          <p:nvPr/>
        </p:nvSpPr>
        <p:spPr>
          <a:xfrm>
            <a:off x="3754167" y="5227500"/>
            <a:ext cx="763600" cy="763600"/>
          </a:xfrm>
          <a:prstGeom prst="rect">
            <a:avLst/>
          </a:prstGeom>
          <a:solidFill>
            <a:schemeClr val="accent4"/>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1" name="Google Shape;31;p2"/>
          <p:cNvSpPr/>
          <p:nvPr/>
        </p:nvSpPr>
        <p:spPr>
          <a:xfrm>
            <a:off x="4755267" y="5227500"/>
            <a:ext cx="763600" cy="763600"/>
          </a:xfrm>
          <a:prstGeom prst="rect">
            <a:avLst/>
          </a:prstGeom>
          <a:solidFill>
            <a:schemeClr val="accent5"/>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2" name="Google Shape;32;p2"/>
          <p:cNvSpPr/>
          <p:nvPr/>
        </p:nvSpPr>
        <p:spPr>
          <a:xfrm>
            <a:off x="6936200" y="1751900"/>
            <a:ext cx="763600" cy="763600"/>
          </a:xfrm>
          <a:prstGeom prst="rect">
            <a:avLst/>
          </a:prstGeom>
          <a:solidFill>
            <a:schemeClr val="dk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3" name="Google Shape;33;p2"/>
          <p:cNvSpPr/>
          <p:nvPr/>
        </p:nvSpPr>
        <p:spPr>
          <a:xfrm>
            <a:off x="6972067" y="2910433"/>
            <a:ext cx="763600" cy="763600"/>
          </a:xfrm>
          <a:prstGeom prst="rect">
            <a:avLst/>
          </a:prstGeom>
          <a:solidFill>
            <a:srgbClr val="808080"/>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4" name="Google Shape;34;p2"/>
          <p:cNvSpPr/>
          <p:nvPr/>
        </p:nvSpPr>
        <p:spPr>
          <a:xfrm>
            <a:off x="6972067" y="4068967"/>
            <a:ext cx="763600" cy="763600"/>
          </a:xfrm>
          <a:prstGeom prst="rect">
            <a:avLst/>
          </a:prstGeom>
          <a:solidFill>
            <a:schemeClr val="dk1"/>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
        <p:nvSpPr>
          <p:cNvPr id="35" name="Google Shape;35;p2"/>
          <p:cNvSpPr/>
          <p:nvPr/>
        </p:nvSpPr>
        <p:spPr>
          <a:xfrm>
            <a:off x="8616733" y="1751900"/>
            <a:ext cx="763600" cy="763600"/>
          </a:xfrm>
          <a:prstGeom prst="rect">
            <a:avLst/>
          </a:prstGeom>
          <a:solidFill>
            <a:srgbClr val="C09748"/>
          </a:solid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p>
        </p:txBody>
      </p:sp>
    </p:spTree>
    <p:extLst>
      <p:ext uri="{BB962C8B-B14F-4D97-AF65-F5344CB8AC3E}">
        <p14:creationId xmlns:p14="http://schemas.microsoft.com/office/powerpoint/2010/main" val="10754693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3"/>
          <p:cNvSpPr/>
          <p:nvPr/>
        </p:nvSpPr>
        <p:spPr>
          <a:xfrm>
            <a:off x="2165267" y="0"/>
            <a:ext cx="7958000" cy="6858000"/>
          </a:xfrm>
          <a:prstGeom prst="rect">
            <a:avLst/>
          </a:prstGeom>
          <a:gradFill>
            <a:gsLst>
              <a:gs pos="0">
                <a:srgbClr val="000000"/>
              </a:gs>
              <a:gs pos="76000">
                <a:srgbClr val="00133B"/>
              </a:gs>
              <a:gs pos="100000">
                <a:srgbClr val="002676"/>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38" name="Google Shape;38;p3"/>
          <p:cNvSpPr txBox="1">
            <a:spLocks noGrp="1"/>
          </p:cNvSpPr>
          <p:nvPr>
            <p:ph type="ctrTitle"/>
          </p:nvPr>
        </p:nvSpPr>
        <p:spPr>
          <a:xfrm>
            <a:off x="415600" y="3396600"/>
            <a:ext cx="11360800" cy="18884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3600"/>
              <a:buFont typeface="Inter SemiBold"/>
              <a:buNone/>
              <a:defRPr sz="4800">
                <a:solidFill>
                  <a:schemeClr val="dk2"/>
                </a:solidFill>
                <a:latin typeface="Inter SemiBold"/>
                <a:ea typeface="Inter SemiBold"/>
                <a:cs typeface="Inter SemiBold"/>
                <a:sym typeface="Inter SemiBold"/>
              </a:defRPr>
            </a:lvl1pPr>
            <a:lvl2pPr lvl="1" algn="ctr">
              <a:spcBef>
                <a:spcPts val="0"/>
              </a:spcBef>
              <a:spcAft>
                <a:spcPts val="0"/>
              </a:spcAft>
              <a:buClr>
                <a:schemeClr val="dk2"/>
              </a:buClr>
              <a:buSzPts val="5200"/>
              <a:buNone/>
              <a:defRPr sz="6933">
                <a:solidFill>
                  <a:schemeClr val="dk2"/>
                </a:solidFill>
              </a:defRPr>
            </a:lvl2pPr>
            <a:lvl3pPr lvl="2" algn="ctr">
              <a:spcBef>
                <a:spcPts val="0"/>
              </a:spcBef>
              <a:spcAft>
                <a:spcPts val="0"/>
              </a:spcAft>
              <a:buClr>
                <a:schemeClr val="dk2"/>
              </a:buClr>
              <a:buSzPts val="5200"/>
              <a:buNone/>
              <a:defRPr sz="6933">
                <a:solidFill>
                  <a:schemeClr val="dk2"/>
                </a:solidFill>
              </a:defRPr>
            </a:lvl3pPr>
            <a:lvl4pPr lvl="3" algn="ctr">
              <a:spcBef>
                <a:spcPts val="0"/>
              </a:spcBef>
              <a:spcAft>
                <a:spcPts val="0"/>
              </a:spcAft>
              <a:buClr>
                <a:schemeClr val="dk2"/>
              </a:buClr>
              <a:buSzPts val="5200"/>
              <a:buNone/>
              <a:defRPr sz="6933">
                <a:solidFill>
                  <a:schemeClr val="dk2"/>
                </a:solidFill>
              </a:defRPr>
            </a:lvl4pPr>
            <a:lvl5pPr lvl="4" algn="ctr">
              <a:spcBef>
                <a:spcPts val="0"/>
              </a:spcBef>
              <a:spcAft>
                <a:spcPts val="0"/>
              </a:spcAft>
              <a:buClr>
                <a:schemeClr val="dk2"/>
              </a:buClr>
              <a:buSzPts val="5200"/>
              <a:buNone/>
              <a:defRPr sz="6933">
                <a:solidFill>
                  <a:schemeClr val="dk2"/>
                </a:solidFill>
              </a:defRPr>
            </a:lvl5pPr>
            <a:lvl6pPr lvl="5" algn="ctr">
              <a:spcBef>
                <a:spcPts val="0"/>
              </a:spcBef>
              <a:spcAft>
                <a:spcPts val="0"/>
              </a:spcAft>
              <a:buClr>
                <a:schemeClr val="dk2"/>
              </a:buClr>
              <a:buSzPts val="5200"/>
              <a:buNone/>
              <a:defRPr sz="6933">
                <a:solidFill>
                  <a:schemeClr val="dk2"/>
                </a:solidFill>
              </a:defRPr>
            </a:lvl6pPr>
            <a:lvl7pPr lvl="6" algn="ctr">
              <a:spcBef>
                <a:spcPts val="0"/>
              </a:spcBef>
              <a:spcAft>
                <a:spcPts val="0"/>
              </a:spcAft>
              <a:buClr>
                <a:schemeClr val="dk2"/>
              </a:buClr>
              <a:buSzPts val="5200"/>
              <a:buNone/>
              <a:defRPr sz="6933">
                <a:solidFill>
                  <a:schemeClr val="dk2"/>
                </a:solidFill>
              </a:defRPr>
            </a:lvl7pPr>
            <a:lvl8pPr lvl="7" algn="ctr">
              <a:spcBef>
                <a:spcPts val="0"/>
              </a:spcBef>
              <a:spcAft>
                <a:spcPts val="0"/>
              </a:spcAft>
              <a:buClr>
                <a:schemeClr val="dk2"/>
              </a:buClr>
              <a:buSzPts val="5200"/>
              <a:buNone/>
              <a:defRPr sz="6933">
                <a:solidFill>
                  <a:schemeClr val="dk2"/>
                </a:solidFill>
              </a:defRPr>
            </a:lvl8pPr>
            <a:lvl9pPr lvl="8" algn="ctr">
              <a:spcBef>
                <a:spcPts val="0"/>
              </a:spcBef>
              <a:spcAft>
                <a:spcPts val="0"/>
              </a:spcAft>
              <a:buClr>
                <a:schemeClr val="dk2"/>
              </a:buClr>
              <a:buSzPts val="5200"/>
              <a:buNone/>
              <a:defRPr sz="6933">
                <a:solidFill>
                  <a:schemeClr val="dk2"/>
                </a:solidFill>
              </a:defRPr>
            </a:lvl9pPr>
          </a:lstStyle>
          <a:p>
            <a:endParaRPr/>
          </a:p>
        </p:txBody>
      </p:sp>
      <p:sp>
        <p:nvSpPr>
          <p:cNvPr id="39" name="Google Shape;39;p3"/>
          <p:cNvSpPr txBox="1"/>
          <p:nvPr/>
        </p:nvSpPr>
        <p:spPr>
          <a:xfrm>
            <a:off x="3294633" y="441736"/>
            <a:ext cx="5602800" cy="1520000"/>
          </a:xfrm>
          <a:prstGeom prst="rect">
            <a:avLst/>
          </a:prstGeom>
          <a:noFill/>
          <a:ln>
            <a:noFill/>
          </a:ln>
        </p:spPr>
        <p:txBody>
          <a:bodyPr spcFirstLastPara="1" wrap="square" lIns="121900" tIns="121900" rIns="121900" bIns="121900" anchor="b" anchorCtr="0">
            <a:noAutofit/>
          </a:bodyPr>
          <a:lstStyle/>
          <a:p>
            <a:pPr marL="0" lvl="0" indent="0" algn="ctr" rtl="0">
              <a:spcBef>
                <a:spcPts val="0"/>
              </a:spcBef>
              <a:spcAft>
                <a:spcPts val="0"/>
              </a:spcAft>
              <a:buNone/>
            </a:pPr>
            <a:r>
              <a:rPr lang="en" sz="9600" b="1">
                <a:solidFill>
                  <a:schemeClr val="accent1"/>
                </a:solidFill>
                <a:latin typeface="Inter"/>
                <a:ea typeface="Inter"/>
                <a:cs typeface="Inter"/>
                <a:sym typeface="Inter"/>
              </a:rPr>
              <a:t>CS61C</a:t>
            </a:r>
            <a:endParaRPr sz="9600" b="1">
              <a:solidFill>
                <a:schemeClr val="accent1"/>
              </a:solidFill>
              <a:latin typeface="Inter"/>
              <a:ea typeface="Inter"/>
              <a:cs typeface="Inter"/>
              <a:sym typeface="Inter"/>
            </a:endParaRPr>
          </a:p>
        </p:txBody>
      </p:sp>
      <p:sp>
        <p:nvSpPr>
          <p:cNvPr id="40" name="Google Shape;40;p3"/>
          <p:cNvSpPr txBox="1"/>
          <p:nvPr/>
        </p:nvSpPr>
        <p:spPr>
          <a:xfrm>
            <a:off x="3164200" y="1564049"/>
            <a:ext cx="5863600" cy="1970000"/>
          </a:xfrm>
          <a:prstGeom prst="rect">
            <a:avLst/>
          </a:prstGeom>
          <a:noFill/>
          <a:ln>
            <a:noFill/>
          </a:ln>
        </p:spPr>
        <p:txBody>
          <a:bodyPr spcFirstLastPara="1" wrap="square" lIns="121900" tIns="121900" rIns="121900" bIns="121900" anchor="b" anchorCtr="0">
            <a:noAutofit/>
          </a:bodyPr>
          <a:lstStyle/>
          <a:p>
            <a:pPr marL="0" lvl="0" indent="0" algn="ctr" rtl="0">
              <a:spcBef>
                <a:spcPts val="0"/>
              </a:spcBef>
              <a:spcAft>
                <a:spcPts val="0"/>
              </a:spcAft>
              <a:buNone/>
            </a:pPr>
            <a:r>
              <a:rPr lang="en" sz="2933" b="1">
                <a:solidFill>
                  <a:schemeClr val="dk1"/>
                </a:solidFill>
                <a:latin typeface="Inter"/>
                <a:ea typeface="Inter"/>
                <a:cs typeface="Inter"/>
                <a:sym typeface="Inter"/>
              </a:rPr>
              <a:t>Great Ideas</a:t>
            </a:r>
            <a:endParaRPr sz="2933" b="1">
              <a:solidFill>
                <a:schemeClr val="dk1"/>
              </a:solidFill>
              <a:latin typeface="Inter"/>
              <a:ea typeface="Inter"/>
              <a:cs typeface="Inter"/>
              <a:sym typeface="Inter"/>
            </a:endParaRPr>
          </a:p>
          <a:p>
            <a:pPr marL="0" lvl="0" indent="0" algn="ctr" rtl="0">
              <a:spcBef>
                <a:spcPts val="0"/>
              </a:spcBef>
              <a:spcAft>
                <a:spcPts val="0"/>
              </a:spcAft>
              <a:buNone/>
            </a:pPr>
            <a:r>
              <a:rPr lang="en" sz="2933" b="1">
                <a:solidFill>
                  <a:schemeClr val="dk1"/>
                </a:solidFill>
                <a:latin typeface="Inter"/>
                <a:ea typeface="Inter"/>
                <a:cs typeface="Inter"/>
                <a:sym typeface="Inter"/>
              </a:rPr>
              <a:t>in</a:t>
            </a:r>
            <a:endParaRPr sz="2933" b="1">
              <a:solidFill>
                <a:schemeClr val="dk1"/>
              </a:solidFill>
              <a:latin typeface="Inter"/>
              <a:ea typeface="Inter"/>
              <a:cs typeface="Inter"/>
              <a:sym typeface="Inter"/>
            </a:endParaRPr>
          </a:p>
          <a:p>
            <a:pPr marL="0" lvl="0" indent="0" algn="ctr" rtl="0">
              <a:spcBef>
                <a:spcPts val="0"/>
              </a:spcBef>
              <a:spcAft>
                <a:spcPts val="0"/>
              </a:spcAft>
              <a:buNone/>
            </a:pPr>
            <a:r>
              <a:rPr lang="en" sz="2933" b="1">
                <a:solidFill>
                  <a:schemeClr val="dk1"/>
                </a:solidFill>
                <a:latin typeface="Inter"/>
                <a:ea typeface="Inter"/>
                <a:cs typeface="Inter"/>
                <a:sym typeface="Inter"/>
              </a:rPr>
              <a:t>Computer Architecture</a:t>
            </a:r>
            <a:endParaRPr sz="2933" b="1">
              <a:solidFill>
                <a:schemeClr val="dk1"/>
              </a:solidFill>
              <a:latin typeface="Inter"/>
              <a:ea typeface="Inter"/>
              <a:cs typeface="Inter"/>
              <a:sym typeface="Inter"/>
            </a:endParaRPr>
          </a:p>
          <a:p>
            <a:pPr marL="0" lvl="0" indent="0" algn="ctr" rtl="0">
              <a:spcBef>
                <a:spcPts val="0"/>
              </a:spcBef>
              <a:spcAft>
                <a:spcPts val="0"/>
              </a:spcAft>
              <a:buNone/>
            </a:pPr>
            <a:r>
              <a:rPr lang="en" sz="1800">
                <a:solidFill>
                  <a:schemeClr val="dk1"/>
                </a:solidFill>
                <a:latin typeface="Inter Medium"/>
                <a:ea typeface="Inter Medium"/>
                <a:cs typeface="Inter Medium"/>
                <a:sym typeface="Inter Medium"/>
              </a:rPr>
              <a:t>(a.k.a. Machine Structures)</a:t>
            </a:r>
            <a:endParaRPr sz="1800">
              <a:solidFill>
                <a:schemeClr val="dk1"/>
              </a:solidFill>
              <a:latin typeface="Inter Medium"/>
              <a:ea typeface="Inter Medium"/>
              <a:cs typeface="Inter Medium"/>
              <a:sym typeface="Inter Medium"/>
            </a:endParaRPr>
          </a:p>
        </p:txBody>
      </p:sp>
      <p:sp>
        <p:nvSpPr>
          <p:cNvPr id="41" name="Google Shape;41;p3"/>
          <p:cNvSpPr txBox="1"/>
          <p:nvPr/>
        </p:nvSpPr>
        <p:spPr>
          <a:xfrm>
            <a:off x="5037800" y="6153688"/>
            <a:ext cx="2116400" cy="8536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 sz="1800">
                <a:solidFill>
                  <a:schemeClr val="dk1"/>
                </a:solidFill>
                <a:latin typeface="IBM Plex Mono SemiBold"/>
                <a:ea typeface="IBM Plex Mono SemiBold"/>
                <a:cs typeface="IBM Plex Mono SemiBold"/>
                <a:sym typeface="IBM Plex Mono SemiBold"/>
              </a:rPr>
              <a:t>cs61c.org</a:t>
            </a:r>
            <a:endParaRPr sz="1800">
              <a:solidFill>
                <a:schemeClr val="dk1"/>
              </a:solidFill>
              <a:latin typeface="IBM Plex Mono SemiBold"/>
              <a:ea typeface="IBM Plex Mono SemiBold"/>
              <a:cs typeface="IBM Plex Mono SemiBold"/>
              <a:sym typeface="IBM Plex Mono SemiBold"/>
            </a:endParaRPr>
          </a:p>
        </p:txBody>
      </p:sp>
      <p:sp>
        <p:nvSpPr>
          <p:cNvPr id="42" name="Google Shape;42;p3"/>
          <p:cNvSpPr txBox="1"/>
          <p:nvPr/>
        </p:nvSpPr>
        <p:spPr>
          <a:xfrm>
            <a:off x="8722333" y="2539987"/>
            <a:ext cx="2697200" cy="12012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800">
                <a:solidFill>
                  <a:schemeClr val="accent1"/>
                </a:solidFill>
                <a:latin typeface="Inter SemiBold"/>
                <a:ea typeface="Inter SemiBold"/>
                <a:cs typeface="Inter SemiBold"/>
                <a:sym typeface="Inter SemiBold"/>
              </a:rPr>
              <a:t>Assistant</a:t>
            </a:r>
            <a:endParaRPr sz="1800">
              <a:solidFill>
                <a:schemeClr val="accent1"/>
              </a:solidFill>
              <a:latin typeface="Inter SemiBold"/>
              <a:ea typeface="Inter SemiBold"/>
              <a:cs typeface="Inter SemiBold"/>
              <a:sym typeface="Inter SemiBold"/>
            </a:endParaRPr>
          </a:p>
          <a:p>
            <a:pPr marL="0" lvl="0" indent="0" algn="ctr" rtl="0">
              <a:spcBef>
                <a:spcPts val="0"/>
              </a:spcBef>
              <a:spcAft>
                <a:spcPts val="0"/>
              </a:spcAft>
              <a:buNone/>
            </a:pPr>
            <a:r>
              <a:rPr lang="en" sz="1800">
                <a:solidFill>
                  <a:schemeClr val="accent1"/>
                </a:solidFill>
                <a:latin typeface="Inter SemiBold"/>
                <a:ea typeface="Inter SemiBold"/>
                <a:cs typeface="Inter SemiBold"/>
                <a:sym typeface="Inter SemiBold"/>
              </a:rPr>
              <a:t>Teaching Professor</a:t>
            </a:r>
            <a:endParaRPr sz="1800">
              <a:solidFill>
                <a:schemeClr val="accent1"/>
              </a:solidFill>
              <a:latin typeface="Inter SemiBold"/>
              <a:ea typeface="Inter SemiBold"/>
              <a:cs typeface="Inter SemiBold"/>
              <a:sym typeface="Inter SemiBold"/>
            </a:endParaRPr>
          </a:p>
          <a:p>
            <a:pPr marL="0" lvl="0" indent="0" algn="ctr" rtl="0">
              <a:spcBef>
                <a:spcPts val="0"/>
              </a:spcBef>
              <a:spcAft>
                <a:spcPts val="0"/>
              </a:spcAft>
              <a:buNone/>
            </a:pPr>
            <a:r>
              <a:rPr lang="en" sz="1800">
                <a:solidFill>
                  <a:schemeClr val="accent1"/>
                </a:solidFill>
                <a:latin typeface="Inter SemiBold"/>
                <a:ea typeface="Inter SemiBold"/>
                <a:cs typeface="Inter SemiBold"/>
                <a:sym typeface="Inter SemiBold"/>
              </a:rPr>
              <a:t>Lisa Yan</a:t>
            </a:r>
            <a:endParaRPr sz="1800">
              <a:solidFill>
                <a:schemeClr val="accent1"/>
              </a:solidFill>
              <a:latin typeface="Inter SemiBold"/>
              <a:ea typeface="Inter SemiBold"/>
              <a:cs typeface="Inter SemiBold"/>
              <a:sym typeface="Inter SemiBold"/>
            </a:endParaRPr>
          </a:p>
        </p:txBody>
      </p:sp>
      <p:pic>
        <p:nvPicPr>
          <p:cNvPr id="43" name="Google Shape;43;p3" descr="Photo for Lisa Yan" title="Lisa Yan Photo"/>
          <p:cNvPicPr preferRelativeResize="0"/>
          <p:nvPr/>
        </p:nvPicPr>
        <p:blipFill>
          <a:blip r:embed="rId2">
            <a:alphaModFix/>
          </a:blip>
          <a:stretch>
            <a:fillRect/>
          </a:stretch>
        </p:blipFill>
        <p:spPr>
          <a:xfrm>
            <a:off x="9311633" y="441733"/>
            <a:ext cx="1490800" cy="2087120"/>
          </a:xfrm>
          <a:prstGeom prst="rect">
            <a:avLst/>
          </a:prstGeom>
          <a:noFill/>
          <a:ln>
            <a:noFill/>
          </a:ln>
        </p:spPr>
      </p:pic>
    </p:spTree>
    <p:extLst>
      <p:ext uri="{BB962C8B-B14F-4D97-AF65-F5344CB8AC3E}">
        <p14:creationId xmlns:p14="http://schemas.microsoft.com/office/powerpoint/2010/main" val="17163993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Tree>
    <p:extLst>
      <p:ext uri="{BB962C8B-B14F-4D97-AF65-F5344CB8AC3E}">
        <p14:creationId xmlns:p14="http://schemas.microsoft.com/office/powerpoint/2010/main" val="3946213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6"/>
        <p:cNvGrpSpPr/>
        <p:nvPr/>
      </p:nvGrpSpPr>
      <p:grpSpPr>
        <a:xfrm>
          <a:off x="0" y="0"/>
          <a:ext cx="0" cy="0"/>
          <a:chOff x="0" y="0"/>
          <a:chExt cx="0" cy="0"/>
        </a:xfrm>
      </p:grpSpPr>
      <p:sp>
        <p:nvSpPr>
          <p:cNvPr id="47" name="Google Shape;47;p5"/>
          <p:cNvSpPr txBox="1">
            <a:spLocks noGrp="1"/>
          </p:cNvSpPr>
          <p:nvPr>
            <p:ph type="title"/>
          </p:nvPr>
        </p:nvSpPr>
        <p:spPr>
          <a:xfrm>
            <a:off x="1109400" y="134767"/>
            <a:ext cx="106672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400"/>
              <a:buFont typeface="Inter"/>
              <a:buNone/>
              <a:defRPr sz="3200" b="1">
                <a:latin typeface="Inter"/>
                <a:ea typeface="Inter"/>
                <a:cs typeface="Inter"/>
                <a:sym typeface="Inter"/>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8" name="Google Shape;48;p5"/>
          <p:cNvSpPr txBox="1">
            <a:spLocks noGrp="1"/>
          </p:cNvSpPr>
          <p:nvPr>
            <p:ph type="body" idx="1"/>
          </p:nvPr>
        </p:nvSpPr>
        <p:spPr>
          <a:xfrm>
            <a:off x="415600" y="994084"/>
            <a:ext cx="11360800" cy="4894400"/>
          </a:xfrm>
          <a:prstGeom prst="rect">
            <a:avLst/>
          </a:prstGeom>
        </p:spPr>
        <p:txBody>
          <a:bodyPr spcFirstLastPara="1" wrap="square" lIns="91425" tIns="91425" rIns="91425" bIns="91425" anchor="t" anchorCtr="0">
            <a:noAutofit/>
          </a:bodyPr>
          <a:lstStyle>
            <a:lvl1pPr marL="609585" lvl="0" indent="-474121">
              <a:spcBef>
                <a:spcPts val="0"/>
              </a:spcBef>
              <a:spcAft>
                <a:spcPts val="0"/>
              </a:spcAft>
              <a:buClr>
                <a:schemeClr val="dk1"/>
              </a:buClr>
              <a:buSzPts val="2000"/>
              <a:buChar char="●"/>
              <a:defRPr sz="2667">
                <a:solidFill>
                  <a:schemeClr val="dk1"/>
                </a:solidFill>
              </a:defRPr>
            </a:lvl1pPr>
            <a:lvl2pPr marL="1219170" lvl="1" indent="-457189">
              <a:spcBef>
                <a:spcPts val="0"/>
              </a:spcBef>
              <a:spcAft>
                <a:spcPts val="0"/>
              </a:spcAft>
              <a:buClr>
                <a:schemeClr val="accent3"/>
              </a:buClr>
              <a:buSzPts val="1800"/>
              <a:buChar char="○"/>
              <a:defRPr sz="2400">
                <a:solidFill>
                  <a:schemeClr val="accent3"/>
                </a:solidFill>
              </a:defRPr>
            </a:lvl2pPr>
            <a:lvl3pPr marL="1828754" lvl="2" indent="-457189">
              <a:spcBef>
                <a:spcPts val="0"/>
              </a:spcBef>
              <a:spcAft>
                <a:spcPts val="0"/>
              </a:spcAft>
              <a:buClr>
                <a:schemeClr val="accent3"/>
              </a:buClr>
              <a:buSzPts val="1800"/>
              <a:buChar char="■"/>
              <a:defRPr sz="2400">
                <a:solidFill>
                  <a:schemeClr val="accent3"/>
                </a:solidFill>
              </a:defRPr>
            </a:lvl3pPr>
            <a:lvl4pPr marL="2438339" lvl="3" indent="-457189">
              <a:spcBef>
                <a:spcPts val="0"/>
              </a:spcBef>
              <a:spcAft>
                <a:spcPts val="0"/>
              </a:spcAft>
              <a:buClr>
                <a:schemeClr val="accent3"/>
              </a:buClr>
              <a:buSzPts val="1800"/>
              <a:buChar char="●"/>
              <a:defRPr sz="2400">
                <a:solidFill>
                  <a:schemeClr val="accent3"/>
                </a:solidFill>
              </a:defRPr>
            </a:lvl4pPr>
            <a:lvl5pPr marL="3047924" lvl="4" indent="-457189">
              <a:spcBef>
                <a:spcPts val="0"/>
              </a:spcBef>
              <a:spcAft>
                <a:spcPts val="0"/>
              </a:spcAft>
              <a:buClr>
                <a:schemeClr val="accent3"/>
              </a:buClr>
              <a:buSzPts val="1800"/>
              <a:buChar char="○"/>
              <a:defRPr sz="2400">
                <a:solidFill>
                  <a:schemeClr val="accent3"/>
                </a:solidFill>
              </a:defRPr>
            </a:lvl5pPr>
            <a:lvl6pPr marL="3657509" lvl="5" indent="-457189">
              <a:spcBef>
                <a:spcPts val="0"/>
              </a:spcBef>
              <a:spcAft>
                <a:spcPts val="0"/>
              </a:spcAft>
              <a:buClr>
                <a:schemeClr val="accent3"/>
              </a:buClr>
              <a:buSzPts val="1800"/>
              <a:buChar char="■"/>
              <a:defRPr sz="2400">
                <a:solidFill>
                  <a:schemeClr val="accent3"/>
                </a:solidFill>
              </a:defRPr>
            </a:lvl6pPr>
            <a:lvl7pPr marL="4267093" lvl="6" indent="-457189">
              <a:spcBef>
                <a:spcPts val="0"/>
              </a:spcBef>
              <a:spcAft>
                <a:spcPts val="0"/>
              </a:spcAft>
              <a:buClr>
                <a:schemeClr val="accent3"/>
              </a:buClr>
              <a:buSzPts val="1800"/>
              <a:buChar char="●"/>
              <a:defRPr sz="2400">
                <a:solidFill>
                  <a:schemeClr val="accent3"/>
                </a:solidFill>
              </a:defRPr>
            </a:lvl7pPr>
            <a:lvl8pPr marL="4876678" lvl="7" indent="-457189">
              <a:spcBef>
                <a:spcPts val="0"/>
              </a:spcBef>
              <a:spcAft>
                <a:spcPts val="0"/>
              </a:spcAft>
              <a:buClr>
                <a:schemeClr val="accent3"/>
              </a:buClr>
              <a:buSzPts val="1800"/>
              <a:buChar char="○"/>
              <a:defRPr sz="2400">
                <a:solidFill>
                  <a:schemeClr val="accent3"/>
                </a:solidFill>
              </a:defRPr>
            </a:lvl8pPr>
            <a:lvl9pPr marL="5486263" lvl="8" indent="-457189">
              <a:spcBef>
                <a:spcPts val="0"/>
              </a:spcBef>
              <a:spcAft>
                <a:spcPts val="0"/>
              </a:spcAft>
              <a:buClr>
                <a:schemeClr val="accent3"/>
              </a:buClr>
              <a:buSzPts val="1800"/>
              <a:buChar char="■"/>
              <a:defRPr sz="2400">
                <a:solidFill>
                  <a:schemeClr val="accent3"/>
                </a:solidFill>
              </a:defRPr>
            </a:lvl9pPr>
          </a:lstStyle>
          <a:p>
            <a:endParaRPr/>
          </a:p>
        </p:txBody>
      </p:sp>
      <p:cxnSp>
        <p:nvCxnSpPr>
          <p:cNvPr id="49" name="Google Shape;49;p5"/>
          <p:cNvCxnSpPr/>
          <p:nvPr/>
        </p:nvCxnSpPr>
        <p:spPr>
          <a:xfrm rot="10800000">
            <a:off x="1222267" y="925533"/>
            <a:ext cx="10585600" cy="0"/>
          </a:xfrm>
          <a:prstGeom prst="straightConnector1">
            <a:avLst/>
          </a:prstGeom>
          <a:noFill/>
          <a:ln w="28575" cap="flat" cmpd="sng">
            <a:solidFill>
              <a:srgbClr val="FFFFFF"/>
            </a:solidFill>
            <a:prstDash val="solid"/>
            <a:round/>
            <a:headEnd type="none" w="med" len="med"/>
            <a:tailEnd type="none" w="med" len="med"/>
          </a:ln>
        </p:spPr>
      </p:cxnSp>
      <p:sp>
        <p:nvSpPr>
          <p:cNvPr id="50" name="Google Shape;50;p5"/>
          <p:cNvSpPr/>
          <p:nvPr/>
        </p:nvSpPr>
        <p:spPr>
          <a:xfrm>
            <a:off x="1181467" y="926725"/>
            <a:ext cx="106672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51" name="Google Shape;51;p5"/>
          <p:cNvSpPr/>
          <p:nvPr/>
        </p:nvSpPr>
        <p:spPr>
          <a:xfrm rot="10800000">
            <a:off x="1181951" y="822373"/>
            <a:ext cx="106664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Tree>
    <p:extLst>
      <p:ext uri="{BB962C8B-B14F-4D97-AF65-F5344CB8AC3E}">
        <p14:creationId xmlns:p14="http://schemas.microsoft.com/office/powerpoint/2010/main" val="35882207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body left">
  <p:cSld name="Title and body left">
    <p:spTree>
      <p:nvGrpSpPr>
        <p:cNvPr id="1" name="Shape 52"/>
        <p:cNvGrpSpPr/>
        <p:nvPr/>
      </p:nvGrpSpPr>
      <p:grpSpPr>
        <a:xfrm>
          <a:off x="0" y="0"/>
          <a:ext cx="0" cy="0"/>
          <a:chOff x="0" y="0"/>
          <a:chExt cx="0" cy="0"/>
        </a:xfrm>
      </p:grpSpPr>
      <p:sp>
        <p:nvSpPr>
          <p:cNvPr id="53" name="Google Shape;53;p6"/>
          <p:cNvSpPr txBox="1">
            <a:spLocks noGrp="1"/>
          </p:cNvSpPr>
          <p:nvPr>
            <p:ph type="title"/>
          </p:nvPr>
        </p:nvSpPr>
        <p:spPr>
          <a:xfrm>
            <a:off x="1109400" y="134767"/>
            <a:ext cx="106672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400"/>
              <a:buFont typeface="Inter"/>
              <a:buNone/>
              <a:defRPr sz="3200" b="1">
                <a:latin typeface="Inter"/>
                <a:ea typeface="Inter"/>
                <a:cs typeface="Inter"/>
                <a:sym typeface="Inter"/>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4" name="Google Shape;54;p6"/>
          <p:cNvSpPr txBox="1">
            <a:spLocks noGrp="1"/>
          </p:cNvSpPr>
          <p:nvPr>
            <p:ph type="body" idx="1"/>
          </p:nvPr>
        </p:nvSpPr>
        <p:spPr>
          <a:xfrm>
            <a:off x="5600700" y="994100"/>
            <a:ext cx="6175600" cy="4894400"/>
          </a:xfrm>
          <a:prstGeom prst="rect">
            <a:avLst/>
          </a:prstGeom>
        </p:spPr>
        <p:txBody>
          <a:bodyPr spcFirstLastPara="1" wrap="square" lIns="91425" tIns="91425" rIns="91425" bIns="91425" anchor="t" anchorCtr="0">
            <a:noAutofit/>
          </a:bodyPr>
          <a:lstStyle>
            <a:lvl1pPr marL="609585" lvl="0" indent="-474121">
              <a:spcBef>
                <a:spcPts val="0"/>
              </a:spcBef>
              <a:spcAft>
                <a:spcPts val="0"/>
              </a:spcAft>
              <a:buClr>
                <a:schemeClr val="dk1"/>
              </a:buClr>
              <a:buSzPts val="2000"/>
              <a:buChar char="●"/>
              <a:defRPr sz="2667">
                <a:solidFill>
                  <a:schemeClr val="dk1"/>
                </a:solidFill>
              </a:defRPr>
            </a:lvl1pPr>
            <a:lvl2pPr marL="1219170" lvl="1" indent="-457189">
              <a:spcBef>
                <a:spcPts val="0"/>
              </a:spcBef>
              <a:spcAft>
                <a:spcPts val="0"/>
              </a:spcAft>
              <a:buClr>
                <a:schemeClr val="accent3"/>
              </a:buClr>
              <a:buSzPts val="1800"/>
              <a:buChar char="○"/>
              <a:defRPr sz="2400">
                <a:solidFill>
                  <a:schemeClr val="accent3"/>
                </a:solidFill>
              </a:defRPr>
            </a:lvl2pPr>
            <a:lvl3pPr marL="1828754" lvl="2" indent="-457189">
              <a:spcBef>
                <a:spcPts val="0"/>
              </a:spcBef>
              <a:spcAft>
                <a:spcPts val="0"/>
              </a:spcAft>
              <a:buClr>
                <a:schemeClr val="accent3"/>
              </a:buClr>
              <a:buSzPts val="1800"/>
              <a:buChar char="■"/>
              <a:defRPr sz="2400">
                <a:solidFill>
                  <a:schemeClr val="accent3"/>
                </a:solidFill>
              </a:defRPr>
            </a:lvl3pPr>
            <a:lvl4pPr marL="2438339" lvl="3" indent="-457189">
              <a:spcBef>
                <a:spcPts val="0"/>
              </a:spcBef>
              <a:spcAft>
                <a:spcPts val="0"/>
              </a:spcAft>
              <a:buClr>
                <a:schemeClr val="accent3"/>
              </a:buClr>
              <a:buSzPts val="1800"/>
              <a:buChar char="●"/>
              <a:defRPr sz="2400">
                <a:solidFill>
                  <a:schemeClr val="accent3"/>
                </a:solidFill>
              </a:defRPr>
            </a:lvl4pPr>
            <a:lvl5pPr marL="3047924" lvl="4" indent="-457189">
              <a:spcBef>
                <a:spcPts val="0"/>
              </a:spcBef>
              <a:spcAft>
                <a:spcPts val="0"/>
              </a:spcAft>
              <a:buClr>
                <a:schemeClr val="accent3"/>
              </a:buClr>
              <a:buSzPts val="1800"/>
              <a:buChar char="○"/>
              <a:defRPr sz="2400">
                <a:solidFill>
                  <a:schemeClr val="accent3"/>
                </a:solidFill>
              </a:defRPr>
            </a:lvl5pPr>
            <a:lvl6pPr marL="3657509" lvl="5" indent="-457189">
              <a:spcBef>
                <a:spcPts val="0"/>
              </a:spcBef>
              <a:spcAft>
                <a:spcPts val="0"/>
              </a:spcAft>
              <a:buClr>
                <a:schemeClr val="accent3"/>
              </a:buClr>
              <a:buSzPts val="1800"/>
              <a:buChar char="■"/>
              <a:defRPr sz="2400">
                <a:solidFill>
                  <a:schemeClr val="accent3"/>
                </a:solidFill>
              </a:defRPr>
            </a:lvl6pPr>
            <a:lvl7pPr marL="4267093" lvl="6" indent="-457189">
              <a:spcBef>
                <a:spcPts val="0"/>
              </a:spcBef>
              <a:spcAft>
                <a:spcPts val="0"/>
              </a:spcAft>
              <a:buClr>
                <a:schemeClr val="accent3"/>
              </a:buClr>
              <a:buSzPts val="1800"/>
              <a:buChar char="●"/>
              <a:defRPr sz="2400">
                <a:solidFill>
                  <a:schemeClr val="accent3"/>
                </a:solidFill>
              </a:defRPr>
            </a:lvl7pPr>
            <a:lvl8pPr marL="4876678" lvl="7" indent="-457189">
              <a:spcBef>
                <a:spcPts val="0"/>
              </a:spcBef>
              <a:spcAft>
                <a:spcPts val="0"/>
              </a:spcAft>
              <a:buClr>
                <a:schemeClr val="accent3"/>
              </a:buClr>
              <a:buSzPts val="1800"/>
              <a:buChar char="○"/>
              <a:defRPr sz="2400">
                <a:solidFill>
                  <a:schemeClr val="accent3"/>
                </a:solidFill>
              </a:defRPr>
            </a:lvl8pPr>
            <a:lvl9pPr marL="5486263" lvl="8" indent="-457189">
              <a:spcBef>
                <a:spcPts val="0"/>
              </a:spcBef>
              <a:spcAft>
                <a:spcPts val="0"/>
              </a:spcAft>
              <a:buClr>
                <a:schemeClr val="accent3"/>
              </a:buClr>
              <a:buSzPts val="1800"/>
              <a:buChar char="■"/>
              <a:defRPr sz="2400">
                <a:solidFill>
                  <a:schemeClr val="accent3"/>
                </a:solidFill>
              </a:defRPr>
            </a:lvl9pPr>
          </a:lstStyle>
          <a:p>
            <a:endParaRPr/>
          </a:p>
        </p:txBody>
      </p:sp>
      <p:cxnSp>
        <p:nvCxnSpPr>
          <p:cNvPr id="55" name="Google Shape;55;p6"/>
          <p:cNvCxnSpPr/>
          <p:nvPr/>
        </p:nvCxnSpPr>
        <p:spPr>
          <a:xfrm rot="10800000">
            <a:off x="1222267" y="925533"/>
            <a:ext cx="10585600" cy="0"/>
          </a:xfrm>
          <a:prstGeom prst="straightConnector1">
            <a:avLst/>
          </a:prstGeom>
          <a:noFill/>
          <a:ln w="28575" cap="flat" cmpd="sng">
            <a:solidFill>
              <a:srgbClr val="FFFFFF"/>
            </a:solidFill>
            <a:prstDash val="solid"/>
            <a:round/>
            <a:headEnd type="none" w="med" len="med"/>
            <a:tailEnd type="none" w="med" len="med"/>
          </a:ln>
        </p:spPr>
      </p:cxnSp>
      <p:sp>
        <p:nvSpPr>
          <p:cNvPr id="56" name="Google Shape;56;p6"/>
          <p:cNvSpPr/>
          <p:nvPr/>
        </p:nvSpPr>
        <p:spPr>
          <a:xfrm>
            <a:off x="1181467" y="926725"/>
            <a:ext cx="106672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57" name="Google Shape;57;p6"/>
          <p:cNvSpPr/>
          <p:nvPr/>
        </p:nvSpPr>
        <p:spPr>
          <a:xfrm rot="10800000">
            <a:off x="1181951" y="822373"/>
            <a:ext cx="106664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Tree>
    <p:extLst>
      <p:ext uri="{BB962C8B-B14F-4D97-AF65-F5344CB8AC3E}">
        <p14:creationId xmlns:p14="http://schemas.microsoft.com/office/powerpoint/2010/main" val="422011042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column">
  <p:cSld name="Title and two-column">
    <p:spTree>
      <p:nvGrpSpPr>
        <p:cNvPr id="1" name="Shape 58"/>
        <p:cNvGrpSpPr/>
        <p:nvPr/>
      </p:nvGrpSpPr>
      <p:grpSpPr>
        <a:xfrm>
          <a:off x="0" y="0"/>
          <a:ext cx="0" cy="0"/>
          <a:chOff x="0" y="0"/>
          <a:chExt cx="0" cy="0"/>
        </a:xfrm>
      </p:grpSpPr>
      <p:sp>
        <p:nvSpPr>
          <p:cNvPr id="59" name="Google Shape;59;p7"/>
          <p:cNvSpPr txBox="1">
            <a:spLocks noGrp="1"/>
          </p:cNvSpPr>
          <p:nvPr>
            <p:ph type="body" idx="1"/>
          </p:nvPr>
        </p:nvSpPr>
        <p:spPr>
          <a:xfrm>
            <a:off x="6229233" y="994100"/>
            <a:ext cx="5427200" cy="48944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Clr>
                <a:schemeClr val="dk1"/>
              </a:buClr>
              <a:buSzPts val="1800"/>
              <a:buChar char="●"/>
              <a:defRPr sz="2400">
                <a:solidFill>
                  <a:schemeClr val="dk1"/>
                </a:solidFill>
              </a:defRPr>
            </a:lvl1pPr>
            <a:lvl2pPr marL="1219170" lvl="1" indent="-457189">
              <a:spcBef>
                <a:spcPts val="0"/>
              </a:spcBef>
              <a:spcAft>
                <a:spcPts val="0"/>
              </a:spcAft>
              <a:buClr>
                <a:schemeClr val="accent3"/>
              </a:buClr>
              <a:buSzPts val="1800"/>
              <a:buChar char="○"/>
              <a:defRPr sz="2400">
                <a:solidFill>
                  <a:schemeClr val="accent3"/>
                </a:solidFill>
              </a:defRPr>
            </a:lvl2pPr>
            <a:lvl3pPr marL="1828754" lvl="2" indent="-457189">
              <a:spcBef>
                <a:spcPts val="0"/>
              </a:spcBef>
              <a:spcAft>
                <a:spcPts val="0"/>
              </a:spcAft>
              <a:buClr>
                <a:schemeClr val="accent3"/>
              </a:buClr>
              <a:buSzPts val="1800"/>
              <a:buChar char="■"/>
              <a:defRPr sz="2400">
                <a:solidFill>
                  <a:schemeClr val="accent3"/>
                </a:solidFill>
              </a:defRPr>
            </a:lvl3pPr>
            <a:lvl4pPr marL="2438339" lvl="3" indent="-457189">
              <a:spcBef>
                <a:spcPts val="0"/>
              </a:spcBef>
              <a:spcAft>
                <a:spcPts val="0"/>
              </a:spcAft>
              <a:buClr>
                <a:schemeClr val="accent3"/>
              </a:buClr>
              <a:buSzPts val="1800"/>
              <a:buChar char="●"/>
              <a:defRPr sz="2400">
                <a:solidFill>
                  <a:schemeClr val="accent3"/>
                </a:solidFill>
              </a:defRPr>
            </a:lvl4pPr>
            <a:lvl5pPr marL="3047924" lvl="4" indent="-457189">
              <a:spcBef>
                <a:spcPts val="0"/>
              </a:spcBef>
              <a:spcAft>
                <a:spcPts val="0"/>
              </a:spcAft>
              <a:buClr>
                <a:schemeClr val="accent3"/>
              </a:buClr>
              <a:buSzPts val="1800"/>
              <a:buChar char="○"/>
              <a:defRPr sz="2400">
                <a:solidFill>
                  <a:schemeClr val="accent3"/>
                </a:solidFill>
              </a:defRPr>
            </a:lvl5pPr>
            <a:lvl6pPr marL="3657509" lvl="5" indent="-457189">
              <a:spcBef>
                <a:spcPts val="0"/>
              </a:spcBef>
              <a:spcAft>
                <a:spcPts val="0"/>
              </a:spcAft>
              <a:buClr>
                <a:schemeClr val="accent3"/>
              </a:buClr>
              <a:buSzPts val="1800"/>
              <a:buChar char="■"/>
              <a:defRPr sz="2400">
                <a:solidFill>
                  <a:schemeClr val="accent3"/>
                </a:solidFill>
              </a:defRPr>
            </a:lvl6pPr>
            <a:lvl7pPr marL="4267093" lvl="6" indent="-457189">
              <a:spcBef>
                <a:spcPts val="0"/>
              </a:spcBef>
              <a:spcAft>
                <a:spcPts val="0"/>
              </a:spcAft>
              <a:buClr>
                <a:schemeClr val="accent3"/>
              </a:buClr>
              <a:buSzPts val="1800"/>
              <a:buChar char="●"/>
              <a:defRPr sz="2400">
                <a:solidFill>
                  <a:schemeClr val="accent3"/>
                </a:solidFill>
              </a:defRPr>
            </a:lvl7pPr>
            <a:lvl8pPr marL="4876678" lvl="7" indent="-457189">
              <a:spcBef>
                <a:spcPts val="0"/>
              </a:spcBef>
              <a:spcAft>
                <a:spcPts val="0"/>
              </a:spcAft>
              <a:buClr>
                <a:schemeClr val="accent3"/>
              </a:buClr>
              <a:buSzPts val="1800"/>
              <a:buChar char="○"/>
              <a:defRPr sz="2400">
                <a:solidFill>
                  <a:schemeClr val="accent3"/>
                </a:solidFill>
              </a:defRPr>
            </a:lvl8pPr>
            <a:lvl9pPr marL="5486263" lvl="8" indent="-457189">
              <a:spcBef>
                <a:spcPts val="0"/>
              </a:spcBef>
              <a:spcAft>
                <a:spcPts val="0"/>
              </a:spcAft>
              <a:buClr>
                <a:schemeClr val="accent3"/>
              </a:buClr>
              <a:buSzPts val="1800"/>
              <a:buChar char="■"/>
              <a:defRPr sz="2400">
                <a:solidFill>
                  <a:schemeClr val="accent3"/>
                </a:solidFill>
              </a:defRPr>
            </a:lvl9pPr>
          </a:lstStyle>
          <a:p>
            <a:endParaRPr/>
          </a:p>
        </p:txBody>
      </p:sp>
      <p:sp>
        <p:nvSpPr>
          <p:cNvPr id="60" name="Google Shape;60;p7"/>
          <p:cNvSpPr txBox="1">
            <a:spLocks noGrp="1"/>
          </p:cNvSpPr>
          <p:nvPr>
            <p:ph type="title"/>
          </p:nvPr>
        </p:nvSpPr>
        <p:spPr>
          <a:xfrm>
            <a:off x="1109400" y="134767"/>
            <a:ext cx="106672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400"/>
              <a:buFont typeface="Inter"/>
              <a:buNone/>
              <a:defRPr sz="3200" b="1">
                <a:latin typeface="Inter"/>
                <a:ea typeface="Inter"/>
                <a:cs typeface="Inter"/>
                <a:sym typeface="Inter"/>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cxnSp>
        <p:nvCxnSpPr>
          <p:cNvPr id="61" name="Google Shape;61;p7"/>
          <p:cNvCxnSpPr/>
          <p:nvPr/>
        </p:nvCxnSpPr>
        <p:spPr>
          <a:xfrm rot="10800000">
            <a:off x="1222267" y="925533"/>
            <a:ext cx="10585600" cy="0"/>
          </a:xfrm>
          <a:prstGeom prst="straightConnector1">
            <a:avLst/>
          </a:prstGeom>
          <a:noFill/>
          <a:ln w="28575" cap="flat" cmpd="sng">
            <a:solidFill>
              <a:srgbClr val="FFFFFF"/>
            </a:solidFill>
            <a:prstDash val="solid"/>
            <a:round/>
            <a:headEnd type="none" w="med" len="med"/>
            <a:tailEnd type="none" w="med" len="med"/>
          </a:ln>
        </p:spPr>
      </p:cxnSp>
      <p:sp>
        <p:nvSpPr>
          <p:cNvPr id="62" name="Google Shape;62;p7"/>
          <p:cNvSpPr/>
          <p:nvPr/>
        </p:nvSpPr>
        <p:spPr>
          <a:xfrm>
            <a:off x="1181467" y="926725"/>
            <a:ext cx="106672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63" name="Google Shape;63;p7"/>
          <p:cNvSpPr/>
          <p:nvPr/>
        </p:nvSpPr>
        <p:spPr>
          <a:xfrm rot="10800000">
            <a:off x="1181951" y="822373"/>
            <a:ext cx="106664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64" name="Google Shape;64;p7"/>
          <p:cNvSpPr txBox="1">
            <a:spLocks noGrp="1"/>
          </p:cNvSpPr>
          <p:nvPr>
            <p:ph type="body" idx="2"/>
          </p:nvPr>
        </p:nvSpPr>
        <p:spPr>
          <a:xfrm>
            <a:off x="419100" y="994100"/>
            <a:ext cx="5427200" cy="48944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Clr>
                <a:schemeClr val="dk1"/>
              </a:buClr>
              <a:buSzPts val="1800"/>
              <a:buChar char="●"/>
              <a:defRPr sz="2400">
                <a:solidFill>
                  <a:schemeClr val="dk1"/>
                </a:solidFill>
              </a:defRPr>
            </a:lvl1pPr>
            <a:lvl2pPr marL="1219170" lvl="1" indent="-457189">
              <a:spcBef>
                <a:spcPts val="0"/>
              </a:spcBef>
              <a:spcAft>
                <a:spcPts val="0"/>
              </a:spcAft>
              <a:buClr>
                <a:schemeClr val="accent3"/>
              </a:buClr>
              <a:buSzPts val="1800"/>
              <a:buChar char="○"/>
              <a:defRPr sz="2400">
                <a:solidFill>
                  <a:schemeClr val="accent3"/>
                </a:solidFill>
              </a:defRPr>
            </a:lvl2pPr>
            <a:lvl3pPr marL="1828754" lvl="2" indent="-457189">
              <a:spcBef>
                <a:spcPts val="0"/>
              </a:spcBef>
              <a:spcAft>
                <a:spcPts val="0"/>
              </a:spcAft>
              <a:buClr>
                <a:schemeClr val="accent3"/>
              </a:buClr>
              <a:buSzPts val="1800"/>
              <a:buChar char="■"/>
              <a:defRPr sz="2400">
                <a:solidFill>
                  <a:schemeClr val="accent3"/>
                </a:solidFill>
              </a:defRPr>
            </a:lvl3pPr>
            <a:lvl4pPr marL="2438339" lvl="3" indent="-457189">
              <a:spcBef>
                <a:spcPts val="0"/>
              </a:spcBef>
              <a:spcAft>
                <a:spcPts val="0"/>
              </a:spcAft>
              <a:buClr>
                <a:schemeClr val="accent3"/>
              </a:buClr>
              <a:buSzPts val="1800"/>
              <a:buChar char="●"/>
              <a:defRPr sz="2400">
                <a:solidFill>
                  <a:schemeClr val="accent3"/>
                </a:solidFill>
              </a:defRPr>
            </a:lvl4pPr>
            <a:lvl5pPr marL="3047924" lvl="4" indent="-457189">
              <a:spcBef>
                <a:spcPts val="0"/>
              </a:spcBef>
              <a:spcAft>
                <a:spcPts val="0"/>
              </a:spcAft>
              <a:buClr>
                <a:schemeClr val="accent3"/>
              </a:buClr>
              <a:buSzPts val="1800"/>
              <a:buChar char="○"/>
              <a:defRPr sz="2400">
                <a:solidFill>
                  <a:schemeClr val="accent3"/>
                </a:solidFill>
              </a:defRPr>
            </a:lvl5pPr>
            <a:lvl6pPr marL="3657509" lvl="5" indent="-457189">
              <a:spcBef>
                <a:spcPts val="0"/>
              </a:spcBef>
              <a:spcAft>
                <a:spcPts val="0"/>
              </a:spcAft>
              <a:buClr>
                <a:schemeClr val="accent3"/>
              </a:buClr>
              <a:buSzPts val="1800"/>
              <a:buChar char="■"/>
              <a:defRPr sz="2400">
                <a:solidFill>
                  <a:schemeClr val="accent3"/>
                </a:solidFill>
              </a:defRPr>
            </a:lvl6pPr>
            <a:lvl7pPr marL="4267093" lvl="6" indent="-457189">
              <a:spcBef>
                <a:spcPts val="0"/>
              </a:spcBef>
              <a:spcAft>
                <a:spcPts val="0"/>
              </a:spcAft>
              <a:buClr>
                <a:schemeClr val="accent3"/>
              </a:buClr>
              <a:buSzPts val="1800"/>
              <a:buChar char="●"/>
              <a:defRPr sz="2400">
                <a:solidFill>
                  <a:schemeClr val="accent3"/>
                </a:solidFill>
              </a:defRPr>
            </a:lvl7pPr>
            <a:lvl8pPr marL="4876678" lvl="7" indent="-457189">
              <a:spcBef>
                <a:spcPts val="0"/>
              </a:spcBef>
              <a:spcAft>
                <a:spcPts val="0"/>
              </a:spcAft>
              <a:buClr>
                <a:schemeClr val="accent3"/>
              </a:buClr>
              <a:buSzPts val="1800"/>
              <a:buChar char="○"/>
              <a:defRPr sz="2400">
                <a:solidFill>
                  <a:schemeClr val="accent3"/>
                </a:solidFill>
              </a:defRPr>
            </a:lvl8pPr>
            <a:lvl9pPr marL="5486263" lvl="8" indent="-457189">
              <a:spcBef>
                <a:spcPts val="0"/>
              </a:spcBef>
              <a:spcAft>
                <a:spcPts val="0"/>
              </a:spcAft>
              <a:buClr>
                <a:schemeClr val="accent3"/>
              </a:buClr>
              <a:buSzPts val="1800"/>
              <a:buChar char="■"/>
              <a:defRPr sz="2400">
                <a:solidFill>
                  <a:schemeClr val="accent3"/>
                </a:solidFill>
              </a:defRPr>
            </a:lvl9pPr>
          </a:lstStyle>
          <a:p>
            <a:endParaRPr/>
          </a:p>
        </p:txBody>
      </p:sp>
    </p:spTree>
    <p:extLst>
      <p:ext uri="{BB962C8B-B14F-4D97-AF65-F5344CB8AC3E}">
        <p14:creationId xmlns:p14="http://schemas.microsoft.com/office/powerpoint/2010/main" val="3113435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65"/>
        <p:cNvGrpSpPr/>
        <p:nvPr/>
      </p:nvGrpSpPr>
      <p:grpSpPr>
        <a:xfrm>
          <a:off x="0" y="0"/>
          <a:ext cx="0" cy="0"/>
          <a:chOff x="0" y="0"/>
          <a:chExt cx="0" cy="0"/>
        </a:xfrm>
      </p:grpSpPr>
      <p:sp>
        <p:nvSpPr>
          <p:cNvPr id="66" name="Google Shape;66;p8"/>
          <p:cNvSpPr txBox="1">
            <a:spLocks noGrp="1"/>
          </p:cNvSpPr>
          <p:nvPr>
            <p:ph type="title"/>
          </p:nvPr>
        </p:nvSpPr>
        <p:spPr>
          <a:xfrm>
            <a:off x="1109400" y="134767"/>
            <a:ext cx="106672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400"/>
              <a:buFont typeface="Inter"/>
              <a:buNone/>
              <a:defRPr sz="3200" b="1">
                <a:latin typeface="Inter"/>
                <a:ea typeface="Inter"/>
                <a:cs typeface="Inter"/>
                <a:sym typeface="Inter"/>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8"/>
          <p:cNvSpPr/>
          <p:nvPr/>
        </p:nvSpPr>
        <p:spPr>
          <a:xfrm>
            <a:off x="1181467" y="926725"/>
            <a:ext cx="106672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68" name="Google Shape;68;p8"/>
          <p:cNvSpPr/>
          <p:nvPr/>
        </p:nvSpPr>
        <p:spPr>
          <a:xfrm rot="10800000">
            <a:off x="1181951" y="822373"/>
            <a:ext cx="106664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cxnSp>
        <p:nvCxnSpPr>
          <p:cNvPr id="69" name="Google Shape;69;p8"/>
          <p:cNvCxnSpPr/>
          <p:nvPr/>
        </p:nvCxnSpPr>
        <p:spPr>
          <a:xfrm rot="10800000">
            <a:off x="1222267" y="925533"/>
            <a:ext cx="10585600" cy="0"/>
          </a:xfrm>
          <a:prstGeom prst="straightConnector1">
            <a:avLst/>
          </a:prstGeom>
          <a:noFill/>
          <a:ln w="28575" cap="flat" cmpd="sng">
            <a:solidFill>
              <a:srgbClr val="FFFFFF"/>
            </a:solidFill>
            <a:prstDash val="solid"/>
            <a:round/>
            <a:headEnd type="none" w="med" len="med"/>
            <a:tailEnd type="none" w="med" len="med"/>
          </a:ln>
        </p:spPr>
      </p:cxnSp>
    </p:spTree>
    <p:extLst>
      <p:ext uri="{BB962C8B-B14F-4D97-AF65-F5344CB8AC3E}">
        <p14:creationId xmlns:p14="http://schemas.microsoft.com/office/powerpoint/2010/main" val="24972638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spTree>
    <p:extLst>
      <p:ext uri="{BB962C8B-B14F-4D97-AF65-F5344CB8AC3E}">
        <p14:creationId xmlns:p14="http://schemas.microsoft.com/office/powerpoint/2010/main" val="28519513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1"/>
        <p:cNvGrpSpPr/>
        <p:nvPr/>
      </p:nvGrpSpPr>
      <p:grpSpPr>
        <a:xfrm>
          <a:off x="0" y="0"/>
          <a:ext cx="0" cy="0"/>
          <a:chOff x="0" y="0"/>
          <a:chExt cx="0" cy="0"/>
        </a:xfrm>
      </p:grpSpPr>
      <p:sp>
        <p:nvSpPr>
          <p:cNvPr id="72" name="Google Shape;72;p10"/>
          <p:cNvSpPr/>
          <p:nvPr/>
        </p:nvSpPr>
        <p:spPr>
          <a:xfrm rot="5400000">
            <a:off x="661133" y="746767"/>
            <a:ext cx="4790800" cy="6113200"/>
          </a:xfrm>
          <a:prstGeom prst="round2SameRect">
            <a:avLst>
              <a:gd name="adj1" fmla="val 16667"/>
              <a:gd name="adj2" fmla="val 0"/>
            </a:avLst>
          </a:prstGeom>
          <a:solidFill>
            <a:srgbClr val="9FD1FF">
              <a:alpha val="47270"/>
            </a:srgbClr>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73" name="Google Shape;73;p10"/>
          <p:cNvSpPr/>
          <p:nvPr/>
        </p:nvSpPr>
        <p:spPr>
          <a:xfrm>
            <a:off x="1181467" y="926725"/>
            <a:ext cx="106672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sp>
        <p:nvSpPr>
          <p:cNvPr id="74" name="Google Shape;74;p10"/>
          <p:cNvSpPr/>
          <p:nvPr/>
        </p:nvSpPr>
        <p:spPr>
          <a:xfrm rot="10800000">
            <a:off x="1181951" y="822373"/>
            <a:ext cx="10666400" cy="104800"/>
          </a:xfrm>
          <a:prstGeom prst="rect">
            <a:avLst/>
          </a:prstGeom>
          <a:gradFill>
            <a:gsLst>
              <a:gs pos="0">
                <a:srgbClr val="9FD1FF"/>
              </a:gs>
              <a:gs pos="100000">
                <a:srgbClr val="FFFFFF">
                  <a:alpha val="0"/>
                </a:srgbClr>
              </a:gs>
            </a:gsLst>
            <a:lin ang="5400012" scaled="0"/>
          </a:gradFill>
          <a:ln>
            <a:noFill/>
          </a:ln>
        </p:spPr>
        <p:txBody>
          <a:bodyPr spcFirstLastPara="1" wrap="square" lIns="121900" tIns="121900" rIns="121900" bIns="121900" anchor="ctr" anchorCtr="0">
            <a:noAutofit/>
          </a:bodyPr>
          <a:lstStyle/>
          <a:p>
            <a:pPr marL="0" lvl="0" indent="0" algn="ctr" rtl="0">
              <a:spcBef>
                <a:spcPts val="0"/>
              </a:spcBef>
              <a:spcAft>
                <a:spcPts val="0"/>
              </a:spcAft>
              <a:buNone/>
            </a:pPr>
            <a:endParaRPr sz="1800">
              <a:latin typeface="Inter"/>
              <a:ea typeface="Inter"/>
              <a:cs typeface="Inter"/>
              <a:sym typeface="Inter"/>
            </a:endParaRPr>
          </a:p>
        </p:txBody>
      </p:sp>
      <p:cxnSp>
        <p:nvCxnSpPr>
          <p:cNvPr id="75" name="Google Shape;75;p10"/>
          <p:cNvCxnSpPr/>
          <p:nvPr/>
        </p:nvCxnSpPr>
        <p:spPr>
          <a:xfrm rot="10800000">
            <a:off x="1222267" y="925533"/>
            <a:ext cx="10585600" cy="0"/>
          </a:xfrm>
          <a:prstGeom prst="straightConnector1">
            <a:avLst/>
          </a:prstGeom>
          <a:noFill/>
          <a:ln w="28575" cap="flat" cmpd="sng">
            <a:solidFill>
              <a:srgbClr val="FFFFFF"/>
            </a:solidFill>
            <a:prstDash val="solid"/>
            <a:round/>
            <a:headEnd type="none" w="med" len="med"/>
            <a:tailEnd type="none" w="med" len="med"/>
          </a:ln>
        </p:spPr>
      </p:cxnSp>
      <p:sp>
        <p:nvSpPr>
          <p:cNvPr id="76" name="Google Shape;76;p10"/>
          <p:cNvSpPr txBox="1"/>
          <p:nvPr/>
        </p:nvSpPr>
        <p:spPr>
          <a:xfrm>
            <a:off x="6405000" y="1407967"/>
            <a:ext cx="5528000" cy="4828800"/>
          </a:xfrm>
          <a:prstGeom prst="rect">
            <a:avLst/>
          </a:prstGeom>
          <a:noFill/>
          <a:ln>
            <a:noFill/>
          </a:ln>
        </p:spPr>
        <p:txBody>
          <a:bodyPr spcFirstLastPara="1" wrap="square" lIns="121900" tIns="121900" rIns="121900" bIns="121900" anchor="ctr" anchorCtr="0">
            <a:noAutofit/>
          </a:bodyPr>
          <a:lstStyle/>
          <a:p>
            <a:pPr marL="609585" lvl="0" indent="-474121" algn="l" rtl="0">
              <a:spcBef>
                <a:spcPts val="0"/>
              </a:spcBef>
              <a:spcAft>
                <a:spcPts val="0"/>
              </a:spcAft>
              <a:buClr>
                <a:schemeClr val="dk1"/>
              </a:buClr>
              <a:buSzPts val="2000"/>
              <a:buFont typeface="Inter"/>
              <a:buChar char="●"/>
            </a:pPr>
            <a:r>
              <a:rPr lang="en" sz="2667">
                <a:solidFill>
                  <a:schemeClr val="dk1"/>
                </a:solidFill>
                <a:latin typeface="Inter"/>
                <a:ea typeface="Inter"/>
                <a:cs typeface="Inter"/>
                <a:sym typeface="Inter"/>
              </a:rPr>
              <a:t>Datapath and Control</a:t>
            </a:r>
            <a:endParaRPr sz="2667">
              <a:solidFill>
                <a:schemeClr val="dk1"/>
              </a:solidFill>
              <a:latin typeface="Inter"/>
              <a:ea typeface="Inter"/>
              <a:cs typeface="Inter"/>
              <a:sym typeface="Inter"/>
            </a:endParaRPr>
          </a:p>
          <a:p>
            <a:pPr marL="609585" lvl="0" indent="-474121" algn="l" rtl="0">
              <a:spcBef>
                <a:spcPts val="800"/>
              </a:spcBef>
              <a:spcAft>
                <a:spcPts val="0"/>
              </a:spcAft>
              <a:buClr>
                <a:schemeClr val="dk1"/>
              </a:buClr>
              <a:buSzPts val="2000"/>
              <a:buFont typeface="Inter"/>
              <a:buChar char="●"/>
            </a:pPr>
            <a:r>
              <a:rPr lang="en" sz="2667">
                <a:solidFill>
                  <a:schemeClr val="dk1"/>
                </a:solidFill>
                <a:latin typeface="Inter"/>
                <a:ea typeface="Inter"/>
                <a:cs typeface="Inter"/>
                <a:sym typeface="Inter"/>
              </a:rPr>
              <a:t>Control Logic Design: ROM</a:t>
            </a:r>
            <a:endParaRPr sz="2667">
              <a:solidFill>
                <a:schemeClr val="dk1"/>
              </a:solidFill>
              <a:latin typeface="Inter"/>
              <a:ea typeface="Inter"/>
              <a:cs typeface="Inter"/>
              <a:sym typeface="Inter"/>
            </a:endParaRPr>
          </a:p>
          <a:p>
            <a:pPr marL="609585" lvl="0" indent="-474121" algn="l" rtl="0">
              <a:spcBef>
                <a:spcPts val="800"/>
              </a:spcBef>
              <a:spcAft>
                <a:spcPts val="0"/>
              </a:spcAft>
              <a:buClr>
                <a:schemeClr val="dk1"/>
              </a:buClr>
              <a:buSzPts val="2000"/>
              <a:buFont typeface="Inter"/>
              <a:buChar char="●"/>
            </a:pPr>
            <a:r>
              <a:rPr lang="en" sz="2667">
                <a:solidFill>
                  <a:schemeClr val="dk1"/>
                </a:solidFill>
                <a:latin typeface="Inter"/>
                <a:ea typeface="Inter"/>
                <a:cs typeface="Inter"/>
                <a:sym typeface="Inter"/>
              </a:rPr>
              <a:t>[Extra] Control Logic Design: Combinational Logic</a:t>
            </a:r>
            <a:endParaRPr sz="2667">
              <a:solidFill>
                <a:schemeClr val="dk1"/>
              </a:solidFill>
              <a:latin typeface="Inter"/>
              <a:ea typeface="Inter"/>
              <a:cs typeface="Inter"/>
              <a:sym typeface="Inter"/>
            </a:endParaRPr>
          </a:p>
          <a:p>
            <a:pPr marL="609585" lvl="0" indent="-474121" algn="l" rtl="0">
              <a:spcBef>
                <a:spcPts val="800"/>
              </a:spcBef>
              <a:spcAft>
                <a:spcPts val="800"/>
              </a:spcAft>
              <a:buClr>
                <a:schemeClr val="dk1"/>
              </a:buClr>
              <a:buSzPts val="2000"/>
              <a:buFont typeface="Inter"/>
              <a:buChar char="●"/>
            </a:pPr>
            <a:r>
              <a:rPr lang="en" sz="2667">
                <a:solidFill>
                  <a:schemeClr val="dk1"/>
                </a:solidFill>
                <a:latin typeface="Inter"/>
                <a:ea typeface="Inter"/>
                <a:cs typeface="Inter"/>
                <a:sym typeface="Inter"/>
              </a:rPr>
              <a:t>Instruction Timing</a:t>
            </a:r>
            <a:endParaRPr sz="2667">
              <a:solidFill>
                <a:schemeClr val="dk1"/>
              </a:solidFill>
              <a:latin typeface="Inter"/>
              <a:ea typeface="Inter"/>
              <a:cs typeface="Inter"/>
              <a:sym typeface="Inter"/>
            </a:endParaRPr>
          </a:p>
        </p:txBody>
      </p:sp>
      <p:sp>
        <p:nvSpPr>
          <p:cNvPr id="77" name="Google Shape;77;p10"/>
          <p:cNvSpPr txBox="1"/>
          <p:nvPr/>
        </p:nvSpPr>
        <p:spPr>
          <a:xfrm>
            <a:off x="1109472" y="134112"/>
            <a:ext cx="6532800" cy="7620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 sz="3200" b="1">
                <a:solidFill>
                  <a:srgbClr val="F2F2F2"/>
                </a:solidFill>
                <a:latin typeface="Inter"/>
                <a:ea typeface="Inter"/>
                <a:cs typeface="Inter"/>
                <a:sym typeface="Inter"/>
              </a:rPr>
              <a:t>Agenda</a:t>
            </a:r>
            <a:endParaRPr sz="3200" b="1">
              <a:solidFill>
                <a:srgbClr val="F2F2F2"/>
              </a:solidFill>
              <a:latin typeface="Inter"/>
              <a:ea typeface="Inter"/>
              <a:cs typeface="Inter"/>
              <a:sym typeface="Inter"/>
            </a:endParaRPr>
          </a:p>
        </p:txBody>
      </p:sp>
      <p:sp>
        <p:nvSpPr>
          <p:cNvPr id="78" name="Google Shape;78;p10"/>
          <p:cNvSpPr txBox="1">
            <a:spLocks noGrp="1"/>
          </p:cNvSpPr>
          <p:nvPr>
            <p:ph type="title"/>
          </p:nvPr>
        </p:nvSpPr>
        <p:spPr>
          <a:xfrm>
            <a:off x="459700" y="1867771"/>
            <a:ext cx="5247600" cy="37944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3600"/>
              <a:buNone/>
              <a:defRPr sz="4800">
                <a:solidFill>
                  <a:schemeClr val="dk2"/>
                </a:solidFill>
              </a:defRPr>
            </a:lvl1pPr>
            <a:lvl2pPr lvl="1">
              <a:spcBef>
                <a:spcPts val="0"/>
              </a:spcBef>
              <a:spcAft>
                <a:spcPts val="0"/>
              </a:spcAft>
              <a:buClr>
                <a:schemeClr val="dk2"/>
              </a:buClr>
              <a:buSzPts val="3600"/>
              <a:buNone/>
              <a:defRPr sz="4800">
                <a:solidFill>
                  <a:schemeClr val="dk2"/>
                </a:solidFill>
              </a:defRPr>
            </a:lvl2pPr>
            <a:lvl3pPr lvl="2">
              <a:spcBef>
                <a:spcPts val="0"/>
              </a:spcBef>
              <a:spcAft>
                <a:spcPts val="0"/>
              </a:spcAft>
              <a:buClr>
                <a:schemeClr val="dk2"/>
              </a:buClr>
              <a:buSzPts val="3600"/>
              <a:buNone/>
              <a:defRPr sz="4800">
                <a:solidFill>
                  <a:schemeClr val="dk2"/>
                </a:solidFill>
              </a:defRPr>
            </a:lvl3pPr>
            <a:lvl4pPr lvl="3">
              <a:spcBef>
                <a:spcPts val="0"/>
              </a:spcBef>
              <a:spcAft>
                <a:spcPts val="0"/>
              </a:spcAft>
              <a:buClr>
                <a:schemeClr val="dk2"/>
              </a:buClr>
              <a:buSzPts val="3600"/>
              <a:buNone/>
              <a:defRPr sz="4800">
                <a:solidFill>
                  <a:schemeClr val="dk2"/>
                </a:solidFill>
              </a:defRPr>
            </a:lvl4pPr>
            <a:lvl5pPr lvl="4">
              <a:spcBef>
                <a:spcPts val="0"/>
              </a:spcBef>
              <a:spcAft>
                <a:spcPts val="0"/>
              </a:spcAft>
              <a:buClr>
                <a:schemeClr val="dk2"/>
              </a:buClr>
              <a:buSzPts val="3600"/>
              <a:buNone/>
              <a:defRPr sz="4800">
                <a:solidFill>
                  <a:schemeClr val="dk2"/>
                </a:solidFill>
              </a:defRPr>
            </a:lvl5pPr>
            <a:lvl6pPr lvl="5">
              <a:spcBef>
                <a:spcPts val="0"/>
              </a:spcBef>
              <a:spcAft>
                <a:spcPts val="0"/>
              </a:spcAft>
              <a:buClr>
                <a:schemeClr val="dk2"/>
              </a:buClr>
              <a:buSzPts val="3600"/>
              <a:buNone/>
              <a:defRPr sz="4800">
                <a:solidFill>
                  <a:schemeClr val="dk2"/>
                </a:solidFill>
              </a:defRPr>
            </a:lvl6pPr>
            <a:lvl7pPr lvl="6">
              <a:spcBef>
                <a:spcPts val="0"/>
              </a:spcBef>
              <a:spcAft>
                <a:spcPts val="0"/>
              </a:spcAft>
              <a:buClr>
                <a:schemeClr val="dk2"/>
              </a:buClr>
              <a:buSzPts val="3600"/>
              <a:buNone/>
              <a:defRPr sz="4800">
                <a:solidFill>
                  <a:schemeClr val="dk2"/>
                </a:solidFill>
              </a:defRPr>
            </a:lvl7pPr>
            <a:lvl8pPr lvl="7">
              <a:spcBef>
                <a:spcPts val="0"/>
              </a:spcBef>
              <a:spcAft>
                <a:spcPts val="0"/>
              </a:spcAft>
              <a:buClr>
                <a:schemeClr val="dk2"/>
              </a:buClr>
              <a:buSzPts val="3600"/>
              <a:buNone/>
              <a:defRPr sz="4800">
                <a:solidFill>
                  <a:schemeClr val="dk2"/>
                </a:solidFill>
              </a:defRPr>
            </a:lvl8pPr>
            <a:lvl9pPr lvl="8">
              <a:spcBef>
                <a:spcPts val="0"/>
              </a:spcBef>
              <a:spcAft>
                <a:spcPts val="0"/>
              </a:spcAft>
              <a:buClr>
                <a:schemeClr val="dk2"/>
              </a:buClr>
              <a:buSzPts val="3600"/>
              <a:buNone/>
              <a:defRPr sz="4800">
                <a:solidFill>
                  <a:schemeClr val="dk2"/>
                </a:solidFill>
              </a:defRPr>
            </a:lvl9pPr>
          </a:lstStyle>
          <a:p>
            <a:endParaRPr/>
          </a:p>
        </p:txBody>
      </p:sp>
    </p:spTree>
    <p:extLst>
      <p:ext uri="{BB962C8B-B14F-4D97-AF65-F5344CB8AC3E}">
        <p14:creationId xmlns:p14="http://schemas.microsoft.com/office/powerpoint/2010/main" val="12518700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5078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One Column Lin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AGRundschriftD" panose="00000500000000000000" pitchFamily="50"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VAGRundschriftD" panose="00000500000000000000" pitchFamily="50" charset="0"/>
              </a:defRPr>
            </a:lvl1pPr>
            <a:lvl2pPr>
              <a:defRPr>
                <a:latin typeface="VAGRundschriftD" panose="00000500000000000000" pitchFamily="50" charset="0"/>
              </a:defRPr>
            </a:lvl2pPr>
            <a:lvl3pPr>
              <a:defRPr>
                <a:latin typeface="VAGRundschriftD" panose="00000500000000000000" pitchFamily="50" charset="0"/>
              </a:defRPr>
            </a:lvl3pPr>
            <a:lvl4pPr>
              <a:defRPr>
                <a:latin typeface="VAGRundschriftD" panose="00000500000000000000" pitchFamily="50" charset="0"/>
              </a:defRPr>
            </a:lvl4pPr>
            <a:lvl5pPr>
              <a:defRPr>
                <a:latin typeface="VAGRundschriftD" panose="00000500000000000000" pitchFamily="50"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78681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6.png"/><Relationship Id="rId3" Type="http://schemas.openxmlformats.org/officeDocument/2006/relationships/slideLayout" Target="../slideLayouts/slideLayout15.xml"/><Relationship Id="rId21" Type="http://schemas.openxmlformats.org/officeDocument/2006/relationships/image" Target="../media/image3.png"/><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image" Target="../media/image7.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2.tiff"/><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image" Target="../media/image12.png"/><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image" Target="../media/image14.png"/><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image" Target="../media/image1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50000">
              <a:schemeClr val="tx1"/>
            </a:gs>
            <a:gs pos="100000">
              <a:srgbClr val="003262"/>
            </a:gs>
          </a:gsLst>
          <a:lin ang="5400000" scaled="0"/>
        </a:gradFill>
        <a:effectLst/>
      </p:bgPr>
    </p:bg>
    <p:spTree>
      <p:nvGrpSpPr>
        <p:cNvPr id="1" name=""/>
        <p:cNvGrpSpPr/>
        <p:nvPr/>
      </p:nvGrpSpPr>
      <p:grpSpPr>
        <a:xfrm>
          <a:off x="0" y="0"/>
          <a:ext cx="0" cy="0"/>
          <a:chOff x="0" y="0"/>
          <a:chExt cx="0" cy="0"/>
        </a:xfrm>
      </p:grpSpPr>
      <p:sp>
        <p:nvSpPr>
          <p:cNvPr id="19" name="Title Placeholder 18">
            <a:extLst>
              <a:ext uri="{FF2B5EF4-FFF2-40B4-BE49-F238E27FC236}">
                <a16:creationId xmlns:a16="http://schemas.microsoft.com/office/drawing/2014/main" id="{07444E4B-B667-204F-6CBC-6541042F7916}"/>
              </a:ext>
            </a:extLst>
          </p:cNvPr>
          <p:cNvSpPr>
            <a:spLocks noGrp="1"/>
          </p:cNvSpPr>
          <p:nvPr>
            <p:ph type="title"/>
          </p:nvPr>
        </p:nvSpPr>
        <p:spPr>
          <a:xfrm>
            <a:off x="1110997" y="76200"/>
            <a:ext cx="10509504" cy="7680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0BFD2F-B4A1-0BFE-9946-F9ACEA1C1769}"/>
              </a:ext>
            </a:extLst>
          </p:cNvPr>
          <p:cNvSpPr>
            <a:spLocks noGrp="1"/>
          </p:cNvSpPr>
          <p:nvPr>
            <p:ph type="body" idx="1"/>
          </p:nvPr>
        </p:nvSpPr>
        <p:spPr>
          <a:xfrm>
            <a:off x="288413" y="916710"/>
            <a:ext cx="11332079" cy="5287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Google Shape;13;p48">
            <a:extLst>
              <a:ext uri="{FF2B5EF4-FFF2-40B4-BE49-F238E27FC236}">
                <a16:creationId xmlns:a16="http://schemas.microsoft.com/office/drawing/2014/main" id="{86EC8A50-6ED8-8792-AC2D-624D27BA987D}"/>
              </a:ext>
            </a:extLst>
          </p:cNvPr>
          <p:cNvPicPr preferRelativeResize="0"/>
          <p:nvPr/>
        </p:nvPicPr>
        <p:blipFill rotWithShape="1">
          <a:blip r:embed="rId14">
            <a:alphaModFix/>
          </a:blip>
          <a:srcRect/>
          <a:stretch/>
        </p:blipFill>
        <p:spPr>
          <a:xfrm>
            <a:off x="109176" y="6362905"/>
            <a:ext cx="1264675" cy="389467"/>
          </a:xfrm>
          <a:prstGeom prst="rect">
            <a:avLst/>
          </a:prstGeom>
          <a:noFill/>
          <a:ln>
            <a:noFill/>
          </a:ln>
        </p:spPr>
      </p:pic>
      <p:pic>
        <p:nvPicPr>
          <p:cNvPr id="9" name="Picture 8">
            <a:extLst>
              <a:ext uri="{FF2B5EF4-FFF2-40B4-BE49-F238E27FC236}">
                <a16:creationId xmlns:a16="http://schemas.microsoft.com/office/drawing/2014/main" id="{2D6FE450-8072-3EB0-9EC8-CEC906BCB0A4}"/>
              </a:ext>
            </a:extLst>
          </p:cNvPr>
          <p:cNvPicPr>
            <a:picLocks noChangeAspect="1"/>
          </p:cNvPicPr>
          <p:nvPr/>
        </p:nvPicPr>
        <p:blipFill>
          <a:blip r:embed="rId15"/>
          <a:stretch>
            <a:fillRect/>
          </a:stretch>
        </p:blipFill>
        <p:spPr>
          <a:xfrm>
            <a:off x="11112283" y="6480099"/>
            <a:ext cx="1079717" cy="377901"/>
          </a:xfrm>
          <a:prstGeom prst="rect">
            <a:avLst/>
          </a:prstGeom>
        </p:spPr>
      </p:pic>
      <p:pic>
        <p:nvPicPr>
          <p:cNvPr id="10" name="Picture 9">
            <a:extLst>
              <a:ext uri="{FF2B5EF4-FFF2-40B4-BE49-F238E27FC236}">
                <a16:creationId xmlns:a16="http://schemas.microsoft.com/office/drawing/2014/main" id="{40F0B3E7-42CF-CC16-BDE1-F34A834A2E4D}"/>
              </a:ext>
            </a:extLst>
          </p:cNvPr>
          <p:cNvPicPr>
            <a:picLocks noChangeAspect="1"/>
          </p:cNvPicPr>
          <p:nvPr/>
        </p:nvPicPr>
        <p:blipFill>
          <a:blip r:embed="rId16"/>
          <a:srcRect/>
          <a:stretch/>
        </p:blipFill>
        <p:spPr>
          <a:xfrm>
            <a:off x="101600" y="76200"/>
            <a:ext cx="812800" cy="812800"/>
          </a:xfrm>
          <a:prstGeom prst="rect">
            <a:avLst/>
          </a:prstGeom>
        </p:spPr>
      </p:pic>
    </p:spTree>
    <p:extLst>
      <p:ext uri="{BB962C8B-B14F-4D97-AF65-F5344CB8AC3E}">
        <p14:creationId xmlns:p14="http://schemas.microsoft.com/office/powerpoint/2010/main" val="384236229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914377" rtl="0" eaLnBrk="1" latinLnBrk="0" hangingPunct="1">
        <a:lnSpc>
          <a:spcPct val="90000"/>
        </a:lnSpc>
        <a:spcBef>
          <a:spcPct val="0"/>
        </a:spcBef>
        <a:buNone/>
        <a:defRPr sz="4267" b="1" i="0" kern="1200">
          <a:solidFill>
            <a:schemeClr val="bg2">
              <a:alpha val="99099"/>
            </a:schemeClr>
          </a:solidFill>
          <a:latin typeface="18 VAG Rounded Bold   07390" pitchFamily="2" charset="0"/>
          <a:ea typeface="+mj-ea"/>
          <a:cs typeface="+mj-cs"/>
        </a:defRPr>
      </a:lvl1pPr>
    </p:titleStyle>
    <p:bodyStyle>
      <a:lvl1pPr marL="467772" indent="-383108" algn="l" defTabSz="914377" rtl="0" eaLnBrk="1" latinLnBrk="0" hangingPunct="1">
        <a:lnSpc>
          <a:spcPct val="100000"/>
        </a:lnSpc>
        <a:spcBef>
          <a:spcPts val="1000"/>
        </a:spcBef>
        <a:buClrTx/>
        <a:buSzPct val="95000"/>
        <a:buFont typeface="Wingdings" pitchFamily="2" charset="2"/>
        <a:buChar char="§"/>
        <a:tabLst/>
        <a:defRPr sz="3600" b="1" i="0" kern="1200">
          <a:ln>
            <a:noFill/>
          </a:ln>
          <a:solidFill>
            <a:schemeClr val="bg1">
              <a:alpha val="99000"/>
            </a:schemeClr>
          </a:solidFill>
          <a:latin typeface="18 VAG Rounded Bold   07390" pitchFamily="2" charset="0"/>
          <a:ea typeface="+mn-ea"/>
          <a:cs typeface="+mn-cs"/>
        </a:defRPr>
      </a:lvl1pPr>
      <a:lvl2pPr marL="768331" indent="-311143" algn="l" defTabSz="914377" rtl="0" eaLnBrk="1" latinLnBrk="0" hangingPunct="1">
        <a:lnSpc>
          <a:spcPct val="100000"/>
        </a:lnSpc>
        <a:spcBef>
          <a:spcPts val="500"/>
        </a:spcBef>
        <a:buClr>
          <a:schemeClr val="accent2"/>
        </a:buClr>
        <a:buSzPct val="100000"/>
        <a:buFont typeface="Wingdings" pitchFamily="2" charset="2"/>
        <a:buChar char="§"/>
        <a:tabLst/>
        <a:defRPr sz="3200" b="0" i="0" kern="1200">
          <a:solidFill>
            <a:schemeClr val="accent2"/>
          </a:solidFill>
          <a:latin typeface="18 VAG Rounded Light   02390" pitchFamily="2" charset="0"/>
          <a:ea typeface="+mn-ea"/>
          <a:cs typeface="+mn-cs"/>
        </a:defRPr>
      </a:lvl2pPr>
      <a:lvl3pPr marL="1066773" indent="-298443" algn="l" defTabSz="914377" rtl="0" eaLnBrk="1" latinLnBrk="0" hangingPunct="1">
        <a:lnSpc>
          <a:spcPct val="100000"/>
        </a:lnSpc>
        <a:spcBef>
          <a:spcPts val="500"/>
        </a:spcBef>
        <a:buClr>
          <a:schemeClr val="accent1"/>
        </a:buClr>
        <a:buFont typeface="Wingdings" pitchFamily="2" charset="2"/>
        <a:buChar char="§"/>
        <a:tabLst/>
        <a:defRPr sz="2800" b="0" i="0" kern="1200">
          <a:solidFill>
            <a:schemeClr val="accent1"/>
          </a:solidFill>
          <a:latin typeface="18 VAG Rounded Light   02390" pitchFamily="2" charset="0"/>
          <a:ea typeface="+mn-ea"/>
          <a:cs typeface="+mn-cs"/>
        </a:defRPr>
      </a:lvl3pPr>
      <a:lvl4pPr marL="1449881" indent="-298443" algn="l" defTabSz="914377" rtl="0" eaLnBrk="1" latinLnBrk="0" hangingPunct="1">
        <a:lnSpc>
          <a:spcPct val="100000"/>
        </a:lnSpc>
        <a:spcBef>
          <a:spcPts val="500"/>
        </a:spcBef>
        <a:buFont typeface="Arial" panose="020B0604020202020204" pitchFamily="34" charset="0"/>
        <a:buChar char="•"/>
        <a:tabLst/>
        <a:defRPr sz="2400" b="0" i="0" kern="1200">
          <a:solidFill>
            <a:schemeClr val="accent3"/>
          </a:solidFill>
          <a:latin typeface="18 VAG Rounded Light   02390" pitchFamily="2" charset="0"/>
          <a:ea typeface="+mn-ea"/>
          <a:cs typeface="+mn-cs"/>
        </a:defRPr>
      </a:lvl4pPr>
      <a:lvl5pPr marL="1763140" indent="-226478" algn="l" defTabSz="914377" rtl="0" eaLnBrk="1" latinLnBrk="0" hangingPunct="1">
        <a:lnSpc>
          <a:spcPct val="100000"/>
        </a:lnSpc>
        <a:spcBef>
          <a:spcPts val="500"/>
        </a:spcBef>
        <a:buFont typeface="Arial" panose="020B0604020202020204" pitchFamily="34" charset="0"/>
        <a:buChar char="•"/>
        <a:tabLst/>
        <a:defRPr sz="2000" b="0" i="0" kern="1200">
          <a:solidFill>
            <a:schemeClr val="bg2"/>
          </a:solidFill>
          <a:latin typeface="18 VAG Rounded Light   02390"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pic>
        <p:nvPicPr>
          <p:cNvPr id="12" name="Picture 11" descr="A picture containing food&#10;&#10;Description automatically generated">
            <a:extLst>
              <a:ext uri="{FF2B5EF4-FFF2-40B4-BE49-F238E27FC236}">
                <a16:creationId xmlns:a16="http://schemas.microsoft.com/office/drawing/2014/main" id="{DD4C6C20-F48B-6B49-86FF-DB6B770C5747}"/>
              </a:ext>
            </a:extLst>
          </p:cNvPr>
          <p:cNvPicPr>
            <a:picLocks noChangeAspect="1"/>
          </p:cNvPicPr>
          <p:nvPr userDrawn="1"/>
        </p:nvPicPr>
        <p:blipFill>
          <a:blip r:embed="rId18"/>
          <a:stretch>
            <a:fillRect/>
          </a:stretch>
        </p:blipFill>
        <p:spPr>
          <a:xfrm>
            <a:off x="0" y="0"/>
            <a:ext cx="12192000" cy="6858000"/>
          </a:xfrm>
          <a:prstGeom prst="rect">
            <a:avLst/>
          </a:prstGeom>
        </p:spPr>
      </p:pic>
      <p:sp>
        <p:nvSpPr>
          <p:cNvPr id="18" name="Rectangle 10"/>
          <p:cNvSpPr>
            <a:spLocks noChangeArrowheads="1"/>
          </p:cNvSpPr>
          <p:nvPr userDrawn="1"/>
        </p:nvSpPr>
        <p:spPr bwMode="auto">
          <a:xfrm>
            <a:off x="3048000" y="6578929"/>
            <a:ext cx="9144000" cy="291897"/>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ctr" eaLnBrk="0" hangingPunct="0">
              <a:defRPr/>
            </a:pPr>
            <a:r>
              <a:rPr lang="en-US" sz="1500" b="1" dirty="0">
                <a:solidFill>
                  <a:srgbClr val="FFC115"/>
                </a:solidFill>
                <a:latin typeface="VAGRundschriftD" panose="00000500000000000000" pitchFamily="50" charset="0"/>
                <a:ea typeface="+mn-ea"/>
                <a:cs typeface="+mn-cs"/>
              </a:rPr>
              <a:t>RISC-V</a:t>
            </a:r>
            <a:r>
              <a:rPr lang="en-US" sz="1500" b="1" dirty="0">
                <a:solidFill>
                  <a:srgbClr val="FFFF00"/>
                </a:solidFill>
                <a:latin typeface="VAGRundschriftD" panose="00000500000000000000" pitchFamily="50" charset="0"/>
                <a:ea typeface="+mn-ea"/>
                <a:cs typeface="+mn-cs"/>
              </a:rPr>
              <a:t> </a:t>
            </a:r>
            <a:r>
              <a:rPr lang="en-US" sz="1500" b="1" dirty="0">
                <a:solidFill>
                  <a:schemeClr val="tx1"/>
                </a:solidFill>
                <a:latin typeface="VAGRundschriftD" panose="00000500000000000000" pitchFamily="50" charset="0"/>
                <a:ea typeface="+mn-ea"/>
                <a:cs typeface="+mn-cs"/>
              </a:rPr>
              <a:t>(</a:t>
            </a:r>
            <a:fld id="{F6F39CF2-87E7-FF4A-9C8E-A745CB692DE9}" type="slidenum">
              <a:rPr lang="en-US" sz="1500" b="1">
                <a:solidFill>
                  <a:schemeClr val="tx1"/>
                </a:solidFill>
                <a:latin typeface="VAGRundschriftD" panose="00000500000000000000" pitchFamily="50" charset="0"/>
                <a:ea typeface="+mn-ea"/>
                <a:cs typeface="+mn-cs"/>
              </a:rPr>
              <a:pPr algn="ctr" eaLnBrk="0" hangingPunct="0">
                <a:defRPr/>
              </a:pPr>
              <a:t>‹#›</a:t>
            </a:fld>
            <a:r>
              <a:rPr lang="en-US" sz="1500" b="1" dirty="0">
                <a:solidFill>
                  <a:schemeClr val="tx1"/>
                </a:solidFill>
                <a:latin typeface="VAGRundschriftD" panose="00000500000000000000" pitchFamily="50" charset="0"/>
                <a:ea typeface="+mn-ea"/>
                <a:cs typeface="+mn-cs"/>
              </a:rPr>
              <a:t>)</a:t>
            </a:r>
          </a:p>
        </p:txBody>
      </p:sp>
      <p:cxnSp>
        <p:nvCxnSpPr>
          <p:cNvPr id="13" name="Straight Connector 12"/>
          <p:cNvCxnSpPr>
            <a:cxnSpLocks/>
          </p:cNvCxnSpPr>
          <p:nvPr userDrawn="1"/>
        </p:nvCxnSpPr>
        <p:spPr>
          <a:xfrm>
            <a:off x="1115843" y="888611"/>
            <a:ext cx="10466559" cy="389"/>
          </a:xfrm>
          <a:prstGeom prst="line">
            <a:avLst/>
          </a:prstGeom>
          <a:ln>
            <a:solidFill>
              <a:schemeClr val="tx2"/>
            </a:solidFill>
          </a:ln>
          <a:effectLst>
            <a:glow rad="101600">
              <a:srgbClr val="5F78A2">
                <a:alpha val="75000"/>
              </a:srgbClr>
            </a:glow>
          </a:effectLst>
        </p:spPr>
        <p:style>
          <a:lnRef idx="2">
            <a:schemeClr val="accent1"/>
          </a:lnRef>
          <a:fillRef idx="0">
            <a:schemeClr val="accent1"/>
          </a:fillRef>
          <a:effectRef idx="1">
            <a:schemeClr val="accent1"/>
          </a:effectRef>
          <a:fontRef idx="minor">
            <a:schemeClr val="tx1"/>
          </a:fontRef>
        </p:style>
      </p:cxnSp>
      <p:sp>
        <p:nvSpPr>
          <p:cNvPr id="1027" name="Text Placeholder 12"/>
          <p:cNvSpPr>
            <a:spLocks noGrp="1"/>
          </p:cNvSpPr>
          <p:nvPr>
            <p:ph type="body" idx="1"/>
          </p:nvPr>
        </p:nvSpPr>
        <p:spPr bwMode="auto">
          <a:xfrm>
            <a:off x="3048000" y="908050"/>
            <a:ext cx="8572501" cy="5365751"/>
          </a:xfrm>
          <a:prstGeom prst="rect">
            <a:avLst/>
          </a:prstGeom>
          <a:noFill/>
          <a:ln w="9525">
            <a:noFill/>
            <a:miter lim="800000"/>
            <a:headEnd/>
            <a:tailEnd/>
          </a:ln>
        </p:spPr>
        <p:txBody>
          <a:bodyPr vert="horz" wrap="square" lIns="130622" tIns="65310" rIns="130622" bIns="6531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1"/>
          <p:cNvSpPr>
            <a:spLocks noChangeArrowheads="1"/>
          </p:cNvSpPr>
          <p:nvPr userDrawn="1"/>
        </p:nvSpPr>
        <p:spPr bwMode="auto">
          <a:xfrm>
            <a:off x="10871201" y="6248400"/>
            <a:ext cx="1320801" cy="240666"/>
          </a:xfrm>
          <a:prstGeom prst="rect">
            <a:avLst/>
          </a:prstGeom>
          <a:noFill/>
          <a:ln w="12700">
            <a:noFill/>
            <a:miter lim="800000"/>
            <a:headEnd/>
            <a:tailEnd/>
          </a:ln>
          <a:effectLst/>
        </p:spPr>
        <p:txBody>
          <a:bodyPr wrap="square" lIns="75592" tIns="30237" rIns="75592" bIns="30237">
            <a:prstTxWarp prst="textNoShape">
              <a:avLst/>
            </a:prstTxWarp>
            <a:spAutoFit/>
          </a:bodyPr>
          <a:lstStyle/>
          <a:p>
            <a:pPr algn="r" eaLnBrk="0" hangingPunct="0">
              <a:defRPr/>
            </a:pPr>
            <a:r>
              <a:rPr lang="en-US" sz="1167" b="0" i="0" dirty="0">
                <a:solidFill>
                  <a:schemeClr val="tx1"/>
                </a:solidFill>
                <a:latin typeface="18 VAG Rounded Thin   55390" pitchFamily="2" charset="0"/>
                <a:ea typeface="+mn-ea"/>
                <a:cs typeface="+mn-cs"/>
              </a:rPr>
              <a:t>Garcia, </a:t>
            </a:r>
            <a:r>
              <a:rPr lang="en-US" sz="1167" b="0" i="0" dirty="0" err="1">
                <a:solidFill>
                  <a:schemeClr val="tx1"/>
                </a:solidFill>
                <a:latin typeface="18 VAG Rounded Thin   55390" pitchFamily="2" charset="0"/>
                <a:ea typeface="+mn-ea"/>
                <a:cs typeface="+mn-cs"/>
              </a:rPr>
              <a:t>Nikolić</a:t>
            </a:r>
            <a:endParaRPr lang="en-US" sz="1167" b="0" i="0" dirty="0">
              <a:solidFill>
                <a:schemeClr val="tx1"/>
              </a:solidFill>
              <a:latin typeface="18 VAG Rounded Thin   55390" pitchFamily="2" charset="0"/>
              <a:ea typeface="+mn-ea"/>
              <a:cs typeface="+mn-cs"/>
            </a:endParaRPr>
          </a:p>
        </p:txBody>
      </p:sp>
      <p:pic>
        <p:nvPicPr>
          <p:cNvPr id="4" name="Picture 3">
            <a:extLst>
              <a:ext uri="{FF2B5EF4-FFF2-40B4-BE49-F238E27FC236}">
                <a16:creationId xmlns:a16="http://schemas.microsoft.com/office/drawing/2014/main" id="{544926C7-7ABA-BC4B-B059-3F085BB916B3}"/>
              </a:ext>
            </a:extLst>
          </p:cNvPr>
          <p:cNvPicPr>
            <a:picLocks noChangeAspect="1"/>
          </p:cNvPicPr>
          <p:nvPr userDrawn="1"/>
        </p:nvPicPr>
        <p:blipFill>
          <a:blip r:embed="rId19"/>
          <a:stretch>
            <a:fillRect/>
          </a:stretch>
        </p:blipFill>
        <p:spPr>
          <a:xfrm>
            <a:off x="11112283" y="6480099"/>
            <a:ext cx="1079717" cy="377901"/>
          </a:xfrm>
          <a:prstGeom prst="rect">
            <a:avLst/>
          </a:prstGeom>
        </p:spPr>
      </p:pic>
      <p:sp>
        <p:nvSpPr>
          <p:cNvPr id="22" name="Title Placeholder 21"/>
          <p:cNvSpPr>
            <a:spLocks noGrp="1"/>
          </p:cNvSpPr>
          <p:nvPr>
            <p:ph type="title"/>
          </p:nvPr>
        </p:nvSpPr>
        <p:spPr>
          <a:xfrm>
            <a:off x="1117600" y="76200"/>
            <a:ext cx="10502901" cy="762000"/>
          </a:xfrm>
          <a:prstGeom prst="rect">
            <a:avLst/>
          </a:prstGeom>
        </p:spPr>
        <p:txBody>
          <a:bodyPr vert="horz" lIns="130622" tIns="65310" rIns="130622" bIns="65310" anchor="t">
            <a:noAutofit/>
          </a:bodyPr>
          <a:lstStyle/>
          <a:p>
            <a:r>
              <a:rPr lang="en-US" dirty="0"/>
              <a:t>Click to edit Master title style</a:t>
            </a:r>
          </a:p>
        </p:txBody>
      </p:sp>
      <p:pic>
        <p:nvPicPr>
          <p:cNvPr id="10" name="Picture 9">
            <a:extLst>
              <a:ext uri="{FF2B5EF4-FFF2-40B4-BE49-F238E27FC236}">
                <a16:creationId xmlns:a16="http://schemas.microsoft.com/office/drawing/2014/main" id="{B073723A-86A7-6746-8062-52657EB054C9}"/>
              </a:ext>
            </a:extLst>
          </p:cNvPr>
          <p:cNvPicPr>
            <a:picLocks noChangeAspect="1"/>
          </p:cNvPicPr>
          <p:nvPr userDrawn="1"/>
        </p:nvPicPr>
        <p:blipFill>
          <a:blip r:embed="rId20"/>
          <a:stretch>
            <a:fillRect/>
          </a:stretch>
        </p:blipFill>
        <p:spPr>
          <a:xfrm>
            <a:off x="3018141" y="6375400"/>
            <a:ext cx="1264675" cy="389467"/>
          </a:xfrm>
          <a:prstGeom prst="rect">
            <a:avLst/>
          </a:prstGeom>
        </p:spPr>
      </p:pic>
      <p:pic>
        <p:nvPicPr>
          <p:cNvPr id="11" name="Picture 10">
            <a:extLst>
              <a:ext uri="{FF2B5EF4-FFF2-40B4-BE49-F238E27FC236}">
                <a16:creationId xmlns:a16="http://schemas.microsoft.com/office/drawing/2014/main" id="{5154BFA1-742A-6040-9A02-17161CC49CF5}"/>
              </a:ext>
            </a:extLst>
          </p:cNvPr>
          <p:cNvPicPr>
            <a:picLocks noChangeAspect="1"/>
          </p:cNvPicPr>
          <p:nvPr userDrawn="1"/>
        </p:nvPicPr>
        <p:blipFill>
          <a:blip r:embed="rId21"/>
          <a:srcRect/>
          <a:stretch/>
        </p:blipFill>
        <p:spPr>
          <a:xfrm>
            <a:off x="101600" y="76200"/>
            <a:ext cx="812800" cy="812800"/>
          </a:xfrm>
          <a:prstGeom prst="rect">
            <a:avLst/>
          </a:prstGeom>
        </p:spPr>
      </p:pic>
    </p:spTree>
    <p:extLst>
      <p:ext uri="{BB962C8B-B14F-4D97-AF65-F5344CB8AC3E}">
        <p14:creationId xmlns:p14="http://schemas.microsoft.com/office/powerpoint/2010/main" val="174852140"/>
      </p:ext>
    </p:extLst>
  </p:cSld>
  <p:clrMap bg1="dk1" tx1="lt1" bg2="dk2" tx2="lt2" accent1="accent1" accent2="accent2" accent3="accent3" accent4="accent4" accent5="accent5" accent6="accent6" hlink="hlink" folHlink="folHlink"/>
  <p:sldLayoutIdLst>
    <p:sldLayoutId id="2147483725"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rtl="0" eaLnBrk="0" fontAlgn="base" hangingPunct="0">
        <a:spcBef>
          <a:spcPct val="0"/>
        </a:spcBef>
        <a:spcAft>
          <a:spcPct val="0"/>
        </a:spcAft>
        <a:defRPr sz="4267" kern="1200" spc="-119">
          <a:solidFill>
            <a:srgbClr val="E4DDD2"/>
          </a:solidFill>
          <a:latin typeface="18 VAG Rounded Bold   07390"/>
          <a:ea typeface="ＭＳ Ｐゴシック" charset="-128"/>
          <a:cs typeface="AppleGaramond Bd"/>
        </a:defRPr>
      </a:lvl1pPr>
      <a:lvl2pPr algn="l" rtl="0" eaLnBrk="0" fontAlgn="base" hangingPunct="0">
        <a:spcBef>
          <a:spcPct val="0"/>
        </a:spcBef>
        <a:spcAft>
          <a:spcPct val="0"/>
        </a:spcAft>
        <a:defRPr sz="4833">
          <a:solidFill>
            <a:srgbClr val="C1EEFF"/>
          </a:solidFill>
          <a:latin typeface="18 VAG Rounded Bold   07390" charset="0"/>
          <a:ea typeface="ＭＳ Ｐゴシック" charset="-128"/>
          <a:cs typeface="ＭＳ Ｐゴシック" charset="-128"/>
        </a:defRPr>
      </a:lvl2pPr>
      <a:lvl3pPr algn="l" rtl="0" eaLnBrk="0" fontAlgn="base" hangingPunct="0">
        <a:spcBef>
          <a:spcPct val="0"/>
        </a:spcBef>
        <a:spcAft>
          <a:spcPct val="0"/>
        </a:spcAft>
        <a:defRPr sz="4833">
          <a:solidFill>
            <a:srgbClr val="C1EEFF"/>
          </a:solidFill>
          <a:latin typeface="18 VAG Rounded Bold   07390" charset="0"/>
          <a:ea typeface="ＭＳ Ｐゴシック" charset="-128"/>
          <a:cs typeface="ＭＳ Ｐゴシック" charset="-128"/>
        </a:defRPr>
      </a:lvl3pPr>
      <a:lvl4pPr algn="l" rtl="0" eaLnBrk="0" fontAlgn="base" hangingPunct="0">
        <a:spcBef>
          <a:spcPct val="0"/>
        </a:spcBef>
        <a:spcAft>
          <a:spcPct val="0"/>
        </a:spcAft>
        <a:defRPr sz="4833">
          <a:solidFill>
            <a:srgbClr val="C1EEFF"/>
          </a:solidFill>
          <a:latin typeface="18 VAG Rounded Bold   07390" charset="0"/>
          <a:ea typeface="ＭＳ Ｐゴシック" charset="-128"/>
          <a:cs typeface="ＭＳ Ｐゴシック" charset="-128"/>
        </a:defRPr>
      </a:lvl4pPr>
      <a:lvl5pPr algn="l" rtl="0" eaLnBrk="0" fontAlgn="base" hangingPunct="0">
        <a:spcBef>
          <a:spcPct val="0"/>
        </a:spcBef>
        <a:spcAft>
          <a:spcPct val="0"/>
        </a:spcAft>
        <a:defRPr sz="4833">
          <a:solidFill>
            <a:srgbClr val="C1EEFF"/>
          </a:solidFill>
          <a:latin typeface="18 VAG Rounded Bold   07390" charset="0"/>
          <a:ea typeface="ＭＳ Ｐゴシック" charset="-128"/>
          <a:cs typeface="ＭＳ Ｐゴシック" charset="-128"/>
        </a:defRPr>
      </a:lvl5pPr>
      <a:lvl6pPr marL="544245" algn="l" rtl="0" fontAlgn="base">
        <a:spcBef>
          <a:spcPct val="0"/>
        </a:spcBef>
        <a:spcAft>
          <a:spcPct val="0"/>
        </a:spcAft>
        <a:defRPr sz="4833" b="1">
          <a:solidFill>
            <a:srgbClr val="C1EEFF"/>
          </a:solidFill>
          <a:latin typeface="Corbel" charset="0"/>
          <a:ea typeface="ＭＳ Ｐゴシック" charset="-128"/>
          <a:cs typeface="ＭＳ Ｐゴシック" charset="-128"/>
        </a:defRPr>
      </a:lvl6pPr>
      <a:lvl7pPr marL="1088490" algn="l" rtl="0" fontAlgn="base">
        <a:spcBef>
          <a:spcPct val="0"/>
        </a:spcBef>
        <a:spcAft>
          <a:spcPct val="0"/>
        </a:spcAft>
        <a:defRPr sz="4833" b="1">
          <a:solidFill>
            <a:srgbClr val="C1EEFF"/>
          </a:solidFill>
          <a:latin typeface="Corbel" charset="0"/>
          <a:ea typeface="ＭＳ Ｐゴシック" charset="-128"/>
          <a:cs typeface="ＭＳ Ｐゴシック" charset="-128"/>
        </a:defRPr>
      </a:lvl7pPr>
      <a:lvl8pPr marL="1632735" algn="l" rtl="0" fontAlgn="base">
        <a:spcBef>
          <a:spcPct val="0"/>
        </a:spcBef>
        <a:spcAft>
          <a:spcPct val="0"/>
        </a:spcAft>
        <a:defRPr sz="4833" b="1">
          <a:solidFill>
            <a:srgbClr val="C1EEFF"/>
          </a:solidFill>
          <a:latin typeface="Corbel" charset="0"/>
          <a:ea typeface="ＭＳ Ｐゴシック" charset="-128"/>
          <a:cs typeface="ＭＳ Ｐゴシック" charset="-128"/>
        </a:defRPr>
      </a:lvl8pPr>
      <a:lvl9pPr marL="2176980" algn="l" rtl="0" fontAlgn="base">
        <a:spcBef>
          <a:spcPct val="0"/>
        </a:spcBef>
        <a:spcAft>
          <a:spcPct val="0"/>
        </a:spcAft>
        <a:defRPr sz="4833" b="1">
          <a:solidFill>
            <a:srgbClr val="C1EEFF"/>
          </a:solidFill>
          <a:latin typeface="Corbel" charset="0"/>
          <a:ea typeface="ＭＳ Ｐゴシック" charset="-128"/>
          <a:cs typeface="ＭＳ Ｐゴシック" charset="-128"/>
        </a:defRPr>
      </a:lvl9pPr>
    </p:titleStyle>
    <p:bodyStyle>
      <a:lvl1pPr marL="489442" indent="-408184" algn="l" rtl="0" eaLnBrk="0" fontAlgn="base" hangingPunct="0">
        <a:spcBef>
          <a:spcPts val="833"/>
        </a:spcBef>
        <a:spcAft>
          <a:spcPct val="0"/>
        </a:spcAft>
        <a:buClr>
          <a:srgbClr val="E4DDD2"/>
        </a:buClr>
        <a:buSzPct val="95000"/>
        <a:buFont typeface="Wingdings" pitchFamily="-1" charset="2"/>
        <a:buChar char=""/>
        <a:defRPr sz="3200" b="0" i="0" kern="1200">
          <a:solidFill>
            <a:schemeClr val="tx1"/>
          </a:solidFill>
          <a:latin typeface="VAG Rundschrift D Light" pitchFamily="2" charset="77"/>
          <a:ea typeface="ＭＳ Ｐゴシック" charset="-128"/>
          <a:cs typeface="VAG Rundschrift D Light" pitchFamily="2" charset="77"/>
        </a:defRPr>
      </a:lvl1pPr>
      <a:lvl2pPr marL="880619" indent="-340153" algn="l" rtl="0" eaLnBrk="0" fontAlgn="base" hangingPunct="0">
        <a:spcBef>
          <a:spcPct val="20000"/>
        </a:spcBef>
        <a:spcAft>
          <a:spcPct val="0"/>
        </a:spcAft>
        <a:buSzPct val="90000"/>
        <a:buFont typeface="Wingdings" pitchFamily="-1" charset="2"/>
        <a:buChar char=""/>
        <a:defRPr sz="2667" b="0" i="0" kern="1200">
          <a:solidFill>
            <a:srgbClr val="C5DBC3"/>
          </a:solidFill>
          <a:latin typeface="VAG Rundschrift D Light" pitchFamily="2" charset="77"/>
          <a:ea typeface="ＭＳ Ｐゴシック" charset="-128"/>
          <a:cs typeface="+mn-cs"/>
        </a:defRPr>
      </a:lvl2pPr>
      <a:lvl3pPr marL="1184868" indent="-272123" algn="l" rtl="0" eaLnBrk="0" fontAlgn="base" hangingPunct="0">
        <a:spcBef>
          <a:spcPct val="20000"/>
        </a:spcBef>
        <a:spcAft>
          <a:spcPct val="0"/>
        </a:spcAft>
        <a:buFont typeface="Wingdings 2" pitchFamily="-1" charset="2"/>
        <a:buChar char=""/>
        <a:defRPr sz="2667" b="0" i="0" kern="1200">
          <a:solidFill>
            <a:srgbClr val="00BEE2"/>
          </a:solidFill>
          <a:latin typeface="VAG Rundschrift D Light" pitchFamily="2" charset="77"/>
          <a:ea typeface="ＭＳ Ｐゴシック" charset="-128"/>
          <a:cs typeface="+mn-cs"/>
        </a:defRPr>
      </a:lvl3pPr>
      <a:lvl4pPr marL="1685519" indent="-457189" algn="l" rtl="0" eaLnBrk="0" fontAlgn="base" hangingPunct="0">
        <a:spcBef>
          <a:spcPct val="20000"/>
        </a:spcBef>
        <a:spcAft>
          <a:spcPct val="0"/>
        </a:spcAft>
        <a:buClr>
          <a:srgbClr val="FFC000"/>
        </a:buClr>
        <a:buFont typeface="Arial" panose="020B0604020202020204" pitchFamily="34" charset="0"/>
        <a:buChar char="•"/>
        <a:defRPr sz="2500" b="0" i="0" kern="1200">
          <a:solidFill>
            <a:srgbClr val="FFC117"/>
          </a:solidFill>
          <a:latin typeface="VAG Rundschrift D Light" pitchFamily="2" charset="77"/>
          <a:ea typeface="ＭＳ Ｐゴシック" charset="-128"/>
          <a:cs typeface="+mn-cs"/>
        </a:defRPr>
      </a:lvl4pPr>
      <a:lvl5pPr marL="1763128" indent="-249446" algn="l" rtl="0" eaLnBrk="0" fontAlgn="base" hangingPunct="0">
        <a:spcBef>
          <a:spcPct val="20000"/>
        </a:spcBef>
        <a:spcAft>
          <a:spcPct val="0"/>
        </a:spcAft>
        <a:buClr>
          <a:schemeClr val="tx1"/>
        </a:buClr>
        <a:buFont typeface="Wingdings 2" pitchFamily="-1" charset="2"/>
        <a:buChar char=""/>
        <a:defRPr sz="2400" b="0" i="0" kern="1200">
          <a:solidFill>
            <a:srgbClr val="E4DDD2"/>
          </a:solidFill>
          <a:latin typeface="VAG Rundschrift D Light" pitchFamily="2" charset="77"/>
          <a:ea typeface="ＭＳ Ｐゴシック" charset="-128"/>
          <a:cs typeface="+mn-cs"/>
        </a:defRPr>
      </a:lvl5pPr>
      <a:lvl6pPr marL="2035476" indent="-250352" algn="l" rtl="0" eaLnBrk="1" latinLnBrk="0" hangingPunct="1">
        <a:spcBef>
          <a:spcPct val="20000"/>
        </a:spcBef>
        <a:buClr>
          <a:schemeClr val="accent3"/>
        </a:buClr>
        <a:buFont typeface="Wingdings 2"/>
        <a:buChar char=""/>
        <a:defRPr kumimoji="0" sz="2167" kern="1200">
          <a:solidFill>
            <a:schemeClr val="tx1"/>
          </a:solidFill>
          <a:latin typeface="+mn-lt"/>
          <a:ea typeface="+mn-ea"/>
          <a:cs typeface="+mn-cs"/>
        </a:defRPr>
      </a:lvl6pPr>
      <a:lvl7pPr marL="2264058" indent="-217699" algn="l" rtl="0" eaLnBrk="1" latinLnBrk="0" hangingPunct="1">
        <a:spcBef>
          <a:spcPct val="20000"/>
        </a:spcBef>
        <a:buClr>
          <a:schemeClr val="accent4"/>
        </a:buClr>
        <a:buFont typeface="Wingdings 2"/>
        <a:buChar char=""/>
        <a:defRPr kumimoji="0" sz="1833" kern="1200">
          <a:solidFill>
            <a:schemeClr val="tx1"/>
          </a:solidFill>
          <a:latin typeface="+mn-lt"/>
          <a:ea typeface="+mn-ea"/>
          <a:cs typeface="+mn-cs"/>
        </a:defRPr>
      </a:lvl7pPr>
      <a:lvl8pPr marL="2492642" indent="-217699" algn="l" rtl="0" eaLnBrk="1" latinLnBrk="0" hangingPunct="1">
        <a:spcBef>
          <a:spcPct val="20000"/>
        </a:spcBef>
        <a:buClr>
          <a:schemeClr val="accent4"/>
        </a:buClr>
        <a:buFont typeface="Wingdings 2"/>
        <a:buChar char=""/>
        <a:defRPr kumimoji="0" sz="1833" kern="1200">
          <a:solidFill>
            <a:schemeClr val="tx1"/>
          </a:solidFill>
          <a:latin typeface="+mn-lt"/>
          <a:ea typeface="+mn-ea"/>
          <a:cs typeface="+mn-cs"/>
        </a:defRPr>
      </a:lvl8pPr>
      <a:lvl9pPr marL="2721224" indent="-217699" algn="l" rtl="0" eaLnBrk="1" latinLnBrk="0" hangingPunct="1">
        <a:spcBef>
          <a:spcPct val="20000"/>
        </a:spcBef>
        <a:buClr>
          <a:schemeClr val="accent4"/>
        </a:buClr>
        <a:buFont typeface="Wingdings 2"/>
        <a:buChar char=""/>
        <a:defRPr kumimoji="0" sz="1833"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44245" algn="l" rtl="0" eaLnBrk="1" latinLnBrk="0" hangingPunct="1">
        <a:defRPr kumimoji="0" kern="1200">
          <a:solidFill>
            <a:schemeClr val="tx1"/>
          </a:solidFill>
          <a:latin typeface="+mn-lt"/>
          <a:ea typeface="+mn-ea"/>
          <a:cs typeface="+mn-cs"/>
        </a:defRPr>
      </a:lvl2pPr>
      <a:lvl3pPr marL="1088490" algn="l" rtl="0" eaLnBrk="1" latinLnBrk="0" hangingPunct="1">
        <a:defRPr kumimoji="0" kern="1200">
          <a:solidFill>
            <a:schemeClr val="tx1"/>
          </a:solidFill>
          <a:latin typeface="+mn-lt"/>
          <a:ea typeface="+mn-ea"/>
          <a:cs typeface="+mn-cs"/>
        </a:defRPr>
      </a:lvl3pPr>
      <a:lvl4pPr marL="1632735" algn="l" rtl="0" eaLnBrk="1" latinLnBrk="0" hangingPunct="1">
        <a:defRPr kumimoji="0" kern="1200">
          <a:solidFill>
            <a:schemeClr val="tx1"/>
          </a:solidFill>
          <a:latin typeface="+mn-lt"/>
          <a:ea typeface="+mn-ea"/>
          <a:cs typeface="+mn-cs"/>
        </a:defRPr>
      </a:lvl4pPr>
      <a:lvl5pPr marL="2176980" algn="l" rtl="0" eaLnBrk="1" latinLnBrk="0" hangingPunct="1">
        <a:defRPr kumimoji="0" kern="1200">
          <a:solidFill>
            <a:schemeClr val="tx1"/>
          </a:solidFill>
          <a:latin typeface="+mn-lt"/>
          <a:ea typeface="+mn-ea"/>
          <a:cs typeface="+mn-cs"/>
        </a:defRPr>
      </a:lvl5pPr>
      <a:lvl6pPr marL="2721224" algn="l" rtl="0" eaLnBrk="1" latinLnBrk="0" hangingPunct="1">
        <a:defRPr kumimoji="0" kern="1200">
          <a:solidFill>
            <a:schemeClr val="tx1"/>
          </a:solidFill>
          <a:latin typeface="+mn-lt"/>
          <a:ea typeface="+mn-ea"/>
          <a:cs typeface="+mn-cs"/>
        </a:defRPr>
      </a:lvl6pPr>
      <a:lvl7pPr marL="3265469" algn="l" rtl="0" eaLnBrk="1" latinLnBrk="0" hangingPunct="1">
        <a:defRPr kumimoji="0" kern="1200">
          <a:solidFill>
            <a:schemeClr val="tx1"/>
          </a:solidFill>
          <a:latin typeface="+mn-lt"/>
          <a:ea typeface="+mn-ea"/>
          <a:cs typeface="+mn-cs"/>
        </a:defRPr>
      </a:lvl7pPr>
      <a:lvl8pPr marL="3809714" algn="l" rtl="0" eaLnBrk="1" latinLnBrk="0" hangingPunct="1">
        <a:defRPr kumimoji="0" kern="1200">
          <a:solidFill>
            <a:schemeClr val="tx1"/>
          </a:solidFill>
          <a:latin typeface="+mn-lt"/>
          <a:ea typeface="+mn-ea"/>
          <a:cs typeface="+mn-cs"/>
        </a:defRPr>
      </a:lvl8pPr>
      <a:lvl9pPr marL="4353959"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76000">
              <a:srgbClr val="00133B"/>
            </a:gs>
            <a:gs pos="100000">
              <a:srgbClr val="002676"/>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415600" y="1333433"/>
            <a:ext cx="11360800" cy="4555200"/>
          </a:xfrm>
          <a:prstGeom prst="rect">
            <a:avLst/>
          </a:prstGeom>
          <a:noFill/>
          <a:ln>
            <a:noFill/>
          </a:ln>
        </p:spPr>
        <p:txBody>
          <a:bodyPr spcFirstLastPara="1" wrap="square" lIns="91425" tIns="91425" rIns="91425" bIns="91425" anchor="t" anchorCtr="0">
            <a:noAutofit/>
          </a:bodyPr>
          <a:lstStyle>
            <a:lvl1pPr marL="457200" lvl="0" indent="-355600">
              <a:lnSpc>
                <a:spcPct val="100000"/>
              </a:lnSpc>
              <a:spcBef>
                <a:spcPts val="0"/>
              </a:spcBef>
              <a:spcAft>
                <a:spcPts val="0"/>
              </a:spcAft>
              <a:buClr>
                <a:schemeClr val="dk1"/>
              </a:buClr>
              <a:buSzPts val="2000"/>
              <a:buFont typeface="Inter"/>
              <a:buChar char="●"/>
              <a:defRPr sz="2000">
                <a:solidFill>
                  <a:schemeClr val="dk1"/>
                </a:solidFill>
                <a:latin typeface="Inter"/>
                <a:ea typeface="Inter"/>
                <a:cs typeface="Inter"/>
                <a:sym typeface="Inter"/>
              </a:defRPr>
            </a:lvl1pPr>
            <a:lvl2pPr marL="914400" lvl="1"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2pPr>
            <a:lvl3pPr marL="1371600" lvl="2"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3pPr>
            <a:lvl4pPr marL="1828800" lvl="3"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4pPr>
            <a:lvl5pPr marL="2286000" lvl="4"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5pPr>
            <a:lvl6pPr marL="2743200" lvl="5"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6pPr>
            <a:lvl7pPr marL="3200400" lvl="6"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7pPr>
            <a:lvl8pPr marL="3657600" lvl="7"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8pPr>
            <a:lvl9pPr marL="4114800" lvl="8" indent="-342900">
              <a:lnSpc>
                <a:spcPct val="100000"/>
              </a:lnSpc>
              <a:spcBef>
                <a:spcPts val="0"/>
              </a:spcBef>
              <a:spcAft>
                <a:spcPts val="0"/>
              </a:spcAft>
              <a:buClr>
                <a:schemeClr val="accent3"/>
              </a:buClr>
              <a:buSzPts val="1800"/>
              <a:buFont typeface="Inter"/>
              <a:buChar char="■"/>
              <a:defRPr sz="1800">
                <a:solidFill>
                  <a:schemeClr val="accent3"/>
                </a:solidFill>
                <a:latin typeface="Inter"/>
                <a:ea typeface="Inter"/>
                <a:cs typeface="Inter"/>
                <a:sym typeface="Inter"/>
              </a:defRPr>
            </a:lvl9pPr>
          </a:lstStyle>
          <a:p>
            <a:endParaRPr/>
          </a:p>
        </p:txBody>
      </p:sp>
      <p:pic>
        <p:nvPicPr>
          <p:cNvPr id="7" name="Google Shape;7;p1"/>
          <p:cNvPicPr preferRelativeResize="0"/>
          <p:nvPr/>
        </p:nvPicPr>
        <p:blipFill>
          <a:blip r:embed="rId13">
            <a:alphaModFix/>
          </a:blip>
          <a:stretch>
            <a:fillRect/>
          </a:stretch>
        </p:blipFill>
        <p:spPr>
          <a:xfrm>
            <a:off x="10930701" y="6416502"/>
            <a:ext cx="1261300" cy="441500"/>
          </a:xfrm>
          <a:prstGeom prst="rect">
            <a:avLst/>
          </a:prstGeom>
          <a:noFill/>
          <a:ln>
            <a:noFill/>
          </a:ln>
        </p:spPr>
      </p:pic>
      <p:pic>
        <p:nvPicPr>
          <p:cNvPr id="9" name="Google Shape;9;p1"/>
          <p:cNvPicPr preferRelativeResize="0"/>
          <p:nvPr/>
        </p:nvPicPr>
        <p:blipFill>
          <a:blip r:embed="rId14">
            <a:alphaModFix/>
          </a:blip>
          <a:stretch>
            <a:fillRect/>
          </a:stretch>
        </p:blipFill>
        <p:spPr>
          <a:xfrm>
            <a:off x="84600" y="75633"/>
            <a:ext cx="862867" cy="862867"/>
          </a:xfrm>
          <a:prstGeom prst="rect">
            <a:avLst/>
          </a:prstGeom>
          <a:noFill/>
          <a:ln>
            <a:noFill/>
          </a:ln>
        </p:spPr>
      </p:pic>
      <p:sp>
        <p:nvSpPr>
          <p:cNvPr id="10" name="Google Shape;10;p1"/>
          <p:cNvSpPr txBox="1">
            <a:spLocks noGrp="1"/>
          </p:cNvSpPr>
          <p:nvPr>
            <p:ph type="title"/>
          </p:nvPr>
        </p:nvSpPr>
        <p:spPr>
          <a:xfrm>
            <a:off x="1109472" y="134112"/>
            <a:ext cx="106016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Inter"/>
              <a:buNone/>
              <a:defRPr sz="2800" b="1">
                <a:solidFill>
                  <a:schemeClr val="dk1"/>
                </a:solidFill>
                <a:latin typeface="Inter"/>
                <a:ea typeface="Inter"/>
                <a:cs typeface="Inter"/>
                <a:sym typeface="Int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pic>
        <p:nvPicPr>
          <p:cNvPr id="12" name="Google Shape;12;p1"/>
          <p:cNvPicPr preferRelativeResize="0"/>
          <p:nvPr/>
        </p:nvPicPr>
        <p:blipFill rotWithShape="1">
          <a:blip r:embed="rId15">
            <a:alphaModFix/>
          </a:blip>
          <a:srcRect r="31987"/>
          <a:stretch/>
        </p:blipFill>
        <p:spPr>
          <a:xfrm>
            <a:off x="110650" y="6481580"/>
            <a:ext cx="1439403" cy="271800"/>
          </a:xfrm>
          <a:prstGeom prst="rect">
            <a:avLst/>
          </a:prstGeom>
          <a:noFill/>
          <a:ln>
            <a:noFill/>
          </a:ln>
        </p:spPr>
      </p:pic>
    </p:spTree>
    <p:extLst>
      <p:ext uri="{BB962C8B-B14F-4D97-AF65-F5344CB8AC3E}">
        <p14:creationId xmlns:p14="http://schemas.microsoft.com/office/powerpoint/2010/main" val="597641305"/>
      </p:ext>
    </p:extLst>
  </p:cSld>
  <p:clrMap bg1="lt1" tx1="dk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59A3056-3BAB-AF0C-D6C0-8199A9A1EBF7}"/>
              </a:ext>
            </a:extLst>
          </p:cNvPr>
          <p:cNvGrpSpPr/>
          <p:nvPr/>
        </p:nvGrpSpPr>
        <p:grpSpPr>
          <a:xfrm>
            <a:off x="9638268" y="1670476"/>
            <a:ext cx="1779374" cy="3572686"/>
            <a:chOff x="9638268" y="2097514"/>
            <a:chExt cx="1779374" cy="3572686"/>
          </a:xfrm>
        </p:grpSpPr>
        <p:sp>
          <p:nvSpPr>
            <p:cNvPr id="5" name="Cloud 4">
              <a:extLst>
                <a:ext uri="{FF2B5EF4-FFF2-40B4-BE49-F238E27FC236}">
                  <a16:creationId xmlns:a16="http://schemas.microsoft.com/office/drawing/2014/main" id="{D4353F48-82BF-8C7D-B743-F5C52D8C0136}"/>
                </a:ext>
              </a:extLst>
            </p:cNvPr>
            <p:cNvSpPr/>
            <p:nvPr/>
          </p:nvSpPr>
          <p:spPr>
            <a:xfrm>
              <a:off x="9638268" y="2097514"/>
              <a:ext cx="1779373" cy="3572686"/>
            </a:xfrm>
            <a:prstGeom prst="cloud">
              <a:avLst/>
            </a:prstGeom>
            <a:noFill/>
            <a:ln w="285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accent4"/>
                </a:solidFill>
                <a:latin typeface="18 VAG Rounded Light   02390" pitchFamily="2" charset="0"/>
              </a:endParaRPr>
            </a:p>
          </p:txBody>
        </p:sp>
        <p:sp>
          <p:nvSpPr>
            <p:cNvPr id="10" name="TextBox 9">
              <a:extLst>
                <a:ext uri="{FF2B5EF4-FFF2-40B4-BE49-F238E27FC236}">
                  <a16:creationId xmlns:a16="http://schemas.microsoft.com/office/drawing/2014/main" id="{597AB62A-FEA8-79E5-9DE9-EA9239DF1D4B}"/>
                </a:ext>
              </a:extLst>
            </p:cNvPr>
            <p:cNvSpPr txBox="1"/>
            <p:nvPr/>
          </p:nvSpPr>
          <p:spPr>
            <a:xfrm>
              <a:off x="9638269" y="3560692"/>
              <a:ext cx="1779373" cy="646331"/>
            </a:xfrm>
            <a:prstGeom prst="rect">
              <a:avLst/>
            </a:prstGeom>
            <a:noFill/>
          </p:spPr>
          <p:txBody>
            <a:bodyPr wrap="square" rtlCol="0">
              <a:spAutoFit/>
            </a:bodyPr>
            <a:lstStyle/>
            <a:p>
              <a:pPr algn="ctr"/>
              <a:r>
                <a:rPr lang="en-US" sz="1800" dirty="0">
                  <a:solidFill>
                    <a:schemeClr val="bg1"/>
                  </a:solidFill>
                  <a:latin typeface="18 VAG Rounded Light   02390" pitchFamily="2" charset="0"/>
                </a:rPr>
                <a:t>Combinational logic</a:t>
              </a:r>
            </a:p>
          </p:txBody>
        </p:sp>
      </p:grpSp>
      <p:grpSp>
        <p:nvGrpSpPr>
          <p:cNvPr id="19" name="Group 18">
            <a:extLst>
              <a:ext uri="{FF2B5EF4-FFF2-40B4-BE49-F238E27FC236}">
                <a16:creationId xmlns:a16="http://schemas.microsoft.com/office/drawing/2014/main" id="{41917E3C-78E0-F667-5A79-08414A41C2CF}"/>
              </a:ext>
            </a:extLst>
          </p:cNvPr>
          <p:cNvGrpSpPr/>
          <p:nvPr/>
        </p:nvGrpSpPr>
        <p:grpSpPr>
          <a:xfrm>
            <a:off x="8365565" y="1837179"/>
            <a:ext cx="594362" cy="3231812"/>
            <a:chOff x="8365565" y="2264217"/>
            <a:chExt cx="594362" cy="3231812"/>
          </a:xfrm>
        </p:grpSpPr>
        <p:grpSp>
          <p:nvGrpSpPr>
            <p:cNvPr id="27" name="Group 26">
              <a:extLst>
                <a:ext uri="{FF2B5EF4-FFF2-40B4-BE49-F238E27FC236}">
                  <a16:creationId xmlns:a16="http://schemas.microsoft.com/office/drawing/2014/main" id="{5722050A-0552-9F73-8C2B-044FA134ECB5}"/>
                </a:ext>
              </a:extLst>
            </p:cNvPr>
            <p:cNvGrpSpPr/>
            <p:nvPr/>
          </p:nvGrpSpPr>
          <p:grpSpPr>
            <a:xfrm>
              <a:off x="8589264" y="2264217"/>
              <a:ext cx="370661" cy="643159"/>
              <a:chOff x="8439707" y="2607275"/>
              <a:chExt cx="370661" cy="643159"/>
            </a:xfrm>
          </p:grpSpPr>
          <p:sp>
            <p:nvSpPr>
              <p:cNvPr id="14" name="Rectangle 7">
                <a:extLst>
                  <a:ext uri="{FF2B5EF4-FFF2-40B4-BE49-F238E27FC236}">
                    <a16:creationId xmlns:a16="http://schemas.microsoft.com/office/drawing/2014/main" id="{4B9D2854-B788-5081-2DC1-2E215C14CA84}"/>
                  </a:ext>
                </a:extLst>
              </p:cNvPr>
              <p:cNvSpPr>
                <a:spLocks noChangeArrowheads="1"/>
              </p:cNvSpPr>
              <p:nvPr/>
            </p:nvSpPr>
            <p:spPr bwMode="auto">
              <a:xfrm>
                <a:off x="8439707" y="2607275"/>
                <a:ext cx="370661"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PC</a:t>
                </a:r>
              </a:p>
            </p:txBody>
          </p:sp>
          <p:sp>
            <p:nvSpPr>
              <p:cNvPr id="25" name="Line 18">
                <a:extLst>
                  <a:ext uri="{FF2B5EF4-FFF2-40B4-BE49-F238E27FC236}">
                    <a16:creationId xmlns:a16="http://schemas.microsoft.com/office/drawing/2014/main" id="{9BFC18F3-338F-3AF7-2CC5-6EA206BC8DED}"/>
                  </a:ext>
                </a:extLst>
              </p:cNvPr>
              <p:cNvSpPr>
                <a:spLocks noChangeShapeType="1"/>
              </p:cNvSpPr>
              <p:nvPr/>
            </p:nvSpPr>
            <p:spPr bwMode="auto">
              <a:xfrm flipV="1">
                <a:off x="8468480"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sp>
            <p:nvSpPr>
              <p:cNvPr id="26" name="Line 19">
                <a:extLst>
                  <a:ext uri="{FF2B5EF4-FFF2-40B4-BE49-F238E27FC236}">
                    <a16:creationId xmlns:a16="http://schemas.microsoft.com/office/drawing/2014/main" id="{8E7EF9EE-F4B1-2733-FDBF-6E76002DD5AB}"/>
                  </a:ext>
                </a:extLst>
              </p:cNvPr>
              <p:cNvSpPr>
                <a:spLocks noChangeShapeType="1"/>
              </p:cNvSpPr>
              <p:nvPr/>
            </p:nvSpPr>
            <p:spPr bwMode="auto">
              <a:xfrm>
                <a:off x="8516105"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grpSp>
        <p:sp>
          <p:nvSpPr>
            <p:cNvPr id="29" name="Rectangle 7">
              <a:extLst>
                <a:ext uri="{FF2B5EF4-FFF2-40B4-BE49-F238E27FC236}">
                  <a16:creationId xmlns:a16="http://schemas.microsoft.com/office/drawing/2014/main" id="{49CA6193-EB12-1521-540C-63931268AC12}"/>
                </a:ext>
              </a:extLst>
            </p:cNvPr>
            <p:cNvSpPr>
              <a:spLocks noChangeArrowheads="1"/>
            </p:cNvSpPr>
            <p:nvPr/>
          </p:nvSpPr>
          <p:spPr bwMode="auto">
            <a:xfrm>
              <a:off x="8365565" y="3127101"/>
              <a:ext cx="594360"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IMEM</a:t>
              </a:r>
            </a:p>
          </p:txBody>
        </p:sp>
        <p:grpSp>
          <p:nvGrpSpPr>
            <p:cNvPr id="32" name="Group 31">
              <a:extLst>
                <a:ext uri="{FF2B5EF4-FFF2-40B4-BE49-F238E27FC236}">
                  <a16:creationId xmlns:a16="http://schemas.microsoft.com/office/drawing/2014/main" id="{969F743A-49DE-1701-A77B-0A58303717CB}"/>
                </a:ext>
              </a:extLst>
            </p:cNvPr>
            <p:cNvGrpSpPr/>
            <p:nvPr/>
          </p:nvGrpSpPr>
          <p:grpSpPr>
            <a:xfrm>
              <a:off x="8365567" y="3989985"/>
              <a:ext cx="594360" cy="643159"/>
              <a:chOff x="8439707" y="2607275"/>
              <a:chExt cx="594360" cy="643159"/>
            </a:xfrm>
          </p:grpSpPr>
          <p:sp>
            <p:nvSpPr>
              <p:cNvPr id="33" name="Rectangle 7">
                <a:extLst>
                  <a:ext uri="{FF2B5EF4-FFF2-40B4-BE49-F238E27FC236}">
                    <a16:creationId xmlns:a16="http://schemas.microsoft.com/office/drawing/2014/main" id="{D3DDE0BF-D173-50F8-FDA8-4CF7D2E55A59}"/>
                  </a:ext>
                </a:extLst>
              </p:cNvPr>
              <p:cNvSpPr>
                <a:spLocks noChangeArrowheads="1"/>
              </p:cNvSpPr>
              <p:nvPr/>
            </p:nvSpPr>
            <p:spPr bwMode="auto">
              <a:xfrm>
                <a:off x="8439707" y="2607275"/>
                <a:ext cx="594360"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Reg[ ]</a:t>
                </a:r>
              </a:p>
            </p:txBody>
          </p:sp>
          <p:sp>
            <p:nvSpPr>
              <p:cNvPr id="34" name="Line 18">
                <a:extLst>
                  <a:ext uri="{FF2B5EF4-FFF2-40B4-BE49-F238E27FC236}">
                    <a16:creationId xmlns:a16="http://schemas.microsoft.com/office/drawing/2014/main" id="{9ACD16BA-7CCF-1038-C2F4-8E6EDEB86104}"/>
                  </a:ext>
                </a:extLst>
              </p:cNvPr>
              <p:cNvSpPr>
                <a:spLocks noChangeShapeType="1"/>
              </p:cNvSpPr>
              <p:nvPr/>
            </p:nvSpPr>
            <p:spPr bwMode="auto">
              <a:xfrm flipV="1">
                <a:off x="8468480"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sp>
            <p:nvSpPr>
              <p:cNvPr id="35" name="Line 19">
                <a:extLst>
                  <a:ext uri="{FF2B5EF4-FFF2-40B4-BE49-F238E27FC236}">
                    <a16:creationId xmlns:a16="http://schemas.microsoft.com/office/drawing/2014/main" id="{9DF4FC96-3FB0-710F-C380-8F24132A522D}"/>
                  </a:ext>
                </a:extLst>
              </p:cNvPr>
              <p:cNvSpPr>
                <a:spLocks noChangeShapeType="1"/>
              </p:cNvSpPr>
              <p:nvPr/>
            </p:nvSpPr>
            <p:spPr bwMode="auto">
              <a:xfrm>
                <a:off x="8516105"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grpSp>
        <p:grpSp>
          <p:nvGrpSpPr>
            <p:cNvPr id="36" name="Group 35">
              <a:extLst>
                <a:ext uri="{FF2B5EF4-FFF2-40B4-BE49-F238E27FC236}">
                  <a16:creationId xmlns:a16="http://schemas.microsoft.com/office/drawing/2014/main" id="{A3F1E124-B9D4-FB41-B56F-0F23DA6605C0}"/>
                </a:ext>
              </a:extLst>
            </p:cNvPr>
            <p:cNvGrpSpPr/>
            <p:nvPr/>
          </p:nvGrpSpPr>
          <p:grpSpPr>
            <a:xfrm>
              <a:off x="8365567" y="4852870"/>
              <a:ext cx="594360" cy="643159"/>
              <a:chOff x="8439707" y="2607275"/>
              <a:chExt cx="594360" cy="643159"/>
            </a:xfrm>
          </p:grpSpPr>
          <p:sp>
            <p:nvSpPr>
              <p:cNvPr id="37" name="Rectangle 7">
                <a:extLst>
                  <a:ext uri="{FF2B5EF4-FFF2-40B4-BE49-F238E27FC236}">
                    <a16:creationId xmlns:a16="http://schemas.microsoft.com/office/drawing/2014/main" id="{3D6E4EA0-0051-69B6-F958-B58195D91171}"/>
                  </a:ext>
                </a:extLst>
              </p:cNvPr>
              <p:cNvSpPr>
                <a:spLocks noChangeArrowheads="1"/>
              </p:cNvSpPr>
              <p:nvPr/>
            </p:nvSpPr>
            <p:spPr bwMode="auto">
              <a:xfrm>
                <a:off x="8439707" y="2607275"/>
                <a:ext cx="594360"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DMEM</a:t>
                </a:r>
              </a:p>
            </p:txBody>
          </p:sp>
          <p:sp>
            <p:nvSpPr>
              <p:cNvPr id="38" name="Line 18">
                <a:extLst>
                  <a:ext uri="{FF2B5EF4-FFF2-40B4-BE49-F238E27FC236}">
                    <a16:creationId xmlns:a16="http://schemas.microsoft.com/office/drawing/2014/main" id="{C4AEF9E9-D0D7-3CF1-1D34-4ABB0DD144F0}"/>
                  </a:ext>
                </a:extLst>
              </p:cNvPr>
              <p:cNvSpPr>
                <a:spLocks noChangeShapeType="1"/>
              </p:cNvSpPr>
              <p:nvPr/>
            </p:nvSpPr>
            <p:spPr bwMode="auto">
              <a:xfrm flipV="1">
                <a:off x="8468480"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sp>
            <p:nvSpPr>
              <p:cNvPr id="39" name="Line 19">
                <a:extLst>
                  <a:ext uri="{FF2B5EF4-FFF2-40B4-BE49-F238E27FC236}">
                    <a16:creationId xmlns:a16="http://schemas.microsoft.com/office/drawing/2014/main" id="{33F6A76C-CF06-EAF6-E1A8-553E973B77B7}"/>
                  </a:ext>
                </a:extLst>
              </p:cNvPr>
              <p:cNvSpPr>
                <a:spLocks noChangeShapeType="1"/>
              </p:cNvSpPr>
              <p:nvPr/>
            </p:nvSpPr>
            <p:spPr bwMode="auto">
              <a:xfrm>
                <a:off x="8516105"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grpSp>
      </p:grpSp>
      <p:grpSp>
        <p:nvGrpSpPr>
          <p:cNvPr id="13" name="Group 12">
            <a:extLst>
              <a:ext uri="{FF2B5EF4-FFF2-40B4-BE49-F238E27FC236}">
                <a16:creationId xmlns:a16="http://schemas.microsoft.com/office/drawing/2014/main" id="{CE372268-06D9-C326-FD7F-B80279303EB5}"/>
              </a:ext>
            </a:extLst>
          </p:cNvPr>
          <p:cNvGrpSpPr/>
          <p:nvPr/>
        </p:nvGrpSpPr>
        <p:grpSpPr>
          <a:xfrm>
            <a:off x="8959925" y="2158758"/>
            <a:ext cx="924304" cy="2588654"/>
            <a:chOff x="8959925" y="2158758"/>
            <a:chExt cx="924304" cy="2588654"/>
          </a:xfrm>
        </p:grpSpPr>
        <p:cxnSp>
          <p:nvCxnSpPr>
            <p:cNvPr id="53" name="Straight Arrow Connector 52">
              <a:extLst>
                <a:ext uri="{FF2B5EF4-FFF2-40B4-BE49-F238E27FC236}">
                  <a16:creationId xmlns:a16="http://schemas.microsoft.com/office/drawing/2014/main" id="{5C68DD61-A3E0-2AD7-3D86-2EEF5CFD8FC3}"/>
                </a:ext>
              </a:extLst>
            </p:cNvPr>
            <p:cNvCxnSpPr>
              <a:cxnSpLocks/>
              <a:stCxn id="14" idx="3"/>
            </p:cNvCxnSpPr>
            <p:nvPr/>
          </p:nvCxnSpPr>
          <p:spPr>
            <a:xfrm flipV="1">
              <a:off x="8959925" y="2158758"/>
              <a:ext cx="924304" cy="1"/>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4908FFA-C7DF-84F7-30CE-853E1F98890A}"/>
                </a:ext>
              </a:extLst>
            </p:cNvPr>
            <p:cNvCxnSpPr>
              <a:cxnSpLocks/>
              <a:stCxn id="33" idx="3"/>
            </p:cNvCxnSpPr>
            <p:nvPr/>
          </p:nvCxnSpPr>
          <p:spPr>
            <a:xfrm flipV="1">
              <a:off x="8959927" y="3884526"/>
              <a:ext cx="731520" cy="1"/>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B510008-9208-47B8-A7DE-D88888F4650D}"/>
                </a:ext>
              </a:extLst>
            </p:cNvPr>
            <p:cNvCxnSpPr>
              <a:cxnSpLocks/>
              <a:stCxn id="37" idx="3"/>
            </p:cNvCxnSpPr>
            <p:nvPr/>
          </p:nvCxnSpPr>
          <p:spPr>
            <a:xfrm flipV="1">
              <a:off x="8959927" y="4747410"/>
              <a:ext cx="924302" cy="2"/>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D656D351-9BEB-A4D9-8045-40A544A346DF}"/>
              </a:ext>
            </a:extLst>
          </p:cNvPr>
          <p:cNvGrpSpPr/>
          <p:nvPr/>
        </p:nvGrpSpPr>
        <p:grpSpPr>
          <a:xfrm>
            <a:off x="7724426" y="2480338"/>
            <a:ext cx="920477" cy="3563604"/>
            <a:chOff x="7724426" y="2907376"/>
            <a:chExt cx="920477" cy="3563604"/>
          </a:xfrm>
        </p:grpSpPr>
        <p:grpSp>
          <p:nvGrpSpPr>
            <p:cNvPr id="12" name="Group 11">
              <a:extLst>
                <a:ext uri="{FF2B5EF4-FFF2-40B4-BE49-F238E27FC236}">
                  <a16:creationId xmlns:a16="http://schemas.microsoft.com/office/drawing/2014/main" id="{8CB03659-CA2E-03E3-BF70-F62DB5E97B7C}"/>
                </a:ext>
              </a:extLst>
            </p:cNvPr>
            <p:cNvGrpSpPr/>
            <p:nvPr/>
          </p:nvGrpSpPr>
          <p:grpSpPr>
            <a:xfrm>
              <a:off x="7724426" y="5828429"/>
              <a:ext cx="631816" cy="642551"/>
              <a:chOff x="7724426" y="5828429"/>
              <a:chExt cx="631816" cy="642551"/>
            </a:xfrm>
          </p:grpSpPr>
          <p:sp>
            <p:nvSpPr>
              <p:cNvPr id="50" name="Freeform 49">
                <a:extLst>
                  <a:ext uri="{FF2B5EF4-FFF2-40B4-BE49-F238E27FC236}">
                    <a16:creationId xmlns:a16="http://schemas.microsoft.com/office/drawing/2014/main" id="{0F7FAFAE-6334-1613-AEB7-655E8FD2A471}"/>
                  </a:ext>
                </a:extLst>
              </p:cNvPr>
              <p:cNvSpPr/>
              <p:nvPr/>
            </p:nvSpPr>
            <p:spPr>
              <a:xfrm>
                <a:off x="7846087" y="5998282"/>
                <a:ext cx="403194" cy="234779"/>
              </a:xfrm>
              <a:custGeom>
                <a:avLst/>
                <a:gdLst>
                  <a:gd name="connsiteX0" fmla="*/ 0 w 2125362"/>
                  <a:gd name="connsiteY0" fmla="*/ 605481 h 617838"/>
                  <a:gd name="connsiteX1" fmla="*/ 160638 w 2125362"/>
                  <a:gd name="connsiteY1" fmla="*/ 0 h 617838"/>
                  <a:gd name="connsiteX2" fmla="*/ 1000897 w 2125362"/>
                  <a:gd name="connsiteY2" fmla="*/ 0 h 617838"/>
                  <a:gd name="connsiteX3" fmla="*/ 1186249 w 2125362"/>
                  <a:gd name="connsiteY3" fmla="*/ 605481 h 617838"/>
                  <a:gd name="connsiteX4" fmla="*/ 2038865 w 2125362"/>
                  <a:gd name="connsiteY4" fmla="*/ 617838 h 617838"/>
                  <a:gd name="connsiteX5" fmla="*/ 2125362 w 2125362"/>
                  <a:gd name="connsiteY5" fmla="*/ 247136 h 617838"/>
                  <a:gd name="connsiteX6" fmla="*/ 2125362 w 2125362"/>
                  <a:gd name="connsiteY6" fmla="*/ 247136 h 617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362" h="617838">
                    <a:moveTo>
                      <a:pt x="0" y="605481"/>
                    </a:moveTo>
                    <a:lnTo>
                      <a:pt x="160638" y="0"/>
                    </a:lnTo>
                    <a:lnTo>
                      <a:pt x="1000897" y="0"/>
                    </a:lnTo>
                    <a:lnTo>
                      <a:pt x="1186249" y="605481"/>
                    </a:lnTo>
                    <a:lnTo>
                      <a:pt x="2038865" y="617838"/>
                    </a:lnTo>
                    <a:lnTo>
                      <a:pt x="2125362" y="247136"/>
                    </a:lnTo>
                    <a:lnTo>
                      <a:pt x="2125362" y="247136"/>
                    </a:lnTo>
                  </a:path>
                </a:pathLst>
              </a:custGeom>
              <a:noFill/>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Rectangle 50">
                <a:extLst>
                  <a:ext uri="{FF2B5EF4-FFF2-40B4-BE49-F238E27FC236}">
                    <a16:creationId xmlns:a16="http://schemas.microsoft.com/office/drawing/2014/main" id="{3DBC9B3F-C9D6-6970-C152-DCF8CDD2DB63}"/>
                  </a:ext>
                </a:extLst>
              </p:cNvPr>
              <p:cNvSpPr/>
              <p:nvPr/>
            </p:nvSpPr>
            <p:spPr>
              <a:xfrm>
                <a:off x="7724426" y="5828429"/>
                <a:ext cx="631816" cy="642551"/>
              </a:xfrm>
              <a:prstGeom prst="rect">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b"/>
              <a:lstStyle/>
              <a:p>
                <a:pPr algn="ctr"/>
                <a:r>
                  <a:rPr lang="en-US" sz="1600" dirty="0" err="1">
                    <a:solidFill>
                      <a:schemeClr val="accent6"/>
                    </a:solidFill>
                    <a:latin typeface="18 VAG Rounded Light   02390" pitchFamily="2" charset="0"/>
                  </a:rPr>
                  <a:t>clk</a:t>
                </a:r>
                <a:endParaRPr lang="en-US" sz="1600" dirty="0">
                  <a:solidFill>
                    <a:schemeClr val="accent6"/>
                  </a:solidFill>
                  <a:latin typeface="18 VAG Rounded Light   02390" pitchFamily="2" charset="0"/>
                </a:endParaRPr>
              </a:p>
            </p:txBody>
          </p:sp>
        </p:grpSp>
        <p:grpSp>
          <p:nvGrpSpPr>
            <p:cNvPr id="16" name="Group 15">
              <a:extLst>
                <a:ext uri="{FF2B5EF4-FFF2-40B4-BE49-F238E27FC236}">
                  <a16:creationId xmlns:a16="http://schemas.microsoft.com/office/drawing/2014/main" id="{18012BC5-670A-0EAA-FF7C-1DCCA50BA72B}"/>
                </a:ext>
              </a:extLst>
            </p:cNvPr>
            <p:cNvGrpSpPr/>
            <p:nvPr/>
          </p:nvGrpSpPr>
          <p:grpSpPr>
            <a:xfrm>
              <a:off x="8171846" y="2907376"/>
              <a:ext cx="473057" cy="2916455"/>
              <a:chOff x="8171846" y="2907376"/>
              <a:chExt cx="473057" cy="2916455"/>
            </a:xfrm>
          </p:grpSpPr>
          <p:sp>
            <p:nvSpPr>
              <p:cNvPr id="80" name="Freeform 79">
                <a:extLst>
                  <a:ext uri="{FF2B5EF4-FFF2-40B4-BE49-F238E27FC236}">
                    <a16:creationId xmlns:a16="http://schemas.microsoft.com/office/drawing/2014/main" id="{C5C54F5E-0DAF-1904-610A-887E8604ACCF}"/>
                  </a:ext>
                </a:extLst>
              </p:cNvPr>
              <p:cNvSpPr/>
              <p:nvPr/>
            </p:nvSpPr>
            <p:spPr>
              <a:xfrm>
                <a:off x="8173265" y="2907376"/>
                <a:ext cx="471638" cy="2916455"/>
              </a:xfrm>
              <a:custGeom>
                <a:avLst/>
                <a:gdLst>
                  <a:gd name="connsiteX0" fmla="*/ 0 w 471638"/>
                  <a:gd name="connsiteY0" fmla="*/ 2916455 h 2916455"/>
                  <a:gd name="connsiteX1" fmla="*/ 0 w 471638"/>
                  <a:gd name="connsiteY1" fmla="*/ 105878 h 2916455"/>
                  <a:gd name="connsiteX2" fmla="*/ 471638 w 471638"/>
                  <a:gd name="connsiteY2" fmla="*/ 105878 h 2916455"/>
                  <a:gd name="connsiteX3" fmla="*/ 471638 w 471638"/>
                  <a:gd name="connsiteY3" fmla="*/ 0 h 2916455"/>
                </a:gdLst>
                <a:ahLst/>
                <a:cxnLst>
                  <a:cxn ang="0">
                    <a:pos x="connsiteX0" y="connsiteY0"/>
                  </a:cxn>
                  <a:cxn ang="0">
                    <a:pos x="connsiteX1" y="connsiteY1"/>
                  </a:cxn>
                  <a:cxn ang="0">
                    <a:pos x="connsiteX2" y="connsiteY2"/>
                  </a:cxn>
                  <a:cxn ang="0">
                    <a:pos x="connsiteX3" y="connsiteY3"/>
                  </a:cxn>
                </a:cxnLst>
                <a:rect l="l" t="t" r="r" b="b"/>
                <a:pathLst>
                  <a:path w="471638" h="2916455">
                    <a:moveTo>
                      <a:pt x="0" y="2916455"/>
                    </a:moveTo>
                    <a:lnTo>
                      <a:pt x="0" y="105878"/>
                    </a:lnTo>
                    <a:lnTo>
                      <a:pt x="471638" y="105878"/>
                    </a:lnTo>
                    <a:lnTo>
                      <a:pt x="471638" y="0"/>
                    </a:lnTo>
                  </a:path>
                </a:pathLst>
              </a:custGeom>
              <a:noFill/>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Freeform 82">
                <a:extLst>
                  <a:ext uri="{FF2B5EF4-FFF2-40B4-BE49-F238E27FC236}">
                    <a16:creationId xmlns:a16="http://schemas.microsoft.com/office/drawing/2014/main" id="{F2CD0250-B10E-43EF-8384-88B67D7F090E}"/>
                  </a:ext>
                </a:extLst>
              </p:cNvPr>
              <p:cNvSpPr/>
              <p:nvPr/>
            </p:nvSpPr>
            <p:spPr>
              <a:xfrm>
                <a:off x="8171847" y="4632858"/>
                <a:ext cx="270117" cy="125656"/>
              </a:xfrm>
              <a:custGeom>
                <a:avLst/>
                <a:gdLst>
                  <a:gd name="connsiteX0" fmla="*/ 0 w 279133"/>
                  <a:gd name="connsiteY0" fmla="*/ 86628 h 86628"/>
                  <a:gd name="connsiteX1" fmla="*/ 279133 w 279133"/>
                  <a:gd name="connsiteY1" fmla="*/ 86628 h 86628"/>
                  <a:gd name="connsiteX2" fmla="*/ 279133 w 279133"/>
                  <a:gd name="connsiteY2" fmla="*/ 0 h 86628"/>
                </a:gdLst>
                <a:ahLst/>
                <a:cxnLst>
                  <a:cxn ang="0">
                    <a:pos x="connsiteX0" y="connsiteY0"/>
                  </a:cxn>
                  <a:cxn ang="0">
                    <a:pos x="connsiteX1" y="connsiteY1"/>
                  </a:cxn>
                  <a:cxn ang="0">
                    <a:pos x="connsiteX2" y="connsiteY2"/>
                  </a:cxn>
                </a:cxnLst>
                <a:rect l="l" t="t" r="r" b="b"/>
                <a:pathLst>
                  <a:path w="279133" h="86628">
                    <a:moveTo>
                      <a:pt x="0" y="86628"/>
                    </a:moveTo>
                    <a:lnTo>
                      <a:pt x="279133" y="86628"/>
                    </a:lnTo>
                    <a:lnTo>
                      <a:pt x="279133" y="0"/>
                    </a:lnTo>
                  </a:path>
                </a:pathLst>
              </a:custGeom>
              <a:noFill/>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reeform 83">
                <a:extLst>
                  <a:ext uri="{FF2B5EF4-FFF2-40B4-BE49-F238E27FC236}">
                    <a16:creationId xmlns:a16="http://schemas.microsoft.com/office/drawing/2014/main" id="{976869E6-E4FC-E4A0-2A77-FB845A66D51C}"/>
                  </a:ext>
                </a:extLst>
              </p:cNvPr>
              <p:cNvSpPr/>
              <p:nvPr/>
            </p:nvSpPr>
            <p:spPr>
              <a:xfrm>
                <a:off x="8171846" y="5496633"/>
                <a:ext cx="270117" cy="125656"/>
              </a:xfrm>
              <a:custGeom>
                <a:avLst/>
                <a:gdLst>
                  <a:gd name="connsiteX0" fmla="*/ 0 w 279133"/>
                  <a:gd name="connsiteY0" fmla="*/ 86628 h 86628"/>
                  <a:gd name="connsiteX1" fmla="*/ 279133 w 279133"/>
                  <a:gd name="connsiteY1" fmla="*/ 86628 h 86628"/>
                  <a:gd name="connsiteX2" fmla="*/ 279133 w 279133"/>
                  <a:gd name="connsiteY2" fmla="*/ 0 h 86628"/>
                </a:gdLst>
                <a:ahLst/>
                <a:cxnLst>
                  <a:cxn ang="0">
                    <a:pos x="connsiteX0" y="connsiteY0"/>
                  </a:cxn>
                  <a:cxn ang="0">
                    <a:pos x="connsiteX1" y="connsiteY1"/>
                  </a:cxn>
                  <a:cxn ang="0">
                    <a:pos x="connsiteX2" y="connsiteY2"/>
                  </a:cxn>
                </a:cxnLst>
                <a:rect l="l" t="t" r="r" b="b"/>
                <a:pathLst>
                  <a:path w="279133" h="86628">
                    <a:moveTo>
                      <a:pt x="0" y="86628"/>
                    </a:moveTo>
                    <a:lnTo>
                      <a:pt x="279133" y="86628"/>
                    </a:lnTo>
                    <a:lnTo>
                      <a:pt x="279133" y="0"/>
                    </a:lnTo>
                  </a:path>
                </a:pathLst>
              </a:custGeom>
              <a:noFill/>
              <a:ln w="190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5" name="Group 14">
            <a:extLst>
              <a:ext uri="{FF2B5EF4-FFF2-40B4-BE49-F238E27FC236}">
                <a16:creationId xmlns:a16="http://schemas.microsoft.com/office/drawing/2014/main" id="{2999F465-5ACF-D97E-6E8A-BE540DE204B7}"/>
              </a:ext>
            </a:extLst>
          </p:cNvPr>
          <p:cNvGrpSpPr/>
          <p:nvPr/>
        </p:nvGrpSpPr>
        <p:grpSpPr>
          <a:xfrm>
            <a:off x="7768046" y="879248"/>
            <a:ext cx="4136571" cy="3875314"/>
            <a:chOff x="7768046" y="1306286"/>
            <a:chExt cx="4136571" cy="3875314"/>
          </a:xfrm>
        </p:grpSpPr>
        <p:sp>
          <p:nvSpPr>
            <p:cNvPr id="72" name="Freeform 71">
              <a:extLst>
                <a:ext uri="{FF2B5EF4-FFF2-40B4-BE49-F238E27FC236}">
                  <a16:creationId xmlns:a16="http://schemas.microsoft.com/office/drawing/2014/main" id="{502248CB-761B-7FB3-7EC1-1F213861815B}"/>
                </a:ext>
              </a:extLst>
            </p:cNvPr>
            <p:cNvSpPr/>
            <p:nvPr/>
          </p:nvSpPr>
          <p:spPr>
            <a:xfrm>
              <a:off x="8068235" y="1613647"/>
              <a:ext cx="3517751" cy="1850315"/>
            </a:xfrm>
            <a:custGeom>
              <a:avLst/>
              <a:gdLst>
                <a:gd name="connsiteX0" fmla="*/ 3313356 w 3517751"/>
                <a:gd name="connsiteY0" fmla="*/ 1839558 h 1850315"/>
                <a:gd name="connsiteX1" fmla="*/ 3517751 w 3517751"/>
                <a:gd name="connsiteY1" fmla="*/ 1850315 h 1850315"/>
                <a:gd name="connsiteX2" fmla="*/ 3517751 w 3517751"/>
                <a:gd name="connsiteY2" fmla="*/ 0 h 1850315"/>
                <a:gd name="connsiteX3" fmla="*/ 0 w 3517751"/>
                <a:gd name="connsiteY3" fmla="*/ 0 h 1850315"/>
                <a:gd name="connsiteX4" fmla="*/ 0 w 3517751"/>
                <a:gd name="connsiteY4" fmla="*/ 1850315 h 1850315"/>
                <a:gd name="connsiteX5" fmla="*/ 279699 w 3517751"/>
                <a:gd name="connsiteY5" fmla="*/ 1850315 h 185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17751" h="1850315">
                  <a:moveTo>
                    <a:pt x="3313356" y="1839558"/>
                  </a:moveTo>
                  <a:lnTo>
                    <a:pt x="3517751" y="1850315"/>
                  </a:lnTo>
                  <a:lnTo>
                    <a:pt x="3517751" y="0"/>
                  </a:lnTo>
                  <a:lnTo>
                    <a:pt x="0" y="0"/>
                  </a:lnTo>
                  <a:lnTo>
                    <a:pt x="0" y="1850315"/>
                  </a:lnTo>
                  <a:lnTo>
                    <a:pt x="279699" y="1850315"/>
                  </a:lnTo>
                </a:path>
              </a:pathLst>
            </a:custGeom>
            <a:noFill/>
            <a:ln w="28575">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Freeform 73">
              <a:extLst>
                <a:ext uri="{FF2B5EF4-FFF2-40B4-BE49-F238E27FC236}">
                  <a16:creationId xmlns:a16="http://schemas.microsoft.com/office/drawing/2014/main" id="{5056FD31-614C-3174-75DE-1E412AB27D4F}"/>
                </a:ext>
              </a:extLst>
            </p:cNvPr>
            <p:cNvSpPr/>
            <p:nvPr/>
          </p:nvSpPr>
          <p:spPr>
            <a:xfrm>
              <a:off x="7933509" y="1454331"/>
              <a:ext cx="3840480" cy="2856412"/>
            </a:xfrm>
            <a:custGeom>
              <a:avLst/>
              <a:gdLst>
                <a:gd name="connsiteX0" fmla="*/ 3448594 w 3840480"/>
                <a:gd name="connsiteY0" fmla="*/ 2847703 h 2856412"/>
                <a:gd name="connsiteX1" fmla="*/ 3840480 w 3840480"/>
                <a:gd name="connsiteY1" fmla="*/ 2847703 h 2856412"/>
                <a:gd name="connsiteX2" fmla="*/ 3840480 w 3840480"/>
                <a:gd name="connsiteY2" fmla="*/ 0 h 2856412"/>
                <a:gd name="connsiteX3" fmla="*/ 0 w 3840480"/>
                <a:gd name="connsiteY3" fmla="*/ 0 h 2856412"/>
                <a:gd name="connsiteX4" fmla="*/ 0 w 3840480"/>
                <a:gd name="connsiteY4" fmla="*/ 2856412 h 2856412"/>
                <a:gd name="connsiteX5" fmla="*/ 409302 w 3840480"/>
                <a:gd name="connsiteY5" fmla="*/ 2856412 h 2856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40480" h="2856412">
                  <a:moveTo>
                    <a:pt x="3448594" y="2847703"/>
                  </a:moveTo>
                  <a:lnTo>
                    <a:pt x="3840480" y="2847703"/>
                  </a:lnTo>
                  <a:lnTo>
                    <a:pt x="3840480" y="0"/>
                  </a:lnTo>
                  <a:lnTo>
                    <a:pt x="0" y="0"/>
                  </a:lnTo>
                  <a:lnTo>
                    <a:pt x="0" y="2856412"/>
                  </a:lnTo>
                  <a:lnTo>
                    <a:pt x="409302" y="2856412"/>
                  </a:lnTo>
                </a:path>
              </a:pathLst>
            </a:custGeom>
            <a:noFill/>
            <a:ln w="28575">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 name="Freeform 74">
              <a:extLst>
                <a:ext uri="{FF2B5EF4-FFF2-40B4-BE49-F238E27FC236}">
                  <a16:creationId xmlns:a16="http://schemas.microsoft.com/office/drawing/2014/main" id="{47FE64B1-399D-5B26-C5AF-6981B35AF557}"/>
                </a:ext>
              </a:extLst>
            </p:cNvPr>
            <p:cNvSpPr/>
            <p:nvPr/>
          </p:nvSpPr>
          <p:spPr>
            <a:xfrm>
              <a:off x="7768046" y="1306286"/>
              <a:ext cx="4136571" cy="3875314"/>
            </a:xfrm>
            <a:custGeom>
              <a:avLst/>
              <a:gdLst>
                <a:gd name="connsiteX0" fmla="*/ 3326674 w 4136571"/>
                <a:gd name="connsiteY0" fmla="*/ 3866605 h 3875314"/>
                <a:gd name="connsiteX1" fmla="*/ 4136571 w 4136571"/>
                <a:gd name="connsiteY1" fmla="*/ 3866605 h 3875314"/>
                <a:gd name="connsiteX2" fmla="*/ 4136571 w 4136571"/>
                <a:gd name="connsiteY2" fmla="*/ 0 h 3875314"/>
                <a:gd name="connsiteX3" fmla="*/ 0 w 4136571"/>
                <a:gd name="connsiteY3" fmla="*/ 0 h 3875314"/>
                <a:gd name="connsiteX4" fmla="*/ 0 w 4136571"/>
                <a:gd name="connsiteY4" fmla="*/ 3875314 h 3875314"/>
                <a:gd name="connsiteX5" fmla="*/ 583474 w 4136571"/>
                <a:gd name="connsiteY5" fmla="*/ 3875314 h 387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6571" h="3875314">
                  <a:moveTo>
                    <a:pt x="3326674" y="3866605"/>
                  </a:moveTo>
                  <a:lnTo>
                    <a:pt x="4136571" y="3866605"/>
                  </a:lnTo>
                  <a:lnTo>
                    <a:pt x="4136571" y="0"/>
                  </a:lnTo>
                  <a:lnTo>
                    <a:pt x="0" y="0"/>
                  </a:lnTo>
                  <a:lnTo>
                    <a:pt x="0" y="3875314"/>
                  </a:lnTo>
                  <a:lnTo>
                    <a:pt x="583474" y="3875314"/>
                  </a:lnTo>
                </a:path>
              </a:pathLst>
            </a:custGeom>
            <a:noFill/>
            <a:ln w="28575">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Freeform 76">
              <a:extLst>
                <a:ext uri="{FF2B5EF4-FFF2-40B4-BE49-F238E27FC236}">
                  <a16:creationId xmlns:a16="http://schemas.microsoft.com/office/drawing/2014/main" id="{64558499-02B4-7536-B8FC-44393F4094DE}"/>
                </a:ext>
              </a:extLst>
            </p:cNvPr>
            <p:cNvSpPr/>
            <p:nvPr/>
          </p:nvSpPr>
          <p:spPr>
            <a:xfrm>
              <a:off x="8247017" y="1741714"/>
              <a:ext cx="3169920" cy="853440"/>
            </a:xfrm>
            <a:custGeom>
              <a:avLst/>
              <a:gdLst>
                <a:gd name="connsiteX0" fmla="*/ 3013166 w 3169920"/>
                <a:gd name="connsiteY0" fmla="*/ 844732 h 853440"/>
                <a:gd name="connsiteX1" fmla="*/ 3169920 w 3169920"/>
                <a:gd name="connsiteY1" fmla="*/ 844732 h 853440"/>
                <a:gd name="connsiteX2" fmla="*/ 3169920 w 3169920"/>
                <a:gd name="connsiteY2" fmla="*/ 0 h 853440"/>
                <a:gd name="connsiteX3" fmla="*/ 0 w 3169920"/>
                <a:gd name="connsiteY3" fmla="*/ 0 h 853440"/>
                <a:gd name="connsiteX4" fmla="*/ 0 w 3169920"/>
                <a:gd name="connsiteY4" fmla="*/ 853440 h 853440"/>
                <a:gd name="connsiteX5" fmla="*/ 313509 w 3169920"/>
                <a:gd name="connsiteY5" fmla="*/ 853440 h 853440"/>
                <a:gd name="connsiteX6" fmla="*/ 313509 w 3169920"/>
                <a:gd name="connsiteY6" fmla="*/ 853440 h 853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9920" h="853440">
                  <a:moveTo>
                    <a:pt x="3013166" y="844732"/>
                  </a:moveTo>
                  <a:lnTo>
                    <a:pt x="3169920" y="844732"/>
                  </a:lnTo>
                  <a:lnTo>
                    <a:pt x="3169920" y="0"/>
                  </a:lnTo>
                  <a:lnTo>
                    <a:pt x="0" y="0"/>
                  </a:lnTo>
                  <a:lnTo>
                    <a:pt x="0" y="853440"/>
                  </a:lnTo>
                  <a:lnTo>
                    <a:pt x="313509" y="853440"/>
                  </a:lnTo>
                  <a:lnTo>
                    <a:pt x="313509" y="853440"/>
                  </a:lnTo>
                </a:path>
              </a:pathLst>
            </a:custGeom>
            <a:noFill/>
            <a:ln w="28575">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9" name="Straight Arrow Connector 8">
            <a:extLst>
              <a:ext uri="{FF2B5EF4-FFF2-40B4-BE49-F238E27FC236}">
                <a16:creationId xmlns:a16="http://schemas.microsoft.com/office/drawing/2014/main" id="{F4CA10C6-0AFE-EF55-4979-FD209E01477D}"/>
              </a:ext>
            </a:extLst>
          </p:cNvPr>
          <p:cNvCxnSpPr>
            <a:cxnSpLocks/>
          </p:cNvCxnSpPr>
          <p:nvPr/>
        </p:nvCxnSpPr>
        <p:spPr>
          <a:xfrm>
            <a:off x="8959924" y="3054444"/>
            <a:ext cx="731520" cy="0"/>
          </a:xfrm>
          <a:prstGeom prst="straightConnector1">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678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right)">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mph" presetSubtype="0" fill="hold" nodeType="clickEffect">
                                  <p:stCondLst>
                                    <p:cond delay="0"/>
                                  </p:stCondLst>
                                  <p:childTnLst>
                                    <p:animEffect transition="out" filter="fade">
                                      <p:cBhvr>
                                        <p:cTn id="24" dur="500" tmFilter="0, 0; .2, .5; .8, .5; 1, 0"/>
                                        <p:tgtEl>
                                          <p:spTgt spid="19"/>
                                        </p:tgtEl>
                                      </p:cBhvr>
                                    </p:animEffect>
                                    <p:animScale>
                                      <p:cBhvr>
                                        <p:cTn id="25" dur="250" autoRev="1" fill="hold"/>
                                        <p:tgtEl>
                                          <p:spTgt spid="19"/>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right)">
                                      <p:cBhvr>
                                        <p:cTn id="3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BC07A9B-EB02-BCD1-78C3-40250F70B0B2}"/>
              </a:ext>
            </a:extLst>
          </p:cNvPr>
          <p:cNvGrpSpPr/>
          <p:nvPr/>
        </p:nvGrpSpPr>
        <p:grpSpPr>
          <a:xfrm>
            <a:off x="1943765" y="1119763"/>
            <a:ext cx="370661" cy="643159"/>
            <a:chOff x="8439707" y="2607275"/>
            <a:chExt cx="370661" cy="643159"/>
          </a:xfrm>
        </p:grpSpPr>
        <p:sp>
          <p:nvSpPr>
            <p:cNvPr id="3" name="Rectangle 2">
              <a:extLst>
                <a:ext uri="{FF2B5EF4-FFF2-40B4-BE49-F238E27FC236}">
                  <a16:creationId xmlns:a16="http://schemas.microsoft.com/office/drawing/2014/main" id="{F824AE92-B837-C0C4-82A3-65D100CD061A}"/>
                </a:ext>
              </a:extLst>
            </p:cNvPr>
            <p:cNvSpPr>
              <a:spLocks noChangeArrowheads="1"/>
            </p:cNvSpPr>
            <p:nvPr/>
          </p:nvSpPr>
          <p:spPr bwMode="auto">
            <a:xfrm>
              <a:off x="8439707" y="2607275"/>
              <a:ext cx="370661" cy="643159"/>
            </a:xfrm>
            <a:prstGeom prst="rect">
              <a:avLst/>
            </a:prstGeom>
            <a:noFill/>
            <a:ln w="28575">
              <a:solidFill>
                <a:schemeClr val="bg1"/>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800" u="none" strike="noStrike" kern="0" cap="none" spc="0" normalizeH="0" baseline="0" noProof="0" dirty="0">
                  <a:ln>
                    <a:noFill/>
                  </a:ln>
                  <a:solidFill>
                    <a:schemeClr val="bg1"/>
                  </a:solidFill>
                  <a:effectLst/>
                  <a:uLnTx/>
                  <a:uFillTx/>
                  <a:latin typeface="18 VAG Rounded Light   02390" pitchFamily="2" charset="0"/>
                  <a:ea typeface="ＭＳ Ｐゴシック" charset="-128"/>
                  <a:cs typeface="ＭＳ Ｐゴシック" charset="-128"/>
                </a:rPr>
                <a:t>PC</a:t>
              </a:r>
            </a:p>
          </p:txBody>
        </p:sp>
        <p:sp>
          <p:nvSpPr>
            <p:cNvPr id="4" name="Line 18">
              <a:extLst>
                <a:ext uri="{FF2B5EF4-FFF2-40B4-BE49-F238E27FC236}">
                  <a16:creationId xmlns:a16="http://schemas.microsoft.com/office/drawing/2014/main" id="{D9C1A088-BC9D-59D3-9C4A-285DF76CC297}"/>
                </a:ext>
              </a:extLst>
            </p:cNvPr>
            <p:cNvSpPr>
              <a:spLocks noChangeShapeType="1"/>
            </p:cNvSpPr>
            <p:nvPr/>
          </p:nvSpPr>
          <p:spPr bwMode="auto">
            <a:xfrm flipV="1">
              <a:off x="8468480" y="3145263"/>
              <a:ext cx="47625" cy="95250"/>
            </a:xfrm>
            <a:prstGeom prst="line">
              <a:avLst/>
            </a:prstGeom>
            <a:noFill/>
            <a:ln w="19050" cap="rnd">
              <a:solidFill>
                <a:schemeClr val="bg1"/>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VAGRundschriftDLig" panose="00000400000000000000" pitchFamily="50" charset="0"/>
                <a:ea typeface="ＭＳ Ｐゴシック" charset="-128"/>
                <a:cs typeface="ＭＳ Ｐゴシック" charset="-128"/>
              </a:endParaRPr>
            </a:p>
          </p:txBody>
        </p:sp>
        <p:sp>
          <p:nvSpPr>
            <p:cNvPr id="5" name="Line 19">
              <a:extLst>
                <a:ext uri="{FF2B5EF4-FFF2-40B4-BE49-F238E27FC236}">
                  <a16:creationId xmlns:a16="http://schemas.microsoft.com/office/drawing/2014/main" id="{4BA640CF-2DD7-2910-AB07-31EE492063D1}"/>
                </a:ext>
              </a:extLst>
            </p:cNvPr>
            <p:cNvSpPr>
              <a:spLocks noChangeShapeType="1"/>
            </p:cNvSpPr>
            <p:nvPr/>
          </p:nvSpPr>
          <p:spPr bwMode="auto">
            <a:xfrm>
              <a:off x="8516105" y="3145263"/>
              <a:ext cx="47625" cy="95250"/>
            </a:xfrm>
            <a:prstGeom prst="line">
              <a:avLst/>
            </a:prstGeom>
            <a:noFill/>
            <a:ln w="19050" cap="rnd">
              <a:solidFill>
                <a:schemeClr val="bg1"/>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VAGRundschriftDLig" panose="00000400000000000000" pitchFamily="50" charset="0"/>
                <a:ea typeface="ＭＳ Ｐゴシック" charset="-128"/>
                <a:cs typeface="ＭＳ Ｐゴシック" charset="-128"/>
              </a:endParaRPr>
            </a:p>
          </p:txBody>
        </p:sp>
      </p:grpSp>
      <p:sp>
        <p:nvSpPr>
          <p:cNvPr id="6" name="Content Placeholder 2">
            <a:extLst>
              <a:ext uri="{FF2B5EF4-FFF2-40B4-BE49-F238E27FC236}">
                <a16:creationId xmlns:a16="http://schemas.microsoft.com/office/drawing/2014/main" id="{7B7D6892-61E7-9721-F039-05BE38AB63D5}"/>
              </a:ext>
            </a:extLst>
          </p:cNvPr>
          <p:cNvSpPr txBox="1">
            <a:spLocks/>
          </p:cNvSpPr>
          <p:nvPr/>
        </p:nvSpPr>
        <p:spPr>
          <a:xfrm>
            <a:off x="101905" y="953297"/>
            <a:ext cx="2016117" cy="537988"/>
          </a:xfrm>
          <a:prstGeom prst="rect">
            <a:avLst/>
          </a:prstGeom>
        </p:spPr>
        <p:txBody>
          <a:bodyPr vert="horz" lIns="91440" tIns="45720" rIns="91440" bIns="45720" rtlCol="0">
            <a:noAutofit/>
          </a:bodyPr>
          <a:lstStyle>
            <a:lvl1pPr marL="467772" indent="-383108" algn="l" defTabSz="914377" rtl="0" eaLnBrk="1" latinLnBrk="0" hangingPunct="1">
              <a:lnSpc>
                <a:spcPct val="100000"/>
              </a:lnSpc>
              <a:spcBef>
                <a:spcPts val="1000"/>
              </a:spcBef>
              <a:buClrTx/>
              <a:buSzPct val="95000"/>
              <a:buFont typeface="Wingdings" pitchFamily="2" charset="2"/>
              <a:buChar char="§"/>
              <a:tabLst/>
              <a:defRPr sz="3600" b="1" i="0" kern="1200">
                <a:ln>
                  <a:noFill/>
                </a:ln>
                <a:solidFill>
                  <a:schemeClr val="bg1">
                    <a:alpha val="99000"/>
                  </a:schemeClr>
                </a:solidFill>
                <a:latin typeface="18 VAG Rounded Bold   07390" pitchFamily="2" charset="0"/>
                <a:ea typeface="+mn-ea"/>
                <a:cs typeface="+mn-cs"/>
              </a:defRPr>
            </a:lvl1pPr>
            <a:lvl2pPr marL="768331" indent="-311143" algn="l" defTabSz="914377" rtl="0" eaLnBrk="1" latinLnBrk="0" hangingPunct="1">
              <a:lnSpc>
                <a:spcPct val="100000"/>
              </a:lnSpc>
              <a:spcBef>
                <a:spcPts val="500"/>
              </a:spcBef>
              <a:buSzPct val="90000"/>
              <a:buFont typeface=".Hiragino Kaku Gothic Interface W3"/>
              <a:buChar char="▫"/>
              <a:tabLst/>
              <a:defRPr sz="3200" b="0" i="0" kern="1200">
                <a:solidFill>
                  <a:schemeClr val="accent2"/>
                </a:solidFill>
                <a:latin typeface="18 VAG Rounded Light   02390" pitchFamily="2" charset="0"/>
                <a:ea typeface="+mn-ea"/>
                <a:cs typeface="+mn-cs"/>
              </a:defRPr>
            </a:lvl2pPr>
            <a:lvl3pPr marL="1066773" indent="-298443" algn="l" defTabSz="914377" rtl="0" eaLnBrk="1" latinLnBrk="0" hangingPunct="1">
              <a:lnSpc>
                <a:spcPct val="100000"/>
              </a:lnSpc>
              <a:spcBef>
                <a:spcPts val="500"/>
              </a:spcBef>
              <a:buFont typeface=".Hiragino Kaku Gothic Interface W3"/>
              <a:buChar char="▪"/>
              <a:tabLst/>
              <a:defRPr sz="2800" b="0" i="0" kern="1200">
                <a:solidFill>
                  <a:schemeClr val="accent1"/>
                </a:solidFill>
                <a:latin typeface="18 VAG Rounded Light   02390" pitchFamily="2" charset="0"/>
                <a:ea typeface="+mn-ea"/>
                <a:cs typeface="+mn-cs"/>
              </a:defRPr>
            </a:lvl3pPr>
            <a:lvl4pPr marL="1449881" indent="-298443" algn="l" defTabSz="914377" rtl="0" eaLnBrk="1" latinLnBrk="0" hangingPunct="1">
              <a:lnSpc>
                <a:spcPct val="100000"/>
              </a:lnSpc>
              <a:spcBef>
                <a:spcPts val="500"/>
              </a:spcBef>
              <a:buFont typeface="Arial" panose="020B0604020202020204" pitchFamily="34" charset="0"/>
              <a:buChar char="•"/>
              <a:tabLst/>
              <a:defRPr sz="2400" b="0" i="0" kern="1200">
                <a:solidFill>
                  <a:schemeClr val="accent3"/>
                </a:solidFill>
                <a:latin typeface="18 VAG Rounded Light   02390" pitchFamily="2" charset="0"/>
                <a:ea typeface="+mn-ea"/>
                <a:cs typeface="+mn-cs"/>
              </a:defRPr>
            </a:lvl4pPr>
            <a:lvl5pPr marL="1763140" indent="-226478" algn="l" defTabSz="914377" rtl="0" eaLnBrk="1" latinLnBrk="0" hangingPunct="1">
              <a:lnSpc>
                <a:spcPct val="100000"/>
              </a:lnSpc>
              <a:spcBef>
                <a:spcPts val="500"/>
              </a:spcBef>
              <a:buFont typeface="Arial" panose="020B0604020202020204" pitchFamily="34" charset="0"/>
              <a:buChar char="•"/>
              <a:tabLst/>
              <a:defRPr sz="2000" b="0" i="0" kern="1200">
                <a:solidFill>
                  <a:schemeClr val="bg2"/>
                </a:solidFill>
                <a:latin typeface="18 VAG Rounded Light   02390"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664" indent="0">
              <a:buNone/>
            </a:pPr>
            <a:r>
              <a:rPr lang="en-US" sz="2800" dirty="0">
                <a:solidFill>
                  <a:schemeClr val="bg1"/>
                </a:solidFill>
              </a:rPr>
              <a:t>Program Counter</a:t>
            </a:r>
          </a:p>
        </p:txBody>
      </p:sp>
      <p:grpSp>
        <p:nvGrpSpPr>
          <p:cNvPr id="7" name="Group 4">
            <a:extLst>
              <a:ext uri="{FF2B5EF4-FFF2-40B4-BE49-F238E27FC236}">
                <a16:creationId xmlns:a16="http://schemas.microsoft.com/office/drawing/2014/main" id="{2F7AB1B6-1BF0-8CC1-7EB3-E0CE74B1EF82}"/>
              </a:ext>
            </a:extLst>
          </p:cNvPr>
          <p:cNvGrpSpPr>
            <a:grpSpLocks/>
          </p:cNvGrpSpPr>
          <p:nvPr/>
        </p:nvGrpSpPr>
        <p:grpSpPr bwMode="auto">
          <a:xfrm>
            <a:off x="3006575" y="437367"/>
            <a:ext cx="2186986" cy="2007950"/>
            <a:chOff x="3888" y="1032"/>
            <a:chExt cx="1688" cy="1378"/>
          </a:xfrm>
        </p:grpSpPr>
        <p:sp>
          <p:nvSpPr>
            <p:cNvPr id="8" name="Rectangle 5">
              <a:extLst>
                <a:ext uri="{FF2B5EF4-FFF2-40B4-BE49-F238E27FC236}">
                  <a16:creationId xmlns:a16="http://schemas.microsoft.com/office/drawing/2014/main" id="{7B3D032C-0807-5B69-80AD-808531CC4D99}"/>
                </a:ext>
              </a:extLst>
            </p:cNvPr>
            <p:cNvSpPr>
              <a:spLocks noChangeArrowheads="1"/>
            </p:cNvSpPr>
            <p:nvPr/>
          </p:nvSpPr>
          <p:spPr bwMode="auto">
            <a:xfrm>
              <a:off x="4626" y="2224"/>
              <a:ext cx="243" cy="186"/>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err="1">
                  <a:ln>
                    <a:noFill/>
                  </a:ln>
                  <a:solidFill>
                    <a:schemeClr val="accent6"/>
                  </a:solidFill>
                  <a:effectLst/>
                  <a:uLnTx/>
                  <a:uFillTx/>
                  <a:latin typeface="18 VAG Rounded Light   02390" pitchFamily="2" charset="0"/>
                  <a:ea typeface="ＭＳ Ｐゴシック" charset="-128"/>
                  <a:cs typeface="ＭＳ Ｐゴシック" charset="-128"/>
                </a:rPr>
                <a:t>clk</a:t>
              </a:r>
              <a:endParaRPr kumimoji="0" lang="en-US" sz="1400" u="none" strike="noStrike" kern="0" cap="none" spc="0" normalizeH="0" baseline="0" noProof="0" dirty="0">
                <a:ln>
                  <a:noFill/>
                </a:ln>
                <a:solidFill>
                  <a:schemeClr val="accent6"/>
                </a:solidFill>
                <a:effectLst/>
                <a:uLnTx/>
                <a:uFillTx/>
                <a:latin typeface="18 VAG Rounded Light   02390" pitchFamily="2" charset="0"/>
                <a:ea typeface="ＭＳ Ｐゴシック" charset="-128"/>
                <a:cs typeface="ＭＳ Ｐゴシック" charset="-128"/>
              </a:endParaRPr>
            </a:p>
          </p:txBody>
        </p:sp>
        <p:sp>
          <p:nvSpPr>
            <p:cNvPr id="9" name="Rectangle 6">
              <a:extLst>
                <a:ext uri="{FF2B5EF4-FFF2-40B4-BE49-F238E27FC236}">
                  <a16:creationId xmlns:a16="http://schemas.microsoft.com/office/drawing/2014/main" id="{4AA2B475-89F2-8421-710E-78F8A8D84D44}"/>
                </a:ext>
              </a:extLst>
            </p:cNvPr>
            <p:cNvSpPr>
              <a:spLocks noChangeArrowheads="1"/>
            </p:cNvSpPr>
            <p:nvPr/>
          </p:nvSpPr>
          <p:spPr bwMode="auto">
            <a:xfrm>
              <a:off x="3888" y="1474"/>
              <a:ext cx="562" cy="207"/>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Data In</a:t>
              </a:r>
            </a:p>
          </p:txBody>
        </p:sp>
        <p:sp>
          <p:nvSpPr>
            <p:cNvPr id="10" name="Rectangle 7">
              <a:extLst>
                <a:ext uri="{FF2B5EF4-FFF2-40B4-BE49-F238E27FC236}">
                  <a16:creationId xmlns:a16="http://schemas.microsoft.com/office/drawing/2014/main" id="{3478DB28-80B0-721F-BB0D-5971BAC8F221}"/>
                </a:ext>
              </a:extLst>
            </p:cNvPr>
            <p:cNvSpPr>
              <a:spLocks noChangeArrowheads="1"/>
            </p:cNvSpPr>
            <p:nvPr/>
          </p:nvSpPr>
          <p:spPr bwMode="auto">
            <a:xfrm>
              <a:off x="4675" y="1374"/>
              <a:ext cx="166" cy="748"/>
            </a:xfrm>
            <a:prstGeom prst="rect">
              <a:avLst/>
            </a:prstGeom>
            <a:noFill/>
            <a:ln w="28575">
              <a:solidFill>
                <a:sysClr val="window" lastClr="FFFFFF"/>
              </a:solidFill>
              <a:miter lim="800000"/>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1" name="Line 8">
              <a:extLst>
                <a:ext uri="{FF2B5EF4-FFF2-40B4-BE49-F238E27FC236}">
                  <a16:creationId xmlns:a16="http://schemas.microsoft.com/office/drawing/2014/main" id="{DAFFCD89-4B01-8FED-2749-D93637D51571}"/>
                </a:ext>
              </a:extLst>
            </p:cNvPr>
            <p:cNvSpPr>
              <a:spLocks noChangeShapeType="1"/>
            </p:cNvSpPr>
            <p:nvPr/>
          </p:nvSpPr>
          <p:spPr bwMode="auto">
            <a:xfrm flipH="1">
              <a:off x="4752" y="2124"/>
              <a:ext cx="0" cy="126"/>
            </a:xfrm>
            <a:prstGeom prst="line">
              <a:avLst/>
            </a:prstGeom>
            <a:noFill/>
            <a:ln w="25400">
              <a:solidFill>
                <a:schemeClr val="accent6"/>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2" name="Rectangle 9">
              <a:extLst>
                <a:ext uri="{FF2B5EF4-FFF2-40B4-BE49-F238E27FC236}">
                  <a16:creationId xmlns:a16="http://schemas.microsoft.com/office/drawing/2014/main" id="{F23E7FA1-8484-28DF-4E24-F0EC433C0B1F}"/>
                </a:ext>
              </a:extLst>
            </p:cNvPr>
            <p:cNvSpPr>
              <a:spLocks noChangeArrowheads="1"/>
            </p:cNvSpPr>
            <p:nvPr/>
          </p:nvSpPr>
          <p:spPr bwMode="auto">
            <a:xfrm>
              <a:off x="4272" y="1032"/>
              <a:ext cx="912" cy="207"/>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u="none" strike="noStrike" kern="0" cap="none" spc="0" normalizeH="0" baseline="0" noProof="0" dirty="0">
                  <a:ln>
                    <a:noFill/>
                  </a:ln>
                  <a:solidFill>
                    <a:schemeClr val="accent3"/>
                  </a:solidFill>
                  <a:effectLst/>
                  <a:uLnTx/>
                  <a:uFillTx/>
                  <a:latin typeface="18 VAG Rounded Light   02390" pitchFamily="2" charset="0"/>
                  <a:ea typeface="ＭＳ Ｐゴシック" charset="-128"/>
                  <a:cs typeface="ＭＳ Ｐゴシック" charset="-128"/>
                </a:rPr>
                <a:t>Write Enable</a:t>
              </a:r>
            </a:p>
          </p:txBody>
        </p:sp>
        <p:sp>
          <p:nvSpPr>
            <p:cNvPr id="13" name="Line 10">
              <a:extLst>
                <a:ext uri="{FF2B5EF4-FFF2-40B4-BE49-F238E27FC236}">
                  <a16:creationId xmlns:a16="http://schemas.microsoft.com/office/drawing/2014/main" id="{86EE2122-ABC9-2FB8-5BE0-1A12F67C7667}"/>
                </a:ext>
              </a:extLst>
            </p:cNvPr>
            <p:cNvSpPr>
              <a:spLocks noChangeShapeType="1"/>
            </p:cNvSpPr>
            <p:nvPr/>
          </p:nvSpPr>
          <p:spPr bwMode="auto">
            <a:xfrm flipH="1">
              <a:off x="3937" y="1742"/>
              <a:ext cx="736" cy="0"/>
            </a:xfrm>
            <a:prstGeom prst="line">
              <a:avLst/>
            </a:prstGeom>
            <a:noFill/>
            <a:ln w="25400">
              <a:solidFill>
                <a:sysClr val="window" lastClr="FFFFFF"/>
              </a:solidFill>
              <a:round/>
              <a:headEnd type="triangle" w="lg" len="lg"/>
              <a:tailEnd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4" name="Line 11">
              <a:extLst>
                <a:ext uri="{FF2B5EF4-FFF2-40B4-BE49-F238E27FC236}">
                  <a16:creationId xmlns:a16="http://schemas.microsoft.com/office/drawing/2014/main" id="{637093EE-FFE6-EC31-880C-BFAC8AA229F0}"/>
                </a:ext>
              </a:extLst>
            </p:cNvPr>
            <p:cNvSpPr>
              <a:spLocks noChangeShapeType="1"/>
            </p:cNvSpPr>
            <p:nvPr/>
          </p:nvSpPr>
          <p:spPr bwMode="auto">
            <a:xfrm flipH="1">
              <a:off x="4277" y="1698"/>
              <a:ext cx="56" cy="88"/>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5" name="Rectangle 12">
              <a:extLst>
                <a:ext uri="{FF2B5EF4-FFF2-40B4-BE49-F238E27FC236}">
                  <a16:creationId xmlns:a16="http://schemas.microsoft.com/office/drawing/2014/main" id="{7152E830-CFF4-500C-FC1C-642EEFE23E2E}"/>
                </a:ext>
              </a:extLst>
            </p:cNvPr>
            <p:cNvSpPr>
              <a:spLocks noChangeArrowheads="1"/>
            </p:cNvSpPr>
            <p:nvPr/>
          </p:nvSpPr>
          <p:spPr bwMode="auto">
            <a:xfrm>
              <a:off x="4160" y="1776"/>
              <a:ext cx="207" cy="229"/>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N</a:t>
              </a:r>
            </a:p>
          </p:txBody>
        </p:sp>
        <p:sp>
          <p:nvSpPr>
            <p:cNvPr id="16" name="Line 13">
              <a:extLst>
                <a:ext uri="{FF2B5EF4-FFF2-40B4-BE49-F238E27FC236}">
                  <a16:creationId xmlns:a16="http://schemas.microsoft.com/office/drawing/2014/main" id="{DD78C34D-BCD1-C6B0-579A-D332D9B079DC}"/>
                </a:ext>
              </a:extLst>
            </p:cNvPr>
            <p:cNvSpPr>
              <a:spLocks noChangeShapeType="1"/>
            </p:cNvSpPr>
            <p:nvPr/>
          </p:nvSpPr>
          <p:spPr bwMode="auto">
            <a:xfrm>
              <a:off x="4848" y="1742"/>
              <a:ext cx="704"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7" name="Line 14">
              <a:extLst>
                <a:ext uri="{FF2B5EF4-FFF2-40B4-BE49-F238E27FC236}">
                  <a16:creationId xmlns:a16="http://schemas.microsoft.com/office/drawing/2014/main" id="{5E2ACB09-0924-A610-54B7-4D03A03DBD35}"/>
                </a:ext>
              </a:extLst>
            </p:cNvPr>
            <p:cNvSpPr>
              <a:spLocks noChangeShapeType="1"/>
            </p:cNvSpPr>
            <p:nvPr/>
          </p:nvSpPr>
          <p:spPr bwMode="auto">
            <a:xfrm flipH="1">
              <a:off x="5189" y="1698"/>
              <a:ext cx="56" cy="88"/>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8" name="Rectangle 15">
              <a:extLst>
                <a:ext uri="{FF2B5EF4-FFF2-40B4-BE49-F238E27FC236}">
                  <a16:creationId xmlns:a16="http://schemas.microsoft.com/office/drawing/2014/main" id="{9C6B343A-BF17-4267-0C16-AA6C5FD3C7E7}"/>
                </a:ext>
              </a:extLst>
            </p:cNvPr>
            <p:cNvSpPr>
              <a:spLocks noChangeArrowheads="1"/>
            </p:cNvSpPr>
            <p:nvPr/>
          </p:nvSpPr>
          <p:spPr bwMode="auto">
            <a:xfrm>
              <a:off x="5082" y="1776"/>
              <a:ext cx="207" cy="229"/>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8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N</a:t>
              </a:r>
            </a:p>
          </p:txBody>
        </p:sp>
        <p:sp>
          <p:nvSpPr>
            <p:cNvPr id="19" name="Rectangle 16">
              <a:extLst>
                <a:ext uri="{FF2B5EF4-FFF2-40B4-BE49-F238E27FC236}">
                  <a16:creationId xmlns:a16="http://schemas.microsoft.com/office/drawing/2014/main" id="{8D44A7BD-74CE-D81B-CE1F-858FEC380D89}"/>
                </a:ext>
              </a:extLst>
            </p:cNvPr>
            <p:cNvSpPr>
              <a:spLocks noChangeArrowheads="1"/>
            </p:cNvSpPr>
            <p:nvPr/>
          </p:nvSpPr>
          <p:spPr bwMode="auto">
            <a:xfrm>
              <a:off x="4896" y="1474"/>
              <a:ext cx="680" cy="207"/>
            </a:xfrm>
            <a:prstGeom prst="rect">
              <a:avLst/>
            </a:prstGeom>
            <a:noFill/>
            <a:ln w="12700">
              <a:noFill/>
              <a:miter lim="800000"/>
              <a:headEnd/>
              <a:tailEnd/>
            </a:ln>
          </p:spPr>
          <p:txBody>
            <a:bodyPr wrap="none" lIns="56555" tIns="27781" rIns="56555" bIns="27781">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6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Data Out</a:t>
              </a:r>
            </a:p>
          </p:txBody>
        </p:sp>
        <p:sp>
          <p:nvSpPr>
            <p:cNvPr id="20" name="Line 17">
              <a:extLst>
                <a:ext uri="{FF2B5EF4-FFF2-40B4-BE49-F238E27FC236}">
                  <a16:creationId xmlns:a16="http://schemas.microsoft.com/office/drawing/2014/main" id="{FD4F5E71-FBBD-C85B-C13E-9A89E69F76E6}"/>
                </a:ext>
              </a:extLst>
            </p:cNvPr>
            <p:cNvSpPr>
              <a:spLocks noChangeShapeType="1"/>
            </p:cNvSpPr>
            <p:nvPr/>
          </p:nvSpPr>
          <p:spPr bwMode="auto">
            <a:xfrm flipV="1">
              <a:off x="4761" y="1240"/>
              <a:ext cx="0" cy="126"/>
            </a:xfrm>
            <a:prstGeom prst="line">
              <a:avLst/>
            </a:prstGeom>
            <a:noFill/>
            <a:ln w="19050">
              <a:solidFill>
                <a:schemeClr val="accent3"/>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21" name="Line 18">
              <a:extLst>
                <a:ext uri="{FF2B5EF4-FFF2-40B4-BE49-F238E27FC236}">
                  <a16:creationId xmlns:a16="http://schemas.microsoft.com/office/drawing/2014/main" id="{2711ADCC-581E-A5E4-4795-DD6258FCA5A9}"/>
                </a:ext>
              </a:extLst>
            </p:cNvPr>
            <p:cNvSpPr>
              <a:spLocks noChangeShapeType="1"/>
            </p:cNvSpPr>
            <p:nvPr/>
          </p:nvSpPr>
          <p:spPr bwMode="auto">
            <a:xfrm flipV="1">
              <a:off x="4704" y="2016"/>
              <a:ext cx="48" cy="96"/>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22" name="Line 19">
              <a:extLst>
                <a:ext uri="{FF2B5EF4-FFF2-40B4-BE49-F238E27FC236}">
                  <a16:creationId xmlns:a16="http://schemas.microsoft.com/office/drawing/2014/main" id="{0F69269D-03C8-D5C4-3E8B-E228597D6D96}"/>
                </a:ext>
              </a:extLst>
            </p:cNvPr>
            <p:cNvSpPr>
              <a:spLocks noChangeShapeType="1"/>
            </p:cNvSpPr>
            <p:nvPr/>
          </p:nvSpPr>
          <p:spPr bwMode="auto">
            <a:xfrm>
              <a:off x="4752" y="2016"/>
              <a:ext cx="48" cy="96"/>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24" name="Group 23">
            <a:extLst>
              <a:ext uri="{FF2B5EF4-FFF2-40B4-BE49-F238E27FC236}">
                <a16:creationId xmlns:a16="http://schemas.microsoft.com/office/drawing/2014/main" id="{226CC032-F72A-4E40-991D-FB78DF71327C}"/>
              </a:ext>
            </a:extLst>
          </p:cNvPr>
          <p:cNvGrpSpPr/>
          <p:nvPr/>
        </p:nvGrpSpPr>
        <p:grpSpPr>
          <a:xfrm>
            <a:off x="1938083" y="4252743"/>
            <a:ext cx="594360" cy="643159"/>
            <a:chOff x="8439707" y="2607275"/>
            <a:chExt cx="594360" cy="643159"/>
          </a:xfrm>
        </p:grpSpPr>
        <p:sp>
          <p:nvSpPr>
            <p:cNvPr id="25" name="Rectangle 7">
              <a:extLst>
                <a:ext uri="{FF2B5EF4-FFF2-40B4-BE49-F238E27FC236}">
                  <a16:creationId xmlns:a16="http://schemas.microsoft.com/office/drawing/2014/main" id="{11F91C00-4741-EF04-3C33-44328FF01935}"/>
                </a:ext>
              </a:extLst>
            </p:cNvPr>
            <p:cNvSpPr>
              <a:spLocks noChangeArrowheads="1"/>
            </p:cNvSpPr>
            <p:nvPr/>
          </p:nvSpPr>
          <p:spPr bwMode="auto">
            <a:xfrm>
              <a:off x="8439707" y="2607275"/>
              <a:ext cx="594360"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Reg[ ]</a:t>
              </a:r>
            </a:p>
          </p:txBody>
        </p:sp>
        <p:sp>
          <p:nvSpPr>
            <p:cNvPr id="26" name="Line 18">
              <a:extLst>
                <a:ext uri="{FF2B5EF4-FFF2-40B4-BE49-F238E27FC236}">
                  <a16:creationId xmlns:a16="http://schemas.microsoft.com/office/drawing/2014/main" id="{C52F6633-29D5-E28D-8290-A78C45EF2417}"/>
                </a:ext>
              </a:extLst>
            </p:cNvPr>
            <p:cNvSpPr>
              <a:spLocks noChangeShapeType="1"/>
            </p:cNvSpPr>
            <p:nvPr/>
          </p:nvSpPr>
          <p:spPr bwMode="auto">
            <a:xfrm flipV="1">
              <a:off x="8468480"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sp>
          <p:nvSpPr>
            <p:cNvPr id="27" name="Line 19">
              <a:extLst>
                <a:ext uri="{FF2B5EF4-FFF2-40B4-BE49-F238E27FC236}">
                  <a16:creationId xmlns:a16="http://schemas.microsoft.com/office/drawing/2014/main" id="{4294D1BF-F7F6-1E4B-C0AF-85E0DE7C6E84}"/>
                </a:ext>
              </a:extLst>
            </p:cNvPr>
            <p:cNvSpPr>
              <a:spLocks noChangeShapeType="1"/>
            </p:cNvSpPr>
            <p:nvPr/>
          </p:nvSpPr>
          <p:spPr bwMode="auto">
            <a:xfrm>
              <a:off x="8516105" y="3145263"/>
              <a:ext cx="47625" cy="95250"/>
            </a:xfrm>
            <a:prstGeom prst="line">
              <a:avLst/>
            </a:prstGeom>
            <a:noFill/>
            <a:ln w="19050"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VAGRundschriftDLig" panose="00000400000000000000" pitchFamily="50" charset="0"/>
                <a:ea typeface="ＭＳ Ｐゴシック" charset="-128"/>
                <a:cs typeface="ＭＳ Ｐゴシック" charset="-128"/>
              </a:endParaRPr>
            </a:p>
          </p:txBody>
        </p:sp>
      </p:grpSp>
      <p:sp>
        <p:nvSpPr>
          <p:cNvPr id="28" name="Rectangle 27">
            <a:extLst>
              <a:ext uri="{FF2B5EF4-FFF2-40B4-BE49-F238E27FC236}">
                <a16:creationId xmlns:a16="http://schemas.microsoft.com/office/drawing/2014/main" id="{80479C3A-03FC-2F06-6D71-E5958AE8C882}"/>
              </a:ext>
            </a:extLst>
          </p:cNvPr>
          <p:cNvSpPr/>
          <p:nvPr/>
        </p:nvSpPr>
        <p:spPr>
          <a:xfrm>
            <a:off x="3627171" y="3704785"/>
            <a:ext cx="1531749" cy="2033452"/>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600" i="1" dirty="0" err="1">
                <a:solidFill>
                  <a:schemeClr val="bg1"/>
                </a:solidFill>
                <a:latin typeface="18 VAG Rounded Light   02390" pitchFamily="2" charset="0"/>
              </a:rPr>
              <a:t>wdata</a:t>
            </a:r>
            <a:endParaRPr lang="en-US" sz="1600" i="1" dirty="0">
              <a:solidFill>
                <a:schemeClr val="bg1"/>
              </a:solidFill>
              <a:latin typeface="18 VAG Rounded Light   02390" pitchFamily="2" charset="0"/>
            </a:endParaRPr>
          </a:p>
          <a:p>
            <a:pPr>
              <a:spcBef>
                <a:spcPts val="1000"/>
              </a:spcBef>
            </a:pPr>
            <a:r>
              <a:rPr lang="en-US" sz="1600" i="1" dirty="0" err="1">
                <a:solidFill>
                  <a:schemeClr val="bg1"/>
                </a:solidFill>
                <a:latin typeface="18 VAG Rounded Light   02390" pitchFamily="2" charset="0"/>
              </a:rPr>
              <a:t>rd</a:t>
            </a:r>
            <a:endParaRPr lang="en-US" sz="1600" i="1" dirty="0">
              <a:solidFill>
                <a:schemeClr val="bg1"/>
              </a:solidFill>
              <a:latin typeface="18 VAG Rounded Light   02390" pitchFamily="2" charset="0"/>
            </a:endParaRPr>
          </a:p>
          <a:p>
            <a:pPr>
              <a:spcBef>
                <a:spcPts val="400"/>
              </a:spcBef>
              <a:tabLst>
                <a:tab pos="1249363" algn="r"/>
              </a:tabLst>
            </a:pPr>
            <a:r>
              <a:rPr lang="en-US" sz="1600" i="1" dirty="0">
                <a:solidFill>
                  <a:schemeClr val="bg1"/>
                </a:solidFill>
                <a:latin typeface="18 VAG Rounded Light   02390" pitchFamily="2" charset="0"/>
              </a:rPr>
              <a:t>rs1	rdata1</a:t>
            </a:r>
          </a:p>
          <a:p>
            <a:pPr>
              <a:spcBef>
                <a:spcPts val="400"/>
              </a:spcBef>
              <a:tabLst>
                <a:tab pos="1249363" algn="r"/>
              </a:tabLst>
            </a:pPr>
            <a:r>
              <a:rPr lang="en-US" sz="1600" i="1" dirty="0">
                <a:solidFill>
                  <a:schemeClr val="bg1"/>
                </a:solidFill>
                <a:latin typeface="18 VAG Rounded Light   02390" pitchFamily="2" charset="0"/>
              </a:rPr>
              <a:t>rs2	</a:t>
            </a:r>
          </a:p>
          <a:p>
            <a:pPr>
              <a:spcBef>
                <a:spcPts val="400"/>
              </a:spcBef>
              <a:tabLst>
                <a:tab pos="1249363" algn="r"/>
              </a:tabLst>
            </a:pPr>
            <a:r>
              <a:rPr lang="en-US" sz="1600" i="1" dirty="0">
                <a:solidFill>
                  <a:schemeClr val="bg1"/>
                </a:solidFill>
                <a:latin typeface="18 VAG Rounded Light   02390" pitchFamily="2" charset="0"/>
              </a:rPr>
              <a:t>	rdata2</a:t>
            </a:r>
          </a:p>
          <a:p>
            <a:r>
              <a:rPr lang="en-US" sz="1800" b="1" dirty="0" err="1">
                <a:solidFill>
                  <a:schemeClr val="bg1"/>
                </a:solidFill>
                <a:latin typeface="Courier New" panose="02070309020205020404" pitchFamily="49" charset="0"/>
                <a:cs typeface="Courier New" panose="02070309020205020404" pitchFamily="49" charset="0"/>
              </a:rPr>
              <a:t>RegFile</a:t>
            </a:r>
            <a:endParaRPr lang="en-US" sz="1800" b="1" dirty="0">
              <a:solidFill>
                <a:schemeClr val="bg1"/>
              </a:solidFill>
              <a:latin typeface="Courier New" panose="02070309020205020404" pitchFamily="49" charset="0"/>
              <a:cs typeface="Courier New" panose="02070309020205020404" pitchFamily="49" charset="0"/>
            </a:endParaRPr>
          </a:p>
        </p:txBody>
      </p:sp>
      <p:sp>
        <p:nvSpPr>
          <p:cNvPr id="30" name="Isosceles Triangle 59">
            <a:extLst>
              <a:ext uri="{FF2B5EF4-FFF2-40B4-BE49-F238E27FC236}">
                <a16:creationId xmlns:a16="http://schemas.microsoft.com/office/drawing/2014/main" id="{C414A0E9-DE5B-8B92-ECD6-BBE59C12D188}"/>
              </a:ext>
            </a:extLst>
          </p:cNvPr>
          <p:cNvSpPr>
            <a:spLocks noChangeAspect="1"/>
          </p:cNvSpPr>
          <p:nvPr/>
        </p:nvSpPr>
        <p:spPr>
          <a:xfrm>
            <a:off x="4764513" y="5601321"/>
            <a:ext cx="182880" cy="142528"/>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sp>
        <p:nvSpPr>
          <p:cNvPr id="31" name="TextBox 30">
            <a:extLst>
              <a:ext uri="{FF2B5EF4-FFF2-40B4-BE49-F238E27FC236}">
                <a16:creationId xmlns:a16="http://schemas.microsoft.com/office/drawing/2014/main" id="{AADFBD99-CFA1-1269-D84E-0592AE68C88C}"/>
              </a:ext>
            </a:extLst>
          </p:cNvPr>
          <p:cNvSpPr txBox="1"/>
          <p:nvPr/>
        </p:nvSpPr>
        <p:spPr>
          <a:xfrm>
            <a:off x="4674800" y="5852785"/>
            <a:ext cx="341760" cy="261610"/>
          </a:xfrm>
          <a:prstGeom prst="rect">
            <a:avLst/>
          </a:prstGeom>
          <a:noFill/>
        </p:spPr>
        <p:txBody>
          <a:bodyPr wrap="none" rtlCol="0">
            <a:spAutoFit/>
          </a:bodyPr>
          <a:lstStyle/>
          <a:p>
            <a:pPr algn="l"/>
            <a:r>
              <a:rPr lang="en-US" sz="1100" dirty="0" err="1">
                <a:solidFill>
                  <a:schemeClr val="accent6"/>
                </a:solidFill>
                <a:latin typeface="18 VAG Rounded Light   02390" pitchFamily="2" charset="0"/>
              </a:rPr>
              <a:t>clk</a:t>
            </a:r>
            <a:endParaRPr lang="en-US" sz="1100" dirty="0">
              <a:solidFill>
                <a:schemeClr val="accent6"/>
              </a:solidFill>
              <a:latin typeface="18 VAG Rounded Light   02390" pitchFamily="2" charset="0"/>
            </a:endParaRPr>
          </a:p>
        </p:txBody>
      </p:sp>
      <p:cxnSp>
        <p:nvCxnSpPr>
          <p:cNvPr id="32" name="Straight Connector 31">
            <a:extLst>
              <a:ext uri="{FF2B5EF4-FFF2-40B4-BE49-F238E27FC236}">
                <a16:creationId xmlns:a16="http://schemas.microsoft.com/office/drawing/2014/main" id="{B14C7E73-BF8D-6AD6-85DD-BEAB4FFADA50}"/>
              </a:ext>
            </a:extLst>
          </p:cNvPr>
          <p:cNvCxnSpPr/>
          <p:nvPr/>
        </p:nvCxnSpPr>
        <p:spPr>
          <a:xfrm flipV="1">
            <a:off x="4845680" y="5734640"/>
            <a:ext cx="0" cy="118145"/>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9135453A-7FDE-D567-69B0-1EE535A8AC1E}"/>
              </a:ext>
            </a:extLst>
          </p:cNvPr>
          <p:cNvGrpSpPr/>
          <p:nvPr/>
        </p:nvGrpSpPr>
        <p:grpSpPr>
          <a:xfrm>
            <a:off x="5187089" y="4609517"/>
            <a:ext cx="640080" cy="385206"/>
            <a:chOff x="3112787" y="1608456"/>
            <a:chExt cx="640080" cy="385206"/>
          </a:xfrm>
        </p:grpSpPr>
        <p:sp>
          <p:nvSpPr>
            <p:cNvPr id="34" name="Line 13">
              <a:extLst>
                <a:ext uri="{FF2B5EF4-FFF2-40B4-BE49-F238E27FC236}">
                  <a16:creationId xmlns:a16="http://schemas.microsoft.com/office/drawing/2014/main" id="{B63795D0-7353-CE3E-9523-243D94BBE50C}"/>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35" name="Line 14">
              <a:extLst>
                <a:ext uri="{FF2B5EF4-FFF2-40B4-BE49-F238E27FC236}">
                  <a16:creationId xmlns:a16="http://schemas.microsoft.com/office/drawing/2014/main" id="{D2DC9F7F-BC29-0FDF-E43E-C27E1B1885E5}"/>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36" name="Rectangle 15">
              <a:extLst>
                <a:ext uri="{FF2B5EF4-FFF2-40B4-BE49-F238E27FC236}">
                  <a16:creationId xmlns:a16="http://schemas.microsoft.com/office/drawing/2014/main" id="{FF1EEA82-4AE3-6421-1C0E-58BE6196D52B}"/>
                </a:ext>
              </a:extLst>
            </p:cNvPr>
            <p:cNvSpPr>
              <a:spLocks noChangeArrowheads="1"/>
            </p:cNvSpPr>
            <p:nvPr/>
          </p:nvSpPr>
          <p:spPr bwMode="auto">
            <a:xfrm>
              <a:off x="3222919" y="1722114"/>
              <a:ext cx="306575"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grpSp>
        <p:nvGrpSpPr>
          <p:cNvPr id="37" name="Group 36">
            <a:extLst>
              <a:ext uri="{FF2B5EF4-FFF2-40B4-BE49-F238E27FC236}">
                <a16:creationId xmlns:a16="http://schemas.microsoft.com/office/drawing/2014/main" id="{C188DD90-AE84-4AFB-459D-360AA9FC32C2}"/>
              </a:ext>
            </a:extLst>
          </p:cNvPr>
          <p:cNvGrpSpPr/>
          <p:nvPr/>
        </p:nvGrpSpPr>
        <p:grpSpPr>
          <a:xfrm>
            <a:off x="2988367" y="3816714"/>
            <a:ext cx="640080" cy="385206"/>
            <a:chOff x="3112787" y="1608456"/>
            <a:chExt cx="640080" cy="385206"/>
          </a:xfrm>
        </p:grpSpPr>
        <p:sp>
          <p:nvSpPr>
            <p:cNvPr id="38" name="Line 13">
              <a:extLst>
                <a:ext uri="{FF2B5EF4-FFF2-40B4-BE49-F238E27FC236}">
                  <a16:creationId xmlns:a16="http://schemas.microsoft.com/office/drawing/2014/main" id="{42AF5762-7043-EEA3-3635-274EE1F47949}"/>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39" name="Line 14">
              <a:extLst>
                <a:ext uri="{FF2B5EF4-FFF2-40B4-BE49-F238E27FC236}">
                  <a16:creationId xmlns:a16="http://schemas.microsoft.com/office/drawing/2014/main" id="{60470F52-AC1D-D4D5-25A9-9C9767095AE2}"/>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40" name="Rectangle 15">
              <a:extLst>
                <a:ext uri="{FF2B5EF4-FFF2-40B4-BE49-F238E27FC236}">
                  <a16:creationId xmlns:a16="http://schemas.microsoft.com/office/drawing/2014/main" id="{E0F54950-E236-BC3B-FF3D-49290F970982}"/>
                </a:ext>
              </a:extLst>
            </p:cNvPr>
            <p:cNvSpPr>
              <a:spLocks noChangeArrowheads="1"/>
            </p:cNvSpPr>
            <p:nvPr/>
          </p:nvSpPr>
          <p:spPr bwMode="auto">
            <a:xfrm>
              <a:off x="3222919" y="1722114"/>
              <a:ext cx="306575"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grpSp>
        <p:nvGrpSpPr>
          <p:cNvPr id="41" name="Group 40">
            <a:extLst>
              <a:ext uri="{FF2B5EF4-FFF2-40B4-BE49-F238E27FC236}">
                <a16:creationId xmlns:a16="http://schemas.microsoft.com/office/drawing/2014/main" id="{14C9F97E-7B36-116C-E651-8D5524598BCF}"/>
              </a:ext>
            </a:extLst>
          </p:cNvPr>
          <p:cNvGrpSpPr/>
          <p:nvPr/>
        </p:nvGrpSpPr>
        <p:grpSpPr>
          <a:xfrm>
            <a:off x="2988367" y="4224311"/>
            <a:ext cx="640080" cy="385206"/>
            <a:chOff x="3112787" y="1608456"/>
            <a:chExt cx="640080" cy="385206"/>
          </a:xfrm>
        </p:grpSpPr>
        <p:sp>
          <p:nvSpPr>
            <p:cNvPr id="42" name="Line 13">
              <a:extLst>
                <a:ext uri="{FF2B5EF4-FFF2-40B4-BE49-F238E27FC236}">
                  <a16:creationId xmlns:a16="http://schemas.microsoft.com/office/drawing/2014/main" id="{90843E15-8B3D-13E3-591B-FD1F6D09A6CB}"/>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43" name="Line 14">
              <a:extLst>
                <a:ext uri="{FF2B5EF4-FFF2-40B4-BE49-F238E27FC236}">
                  <a16:creationId xmlns:a16="http://schemas.microsoft.com/office/drawing/2014/main" id="{871BEF8F-22D4-7D2B-00D9-731FE6B13353}"/>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44" name="Rectangle 15">
              <a:extLst>
                <a:ext uri="{FF2B5EF4-FFF2-40B4-BE49-F238E27FC236}">
                  <a16:creationId xmlns:a16="http://schemas.microsoft.com/office/drawing/2014/main" id="{FDD4BB55-A006-D7FD-3E7C-42848A6304C6}"/>
                </a:ext>
              </a:extLst>
            </p:cNvPr>
            <p:cNvSpPr>
              <a:spLocks noChangeArrowheads="1"/>
            </p:cNvSpPr>
            <p:nvPr/>
          </p:nvSpPr>
          <p:spPr bwMode="auto">
            <a:xfrm>
              <a:off x="3271009" y="1722114"/>
              <a:ext cx="210395"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5</a:t>
              </a:r>
            </a:p>
          </p:txBody>
        </p:sp>
      </p:grpSp>
      <p:grpSp>
        <p:nvGrpSpPr>
          <p:cNvPr id="45" name="Group 44">
            <a:extLst>
              <a:ext uri="{FF2B5EF4-FFF2-40B4-BE49-F238E27FC236}">
                <a16:creationId xmlns:a16="http://schemas.microsoft.com/office/drawing/2014/main" id="{4E196B97-E044-68DB-4024-FD65CCF174B3}"/>
              </a:ext>
            </a:extLst>
          </p:cNvPr>
          <p:cNvGrpSpPr/>
          <p:nvPr/>
        </p:nvGrpSpPr>
        <p:grpSpPr>
          <a:xfrm>
            <a:off x="2988367" y="4646470"/>
            <a:ext cx="640080" cy="385206"/>
            <a:chOff x="3112787" y="1608456"/>
            <a:chExt cx="640080" cy="385206"/>
          </a:xfrm>
        </p:grpSpPr>
        <p:sp>
          <p:nvSpPr>
            <p:cNvPr id="46" name="Line 13">
              <a:extLst>
                <a:ext uri="{FF2B5EF4-FFF2-40B4-BE49-F238E27FC236}">
                  <a16:creationId xmlns:a16="http://schemas.microsoft.com/office/drawing/2014/main" id="{818D4213-CEBD-DA83-E0BA-818995E5D68A}"/>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47" name="Line 14">
              <a:extLst>
                <a:ext uri="{FF2B5EF4-FFF2-40B4-BE49-F238E27FC236}">
                  <a16:creationId xmlns:a16="http://schemas.microsoft.com/office/drawing/2014/main" id="{F8D832B4-FFEC-C607-9F79-FBD8F2DFA9FD}"/>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48" name="Rectangle 15">
              <a:extLst>
                <a:ext uri="{FF2B5EF4-FFF2-40B4-BE49-F238E27FC236}">
                  <a16:creationId xmlns:a16="http://schemas.microsoft.com/office/drawing/2014/main" id="{8CA4581C-5216-FE95-6FAE-18231ABF9DE7}"/>
                </a:ext>
              </a:extLst>
            </p:cNvPr>
            <p:cNvSpPr>
              <a:spLocks noChangeArrowheads="1"/>
            </p:cNvSpPr>
            <p:nvPr/>
          </p:nvSpPr>
          <p:spPr bwMode="auto">
            <a:xfrm>
              <a:off x="3222919" y="1722114"/>
              <a:ext cx="306575" cy="271548"/>
            </a:xfrm>
            <a:prstGeom prst="rect">
              <a:avLst/>
            </a:prstGeom>
            <a:noFill/>
            <a:ln w="12700">
              <a:noFill/>
              <a:miter lim="800000"/>
              <a:headEnd/>
              <a:tailEnd/>
            </a:ln>
          </p:spPr>
          <p:txBody>
            <a:bodyPr wrap="squar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5</a:t>
              </a:r>
            </a:p>
          </p:txBody>
        </p:sp>
      </p:grpSp>
      <p:grpSp>
        <p:nvGrpSpPr>
          <p:cNvPr id="49" name="Group 48">
            <a:extLst>
              <a:ext uri="{FF2B5EF4-FFF2-40B4-BE49-F238E27FC236}">
                <a16:creationId xmlns:a16="http://schemas.microsoft.com/office/drawing/2014/main" id="{BCEDB763-F6D8-C50A-8CED-B1D713C0AC1A}"/>
              </a:ext>
            </a:extLst>
          </p:cNvPr>
          <p:cNvGrpSpPr/>
          <p:nvPr/>
        </p:nvGrpSpPr>
        <p:grpSpPr>
          <a:xfrm>
            <a:off x="2988367" y="5036178"/>
            <a:ext cx="640080" cy="385206"/>
            <a:chOff x="3112787" y="1608456"/>
            <a:chExt cx="640080" cy="385206"/>
          </a:xfrm>
        </p:grpSpPr>
        <p:sp>
          <p:nvSpPr>
            <p:cNvPr id="50" name="Line 13">
              <a:extLst>
                <a:ext uri="{FF2B5EF4-FFF2-40B4-BE49-F238E27FC236}">
                  <a16:creationId xmlns:a16="http://schemas.microsoft.com/office/drawing/2014/main" id="{6D2B2A2C-FBDE-DEC0-8FAD-162F7E00B612}"/>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51" name="Line 14">
              <a:extLst>
                <a:ext uri="{FF2B5EF4-FFF2-40B4-BE49-F238E27FC236}">
                  <a16:creationId xmlns:a16="http://schemas.microsoft.com/office/drawing/2014/main" id="{5C217286-593A-D727-9A04-051006DF66EE}"/>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52" name="Rectangle 15">
              <a:extLst>
                <a:ext uri="{FF2B5EF4-FFF2-40B4-BE49-F238E27FC236}">
                  <a16:creationId xmlns:a16="http://schemas.microsoft.com/office/drawing/2014/main" id="{5077E6D0-7216-3E42-E077-CE9FE25FB6F7}"/>
                </a:ext>
              </a:extLst>
            </p:cNvPr>
            <p:cNvSpPr>
              <a:spLocks noChangeArrowheads="1"/>
            </p:cNvSpPr>
            <p:nvPr/>
          </p:nvSpPr>
          <p:spPr bwMode="auto">
            <a:xfrm>
              <a:off x="3271009" y="1722114"/>
              <a:ext cx="210395"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5</a:t>
              </a:r>
            </a:p>
          </p:txBody>
        </p:sp>
      </p:grpSp>
      <p:grpSp>
        <p:nvGrpSpPr>
          <p:cNvPr id="53" name="Group 52">
            <a:extLst>
              <a:ext uri="{FF2B5EF4-FFF2-40B4-BE49-F238E27FC236}">
                <a16:creationId xmlns:a16="http://schemas.microsoft.com/office/drawing/2014/main" id="{6B04A7C4-C064-5319-6279-B343784C3B93}"/>
              </a:ext>
            </a:extLst>
          </p:cNvPr>
          <p:cNvGrpSpPr/>
          <p:nvPr/>
        </p:nvGrpSpPr>
        <p:grpSpPr>
          <a:xfrm>
            <a:off x="5187089" y="5277075"/>
            <a:ext cx="640080" cy="385206"/>
            <a:chOff x="3112787" y="1608456"/>
            <a:chExt cx="640080" cy="385206"/>
          </a:xfrm>
        </p:grpSpPr>
        <p:sp>
          <p:nvSpPr>
            <p:cNvPr id="54" name="Line 13">
              <a:extLst>
                <a:ext uri="{FF2B5EF4-FFF2-40B4-BE49-F238E27FC236}">
                  <a16:creationId xmlns:a16="http://schemas.microsoft.com/office/drawing/2014/main" id="{61A9FFAD-6EDD-1172-D760-315FAAC9C578}"/>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55" name="Line 14">
              <a:extLst>
                <a:ext uri="{FF2B5EF4-FFF2-40B4-BE49-F238E27FC236}">
                  <a16:creationId xmlns:a16="http://schemas.microsoft.com/office/drawing/2014/main" id="{2E8630C4-2328-EAC6-6BA1-809598C166CA}"/>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56" name="Rectangle 15">
              <a:extLst>
                <a:ext uri="{FF2B5EF4-FFF2-40B4-BE49-F238E27FC236}">
                  <a16:creationId xmlns:a16="http://schemas.microsoft.com/office/drawing/2014/main" id="{60AAAAA0-D119-4A8C-F09D-2FE5EF437168}"/>
                </a:ext>
              </a:extLst>
            </p:cNvPr>
            <p:cNvSpPr>
              <a:spLocks noChangeArrowheads="1"/>
            </p:cNvSpPr>
            <p:nvPr/>
          </p:nvSpPr>
          <p:spPr bwMode="auto">
            <a:xfrm>
              <a:off x="3222919" y="1722114"/>
              <a:ext cx="306575"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57" name="TextBox 56">
            <a:extLst>
              <a:ext uri="{FF2B5EF4-FFF2-40B4-BE49-F238E27FC236}">
                <a16:creationId xmlns:a16="http://schemas.microsoft.com/office/drawing/2014/main" id="{D2315A96-2772-71D3-07F0-7FE1E704F6E4}"/>
              </a:ext>
            </a:extLst>
          </p:cNvPr>
          <p:cNvSpPr txBox="1"/>
          <p:nvPr/>
        </p:nvSpPr>
        <p:spPr>
          <a:xfrm>
            <a:off x="3442394" y="5982934"/>
            <a:ext cx="1306651" cy="304314"/>
          </a:xfrm>
          <a:prstGeom prst="rect">
            <a:avLst/>
          </a:prstGeom>
          <a:noFill/>
        </p:spPr>
        <p:txBody>
          <a:bodyPr wrap="square" rtlCol="0">
            <a:spAutoFit/>
          </a:bodyPr>
          <a:lstStyle/>
          <a:p>
            <a:pPr algn="ctr">
              <a:lnSpc>
                <a:spcPct val="85000"/>
              </a:lnSpc>
            </a:pPr>
            <a:r>
              <a:rPr lang="en-US" sz="1600" dirty="0" err="1">
                <a:solidFill>
                  <a:schemeClr val="accent3"/>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p:txBody>
      </p:sp>
      <p:cxnSp>
        <p:nvCxnSpPr>
          <p:cNvPr id="58" name="Straight Arrow Connector 57">
            <a:extLst>
              <a:ext uri="{FF2B5EF4-FFF2-40B4-BE49-F238E27FC236}">
                <a16:creationId xmlns:a16="http://schemas.microsoft.com/office/drawing/2014/main" id="{FB10823A-FF57-F33A-CBDB-17A91EE3B034}"/>
              </a:ext>
            </a:extLst>
          </p:cNvPr>
          <p:cNvCxnSpPr>
            <a:cxnSpLocks/>
          </p:cNvCxnSpPr>
          <p:nvPr/>
        </p:nvCxnSpPr>
        <p:spPr>
          <a:xfrm flipH="1" flipV="1">
            <a:off x="4112888" y="5709883"/>
            <a:ext cx="0" cy="27432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9" name="Content Placeholder 2">
            <a:extLst>
              <a:ext uri="{FF2B5EF4-FFF2-40B4-BE49-F238E27FC236}">
                <a16:creationId xmlns:a16="http://schemas.microsoft.com/office/drawing/2014/main" id="{068F544C-B29D-6D91-BEA9-40465AE1A54F}"/>
              </a:ext>
            </a:extLst>
          </p:cNvPr>
          <p:cNvSpPr txBox="1">
            <a:spLocks/>
          </p:cNvSpPr>
          <p:nvPr/>
        </p:nvSpPr>
        <p:spPr>
          <a:xfrm>
            <a:off x="101905" y="4109037"/>
            <a:ext cx="2016117" cy="986042"/>
          </a:xfrm>
          <a:prstGeom prst="rect">
            <a:avLst/>
          </a:prstGeom>
        </p:spPr>
        <p:txBody>
          <a:bodyPr vert="horz" lIns="91440" tIns="45720" rIns="91440" bIns="45720" rtlCol="0">
            <a:noAutofit/>
          </a:bodyPr>
          <a:lstStyle>
            <a:lvl1pPr marL="467772" indent="-383108" algn="l" defTabSz="914377" rtl="0" eaLnBrk="1" latinLnBrk="0" hangingPunct="1">
              <a:lnSpc>
                <a:spcPct val="100000"/>
              </a:lnSpc>
              <a:spcBef>
                <a:spcPts val="1000"/>
              </a:spcBef>
              <a:buClrTx/>
              <a:buSzPct val="95000"/>
              <a:buFont typeface="Wingdings" pitchFamily="2" charset="2"/>
              <a:buChar char="§"/>
              <a:tabLst/>
              <a:defRPr sz="3600" b="1" i="0" kern="1200">
                <a:ln>
                  <a:noFill/>
                </a:ln>
                <a:solidFill>
                  <a:schemeClr val="bg1">
                    <a:alpha val="99000"/>
                  </a:schemeClr>
                </a:solidFill>
                <a:latin typeface="18 VAG Rounded Bold   07390" pitchFamily="2" charset="0"/>
                <a:ea typeface="+mn-ea"/>
                <a:cs typeface="+mn-cs"/>
              </a:defRPr>
            </a:lvl1pPr>
            <a:lvl2pPr marL="768331" indent="-311143" algn="l" defTabSz="914377" rtl="0" eaLnBrk="1" latinLnBrk="0" hangingPunct="1">
              <a:lnSpc>
                <a:spcPct val="100000"/>
              </a:lnSpc>
              <a:spcBef>
                <a:spcPts val="500"/>
              </a:spcBef>
              <a:buSzPct val="90000"/>
              <a:buFont typeface=".Hiragino Kaku Gothic Interface W3"/>
              <a:buChar char="▫"/>
              <a:tabLst/>
              <a:defRPr sz="3200" b="0" i="0" kern="1200">
                <a:solidFill>
                  <a:schemeClr val="accent2"/>
                </a:solidFill>
                <a:latin typeface="18 VAG Rounded Light   02390" pitchFamily="2" charset="0"/>
                <a:ea typeface="+mn-ea"/>
                <a:cs typeface="+mn-cs"/>
              </a:defRPr>
            </a:lvl2pPr>
            <a:lvl3pPr marL="1066773" indent="-298443" algn="l" defTabSz="914377" rtl="0" eaLnBrk="1" latinLnBrk="0" hangingPunct="1">
              <a:lnSpc>
                <a:spcPct val="100000"/>
              </a:lnSpc>
              <a:spcBef>
                <a:spcPts val="500"/>
              </a:spcBef>
              <a:buFont typeface=".Hiragino Kaku Gothic Interface W3"/>
              <a:buChar char="▪"/>
              <a:tabLst/>
              <a:defRPr sz="2800" b="0" i="0" kern="1200">
                <a:solidFill>
                  <a:schemeClr val="accent1"/>
                </a:solidFill>
                <a:latin typeface="18 VAG Rounded Light   02390" pitchFamily="2" charset="0"/>
                <a:ea typeface="+mn-ea"/>
                <a:cs typeface="+mn-cs"/>
              </a:defRPr>
            </a:lvl3pPr>
            <a:lvl4pPr marL="1449881" indent="-298443" algn="l" defTabSz="914377" rtl="0" eaLnBrk="1" latinLnBrk="0" hangingPunct="1">
              <a:lnSpc>
                <a:spcPct val="100000"/>
              </a:lnSpc>
              <a:spcBef>
                <a:spcPts val="500"/>
              </a:spcBef>
              <a:buFont typeface="Arial" panose="020B0604020202020204" pitchFamily="34" charset="0"/>
              <a:buChar char="•"/>
              <a:tabLst/>
              <a:defRPr sz="2400" b="0" i="0" kern="1200">
                <a:solidFill>
                  <a:schemeClr val="accent3"/>
                </a:solidFill>
                <a:latin typeface="18 VAG Rounded Light   02390" pitchFamily="2" charset="0"/>
                <a:ea typeface="+mn-ea"/>
                <a:cs typeface="+mn-cs"/>
              </a:defRPr>
            </a:lvl4pPr>
            <a:lvl5pPr marL="1763140" indent="-226478" algn="l" defTabSz="914377" rtl="0" eaLnBrk="1" latinLnBrk="0" hangingPunct="1">
              <a:lnSpc>
                <a:spcPct val="100000"/>
              </a:lnSpc>
              <a:spcBef>
                <a:spcPts val="500"/>
              </a:spcBef>
              <a:buFont typeface="Arial" panose="020B0604020202020204" pitchFamily="34" charset="0"/>
              <a:buChar char="•"/>
              <a:tabLst/>
              <a:defRPr sz="2000" b="0" i="0" kern="1200">
                <a:solidFill>
                  <a:schemeClr val="bg2"/>
                </a:solidFill>
                <a:latin typeface="18 VAG Rounded Light   02390"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664" indent="0">
              <a:buNone/>
            </a:pPr>
            <a:r>
              <a:rPr lang="en-US" sz="2800" dirty="0"/>
              <a:t>Register</a:t>
            </a:r>
            <a:br>
              <a:rPr lang="en-US" sz="2800" dirty="0"/>
            </a:br>
            <a:r>
              <a:rPr lang="en-US" sz="2800" dirty="0"/>
              <a:t>File </a:t>
            </a:r>
            <a:r>
              <a:rPr lang="en-US" sz="2800" dirty="0">
                <a:solidFill>
                  <a:schemeClr val="bg1"/>
                </a:solidFill>
                <a:latin typeface="Courier New" panose="02070309020205020404" pitchFamily="49" charset="0"/>
                <a:cs typeface="Courier New" panose="02070309020205020404" pitchFamily="49" charset="0"/>
              </a:rPr>
              <a:t>Reg</a:t>
            </a:r>
          </a:p>
        </p:txBody>
      </p:sp>
      <p:grpSp>
        <p:nvGrpSpPr>
          <p:cNvPr id="23" name="Group 22">
            <a:extLst>
              <a:ext uri="{FF2B5EF4-FFF2-40B4-BE49-F238E27FC236}">
                <a16:creationId xmlns:a16="http://schemas.microsoft.com/office/drawing/2014/main" id="{D8C2CE27-35FB-A5AE-1BD4-179B73590CFE}"/>
              </a:ext>
            </a:extLst>
          </p:cNvPr>
          <p:cNvGrpSpPr/>
          <p:nvPr/>
        </p:nvGrpSpPr>
        <p:grpSpPr>
          <a:xfrm>
            <a:off x="8236034" y="1647896"/>
            <a:ext cx="3056934" cy="2168818"/>
            <a:chOff x="8872561" y="3758077"/>
            <a:chExt cx="3056934" cy="2168818"/>
          </a:xfrm>
        </p:grpSpPr>
        <p:grpSp>
          <p:nvGrpSpPr>
            <p:cNvPr id="29" name="Group 28">
              <a:extLst>
                <a:ext uri="{FF2B5EF4-FFF2-40B4-BE49-F238E27FC236}">
                  <a16:creationId xmlns:a16="http://schemas.microsoft.com/office/drawing/2014/main" id="{68FDB71F-138C-AF21-207A-A2AD4F52A8D6}"/>
                </a:ext>
              </a:extLst>
            </p:cNvPr>
            <p:cNvGrpSpPr/>
            <p:nvPr/>
          </p:nvGrpSpPr>
          <p:grpSpPr>
            <a:xfrm>
              <a:off x="8872561" y="3758077"/>
              <a:ext cx="2246800" cy="2168818"/>
              <a:chOff x="8872561" y="3859677"/>
              <a:chExt cx="2246800" cy="2168818"/>
            </a:xfrm>
          </p:grpSpPr>
          <p:sp>
            <p:nvSpPr>
              <p:cNvPr id="61" name="Freeform 60">
                <a:extLst>
                  <a:ext uri="{FF2B5EF4-FFF2-40B4-BE49-F238E27FC236}">
                    <a16:creationId xmlns:a16="http://schemas.microsoft.com/office/drawing/2014/main" id="{EBA00F53-4066-F69C-1235-9F3DCE9965F6}"/>
                  </a:ext>
                </a:extLst>
              </p:cNvPr>
              <p:cNvSpPr>
                <a:spLocks/>
              </p:cNvSpPr>
              <p:nvPr/>
            </p:nvSpPr>
            <p:spPr>
              <a:xfrm>
                <a:off x="9523308" y="3859677"/>
                <a:ext cx="955973" cy="14106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r>
                  <a:rPr lang="en-US" sz="2000" dirty="0">
                    <a:solidFill>
                      <a:schemeClr val="bg1"/>
                    </a:solidFill>
                    <a:latin typeface="Courier New" panose="02070309020205020404" pitchFamily="49" charset="0"/>
                    <a:cs typeface="Courier New" panose="02070309020205020404" pitchFamily="49" charset="0"/>
                  </a:rPr>
                  <a:t>A</a:t>
                </a:r>
                <a:endParaRPr lang="en-US" sz="2800" dirty="0">
                  <a:solidFill>
                    <a:schemeClr val="bg1"/>
                  </a:solidFill>
                  <a:latin typeface="Courier New" panose="02070309020205020404" pitchFamily="49" charset="0"/>
                  <a:cs typeface="Courier New" panose="02070309020205020404" pitchFamily="49" charset="0"/>
                </a:endParaRPr>
              </a:p>
              <a:p>
                <a:pPr algn="r"/>
                <a:r>
                  <a:rPr lang="en-US" sz="2400" dirty="0">
                    <a:solidFill>
                      <a:schemeClr val="bg1"/>
                    </a:solidFill>
                    <a:latin typeface="18 VAG Rounded Light   02390" pitchFamily="2" charset="0"/>
                  </a:rPr>
                  <a:t>ALU</a:t>
                </a:r>
              </a:p>
              <a:p>
                <a:r>
                  <a:rPr lang="en-US" sz="2000" dirty="0">
                    <a:solidFill>
                      <a:schemeClr val="bg1"/>
                    </a:solidFill>
                    <a:latin typeface="Courier New" panose="02070309020205020404" pitchFamily="49" charset="0"/>
                    <a:cs typeface="Courier New" panose="02070309020205020404" pitchFamily="49" charset="0"/>
                  </a:rPr>
                  <a:t>B</a:t>
                </a:r>
              </a:p>
            </p:txBody>
          </p:sp>
          <p:sp>
            <p:nvSpPr>
              <p:cNvPr id="62" name="TextBox 61">
                <a:extLst>
                  <a:ext uri="{FF2B5EF4-FFF2-40B4-BE49-F238E27FC236}">
                    <a16:creationId xmlns:a16="http://schemas.microsoft.com/office/drawing/2014/main" id="{62F2591A-2A1B-EF75-6A76-A99763D21299}"/>
                  </a:ext>
                </a:extLst>
              </p:cNvPr>
              <p:cNvSpPr txBox="1"/>
              <p:nvPr/>
            </p:nvSpPr>
            <p:spPr>
              <a:xfrm>
                <a:off x="9423645" y="5663010"/>
                <a:ext cx="1306651" cy="365485"/>
              </a:xfrm>
              <a:prstGeom prst="rect">
                <a:avLst/>
              </a:prstGeom>
              <a:noFill/>
            </p:spPr>
            <p:txBody>
              <a:bodyPr wrap="square" rtlCol="0">
                <a:spAutoFit/>
              </a:bodyPr>
              <a:lstStyle/>
              <a:p>
                <a:pPr algn="ctr">
                  <a:lnSpc>
                    <a:spcPct val="85000"/>
                  </a:lnSpc>
                </a:pPr>
                <a:r>
                  <a:rPr lang="en-US" sz="2000" dirty="0" err="1">
                    <a:solidFill>
                      <a:schemeClr val="accent3"/>
                    </a:solidFill>
                    <a:latin typeface="18 VAG Rounded Light   02390" pitchFamily="2" charset="0"/>
                    <a:cs typeface="Courier New" panose="02070309020205020404" pitchFamily="49" charset="0"/>
                  </a:rPr>
                  <a:t>AluSel</a:t>
                </a:r>
                <a:endParaRPr lang="en-US" sz="2000" dirty="0">
                  <a:solidFill>
                    <a:schemeClr val="accent3"/>
                  </a:solidFill>
                  <a:latin typeface="18 VAG Rounded Light   02390" pitchFamily="2" charset="0"/>
                  <a:cs typeface="Courier New" panose="02070309020205020404" pitchFamily="49" charset="0"/>
                </a:endParaRPr>
              </a:p>
            </p:txBody>
          </p:sp>
          <p:cxnSp>
            <p:nvCxnSpPr>
              <p:cNvPr id="63" name="Straight Arrow Connector 62">
                <a:extLst>
                  <a:ext uri="{FF2B5EF4-FFF2-40B4-BE49-F238E27FC236}">
                    <a16:creationId xmlns:a16="http://schemas.microsoft.com/office/drawing/2014/main" id="{A4DCFC3E-0FDD-0F00-00F0-5312C1D66789}"/>
                  </a:ext>
                </a:extLst>
              </p:cNvPr>
              <p:cNvCxnSpPr>
                <a:cxnSpLocks/>
              </p:cNvCxnSpPr>
              <p:nvPr/>
            </p:nvCxnSpPr>
            <p:spPr>
              <a:xfrm flipH="1" flipV="1">
                <a:off x="10049584" y="5097228"/>
                <a:ext cx="0" cy="4572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4" name="Line 11">
                <a:extLst>
                  <a:ext uri="{FF2B5EF4-FFF2-40B4-BE49-F238E27FC236}">
                    <a16:creationId xmlns:a16="http://schemas.microsoft.com/office/drawing/2014/main" id="{EB05617F-3EF3-F37A-23BB-FC5E6842CCB0}"/>
                  </a:ext>
                </a:extLst>
              </p:cNvPr>
              <p:cNvSpPr>
                <a:spLocks noChangeShapeType="1"/>
              </p:cNvSpPr>
              <p:nvPr/>
            </p:nvSpPr>
            <p:spPr bwMode="auto">
              <a:xfrm flipH="1">
                <a:off x="10021955" y="5353042"/>
                <a:ext cx="72554" cy="128229"/>
              </a:xfrm>
              <a:prstGeom prst="line">
                <a:avLst/>
              </a:prstGeom>
              <a:noFill/>
              <a:ln w="28575" cap="rnd">
                <a:solidFill>
                  <a:schemeClr val="accent3"/>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nvGrpSpPr>
              <p:cNvPr id="65" name="Group 64">
                <a:extLst>
                  <a:ext uri="{FF2B5EF4-FFF2-40B4-BE49-F238E27FC236}">
                    <a16:creationId xmlns:a16="http://schemas.microsoft.com/office/drawing/2014/main" id="{7F4140CE-C888-AAD9-1798-CD70AC93D623}"/>
                  </a:ext>
                </a:extLst>
              </p:cNvPr>
              <p:cNvGrpSpPr/>
              <p:nvPr/>
            </p:nvGrpSpPr>
            <p:grpSpPr>
              <a:xfrm>
                <a:off x="10479281" y="4500548"/>
                <a:ext cx="640080" cy="128229"/>
                <a:chOff x="3112787" y="1608456"/>
                <a:chExt cx="640080" cy="128229"/>
              </a:xfrm>
            </p:grpSpPr>
            <p:sp>
              <p:nvSpPr>
                <p:cNvPr id="72" name="Line 13">
                  <a:extLst>
                    <a:ext uri="{FF2B5EF4-FFF2-40B4-BE49-F238E27FC236}">
                      <a16:creationId xmlns:a16="http://schemas.microsoft.com/office/drawing/2014/main" id="{190271C7-57C6-2A31-BA63-C1F9B4B45956}"/>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73" name="Line 14">
                  <a:extLst>
                    <a:ext uri="{FF2B5EF4-FFF2-40B4-BE49-F238E27FC236}">
                      <a16:creationId xmlns:a16="http://schemas.microsoft.com/office/drawing/2014/main" id="{8452C8CB-FDB7-1A91-A516-998E8AB3C3F0}"/>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66" name="Group 65">
                <a:extLst>
                  <a:ext uri="{FF2B5EF4-FFF2-40B4-BE49-F238E27FC236}">
                    <a16:creationId xmlns:a16="http://schemas.microsoft.com/office/drawing/2014/main" id="{363CD93E-9459-296D-1336-A7A820DD3107}"/>
                  </a:ext>
                </a:extLst>
              </p:cNvPr>
              <p:cNvGrpSpPr/>
              <p:nvPr/>
            </p:nvGrpSpPr>
            <p:grpSpPr>
              <a:xfrm>
                <a:off x="8883228" y="4121255"/>
                <a:ext cx="640080" cy="128229"/>
                <a:chOff x="3112787" y="1608456"/>
                <a:chExt cx="640080" cy="128229"/>
              </a:xfrm>
            </p:grpSpPr>
            <p:sp>
              <p:nvSpPr>
                <p:cNvPr id="70" name="Line 13">
                  <a:extLst>
                    <a:ext uri="{FF2B5EF4-FFF2-40B4-BE49-F238E27FC236}">
                      <a16:creationId xmlns:a16="http://schemas.microsoft.com/office/drawing/2014/main" id="{1F5D4AB4-F184-6406-4A2C-4DC95707A6DF}"/>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71" name="Line 14">
                  <a:extLst>
                    <a:ext uri="{FF2B5EF4-FFF2-40B4-BE49-F238E27FC236}">
                      <a16:creationId xmlns:a16="http://schemas.microsoft.com/office/drawing/2014/main" id="{CDFC686F-D7D8-9826-E036-ACCD16DDED77}"/>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67" name="Group 66">
                <a:extLst>
                  <a:ext uri="{FF2B5EF4-FFF2-40B4-BE49-F238E27FC236}">
                    <a16:creationId xmlns:a16="http://schemas.microsoft.com/office/drawing/2014/main" id="{9FC337AD-C5FA-CF22-BCAE-94B795807062}"/>
                  </a:ext>
                </a:extLst>
              </p:cNvPr>
              <p:cNvGrpSpPr/>
              <p:nvPr/>
            </p:nvGrpSpPr>
            <p:grpSpPr>
              <a:xfrm>
                <a:off x="8872561" y="4845308"/>
                <a:ext cx="640080" cy="128229"/>
                <a:chOff x="3112787" y="1608456"/>
                <a:chExt cx="640080" cy="128229"/>
              </a:xfrm>
            </p:grpSpPr>
            <p:sp>
              <p:nvSpPr>
                <p:cNvPr id="68" name="Line 13">
                  <a:extLst>
                    <a:ext uri="{FF2B5EF4-FFF2-40B4-BE49-F238E27FC236}">
                      <a16:creationId xmlns:a16="http://schemas.microsoft.com/office/drawing/2014/main" id="{C656D18F-555B-86EE-5875-11B8BBD24F11}"/>
                    </a:ext>
                  </a:extLst>
                </p:cNvPr>
                <p:cNvSpPr>
                  <a:spLocks noChangeShapeType="1"/>
                </p:cNvSpPr>
                <p:nvPr/>
              </p:nvSpPr>
              <p:spPr bwMode="auto">
                <a:xfrm>
                  <a:off x="3112787" y="1672571"/>
                  <a:ext cx="640080"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69" name="Line 14">
                  <a:extLst>
                    <a:ext uri="{FF2B5EF4-FFF2-40B4-BE49-F238E27FC236}">
                      <a16:creationId xmlns:a16="http://schemas.microsoft.com/office/drawing/2014/main" id="{9A4962D5-971B-6391-A79C-32D87EB839AC}"/>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sp>
          <p:nvSpPr>
            <p:cNvPr id="60" name="TextBox 59">
              <a:extLst>
                <a:ext uri="{FF2B5EF4-FFF2-40B4-BE49-F238E27FC236}">
                  <a16:creationId xmlns:a16="http://schemas.microsoft.com/office/drawing/2014/main" id="{E06F54C7-3689-7FCA-1739-F06311F9CD7C}"/>
                </a:ext>
              </a:extLst>
            </p:cNvPr>
            <p:cNvSpPr txBox="1"/>
            <p:nvPr/>
          </p:nvSpPr>
          <p:spPr>
            <a:xfrm>
              <a:off x="11119362" y="4293711"/>
              <a:ext cx="810133" cy="369332"/>
            </a:xfrm>
            <a:prstGeom prst="rect">
              <a:avLst/>
            </a:prstGeom>
            <a:noFill/>
          </p:spPr>
          <p:txBody>
            <a:bodyPr wrap="square" rtlCol="0">
              <a:spAutoFit/>
            </a:bodyPr>
            <a:lstStyle/>
            <a:p>
              <a:pPr algn="l"/>
              <a:r>
                <a:rPr lang="en-US" sz="1800" dirty="0">
                  <a:solidFill>
                    <a:schemeClr val="bg1"/>
                  </a:solidFill>
                  <a:latin typeface="18 VAG Rounded Light   02390" pitchFamily="2" charset="0"/>
                  <a:cs typeface="Courier New" panose="02070309020205020404" pitchFamily="49" charset="0"/>
                </a:rPr>
                <a:t>Result</a:t>
              </a:r>
            </a:p>
          </p:txBody>
        </p:sp>
      </p:grpSp>
    </p:spTree>
    <p:extLst>
      <p:ext uri="{BB962C8B-B14F-4D97-AF65-F5344CB8AC3E}">
        <p14:creationId xmlns:p14="http://schemas.microsoft.com/office/powerpoint/2010/main" val="154529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364E0-6561-571C-8713-6F60B4972A47}"/>
            </a:ext>
          </a:extLst>
        </p:cNvPr>
        <p:cNvGrpSpPr/>
        <p:nvPr/>
      </p:nvGrpSpPr>
      <p:grpSpPr>
        <a:xfrm>
          <a:off x="0" y="0"/>
          <a:ext cx="0" cy="0"/>
          <a:chOff x="0" y="0"/>
          <a:chExt cx="0" cy="0"/>
        </a:xfrm>
      </p:grpSpPr>
      <p:sp>
        <p:nvSpPr>
          <p:cNvPr id="6" name="Content Placeholder 2">
            <a:extLst>
              <a:ext uri="{FF2B5EF4-FFF2-40B4-BE49-F238E27FC236}">
                <a16:creationId xmlns:a16="http://schemas.microsoft.com/office/drawing/2014/main" id="{7E7CFA2A-E567-5065-C382-546310478BE7}"/>
              </a:ext>
            </a:extLst>
          </p:cNvPr>
          <p:cNvSpPr txBox="1">
            <a:spLocks/>
          </p:cNvSpPr>
          <p:nvPr/>
        </p:nvSpPr>
        <p:spPr>
          <a:xfrm>
            <a:off x="101905" y="953297"/>
            <a:ext cx="2016117" cy="537988"/>
          </a:xfrm>
          <a:prstGeom prst="rect">
            <a:avLst/>
          </a:prstGeom>
        </p:spPr>
        <p:txBody>
          <a:bodyPr vert="horz" lIns="91440" tIns="45720" rIns="91440" bIns="45720" rtlCol="0">
            <a:noAutofit/>
          </a:bodyPr>
          <a:lstStyle>
            <a:lvl1pPr marL="467772" indent="-383108" algn="l" defTabSz="914377" rtl="0" eaLnBrk="1" latinLnBrk="0" hangingPunct="1">
              <a:lnSpc>
                <a:spcPct val="100000"/>
              </a:lnSpc>
              <a:spcBef>
                <a:spcPts val="1000"/>
              </a:spcBef>
              <a:buClrTx/>
              <a:buSzPct val="95000"/>
              <a:buFont typeface="Wingdings" pitchFamily="2" charset="2"/>
              <a:buChar char="§"/>
              <a:tabLst/>
              <a:defRPr sz="3600" b="1" i="0" kern="1200">
                <a:ln>
                  <a:noFill/>
                </a:ln>
                <a:solidFill>
                  <a:schemeClr val="bg1">
                    <a:alpha val="99000"/>
                  </a:schemeClr>
                </a:solidFill>
                <a:latin typeface="18 VAG Rounded Bold   07390" pitchFamily="2" charset="0"/>
                <a:ea typeface="+mn-ea"/>
                <a:cs typeface="+mn-cs"/>
              </a:defRPr>
            </a:lvl1pPr>
            <a:lvl2pPr marL="768331" indent="-311143" algn="l" defTabSz="914377" rtl="0" eaLnBrk="1" latinLnBrk="0" hangingPunct="1">
              <a:lnSpc>
                <a:spcPct val="100000"/>
              </a:lnSpc>
              <a:spcBef>
                <a:spcPts val="500"/>
              </a:spcBef>
              <a:buSzPct val="90000"/>
              <a:buFont typeface=".Hiragino Kaku Gothic Interface W3"/>
              <a:buChar char="▫"/>
              <a:tabLst/>
              <a:defRPr sz="3200" b="0" i="0" kern="1200">
                <a:solidFill>
                  <a:schemeClr val="accent2"/>
                </a:solidFill>
                <a:latin typeface="18 VAG Rounded Light   02390" pitchFamily="2" charset="0"/>
                <a:ea typeface="+mn-ea"/>
                <a:cs typeface="+mn-cs"/>
              </a:defRPr>
            </a:lvl2pPr>
            <a:lvl3pPr marL="1066773" indent="-298443" algn="l" defTabSz="914377" rtl="0" eaLnBrk="1" latinLnBrk="0" hangingPunct="1">
              <a:lnSpc>
                <a:spcPct val="100000"/>
              </a:lnSpc>
              <a:spcBef>
                <a:spcPts val="500"/>
              </a:spcBef>
              <a:buFont typeface=".Hiragino Kaku Gothic Interface W3"/>
              <a:buChar char="▪"/>
              <a:tabLst/>
              <a:defRPr sz="2800" b="0" i="0" kern="1200">
                <a:solidFill>
                  <a:schemeClr val="accent1"/>
                </a:solidFill>
                <a:latin typeface="18 VAG Rounded Light   02390" pitchFamily="2" charset="0"/>
                <a:ea typeface="+mn-ea"/>
                <a:cs typeface="+mn-cs"/>
              </a:defRPr>
            </a:lvl3pPr>
            <a:lvl4pPr marL="1449881" indent="-298443" algn="l" defTabSz="914377" rtl="0" eaLnBrk="1" latinLnBrk="0" hangingPunct="1">
              <a:lnSpc>
                <a:spcPct val="100000"/>
              </a:lnSpc>
              <a:spcBef>
                <a:spcPts val="500"/>
              </a:spcBef>
              <a:buFont typeface="Arial" panose="020B0604020202020204" pitchFamily="34" charset="0"/>
              <a:buChar char="•"/>
              <a:tabLst/>
              <a:defRPr sz="2400" b="0" i="0" kern="1200">
                <a:solidFill>
                  <a:schemeClr val="accent3"/>
                </a:solidFill>
                <a:latin typeface="18 VAG Rounded Light   02390" pitchFamily="2" charset="0"/>
                <a:ea typeface="+mn-ea"/>
                <a:cs typeface="+mn-cs"/>
              </a:defRPr>
            </a:lvl4pPr>
            <a:lvl5pPr marL="1763140" indent="-226478" algn="l" defTabSz="914377" rtl="0" eaLnBrk="1" latinLnBrk="0" hangingPunct="1">
              <a:lnSpc>
                <a:spcPct val="100000"/>
              </a:lnSpc>
              <a:spcBef>
                <a:spcPts val="500"/>
              </a:spcBef>
              <a:buFont typeface="Arial" panose="020B0604020202020204" pitchFamily="34" charset="0"/>
              <a:buChar char="•"/>
              <a:tabLst/>
              <a:defRPr sz="2000" b="0" i="0" kern="1200">
                <a:solidFill>
                  <a:schemeClr val="bg2"/>
                </a:solidFill>
                <a:latin typeface="18 VAG Rounded Light   02390"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664" indent="0">
              <a:buNone/>
            </a:pPr>
            <a:r>
              <a:rPr lang="en-US" sz="2800" dirty="0">
                <a:solidFill>
                  <a:schemeClr val="bg1"/>
                </a:solidFill>
              </a:rPr>
              <a:t>IMEM</a:t>
            </a:r>
          </a:p>
        </p:txBody>
      </p:sp>
      <p:sp>
        <p:nvSpPr>
          <p:cNvPr id="59" name="Content Placeholder 2">
            <a:extLst>
              <a:ext uri="{FF2B5EF4-FFF2-40B4-BE49-F238E27FC236}">
                <a16:creationId xmlns:a16="http://schemas.microsoft.com/office/drawing/2014/main" id="{2BA6A7E0-02A9-B66E-8396-0768E7833425}"/>
              </a:ext>
            </a:extLst>
          </p:cNvPr>
          <p:cNvSpPr txBox="1">
            <a:spLocks/>
          </p:cNvSpPr>
          <p:nvPr/>
        </p:nvSpPr>
        <p:spPr>
          <a:xfrm>
            <a:off x="101905" y="4109037"/>
            <a:ext cx="2016117" cy="986042"/>
          </a:xfrm>
          <a:prstGeom prst="rect">
            <a:avLst/>
          </a:prstGeom>
        </p:spPr>
        <p:txBody>
          <a:bodyPr vert="horz" lIns="91440" tIns="45720" rIns="91440" bIns="45720" rtlCol="0">
            <a:noAutofit/>
          </a:bodyPr>
          <a:lstStyle>
            <a:lvl1pPr marL="467772" indent="-383108" algn="l" defTabSz="914377" rtl="0" eaLnBrk="1" latinLnBrk="0" hangingPunct="1">
              <a:lnSpc>
                <a:spcPct val="100000"/>
              </a:lnSpc>
              <a:spcBef>
                <a:spcPts val="1000"/>
              </a:spcBef>
              <a:buClrTx/>
              <a:buSzPct val="95000"/>
              <a:buFont typeface="Wingdings" pitchFamily="2" charset="2"/>
              <a:buChar char="§"/>
              <a:tabLst/>
              <a:defRPr sz="3600" b="1" i="0" kern="1200">
                <a:ln>
                  <a:noFill/>
                </a:ln>
                <a:solidFill>
                  <a:schemeClr val="bg1">
                    <a:alpha val="99000"/>
                  </a:schemeClr>
                </a:solidFill>
                <a:latin typeface="18 VAG Rounded Bold   07390" pitchFamily="2" charset="0"/>
                <a:ea typeface="+mn-ea"/>
                <a:cs typeface="+mn-cs"/>
              </a:defRPr>
            </a:lvl1pPr>
            <a:lvl2pPr marL="768331" indent="-311143" algn="l" defTabSz="914377" rtl="0" eaLnBrk="1" latinLnBrk="0" hangingPunct="1">
              <a:lnSpc>
                <a:spcPct val="100000"/>
              </a:lnSpc>
              <a:spcBef>
                <a:spcPts val="500"/>
              </a:spcBef>
              <a:buSzPct val="90000"/>
              <a:buFont typeface=".Hiragino Kaku Gothic Interface W3"/>
              <a:buChar char="▫"/>
              <a:tabLst/>
              <a:defRPr sz="3200" b="0" i="0" kern="1200">
                <a:solidFill>
                  <a:schemeClr val="accent2"/>
                </a:solidFill>
                <a:latin typeface="18 VAG Rounded Light   02390" pitchFamily="2" charset="0"/>
                <a:ea typeface="+mn-ea"/>
                <a:cs typeface="+mn-cs"/>
              </a:defRPr>
            </a:lvl2pPr>
            <a:lvl3pPr marL="1066773" indent="-298443" algn="l" defTabSz="914377" rtl="0" eaLnBrk="1" latinLnBrk="0" hangingPunct="1">
              <a:lnSpc>
                <a:spcPct val="100000"/>
              </a:lnSpc>
              <a:spcBef>
                <a:spcPts val="500"/>
              </a:spcBef>
              <a:buFont typeface=".Hiragino Kaku Gothic Interface W3"/>
              <a:buChar char="▪"/>
              <a:tabLst/>
              <a:defRPr sz="2800" b="0" i="0" kern="1200">
                <a:solidFill>
                  <a:schemeClr val="accent1"/>
                </a:solidFill>
                <a:latin typeface="18 VAG Rounded Light   02390" pitchFamily="2" charset="0"/>
                <a:ea typeface="+mn-ea"/>
                <a:cs typeface="+mn-cs"/>
              </a:defRPr>
            </a:lvl3pPr>
            <a:lvl4pPr marL="1449881" indent="-298443" algn="l" defTabSz="914377" rtl="0" eaLnBrk="1" latinLnBrk="0" hangingPunct="1">
              <a:lnSpc>
                <a:spcPct val="100000"/>
              </a:lnSpc>
              <a:spcBef>
                <a:spcPts val="500"/>
              </a:spcBef>
              <a:buFont typeface="Arial" panose="020B0604020202020204" pitchFamily="34" charset="0"/>
              <a:buChar char="•"/>
              <a:tabLst/>
              <a:defRPr sz="2400" b="0" i="0" kern="1200">
                <a:solidFill>
                  <a:schemeClr val="accent3"/>
                </a:solidFill>
                <a:latin typeface="18 VAG Rounded Light   02390" pitchFamily="2" charset="0"/>
                <a:ea typeface="+mn-ea"/>
                <a:cs typeface="+mn-cs"/>
              </a:defRPr>
            </a:lvl4pPr>
            <a:lvl5pPr marL="1763140" indent="-226478" algn="l" defTabSz="914377" rtl="0" eaLnBrk="1" latinLnBrk="0" hangingPunct="1">
              <a:lnSpc>
                <a:spcPct val="100000"/>
              </a:lnSpc>
              <a:spcBef>
                <a:spcPts val="500"/>
              </a:spcBef>
              <a:buFont typeface="Arial" panose="020B0604020202020204" pitchFamily="34" charset="0"/>
              <a:buChar char="•"/>
              <a:tabLst/>
              <a:defRPr sz="2000" b="0" i="0" kern="1200">
                <a:solidFill>
                  <a:schemeClr val="bg2"/>
                </a:solidFill>
                <a:latin typeface="18 VAG Rounded Light   02390"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664" indent="0">
              <a:buNone/>
            </a:pPr>
            <a:r>
              <a:rPr lang="en-US" sz="2800" dirty="0"/>
              <a:t>DMEM</a:t>
            </a:r>
            <a:endParaRPr lang="en-US" sz="2800" dirty="0">
              <a:solidFill>
                <a:schemeClr val="bg1"/>
              </a:solidFill>
              <a:latin typeface="Courier New" panose="02070309020205020404" pitchFamily="49" charset="0"/>
              <a:cs typeface="Courier New" panose="02070309020205020404" pitchFamily="49" charset="0"/>
            </a:endParaRPr>
          </a:p>
        </p:txBody>
      </p:sp>
      <p:sp>
        <p:nvSpPr>
          <p:cNvPr id="93" name="Rectangle 7">
            <a:extLst>
              <a:ext uri="{FF2B5EF4-FFF2-40B4-BE49-F238E27FC236}">
                <a16:creationId xmlns:a16="http://schemas.microsoft.com/office/drawing/2014/main" id="{22AAE4FE-8C9E-A789-778A-8BF05E4786E0}"/>
              </a:ext>
            </a:extLst>
          </p:cNvPr>
          <p:cNvSpPr>
            <a:spLocks noChangeArrowheads="1"/>
          </p:cNvSpPr>
          <p:nvPr/>
        </p:nvSpPr>
        <p:spPr bwMode="auto">
          <a:xfrm>
            <a:off x="1945163" y="1109842"/>
            <a:ext cx="594360" cy="643159"/>
          </a:xfrm>
          <a:prstGeom prst="rect">
            <a:avLst/>
          </a:prstGeom>
          <a:noFill/>
          <a:ln w="28575">
            <a:solidFill>
              <a:sysClr val="window" lastClr="FFFFFF"/>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IMEM</a:t>
            </a:r>
          </a:p>
        </p:txBody>
      </p:sp>
      <p:sp>
        <p:nvSpPr>
          <p:cNvPr id="96" name="Rectangle 95">
            <a:extLst>
              <a:ext uri="{FF2B5EF4-FFF2-40B4-BE49-F238E27FC236}">
                <a16:creationId xmlns:a16="http://schemas.microsoft.com/office/drawing/2014/main" id="{49849F7D-FF83-C371-A87A-DCCD0936C8EB}"/>
              </a:ext>
            </a:extLst>
          </p:cNvPr>
          <p:cNvSpPr/>
          <p:nvPr/>
        </p:nvSpPr>
        <p:spPr>
          <a:xfrm>
            <a:off x="3664308" y="936866"/>
            <a:ext cx="934483" cy="1315581"/>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i="1" dirty="0" err="1">
                <a:solidFill>
                  <a:schemeClr val="bg1"/>
                </a:solidFill>
                <a:latin typeface="18 VAG Rounded Light   02390" pitchFamily="2" charset="0"/>
              </a:rPr>
              <a:t>addr</a:t>
            </a:r>
            <a:endParaRPr lang="en-US" sz="1600" i="1" dirty="0">
              <a:solidFill>
                <a:schemeClr val="bg1"/>
              </a:solidFill>
              <a:latin typeface="18 VAG Rounded Light   02390" pitchFamily="2" charset="0"/>
            </a:endParaRPr>
          </a:p>
          <a:p>
            <a:pPr algn="r"/>
            <a:r>
              <a:rPr lang="en-US" sz="1600" i="1" dirty="0" err="1">
                <a:solidFill>
                  <a:schemeClr val="bg1"/>
                </a:solidFill>
                <a:latin typeface="18 VAG Rounded Light   02390" pitchFamily="2" charset="0"/>
              </a:rPr>
              <a:t>inst</a:t>
            </a:r>
            <a:endParaRPr lang="en-US" sz="1600" i="1" dirty="0">
              <a:solidFill>
                <a:schemeClr val="bg1"/>
              </a:solidFill>
              <a:latin typeface="18 VAG Rounded Light   02390" pitchFamily="2" charset="0"/>
            </a:endParaRPr>
          </a:p>
          <a:p>
            <a:endParaRPr lang="en-US" sz="1800" dirty="0">
              <a:solidFill>
                <a:schemeClr val="bg1"/>
              </a:solidFill>
              <a:latin typeface="18 VAG Rounded Light   02390" pitchFamily="2" charset="0"/>
            </a:endParaRPr>
          </a:p>
          <a:p>
            <a:r>
              <a:rPr lang="en-US" sz="1800" b="1" dirty="0">
                <a:solidFill>
                  <a:schemeClr val="accent5"/>
                </a:solidFill>
                <a:latin typeface="Courier New" panose="02070309020205020404" pitchFamily="49" charset="0"/>
                <a:cs typeface="Courier New" panose="02070309020205020404" pitchFamily="49" charset="0"/>
              </a:rPr>
              <a:t>IMEM</a:t>
            </a:r>
          </a:p>
        </p:txBody>
      </p:sp>
      <p:grpSp>
        <p:nvGrpSpPr>
          <p:cNvPr id="97" name="Group 96">
            <a:extLst>
              <a:ext uri="{FF2B5EF4-FFF2-40B4-BE49-F238E27FC236}">
                <a16:creationId xmlns:a16="http://schemas.microsoft.com/office/drawing/2014/main" id="{B4344D74-0D00-AE71-82C6-E0ED96292F1E}"/>
              </a:ext>
            </a:extLst>
          </p:cNvPr>
          <p:cNvGrpSpPr/>
          <p:nvPr/>
        </p:nvGrpSpPr>
        <p:grpSpPr>
          <a:xfrm>
            <a:off x="3247047" y="1197421"/>
            <a:ext cx="420788" cy="385206"/>
            <a:chOff x="2899507" y="2163028"/>
            <a:chExt cx="420788" cy="385206"/>
          </a:xfrm>
        </p:grpSpPr>
        <p:grpSp>
          <p:nvGrpSpPr>
            <p:cNvPr id="98" name="Group 97">
              <a:extLst>
                <a:ext uri="{FF2B5EF4-FFF2-40B4-BE49-F238E27FC236}">
                  <a16:creationId xmlns:a16="http://schemas.microsoft.com/office/drawing/2014/main" id="{23F166D7-BBBE-47C0-4084-1406AD6E035F}"/>
                </a:ext>
              </a:extLst>
            </p:cNvPr>
            <p:cNvGrpSpPr/>
            <p:nvPr/>
          </p:nvGrpSpPr>
          <p:grpSpPr>
            <a:xfrm>
              <a:off x="2899507" y="2163028"/>
              <a:ext cx="306576" cy="385206"/>
              <a:chOff x="3235765" y="1608456"/>
              <a:chExt cx="280882" cy="385206"/>
            </a:xfrm>
          </p:grpSpPr>
          <p:sp>
            <p:nvSpPr>
              <p:cNvPr id="100" name="Line 14">
                <a:extLst>
                  <a:ext uri="{FF2B5EF4-FFF2-40B4-BE49-F238E27FC236}">
                    <a16:creationId xmlns:a16="http://schemas.microsoft.com/office/drawing/2014/main" id="{90E431B4-E51C-DB75-672C-66232EC7025C}"/>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01" name="Rectangle 15">
                <a:extLst>
                  <a:ext uri="{FF2B5EF4-FFF2-40B4-BE49-F238E27FC236}">
                    <a16:creationId xmlns:a16="http://schemas.microsoft.com/office/drawing/2014/main" id="{E9C2B5E8-7EF4-42F1-4EE0-4D7CFC7B9B4A}"/>
                  </a:ext>
                </a:extLst>
              </p:cNvPr>
              <p:cNvSpPr>
                <a:spLocks noChangeArrowheads="1"/>
              </p:cNvSpPr>
              <p:nvPr/>
            </p:nvSpPr>
            <p:spPr bwMode="auto">
              <a:xfrm>
                <a:off x="3235765" y="1722114"/>
                <a:ext cx="280882"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99" name="Line 13">
              <a:extLst>
                <a:ext uri="{FF2B5EF4-FFF2-40B4-BE49-F238E27FC236}">
                  <a16:creationId xmlns:a16="http://schemas.microsoft.com/office/drawing/2014/main" id="{E0E64503-D8D6-DA17-DE0D-BACBAB76D412}"/>
                </a:ext>
              </a:extLst>
            </p:cNvPr>
            <p:cNvSpPr>
              <a:spLocks noChangeShapeType="1"/>
            </p:cNvSpPr>
            <p:nvPr/>
          </p:nvSpPr>
          <p:spPr bwMode="auto">
            <a:xfrm>
              <a:off x="2921077" y="2227143"/>
              <a:ext cx="399218"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102" name="Group 101">
            <a:extLst>
              <a:ext uri="{FF2B5EF4-FFF2-40B4-BE49-F238E27FC236}">
                <a16:creationId xmlns:a16="http://schemas.microsoft.com/office/drawing/2014/main" id="{39B3F0BF-D4E9-9023-DC02-27FD935B61BB}"/>
              </a:ext>
            </a:extLst>
          </p:cNvPr>
          <p:cNvGrpSpPr/>
          <p:nvPr/>
        </p:nvGrpSpPr>
        <p:grpSpPr>
          <a:xfrm>
            <a:off x="4567250" y="1493550"/>
            <a:ext cx="420788" cy="385206"/>
            <a:chOff x="2899507" y="2163028"/>
            <a:chExt cx="420788" cy="385206"/>
          </a:xfrm>
        </p:grpSpPr>
        <p:grpSp>
          <p:nvGrpSpPr>
            <p:cNvPr id="103" name="Group 102">
              <a:extLst>
                <a:ext uri="{FF2B5EF4-FFF2-40B4-BE49-F238E27FC236}">
                  <a16:creationId xmlns:a16="http://schemas.microsoft.com/office/drawing/2014/main" id="{8B68D539-DB92-6493-D817-763449F04AB0}"/>
                </a:ext>
              </a:extLst>
            </p:cNvPr>
            <p:cNvGrpSpPr/>
            <p:nvPr/>
          </p:nvGrpSpPr>
          <p:grpSpPr>
            <a:xfrm>
              <a:off x="2899507" y="2163028"/>
              <a:ext cx="306576" cy="385206"/>
              <a:chOff x="3235765" y="1608456"/>
              <a:chExt cx="280882" cy="385206"/>
            </a:xfrm>
          </p:grpSpPr>
          <p:sp>
            <p:nvSpPr>
              <p:cNvPr id="105" name="Line 14">
                <a:extLst>
                  <a:ext uri="{FF2B5EF4-FFF2-40B4-BE49-F238E27FC236}">
                    <a16:creationId xmlns:a16="http://schemas.microsoft.com/office/drawing/2014/main" id="{2CD477A0-734D-BAF4-D466-485527436E8F}"/>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06" name="Rectangle 15">
                <a:extLst>
                  <a:ext uri="{FF2B5EF4-FFF2-40B4-BE49-F238E27FC236}">
                    <a16:creationId xmlns:a16="http://schemas.microsoft.com/office/drawing/2014/main" id="{0044EDF0-6613-1567-6B6E-15166F4C8A84}"/>
                  </a:ext>
                </a:extLst>
              </p:cNvPr>
              <p:cNvSpPr>
                <a:spLocks noChangeArrowheads="1"/>
              </p:cNvSpPr>
              <p:nvPr/>
            </p:nvSpPr>
            <p:spPr bwMode="auto">
              <a:xfrm>
                <a:off x="3235765" y="1722114"/>
                <a:ext cx="280882"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104" name="Line 13">
              <a:extLst>
                <a:ext uri="{FF2B5EF4-FFF2-40B4-BE49-F238E27FC236}">
                  <a16:creationId xmlns:a16="http://schemas.microsoft.com/office/drawing/2014/main" id="{3222CAC2-2BEE-E015-0B8B-A2B27CCFC917}"/>
                </a:ext>
              </a:extLst>
            </p:cNvPr>
            <p:cNvSpPr>
              <a:spLocks noChangeShapeType="1"/>
            </p:cNvSpPr>
            <p:nvPr/>
          </p:nvSpPr>
          <p:spPr bwMode="auto">
            <a:xfrm>
              <a:off x="2921077" y="2227143"/>
              <a:ext cx="399218"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sp>
        <p:nvSpPr>
          <p:cNvPr id="107" name="Isosceles Triangle 59">
            <a:extLst>
              <a:ext uri="{FF2B5EF4-FFF2-40B4-BE49-F238E27FC236}">
                <a16:creationId xmlns:a16="http://schemas.microsoft.com/office/drawing/2014/main" id="{705A2B1C-C72A-6A97-6C6F-D4F2AC153C66}"/>
              </a:ext>
            </a:extLst>
          </p:cNvPr>
          <p:cNvSpPr/>
          <p:nvPr/>
        </p:nvSpPr>
        <p:spPr>
          <a:xfrm>
            <a:off x="4448587" y="5008690"/>
            <a:ext cx="182880" cy="172777"/>
          </a:xfrm>
          <a:prstGeom prst="triangle">
            <a:avLst/>
          </a:prstGeom>
          <a:noFill/>
          <a:ln w="28575"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108" name="Group 107">
            <a:extLst>
              <a:ext uri="{FF2B5EF4-FFF2-40B4-BE49-F238E27FC236}">
                <a16:creationId xmlns:a16="http://schemas.microsoft.com/office/drawing/2014/main" id="{4505CA7A-2A4F-F216-105D-0F920030E3F3}"/>
              </a:ext>
            </a:extLst>
          </p:cNvPr>
          <p:cNvGrpSpPr/>
          <p:nvPr/>
        </p:nvGrpSpPr>
        <p:grpSpPr>
          <a:xfrm>
            <a:off x="3683116" y="3866170"/>
            <a:ext cx="1021734" cy="1315586"/>
            <a:chOff x="9120628" y="3398117"/>
            <a:chExt cx="1021734" cy="1315586"/>
          </a:xfrm>
        </p:grpSpPr>
        <p:sp>
          <p:nvSpPr>
            <p:cNvPr id="109" name="Rectangle 108">
              <a:extLst>
                <a:ext uri="{FF2B5EF4-FFF2-40B4-BE49-F238E27FC236}">
                  <a16:creationId xmlns:a16="http://schemas.microsoft.com/office/drawing/2014/main" id="{4F57C7CE-B0E8-BF44-433D-E513BDFD65D1}"/>
                </a:ext>
              </a:extLst>
            </p:cNvPr>
            <p:cNvSpPr/>
            <p:nvPr/>
          </p:nvSpPr>
          <p:spPr>
            <a:xfrm>
              <a:off x="9120628" y="3398117"/>
              <a:ext cx="1021734" cy="1315586"/>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600" i="1" dirty="0">
                  <a:solidFill>
                    <a:schemeClr val="bg1"/>
                  </a:solidFill>
                  <a:latin typeface="18 VAG Rounded Light   02390" pitchFamily="2" charset="0"/>
                </a:rPr>
                <a:t>	</a:t>
              </a:r>
              <a:r>
                <a:rPr lang="en-US" sz="1600" i="1" dirty="0" err="1">
                  <a:solidFill>
                    <a:schemeClr val="bg1"/>
                  </a:solidFill>
                  <a:latin typeface="18 VAG Rounded Light   02390" pitchFamily="2" charset="0"/>
                </a:rPr>
                <a:t>rdata</a:t>
              </a:r>
              <a:endParaRPr lang="en-US" sz="1600" i="1" dirty="0">
                <a:solidFill>
                  <a:schemeClr val="bg1"/>
                </a:solidFill>
                <a:latin typeface="18 VAG Rounded Light   02390" pitchFamily="2" charset="0"/>
              </a:endParaRPr>
            </a:p>
            <a:p>
              <a:pPr>
                <a:spcBef>
                  <a:spcPts val="400"/>
                </a:spcBef>
                <a:tabLst>
                  <a:tab pos="1249363" algn="r"/>
                </a:tabLst>
              </a:pPr>
              <a:r>
                <a:rPr lang="en-US" sz="1600" i="1" dirty="0" err="1">
                  <a:solidFill>
                    <a:schemeClr val="bg1"/>
                  </a:solidFill>
                  <a:latin typeface="18 VAG Rounded Light   02390" pitchFamily="2" charset="0"/>
                </a:rPr>
                <a:t>addr</a:t>
              </a:r>
              <a:endParaRPr lang="en-US" sz="1600" i="1" dirty="0">
                <a:solidFill>
                  <a:schemeClr val="bg1"/>
                </a:solidFill>
                <a:latin typeface="18 VAG Rounded Light   02390" pitchFamily="2" charset="0"/>
              </a:endParaRPr>
            </a:p>
            <a:p>
              <a:pPr algn="r">
                <a:spcBef>
                  <a:spcPts val="400"/>
                </a:spcBef>
                <a:tabLst>
                  <a:tab pos="1249363" algn="r"/>
                </a:tabLst>
              </a:pPr>
              <a:r>
                <a:rPr lang="en-US" sz="1800" b="1" dirty="0">
                  <a:solidFill>
                    <a:schemeClr val="accent6"/>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400" i="1" dirty="0" err="1">
                  <a:solidFill>
                    <a:schemeClr val="bg1"/>
                  </a:solidFill>
                  <a:latin typeface="18 VAG ROUNDED LIGHT   02390" pitchFamily="2" charset="0"/>
                  <a:cs typeface="Courier New" panose="02070309020205020404" pitchFamily="49" charset="0"/>
                </a:rPr>
                <a:t>wdata</a:t>
              </a:r>
              <a:r>
                <a:rPr lang="en-US" sz="1800" i="1" dirty="0">
                  <a:solidFill>
                    <a:schemeClr val="bg1"/>
                  </a:solidFill>
                  <a:latin typeface="18 VAG ROUNDED LIGHT   02390" pitchFamily="2" charset="0"/>
                  <a:cs typeface="Courier New" panose="02070309020205020404" pitchFamily="49" charset="0"/>
                </a:rPr>
                <a:t> </a:t>
              </a:r>
              <a:endParaRPr lang="en-US" sz="1400" i="1" dirty="0">
                <a:solidFill>
                  <a:schemeClr val="bg1"/>
                </a:solidFill>
                <a:latin typeface="18 VAG ROUNDED LIGHT   02390" pitchFamily="2" charset="0"/>
                <a:cs typeface="Courier New" panose="02070309020205020404" pitchFamily="49" charset="0"/>
              </a:endParaRPr>
            </a:p>
          </p:txBody>
        </p:sp>
        <p:sp>
          <p:nvSpPr>
            <p:cNvPr id="110" name="Rectangle 109">
              <a:extLst>
                <a:ext uri="{FF2B5EF4-FFF2-40B4-BE49-F238E27FC236}">
                  <a16:creationId xmlns:a16="http://schemas.microsoft.com/office/drawing/2014/main" id="{ABFCF99E-AD37-A99C-E368-25F8A0238C97}"/>
                </a:ext>
              </a:extLst>
            </p:cNvPr>
            <p:cNvSpPr/>
            <p:nvPr/>
          </p:nvSpPr>
          <p:spPr>
            <a:xfrm>
              <a:off x="9120628" y="4444602"/>
              <a:ext cx="165031" cy="191496"/>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grpSp>
      <p:sp>
        <p:nvSpPr>
          <p:cNvPr id="111" name="TextBox 110">
            <a:extLst>
              <a:ext uri="{FF2B5EF4-FFF2-40B4-BE49-F238E27FC236}">
                <a16:creationId xmlns:a16="http://schemas.microsoft.com/office/drawing/2014/main" id="{56C405A5-FE88-CF47-3253-C7625593CC8A}"/>
              </a:ext>
            </a:extLst>
          </p:cNvPr>
          <p:cNvSpPr txBox="1"/>
          <p:nvPr/>
        </p:nvSpPr>
        <p:spPr>
          <a:xfrm>
            <a:off x="4376431" y="5310603"/>
            <a:ext cx="341760" cy="261610"/>
          </a:xfrm>
          <a:prstGeom prst="rect">
            <a:avLst/>
          </a:prstGeom>
          <a:noFill/>
        </p:spPr>
        <p:txBody>
          <a:bodyPr wrap="none" rtlCol="0">
            <a:spAutoFit/>
          </a:bodyPr>
          <a:lstStyle/>
          <a:p>
            <a:pPr algn="l"/>
            <a:r>
              <a:rPr lang="en-US" sz="1100" dirty="0" err="1">
                <a:solidFill>
                  <a:schemeClr val="accent6"/>
                </a:solidFill>
                <a:latin typeface="18 VAG Rounded Light   02390" pitchFamily="2" charset="0"/>
              </a:rPr>
              <a:t>clk</a:t>
            </a:r>
            <a:endParaRPr lang="en-US" sz="1100" dirty="0">
              <a:solidFill>
                <a:schemeClr val="accent6"/>
              </a:solidFill>
              <a:latin typeface="18 VAG Rounded Light   02390" pitchFamily="2" charset="0"/>
            </a:endParaRPr>
          </a:p>
        </p:txBody>
      </p:sp>
      <p:cxnSp>
        <p:nvCxnSpPr>
          <p:cNvPr id="112" name="Straight Connector 111">
            <a:extLst>
              <a:ext uri="{FF2B5EF4-FFF2-40B4-BE49-F238E27FC236}">
                <a16:creationId xmlns:a16="http://schemas.microsoft.com/office/drawing/2014/main" id="{C0921785-BCC5-ECAC-5CFB-25A3F5FEF66A}"/>
              </a:ext>
            </a:extLst>
          </p:cNvPr>
          <p:cNvCxnSpPr>
            <a:cxnSpLocks/>
            <a:stCxn id="111" idx="0"/>
          </p:cNvCxnSpPr>
          <p:nvPr/>
        </p:nvCxnSpPr>
        <p:spPr>
          <a:xfrm flipV="1">
            <a:off x="4547311" y="5181467"/>
            <a:ext cx="0" cy="129136"/>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35650F9E-6F65-6772-F136-B767679B304A}"/>
              </a:ext>
            </a:extLst>
          </p:cNvPr>
          <p:cNvCxnSpPr>
            <a:cxnSpLocks/>
          </p:cNvCxnSpPr>
          <p:nvPr/>
        </p:nvCxnSpPr>
        <p:spPr>
          <a:xfrm flipV="1">
            <a:off x="4021369" y="5171643"/>
            <a:ext cx="0" cy="36576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72C77B66-7884-C7F5-A5EF-4996A2591E32}"/>
              </a:ext>
            </a:extLst>
          </p:cNvPr>
          <p:cNvSpPr txBox="1"/>
          <p:nvPr/>
        </p:nvSpPr>
        <p:spPr>
          <a:xfrm>
            <a:off x="3630734" y="5543254"/>
            <a:ext cx="817853" cy="277833"/>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MemRW</a:t>
            </a:r>
            <a:endParaRPr lang="en-US" sz="1400" dirty="0">
              <a:solidFill>
                <a:schemeClr val="accent3"/>
              </a:solidFill>
              <a:latin typeface="18 VAG Rounded Light   02390" pitchFamily="2" charset="0"/>
            </a:endParaRPr>
          </a:p>
        </p:txBody>
      </p:sp>
      <p:grpSp>
        <p:nvGrpSpPr>
          <p:cNvPr id="115" name="Group 114">
            <a:extLst>
              <a:ext uri="{FF2B5EF4-FFF2-40B4-BE49-F238E27FC236}">
                <a16:creationId xmlns:a16="http://schemas.microsoft.com/office/drawing/2014/main" id="{30C4C8D5-4215-9574-7D2C-A1E78A5823E8}"/>
              </a:ext>
            </a:extLst>
          </p:cNvPr>
          <p:cNvGrpSpPr/>
          <p:nvPr/>
        </p:nvGrpSpPr>
        <p:grpSpPr>
          <a:xfrm>
            <a:off x="3279140" y="4977299"/>
            <a:ext cx="420792" cy="385206"/>
            <a:chOff x="2899503" y="2163028"/>
            <a:chExt cx="420792" cy="385206"/>
          </a:xfrm>
        </p:grpSpPr>
        <p:grpSp>
          <p:nvGrpSpPr>
            <p:cNvPr id="116" name="Group 115">
              <a:extLst>
                <a:ext uri="{FF2B5EF4-FFF2-40B4-BE49-F238E27FC236}">
                  <a16:creationId xmlns:a16="http://schemas.microsoft.com/office/drawing/2014/main" id="{1B91868E-F91F-D03C-2580-B2B9C2AAAADB}"/>
                </a:ext>
              </a:extLst>
            </p:cNvPr>
            <p:cNvGrpSpPr/>
            <p:nvPr/>
          </p:nvGrpSpPr>
          <p:grpSpPr>
            <a:xfrm>
              <a:off x="2899503" y="2163028"/>
              <a:ext cx="306576" cy="385206"/>
              <a:chOff x="3235761" y="1608456"/>
              <a:chExt cx="280882" cy="385206"/>
            </a:xfrm>
          </p:grpSpPr>
          <p:sp>
            <p:nvSpPr>
              <p:cNvPr id="118" name="Line 14">
                <a:extLst>
                  <a:ext uri="{FF2B5EF4-FFF2-40B4-BE49-F238E27FC236}">
                    <a16:creationId xmlns:a16="http://schemas.microsoft.com/office/drawing/2014/main" id="{66AE33F9-B3CF-88C0-A434-FE21FD111667}"/>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19" name="Rectangle 15">
                <a:extLst>
                  <a:ext uri="{FF2B5EF4-FFF2-40B4-BE49-F238E27FC236}">
                    <a16:creationId xmlns:a16="http://schemas.microsoft.com/office/drawing/2014/main" id="{232B2748-A934-BCE4-0D3D-623AF743C170}"/>
                  </a:ext>
                </a:extLst>
              </p:cNvPr>
              <p:cNvSpPr>
                <a:spLocks noChangeArrowheads="1"/>
              </p:cNvSpPr>
              <p:nvPr/>
            </p:nvSpPr>
            <p:spPr bwMode="auto">
              <a:xfrm>
                <a:off x="3235761" y="1722114"/>
                <a:ext cx="280882"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117" name="Line 13">
              <a:extLst>
                <a:ext uri="{FF2B5EF4-FFF2-40B4-BE49-F238E27FC236}">
                  <a16:creationId xmlns:a16="http://schemas.microsoft.com/office/drawing/2014/main" id="{AF3DE702-3F2C-4DDE-F526-A6E7A629E0F9}"/>
                </a:ext>
              </a:extLst>
            </p:cNvPr>
            <p:cNvSpPr>
              <a:spLocks noChangeShapeType="1"/>
            </p:cNvSpPr>
            <p:nvPr/>
          </p:nvSpPr>
          <p:spPr bwMode="auto">
            <a:xfrm>
              <a:off x="2921077" y="2227143"/>
              <a:ext cx="399218"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120" name="Group 119">
            <a:extLst>
              <a:ext uri="{FF2B5EF4-FFF2-40B4-BE49-F238E27FC236}">
                <a16:creationId xmlns:a16="http://schemas.microsoft.com/office/drawing/2014/main" id="{69173529-E663-863B-53C7-38F39DD51F93}"/>
              </a:ext>
            </a:extLst>
          </p:cNvPr>
          <p:cNvGrpSpPr/>
          <p:nvPr/>
        </p:nvGrpSpPr>
        <p:grpSpPr>
          <a:xfrm>
            <a:off x="3268617" y="4316725"/>
            <a:ext cx="420788" cy="385206"/>
            <a:chOff x="2899507" y="2163028"/>
            <a:chExt cx="420788" cy="385206"/>
          </a:xfrm>
        </p:grpSpPr>
        <p:grpSp>
          <p:nvGrpSpPr>
            <p:cNvPr id="121" name="Group 120">
              <a:extLst>
                <a:ext uri="{FF2B5EF4-FFF2-40B4-BE49-F238E27FC236}">
                  <a16:creationId xmlns:a16="http://schemas.microsoft.com/office/drawing/2014/main" id="{595A8584-A0A5-7C8A-B29E-2E2E1308B359}"/>
                </a:ext>
              </a:extLst>
            </p:cNvPr>
            <p:cNvGrpSpPr/>
            <p:nvPr/>
          </p:nvGrpSpPr>
          <p:grpSpPr>
            <a:xfrm>
              <a:off x="2899507" y="2163028"/>
              <a:ext cx="306576" cy="385206"/>
              <a:chOff x="3235765" y="1608456"/>
              <a:chExt cx="280882" cy="385206"/>
            </a:xfrm>
          </p:grpSpPr>
          <p:sp>
            <p:nvSpPr>
              <p:cNvPr id="123" name="Line 14">
                <a:extLst>
                  <a:ext uri="{FF2B5EF4-FFF2-40B4-BE49-F238E27FC236}">
                    <a16:creationId xmlns:a16="http://schemas.microsoft.com/office/drawing/2014/main" id="{8CFFCF92-AFAE-B34E-B7B3-291DD8063561}"/>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24" name="Rectangle 15">
                <a:extLst>
                  <a:ext uri="{FF2B5EF4-FFF2-40B4-BE49-F238E27FC236}">
                    <a16:creationId xmlns:a16="http://schemas.microsoft.com/office/drawing/2014/main" id="{33750F7A-7C58-B982-B707-23F5B68D04E4}"/>
                  </a:ext>
                </a:extLst>
              </p:cNvPr>
              <p:cNvSpPr>
                <a:spLocks noChangeArrowheads="1"/>
              </p:cNvSpPr>
              <p:nvPr/>
            </p:nvSpPr>
            <p:spPr bwMode="auto">
              <a:xfrm>
                <a:off x="3235765" y="1722114"/>
                <a:ext cx="280882"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122" name="Line 13">
              <a:extLst>
                <a:ext uri="{FF2B5EF4-FFF2-40B4-BE49-F238E27FC236}">
                  <a16:creationId xmlns:a16="http://schemas.microsoft.com/office/drawing/2014/main" id="{928C71B8-84DF-824C-A495-4427CCA886BD}"/>
                </a:ext>
              </a:extLst>
            </p:cNvPr>
            <p:cNvSpPr>
              <a:spLocks noChangeShapeType="1"/>
            </p:cNvSpPr>
            <p:nvPr/>
          </p:nvSpPr>
          <p:spPr bwMode="auto">
            <a:xfrm>
              <a:off x="2921077" y="2227143"/>
              <a:ext cx="399218"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125" name="Group 124">
            <a:extLst>
              <a:ext uri="{FF2B5EF4-FFF2-40B4-BE49-F238E27FC236}">
                <a16:creationId xmlns:a16="http://schemas.microsoft.com/office/drawing/2014/main" id="{A9BB51FB-0E83-518C-9E35-79C0E8CA595B}"/>
              </a:ext>
            </a:extLst>
          </p:cNvPr>
          <p:cNvGrpSpPr/>
          <p:nvPr/>
        </p:nvGrpSpPr>
        <p:grpSpPr>
          <a:xfrm>
            <a:off x="4719115" y="3995633"/>
            <a:ext cx="399218" cy="395754"/>
            <a:chOff x="2921077" y="2163028"/>
            <a:chExt cx="399218" cy="395754"/>
          </a:xfrm>
        </p:grpSpPr>
        <p:grpSp>
          <p:nvGrpSpPr>
            <p:cNvPr id="126" name="Group 125">
              <a:extLst>
                <a:ext uri="{FF2B5EF4-FFF2-40B4-BE49-F238E27FC236}">
                  <a16:creationId xmlns:a16="http://schemas.microsoft.com/office/drawing/2014/main" id="{8EB0C6D6-F263-7B58-48E4-762AF94246D4}"/>
                </a:ext>
              </a:extLst>
            </p:cNvPr>
            <p:cNvGrpSpPr/>
            <p:nvPr/>
          </p:nvGrpSpPr>
          <p:grpSpPr>
            <a:xfrm>
              <a:off x="2949542" y="2163028"/>
              <a:ext cx="306576" cy="395754"/>
              <a:chOff x="3281607" y="1608456"/>
              <a:chExt cx="280882" cy="395754"/>
            </a:xfrm>
          </p:grpSpPr>
          <p:sp>
            <p:nvSpPr>
              <p:cNvPr id="128" name="Line 14">
                <a:extLst>
                  <a:ext uri="{FF2B5EF4-FFF2-40B4-BE49-F238E27FC236}">
                    <a16:creationId xmlns:a16="http://schemas.microsoft.com/office/drawing/2014/main" id="{5F4DC066-2DE7-3A2F-2576-9D98DB2761F0}"/>
                  </a:ext>
                </a:extLst>
              </p:cNvPr>
              <p:cNvSpPr>
                <a:spLocks noChangeShapeType="1"/>
              </p:cNvSpPr>
              <p:nvPr/>
            </p:nvSpPr>
            <p:spPr bwMode="auto">
              <a:xfrm flipH="1">
                <a:off x="3361549" y="1608456"/>
                <a:ext cx="72554" cy="128229"/>
              </a:xfrm>
              <a:prstGeom prst="line">
                <a:avLst/>
              </a:prstGeom>
              <a:noFill/>
              <a:ln w="28575" cap="rnd">
                <a:solidFill>
                  <a:sysClr val="window" lastClr="FFFFFF"/>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sp>
            <p:nvSpPr>
              <p:cNvPr id="129" name="Rectangle 15">
                <a:extLst>
                  <a:ext uri="{FF2B5EF4-FFF2-40B4-BE49-F238E27FC236}">
                    <a16:creationId xmlns:a16="http://schemas.microsoft.com/office/drawing/2014/main" id="{2C930B3D-14F9-8E71-4AAD-58D1CF786238}"/>
                  </a:ext>
                </a:extLst>
              </p:cNvPr>
              <p:cNvSpPr>
                <a:spLocks noChangeArrowheads="1"/>
              </p:cNvSpPr>
              <p:nvPr/>
            </p:nvSpPr>
            <p:spPr bwMode="auto">
              <a:xfrm>
                <a:off x="3281607" y="1732662"/>
                <a:ext cx="280882" cy="271548"/>
              </a:xfrm>
              <a:prstGeom prst="rect">
                <a:avLst/>
              </a:prstGeom>
              <a:noFill/>
              <a:ln w="12700">
                <a:noFill/>
                <a:miter lim="800000"/>
                <a:headEnd/>
                <a:tailEnd/>
              </a:ln>
            </p:spPr>
            <p:txBody>
              <a:bodyPr wrap="none" lIns="56555" tIns="27781" rIns="56555" bIns="27781">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prstClr val="white"/>
                    </a:solidFill>
                    <a:effectLst/>
                    <a:uLnTx/>
                    <a:uFillTx/>
                    <a:latin typeface="18 VAG Rounded Light   02390" pitchFamily="2" charset="0"/>
                    <a:ea typeface="ＭＳ Ｐゴシック" charset="-128"/>
                    <a:cs typeface="ＭＳ Ｐゴシック" charset="-128"/>
                  </a:rPr>
                  <a:t>32</a:t>
                </a:r>
              </a:p>
            </p:txBody>
          </p:sp>
        </p:grpSp>
        <p:sp>
          <p:nvSpPr>
            <p:cNvPr id="127" name="Line 13">
              <a:extLst>
                <a:ext uri="{FF2B5EF4-FFF2-40B4-BE49-F238E27FC236}">
                  <a16:creationId xmlns:a16="http://schemas.microsoft.com/office/drawing/2014/main" id="{24B2154B-6114-DE5F-64F5-F80944D8132B}"/>
                </a:ext>
              </a:extLst>
            </p:cNvPr>
            <p:cNvSpPr>
              <a:spLocks noChangeShapeType="1"/>
            </p:cNvSpPr>
            <p:nvPr/>
          </p:nvSpPr>
          <p:spPr bwMode="auto">
            <a:xfrm>
              <a:off x="2921077" y="2227143"/>
              <a:ext cx="399218" cy="0"/>
            </a:xfrm>
            <a:prstGeom prst="line">
              <a:avLst/>
            </a:prstGeom>
            <a:noFill/>
            <a:ln w="25400">
              <a:solidFill>
                <a:sysClr val="window" lastClr="FFFFFF"/>
              </a:solidFill>
              <a:round/>
              <a:headEnd/>
              <a:tailEnd type="triangle" w="lg" len="lg"/>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4297" u="none" strike="noStrike" kern="0" cap="none" spc="0" normalizeH="0" baseline="0" noProof="0">
                <a:ln>
                  <a:noFill/>
                </a:ln>
                <a:solidFill>
                  <a:prstClr val="white"/>
                </a:solidFill>
                <a:effectLst/>
                <a:uLnTx/>
                <a:uFillTx/>
                <a:latin typeface="18 VAG Rounded Light   02390" pitchFamily="2" charset="0"/>
                <a:ea typeface="ＭＳ Ｐゴシック" charset="-128"/>
                <a:cs typeface="ＭＳ Ｐゴシック" charset="-128"/>
              </a:endParaRPr>
            </a:p>
          </p:txBody>
        </p:sp>
      </p:grpSp>
      <p:grpSp>
        <p:nvGrpSpPr>
          <p:cNvPr id="134" name="Group 133">
            <a:extLst>
              <a:ext uri="{FF2B5EF4-FFF2-40B4-BE49-F238E27FC236}">
                <a16:creationId xmlns:a16="http://schemas.microsoft.com/office/drawing/2014/main" id="{693F6D5E-2EB4-4465-2ED3-2E25FF06A7E9}"/>
              </a:ext>
            </a:extLst>
          </p:cNvPr>
          <p:cNvGrpSpPr/>
          <p:nvPr/>
        </p:nvGrpSpPr>
        <p:grpSpPr>
          <a:xfrm>
            <a:off x="1943765" y="4254126"/>
            <a:ext cx="594360" cy="643159"/>
            <a:chOff x="8439707" y="2607275"/>
            <a:chExt cx="594360" cy="643159"/>
          </a:xfrm>
        </p:grpSpPr>
        <p:sp>
          <p:nvSpPr>
            <p:cNvPr id="135" name="Rectangle 7">
              <a:extLst>
                <a:ext uri="{FF2B5EF4-FFF2-40B4-BE49-F238E27FC236}">
                  <a16:creationId xmlns:a16="http://schemas.microsoft.com/office/drawing/2014/main" id="{D3C83C23-C048-17EA-4A3B-441E229DBD4B}"/>
                </a:ext>
              </a:extLst>
            </p:cNvPr>
            <p:cNvSpPr>
              <a:spLocks noChangeArrowheads="1"/>
            </p:cNvSpPr>
            <p:nvPr/>
          </p:nvSpPr>
          <p:spPr bwMode="auto">
            <a:xfrm>
              <a:off x="8439707" y="2607275"/>
              <a:ext cx="594360" cy="643159"/>
            </a:xfrm>
            <a:prstGeom prst="rect">
              <a:avLst/>
            </a:prstGeom>
            <a:noFill/>
            <a:ln w="28575">
              <a:solidFill>
                <a:schemeClr val="bg1"/>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400" u="none" strike="noStrike" kern="0" cap="none" spc="0" normalizeH="0" baseline="0" noProof="0" dirty="0">
                  <a:ln>
                    <a:noFill/>
                  </a:ln>
                  <a:solidFill>
                    <a:schemeClr val="bg1"/>
                  </a:solidFill>
                  <a:effectLst/>
                  <a:uLnTx/>
                  <a:uFillTx/>
                  <a:latin typeface="18 VAG Rounded Light   02390" pitchFamily="2" charset="0"/>
                  <a:ea typeface="ＭＳ Ｐゴシック" charset="-128"/>
                  <a:cs typeface="ＭＳ Ｐゴシック" charset="-128"/>
                </a:rPr>
                <a:t>DMEM</a:t>
              </a:r>
            </a:p>
          </p:txBody>
        </p:sp>
        <p:sp>
          <p:nvSpPr>
            <p:cNvPr id="136" name="Line 18">
              <a:extLst>
                <a:ext uri="{FF2B5EF4-FFF2-40B4-BE49-F238E27FC236}">
                  <a16:creationId xmlns:a16="http://schemas.microsoft.com/office/drawing/2014/main" id="{4B8C1F4A-C9FE-3113-CDEA-4E6A1FD0AE07}"/>
                </a:ext>
              </a:extLst>
            </p:cNvPr>
            <p:cNvSpPr>
              <a:spLocks noChangeShapeType="1"/>
            </p:cNvSpPr>
            <p:nvPr/>
          </p:nvSpPr>
          <p:spPr bwMode="auto">
            <a:xfrm flipV="1">
              <a:off x="8468480" y="3145263"/>
              <a:ext cx="47625" cy="95250"/>
            </a:xfrm>
            <a:prstGeom prst="line">
              <a:avLst/>
            </a:prstGeom>
            <a:noFill/>
            <a:ln w="19050" cap="rnd">
              <a:solidFill>
                <a:schemeClr val="bg1"/>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VAGRundschriftDLig" panose="00000400000000000000" pitchFamily="50" charset="0"/>
                <a:ea typeface="ＭＳ Ｐゴシック" charset="-128"/>
                <a:cs typeface="ＭＳ Ｐゴシック" charset="-128"/>
              </a:endParaRPr>
            </a:p>
          </p:txBody>
        </p:sp>
        <p:sp>
          <p:nvSpPr>
            <p:cNvPr id="137" name="Line 19">
              <a:extLst>
                <a:ext uri="{FF2B5EF4-FFF2-40B4-BE49-F238E27FC236}">
                  <a16:creationId xmlns:a16="http://schemas.microsoft.com/office/drawing/2014/main" id="{89426DFF-656D-5F86-BA3C-75AEB9AF75C2}"/>
                </a:ext>
              </a:extLst>
            </p:cNvPr>
            <p:cNvSpPr>
              <a:spLocks noChangeShapeType="1"/>
            </p:cNvSpPr>
            <p:nvPr/>
          </p:nvSpPr>
          <p:spPr bwMode="auto">
            <a:xfrm>
              <a:off x="8516105" y="3145263"/>
              <a:ext cx="47625" cy="95250"/>
            </a:xfrm>
            <a:prstGeom prst="line">
              <a:avLst/>
            </a:prstGeom>
            <a:noFill/>
            <a:ln w="19050" cap="rnd">
              <a:solidFill>
                <a:schemeClr val="bg1"/>
              </a:solidFill>
              <a:round/>
              <a:headEnd/>
              <a:tailEnd/>
            </a:ln>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VAGRundschriftDLig" panose="00000400000000000000" pitchFamily="50" charset="0"/>
                <a:ea typeface="ＭＳ Ｐゴシック" charset="-128"/>
                <a:cs typeface="ＭＳ Ｐゴシック" charset="-128"/>
              </a:endParaRPr>
            </a:p>
          </p:txBody>
        </p:sp>
      </p:grpSp>
    </p:spTree>
    <p:extLst>
      <p:ext uri="{BB962C8B-B14F-4D97-AF65-F5344CB8AC3E}">
        <p14:creationId xmlns:p14="http://schemas.microsoft.com/office/powerpoint/2010/main" val="3272879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4">
            <a:extLst>
              <a:ext uri="{FF2B5EF4-FFF2-40B4-BE49-F238E27FC236}">
                <a16:creationId xmlns:a16="http://schemas.microsoft.com/office/drawing/2014/main" id="{4F55247C-760F-7E4A-FB90-1A59EEB31C70}"/>
              </a:ext>
            </a:extLst>
          </p:cNvPr>
          <p:cNvSpPr>
            <a:spLocks noChangeArrowheads="1"/>
          </p:cNvSpPr>
          <p:nvPr/>
        </p:nvSpPr>
        <p:spPr bwMode="auto">
          <a:xfrm>
            <a:off x="1014803" y="3304813"/>
            <a:ext cx="415675" cy="1133850"/>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u="none" strike="noStrike" kern="1200" cap="none" spc="0" normalizeH="0" baseline="0" noProof="0" dirty="0">
                <a:ln>
                  <a:noFill/>
                </a:ln>
                <a:solidFill>
                  <a:schemeClr val="bg1"/>
                </a:solidFill>
                <a:effectLst/>
                <a:uLnTx/>
                <a:uFillTx/>
                <a:latin typeface="18 VAG Rounded Light   02390" pitchFamily="2" charset="0"/>
                <a:ea typeface="ＭＳ Ｐゴシック" pitchFamily="-1" charset="-128"/>
              </a:rPr>
              <a:t>PC</a:t>
            </a:r>
          </a:p>
        </p:txBody>
      </p:sp>
      <p:sp>
        <p:nvSpPr>
          <p:cNvPr id="59" name="Rectangle 8">
            <a:extLst>
              <a:ext uri="{FF2B5EF4-FFF2-40B4-BE49-F238E27FC236}">
                <a16:creationId xmlns:a16="http://schemas.microsoft.com/office/drawing/2014/main" id="{83BCBF40-CA42-333A-BF35-8E7A5B5CC28E}"/>
              </a:ext>
            </a:extLst>
          </p:cNvPr>
          <p:cNvSpPr>
            <a:spLocks noChangeArrowheads="1"/>
          </p:cNvSpPr>
          <p:nvPr/>
        </p:nvSpPr>
        <p:spPr bwMode="auto">
          <a:xfrm>
            <a:off x="4296366" y="3182521"/>
            <a:ext cx="1080756" cy="1133850"/>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u="none" strike="noStrike" kern="1200" cap="none" spc="0" normalizeH="0" baseline="0" noProof="0" dirty="0">
                <a:ln>
                  <a:noFill/>
                </a:ln>
                <a:solidFill>
                  <a:schemeClr val="bg1"/>
                </a:solidFill>
                <a:effectLst/>
                <a:uLnTx/>
                <a:uFillTx/>
                <a:latin typeface="18 VAG Rounded Light   02390" pitchFamily="2" charset="0"/>
                <a:ea typeface="ＭＳ Ｐゴシック" pitchFamily="-1" charset="-128"/>
              </a:rPr>
              <a:t>Reg[ ]</a:t>
            </a:r>
          </a:p>
        </p:txBody>
      </p:sp>
      <p:sp>
        <p:nvSpPr>
          <p:cNvPr id="74" name="Rectangle 23">
            <a:extLst>
              <a:ext uri="{FF2B5EF4-FFF2-40B4-BE49-F238E27FC236}">
                <a16:creationId xmlns:a16="http://schemas.microsoft.com/office/drawing/2014/main" id="{9898B5E0-5A56-3D1F-4E4D-31BBB3DD3768}"/>
              </a:ext>
            </a:extLst>
          </p:cNvPr>
          <p:cNvSpPr>
            <a:spLocks noChangeArrowheads="1"/>
          </p:cNvSpPr>
          <p:nvPr/>
        </p:nvSpPr>
        <p:spPr bwMode="auto">
          <a:xfrm rot="16200000">
            <a:off x="8103412" y="3098816"/>
            <a:ext cx="1918374" cy="1729961"/>
          </a:xfrm>
          <a:prstGeom prst="rect">
            <a:avLst/>
          </a:prstGeom>
          <a:noFill/>
          <a:ln w="28575">
            <a:solidFill>
              <a:schemeClr val="bg1"/>
            </a:solidFill>
            <a:miter lim="800000"/>
            <a:headEnd/>
            <a:tailEnd/>
          </a:ln>
        </p:spPr>
        <p:txBody>
          <a:bodyPr vert="vert" wrap="none" lIns="68580" tIns="34290" rIns="68580" bIns="34290" anchor="ctr">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u="none" strike="noStrike" kern="0" cap="none" spc="0" normalizeH="0" baseline="0" noProof="0" dirty="0">
                <a:ln>
                  <a:noFill/>
                </a:ln>
                <a:solidFill>
                  <a:schemeClr val="bg1"/>
                </a:solidFill>
                <a:effectLst/>
                <a:uLnTx/>
                <a:uFillTx/>
                <a:latin typeface="18 VAG Rounded Light   02390" pitchFamily="2" charset="0"/>
                <a:ea typeface="ＭＳ Ｐゴシック" pitchFamily="-1" charset="-128"/>
              </a:rPr>
              <a:t>DMEM</a:t>
            </a:r>
          </a:p>
        </p:txBody>
      </p:sp>
      <p:sp>
        <p:nvSpPr>
          <p:cNvPr id="98" name="Freeform 97">
            <a:extLst>
              <a:ext uri="{FF2B5EF4-FFF2-40B4-BE49-F238E27FC236}">
                <a16:creationId xmlns:a16="http://schemas.microsoft.com/office/drawing/2014/main" id="{82B5C02B-B9D8-0049-1387-1E246E539D6C}"/>
              </a:ext>
            </a:extLst>
          </p:cNvPr>
          <p:cNvSpPr>
            <a:spLocks/>
          </p:cNvSpPr>
          <p:nvPr/>
        </p:nvSpPr>
        <p:spPr>
          <a:xfrm>
            <a:off x="6223461" y="3005650"/>
            <a:ext cx="916681" cy="1607053"/>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2000" dirty="0">
                <a:solidFill>
                  <a:schemeClr val="bg1"/>
                </a:solidFill>
                <a:latin typeface="18 VAG Rounded Light   02390" pitchFamily="2" charset="0"/>
              </a:rPr>
              <a:t>ALU</a:t>
            </a:r>
          </a:p>
        </p:txBody>
      </p:sp>
      <p:sp>
        <p:nvSpPr>
          <p:cNvPr id="66" name="Rectangle 65">
            <a:extLst>
              <a:ext uri="{FF2B5EF4-FFF2-40B4-BE49-F238E27FC236}">
                <a16:creationId xmlns:a16="http://schemas.microsoft.com/office/drawing/2014/main" id="{F37DD6D3-48BB-015C-B36F-0E314ACD6116}"/>
              </a:ext>
            </a:extLst>
          </p:cNvPr>
          <p:cNvSpPr/>
          <p:nvPr/>
        </p:nvSpPr>
        <p:spPr>
          <a:xfrm>
            <a:off x="2205130" y="2780558"/>
            <a:ext cx="1181029" cy="2142426"/>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000" dirty="0">
                <a:solidFill>
                  <a:schemeClr val="bg1"/>
                </a:solidFill>
                <a:latin typeface="18 VAG Rounded Light   02390" pitchFamily="2" charset="0"/>
              </a:rPr>
              <a:t>IMEM</a:t>
            </a:r>
          </a:p>
        </p:txBody>
      </p:sp>
      <p:sp>
        <p:nvSpPr>
          <p:cNvPr id="4" name="TextBox 3">
            <a:extLst>
              <a:ext uri="{FF2B5EF4-FFF2-40B4-BE49-F238E27FC236}">
                <a16:creationId xmlns:a16="http://schemas.microsoft.com/office/drawing/2014/main" id="{CA0A6F74-3A69-32F9-0E0A-CE86742238CF}"/>
              </a:ext>
            </a:extLst>
          </p:cNvPr>
          <p:cNvSpPr txBox="1"/>
          <p:nvPr/>
        </p:nvSpPr>
        <p:spPr>
          <a:xfrm>
            <a:off x="440273" y="956529"/>
            <a:ext cx="2072640" cy="830997"/>
          </a:xfrm>
          <a:prstGeom prst="rect">
            <a:avLst/>
          </a:prstGeom>
          <a:noFill/>
        </p:spPr>
        <p:txBody>
          <a:bodyPr wrap="square" rtlCol="0">
            <a:spAutoFit/>
          </a:bodyPr>
          <a:lstStyle/>
          <a:p>
            <a:pPr algn="l"/>
            <a:r>
              <a:rPr lang="en-US" sz="2400" dirty="0">
                <a:solidFill>
                  <a:schemeClr val="accent2"/>
                </a:solidFill>
                <a:latin typeface="18 VAG Rounded Light   02390" pitchFamily="2" charset="0"/>
              </a:rPr>
              <a:t>1. Instruction Fetch (</a:t>
            </a:r>
            <a:r>
              <a:rPr lang="en-US" sz="2400" b="1" dirty="0">
                <a:solidFill>
                  <a:schemeClr val="accent2"/>
                </a:solidFill>
                <a:latin typeface="Courier New" panose="02070309020205020404" pitchFamily="49" charset="0"/>
                <a:cs typeface="Courier New" panose="02070309020205020404" pitchFamily="49" charset="0"/>
              </a:rPr>
              <a:t>IF</a:t>
            </a:r>
            <a:r>
              <a:rPr lang="en-US" sz="2400" dirty="0">
                <a:solidFill>
                  <a:schemeClr val="accent2"/>
                </a:solidFill>
                <a:latin typeface="18 VAG Rounded Light   02390" pitchFamily="2" charset="0"/>
              </a:rPr>
              <a:t>)</a:t>
            </a:r>
          </a:p>
        </p:txBody>
      </p:sp>
      <p:sp>
        <p:nvSpPr>
          <p:cNvPr id="10" name="TextBox 9">
            <a:extLst>
              <a:ext uri="{FF2B5EF4-FFF2-40B4-BE49-F238E27FC236}">
                <a16:creationId xmlns:a16="http://schemas.microsoft.com/office/drawing/2014/main" id="{9CCB9E0A-F71E-C819-630C-91B4E53D6260}"/>
              </a:ext>
            </a:extLst>
          </p:cNvPr>
          <p:cNvSpPr txBox="1"/>
          <p:nvPr/>
        </p:nvSpPr>
        <p:spPr>
          <a:xfrm>
            <a:off x="2827378" y="956529"/>
            <a:ext cx="2423515" cy="1138773"/>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accent5"/>
                </a:solidFill>
                <a:latin typeface="18 VAG Rounded Light   02390" pitchFamily="2" charset="0"/>
              </a:rPr>
              <a:t>2. Instruction</a:t>
            </a:r>
            <a:br>
              <a:rPr lang="en-US" sz="2400" dirty="0">
                <a:solidFill>
                  <a:schemeClr val="accent5"/>
                </a:solidFill>
                <a:latin typeface="18 VAG Rounded Light   02390" pitchFamily="2" charset="0"/>
              </a:rPr>
            </a:br>
            <a:r>
              <a:rPr lang="en-US" sz="2400" dirty="0">
                <a:solidFill>
                  <a:schemeClr val="accent5"/>
                </a:solidFill>
                <a:latin typeface="18 VAG Rounded Light   02390" pitchFamily="2" charset="0"/>
              </a:rPr>
              <a:t>Decode (</a:t>
            </a:r>
            <a:r>
              <a:rPr lang="en-US" sz="2400" b="1" dirty="0">
                <a:solidFill>
                  <a:schemeClr val="accent5"/>
                </a:solidFill>
                <a:latin typeface="Courier New" panose="02070309020205020404" pitchFamily="49" charset="0"/>
                <a:cs typeface="Courier New" panose="02070309020205020404" pitchFamily="49" charset="0"/>
              </a:rPr>
              <a:t>ID</a:t>
            </a:r>
            <a:r>
              <a:rPr lang="en-US" sz="2400" dirty="0">
                <a:solidFill>
                  <a:schemeClr val="accent5"/>
                </a:solidFill>
                <a:latin typeface="18 VAG Rounded Light   02390" pitchFamily="2" charset="0"/>
              </a:rPr>
              <a:t>)</a:t>
            </a:r>
            <a:endParaRPr kumimoji="0" lang="en-US" sz="2400" b="0" i="0" u="none" strike="noStrike" kern="1200" cap="none" spc="0" normalizeH="0" baseline="0" noProof="0" dirty="0">
              <a:ln>
                <a:noFill/>
              </a:ln>
              <a:solidFill>
                <a:schemeClr val="accent5"/>
              </a:solidFill>
              <a:effectLst/>
              <a:uLnTx/>
              <a:uFillTx/>
              <a:latin typeface="18 VAG Rounded Light   02390" pitchFamily="2" charset="0"/>
            </a:endParaRPr>
          </a:p>
          <a:p>
            <a:pPr marL="9525" marR="0" lvl="2" algn="l" defTabSz="914377" rtl="0" eaLnBrk="1" fontAlgn="auto" latinLnBrk="0" hangingPunct="1">
              <a:lnSpc>
                <a:spcPct val="100000"/>
              </a:lnSpc>
              <a:spcAft>
                <a:spcPts val="0"/>
              </a:spcAft>
              <a:buClrTx/>
              <a:buSzTx/>
              <a:defRPr/>
            </a:pPr>
            <a:r>
              <a:rPr lang="en-US" sz="2000" dirty="0">
                <a:solidFill>
                  <a:schemeClr val="accent5"/>
                </a:solidFill>
                <a:latin typeface="18 VAG Rounded Light   02390" pitchFamily="2" charset="0"/>
              </a:rPr>
              <a:t>+ Read Registers</a:t>
            </a:r>
            <a:endParaRPr lang="en-US" sz="2400" dirty="0">
              <a:solidFill>
                <a:schemeClr val="accent5"/>
              </a:solidFill>
              <a:latin typeface="18 VAG Rounded Light   02390" pitchFamily="2" charset="0"/>
            </a:endParaRPr>
          </a:p>
        </p:txBody>
      </p:sp>
      <p:sp>
        <p:nvSpPr>
          <p:cNvPr id="11" name="TextBox 10">
            <a:extLst>
              <a:ext uri="{FF2B5EF4-FFF2-40B4-BE49-F238E27FC236}">
                <a16:creationId xmlns:a16="http://schemas.microsoft.com/office/drawing/2014/main" id="{24FFD686-9BF1-D0EC-A56C-4C0525883BAF}"/>
              </a:ext>
            </a:extLst>
          </p:cNvPr>
          <p:cNvSpPr txBox="1"/>
          <p:nvPr/>
        </p:nvSpPr>
        <p:spPr>
          <a:xfrm>
            <a:off x="5377122" y="956529"/>
            <a:ext cx="2182676" cy="1077218"/>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accent1"/>
                </a:solidFill>
                <a:latin typeface="18 VAG Rounded Light   02390" pitchFamily="2" charset="0"/>
              </a:rPr>
              <a:t>3. Execute (</a:t>
            </a:r>
            <a:r>
              <a:rPr lang="en-US" sz="2400" b="1" dirty="0">
                <a:solidFill>
                  <a:schemeClr val="accent1"/>
                </a:solidFill>
                <a:latin typeface="Courier New" panose="02070309020205020404" pitchFamily="49" charset="0"/>
                <a:cs typeface="Courier New" panose="02070309020205020404" pitchFamily="49" charset="0"/>
              </a:rPr>
              <a:t>EX</a:t>
            </a:r>
            <a:r>
              <a:rPr lang="en-US" sz="2400" dirty="0">
                <a:solidFill>
                  <a:schemeClr val="accent1"/>
                </a:solidFill>
                <a:latin typeface="18 VAG Rounded Light   02390" pitchFamily="2" charset="0"/>
              </a:rPr>
              <a:t>)</a:t>
            </a:r>
          </a:p>
          <a:p>
            <a:pPr marL="9525" marR="0" lvl="1" algn="l" defTabSz="914377" rtl="0" eaLnBrk="1" fontAlgn="auto" latinLnBrk="0" hangingPunct="1">
              <a:lnSpc>
                <a:spcPct val="100000"/>
              </a:lnSpc>
              <a:spcAft>
                <a:spcPts val="0"/>
              </a:spcAft>
              <a:buClrTx/>
              <a:buSzPct val="90000"/>
              <a:defRPr/>
            </a:pPr>
            <a:r>
              <a:rPr kumimoji="0" lang="en-US" sz="2000" b="0" i="0" u="none" strike="noStrike" kern="1200" cap="none" spc="0" normalizeH="0" baseline="0" noProof="0" dirty="0">
                <a:ln>
                  <a:noFill/>
                </a:ln>
                <a:solidFill>
                  <a:srgbClr val="00BDE2"/>
                </a:solidFill>
                <a:effectLst/>
                <a:uLnTx/>
                <a:uFillTx/>
                <a:latin typeface="18 VAG Rounded Light   02390" pitchFamily="2" charset="0"/>
                <a:ea typeface="+mn-ea"/>
                <a:cs typeface="+mn-cs"/>
              </a:rPr>
              <a:t>Arithmetic Logic Unit (ALU)</a:t>
            </a:r>
            <a:endParaRPr lang="en-US" sz="2400" dirty="0">
              <a:solidFill>
                <a:schemeClr val="accent2"/>
              </a:solidFill>
              <a:latin typeface="18 VAG Rounded Light   02390" pitchFamily="2" charset="0"/>
            </a:endParaRPr>
          </a:p>
        </p:txBody>
      </p:sp>
      <p:sp>
        <p:nvSpPr>
          <p:cNvPr id="12" name="TextBox 11">
            <a:extLst>
              <a:ext uri="{FF2B5EF4-FFF2-40B4-BE49-F238E27FC236}">
                <a16:creationId xmlns:a16="http://schemas.microsoft.com/office/drawing/2014/main" id="{E2DB7E85-79B0-389E-D2C3-F0764AEFFC22}"/>
              </a:ext>
            </a:extLst>
          </p:cNvPr>
          <p:cNvSpPr txBox="1"/>
          <p:nvPr/>
        </p:nvSpPr>
        <p:spPr>
          <a:xfrm>
            <a:off x="7737285" y="956529"/>
            <a:ext cx="2182676" cy="830997"/>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accent6"/>
                </a:solidFill>
                <a:latin typeface="18 VAG Rounded Light   02390" pitchFamily="2" charset="0"/>
              </a:rPr>
              <a:t>4. Memory Access (</a:t>
            </a:r>
            <a:r>
              <a:rPr lang="en-US" sz="2400" b="1" dirty="0">
                <a:solidFill>
                  <a:schemeClr val="accent6"/>
                </a:solidFill>
                <a:latin typeface="Courier New" panose="02070309020205020404" pitchFamily="49" charset="0"/>
                <a:cs typeface="Courier New" panose="02070309020205020404" pitchFamily="49" charset="0"/>
              </a:rPr>
              <a:t>MEM</a:t>
            </a:r>
            <a:r>
              <a:rPr lang="en-US" sz="2400" dirty="0">
                <a:solidFill>
                  <a:schemeClr val="accent6"/>
                </a:solidFill>
                <a:latin typeface="18 VAG Rounded Light   02390" pitchFamily="2" charset="0"/>
              </a:rPr>
              <a:t>)</a:t>
            </a:r>
            <a:endParaRPr kumimoji="0" lang="en-US" sz="2400" b="0" i="0" u="none" strike="noStrike" kern="1200" cap="none" spc="0" normalizeH="0" baseline="0" noProof="0" dirty="0">
              <a:ln>
                <a:noFill/>
              </a:ln>
              <a:solidFill>
                <a:schemeClr val="accent6"/>
              </a:solidFill>
              <a:effectLst/>
              <a:uLnTx/>
              <a:uFillTx/>
              <a:latin typeface="18 VAG Rounded Light   02390" pitchFamily="2" charset="0"/>
              <a:ea typeface="+mn-ea"/>
              <a:cs typeface="+mn-cs"/>
            </a:endParaRPr>
          </a:p>
        </p:txBody>
      </p:sp>
      <p:sp>
        <p:nvSpPr>
          <p:cNvPr id="13" name="TextBox 12">
            <a:extLst>
              <a:ext uri="{FF2B5EF4-FFF2-40B4-BE49-F238E27FC236}">
                <a16:creationId xmlns:a16="http://schemas.microsoft.com/office/drawing/2014/main" id="{F40C5187-E6BE-895D-9EF5-50814AD23860}"/>
              </a:ext>
            </a:extLst>
          </p:cNvPr>
          <p:cNvSpPr txBox="1"/>
          <p:nvPr/>
        </p:nvSpPr>
        <p:spPr>
          <a:xfrm>
            <a:off x="9816412" y="956529"/>
            <a:ext cx="2138143" cy="830997"/>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accent4"/>
                </a:solidFill>
                <a:latin typeface="18 VAG Rounded Light   02390" pitchFamily="2" charset="0"/>
              </a:rPr>
              <a:t>5. Write back to Register (</a:t>
            </a:r>
            <a:r>
              <a:rPr lang="en-US" sz="2400" b="1" dirty="0">
                <a:solidFill>
                  <a:schemeClr val="accent4"/>
                </a:solidFill>
                <a:latin typeface="Courier New" panose="02070309020205020404" pitchFamily="49" charset="0"/>
                <a:cs typeface="Courier New" panose="02070309020205020404" pitchFamily="49" charset="0"/>
              </a:rPr>
              <a:t>WB</a:t>
            </a:r>
            <a:r>
              <a:rPr lang="en-US" sz="2400" dirty="0">
                <a:solidFill>
                  <a:schemeClr val="accent4"/>
                </a:solidFill>
                <a:latin typeface="18 VAG Rounded Light   02390" pitchFamily="2" charset="0"/>
              </a:rPr>
              <a:t>)</a:t>
            </a:r>
            <a:endParaRPr kumimoji="0" lang="en-US" sz="2400" b="0" i="0" u="none" strike="noStrike" kern="1200" cap="none" spc="0" normalizeH="0" baseline="0" noProof="0" dirty="0">
              <a:ln>
                <a:noFill/>
              </a:ln>
              <a:solidFill>
                <a:schemeClr val="accent4"/>
              </a:solidFill>
              <a:effectLst/>
              <a:uLnTx/>
              <a:uFillTx/>
              <a:latin typeface="18 VAG Rounded Light   02390" pitchFamily="2" charset="0"/>
              <a:ea typeface="+mn-ea"/>
              <a:cs typeface="+mn-cs"/>
            </a:endParaRPr>
          </a:p>
        </p:txBody>
      </p:sp>
      <p:sp>
        <p:nvSpPr>
          <p:cNvPr id="14" name="Right Arrow 13">
            <a:extLst>
              <a:ext uri="{FF2B5EF4-FFF2-40B4-BE49-F238E27FC236}">
                <a16:creationId xmlns:a16="http://schemas.microsoft.com/office/drawing/2014/main" id="{83710B3D-D593-4D91-CB85-8098BA272020}"/>
              </a:ext>
            </a:extLst>
          </p:cNvPr>
          <p:cNvSpPr/>
          <p:nvPr/>
        </p:nvSpPr>
        <p:spPr>
          <a:xfrm>
            <a:off x="1669519" y="3367985"/>
            <a:ext cx="314960" cy="944943"/>
          </a:xfrm>
          <a:prstGeom prst="rightArrow">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18" name="Right Arrow 17">
            <a:extLst>
              <a:ext uri="{FF2B5EF4-FFF2-40B4-BE49-F238E27FC236}">
                <a16:creationId xmlns:a16="http://schemas.microsoft.com/office/drawing/2014/main" id="{FBB476CA-6FDF-F383-AFE6-1BE22C5B6476}"/>
              </a:ext>
            </a:extLst>
          </p:cNvPr>
          <p:cNvSpPr/>
          <p:nvPr/>
        </p:nvSpPr>
        <p:spPr>
          <a:xfrm>
            <a:off x="3705608" y="3367985"/>
            <a:ext cx="314960" cy="944943"/>
          </a:xfrm>
          <a:prstGeom prst="rightArrow">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19" name="Right Arrow 18">
            <a:extLst>
              <a:ext uri="{FF2B5EF4-FFF2-40B4-BE49-F238E27FC236}">
                <a16:creationId xmlns:a16="http://schemas.microsoft.com/office/drawing/2014/main" id="{6BF4ED87-594F-C55C-A15D-5C449177D00F}"/>
              </a:ext>
            </a:extLst>
          </p:cNvPr>
          <p:cNvSpPr/>
          <p:nvPr/>
        </p:nvSpPr>
        <p:spPr>
          <a:xfrm>
            <a:off x="5642811" y="3367985"/>
            <a:ext cx="314960" cy="944943"/>
          </a:xfrm>
          <a:prstGeom prst="rightArrow">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0" name="Right Arrow 19">
            <a:extLst>
              <a:ext uri="{FF2B5EF4-FFF2-40B4-BE49-F238E27FC236}">
                <a16:creationId xmlns:a16="http://schemas.microsoft.com/office/drawing/2014/main" id="{C95FA45F-BDFB-8347-9C7C-49ADD7D36CB3}"/>
              </a:ext>
            </a:extLst>
          </p:cNvPr>
          <p:cNvSpPr/>
          <p:nvPr/>
        </p:nvSpPr>
        <p:spPr>
          <a:xfrm>
            <a:off x="7559798" y="3367985"/>
            <a:ext cx="314960" cy="944943"/>
          </a:xfrm>
          <a:prstGeom prst="rightArrow">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4" name="Right Brace 33">
            <a:extLst>
              <a:ext uri="{FF2B5EF4-FFF2-40B4-BE49-F238E27FC236}">
                <a16:creationId xmlns:a16="http://schemas.microsoft.com/office/drawing/2014/main" id="{E840A48D-728A-85CC-698C-31BAC05A5C17}"/>
              </a:ext>
            </a:extLst>
          </p:cNvPr>
          <p:cNvSpPr/>
          <p:nvPr/>
        </p:nvSpPr>
        <p:spPr>
          <a:xfrm rot="16200000">
            <a:off x="1756464" y="807724"/>
            <a:ext cx="290868" cy="2742913"/>
          </a:xfrm>
          <a:prstGeom prst="rightBrace">
            <a:avLst>
              <a:gd name="adj1" fmla="val 3459"/>
              <a:gd name="adj2" fmla="val 18641"/>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6" name="Right Brace 35">
            <a:extLst>
              <a:ext uri="{FF2B5EF4-FFF2-40B4-BE49-F238E27FC236}">
                <a16:creationId xmlns:a16="http://schemas.microsoft.com/office/drawing/2014/main" id="{E7822E60-D826-B7FE-CE7F-75F662B7EB55}"/>
              </a:ext>
            </a:extLst>
          </p:cNvPr>
          <p:cNvSpPr/>
          <p:nvPr/>
        </p:nvSpPr>
        <p:spPr>
          <a:xfrm rot="16200000">
            <a:off x="4257349" y="1204841"/>
            <a:ext cx="248584" cy="1990963"/>
          </a:xfrm>
          <a:prstGeom prst="rightBrace">
            <a:avLst>
              <a:gd name="adj1" fmla="val 8333"/>
              <a:gd name="adj2" fmla="val 18641"/>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Right Brace 36">
            <a:extLst>
              <a:ext uri="{FF2B5EF4-FFF2-40B4-BE49-F238E27FC236}">
                <a16:creationId xmlns:a16="http://schemas.microsoft.com/office/drawing/2014/main" id="{CB19EBA9-6DC4-FCEC-6E57-EFA9555776E6}"/>
              </a:ext>
            </a:extLst>
          </p:cNvPr>
          <p:cNvSpPr/>
          <p:nvPr/>
        </p:nvSpPr>
        <p:spPr>
          <a:xfrm rot="16200000">
            <a:off x="6455547" y="1119520"/>
            <a:ext cx="239481" cy="2170710"/>
          </a:xfrm>
          <a:prstGeom prst="rightBrace">
            <a:avLst>
              <a:gd name="adj1" fmla="val 8333"/>
              <a:gd name="adj2" fmla="val 18641"/>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8" name="Right Brace 37">
            <a:extLst>
              <a:ext uri="{FF2B5EF4-FFF2-40B4-BE49-F238E27FC236}">
                <a16:creationId xmlns:a16="http://schemas.microsoft.com/office/drawing/2014/main" id="{AFD1E27D-27EB-AAB7-8938-710380DC2E2A}"/>
              </a:ext>
            </a:extLst>
          </p:cNvPr>
          <p:cNvSpPr/>
          <p:nvPr/>
        </p:nvSpPr>
        <p:spPr>
          <a:xfrm rot="16200000">
            <a:off x="8739065" y="1119520"/>
            <a:ext cx="239481" cy="2170710"/>
          </a:xfrm>
          <a:prstGeom prst="rightBrace">
            <a:avLst>
              <a:gd name="adj1" fmla="val 8333"/>
              <a:gd name="adj2" fmla="val 18641"/>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0" name="Freeform 39">
            <a:extLst>
              <a:ext uri="{FF2B5EF4-FFF2-40B4-BE49-F238E27FC236}">
                <a16:creationId xmlns:a16="http://schemas.microsoft.com/office/drawing/2014/main" id="{1D1E9F0C-1DF2-0390-29FB-B8CE04A5ED5B}"/>
              </a:ext>
            </a:extLst>
          </p:cNvPr>
          <p:cNvSpPr/>
          <p:nvPr/>
        </p:nvSpPr>
        <p:spPr>
          <a:xfrm>
            <a:off x="10342683" y="1951796"/>
            <a:ext cx="345768" cy="833120"/>
          </a:xfrm>
          <a:custGeom>
            <a:avLst/>
            <a:gdLst>
              <a:gd name="connsiteX0" fmla="*/ 172720 w 345768"/>
              <a:gd name="connsiteY0" fmla="*/ 0 h 833120"/>
              <a:gd name="connsiteX1" fmla="*/ 233680 w 345768"/>
              <a:gd name="connsiteY1" fmla="*/ 91440 h 833120"/>
              <a:gd name="connsiteX2" fmla="*/ 264160 w 345768"/>
              <a:gd name="connsiteY2" fmla="*/ 152400 h 833120"/>
              <a:gd name="connsiteX3" fmla="*/ 325120 w 345768"/>
              <a:gd name="connsiteY3" fmla="*/ 243840 h 833120"/>
              <a:gd name="connsiteX4" fmla="*/ 335280 w 345768"/>
              <a:gd name="connsiteY4" fmla="*/ 386080 h 833120"/>
              <a:gd name="connsiteX5" fmla="*/ 274320 w 345768"/>
              <a:gd name="connsiteY5" fmla="*/ 457200 h 833120"/>
              <a:gd name="connsiteX6" fmla="*/ 223520 w 345768"/>
              <a:gd name="connsiteY6" fmla="*/ 487680 h 833120"/>
              <a:gd name="connsiteX7" fmla="*/ 193040 w 345768"/>
              <a:gd name="connsiteY7" fmla="*/ 508000 h 833120"/>
              <a:gd name="connsiteX8" fmla="*/ 111760 w 345768"/>
              <a:gd name="connsiteY8" fmla="*/ 528320 h 833120"/>
              <a:gd name="connsiteX9" fmla="*/ 40640 w 345768"/>
              <a:gd name="connsiteY9" fmla="*/ 518160 h 833120"/>
              <a:gd name="connsiteX10" fmla="*/ 0 w 345768"/>
              <a:gd name="connsiteY10" fmla="*/ 447040 h 833120"/>
              <a:gd name="connsiteX11" fmla="*/ 10160 w 345768"/>
              <a:gd name="connsiteY11" fmla="*/ 416560 h 833120"/>
              <a:gd name="connsiteX12" fmla="*/ 50800 w 345768"/>
              <a:gd name="connsiteY12" fmla="*/ 406400 h 833120"/>
              <a:gd name="connsiteX13" fmla="*/ 213360 w 345768"/>
              <a:gd name="connsiteY13" fmla="*/ 416560 h 833120"/>
              <a:gd name="connsiteX14" fmla="*/ 274320 w 345768"/>
              <a:gd name="connsiteY14" fmla="*/ 447040 h 833120"/>
              <a:gd name="connsiteX15" fmla="*/ 294640 w 345768"/>
              <a:gd name="connsiteY15" fmla="*/ 477520 h 833120"/>
              <a:gd name="connsiteX16" fmla="*/ 325120 w 345768"/>
              <a:gd name="connsiteY16" fmla="*/ 518160 h 833120"/>
              <a:gd name="connsiteX17" fmla="*/ 345440 w 345768"/>
              <a:gd name="connsiteY17" fmla="*/ 599440 h 833120"/>
              <a:gd name="connsiteX18" fmla="*/ 335280 w 345768"/>
              <a:gd name="connsiteY18" fmla="*/ 680720 h 833120"/>
              <a:gd name="connsiteX19" fmla="*/ 325120 w 345768"/>
              <a:gd name="connsiteY19" fmla="*/ 711200 h 833120"/>
              <a:gd name="connsiteX20" fmla="*/ 294640 w 345768"/>
              <a:gd name="connsiteY20" fmla="*/ 731520 h 833120"/>
              <a:gd name="connsiteX21" fmla="*/ 203200 w 345768"/>
              <a:gd name="connsiteY21" fmla="*/ 802640 h 833120"/>
              <a:gd name="connsiteX22" fmla="*/ 162560 w 345768"/>
              <a:gd name="connsiteY22" fmla="*/ 833120 h 83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5768" h="833120">
                <a:moveTo>
                  <a:pt x="172720" y="0"/>
                </a:moveTo>
                <a:cubicBezTo>
                  <a:pt x="193040" y="30480"/>
                  <a:pt x="222096" y="56687"/>
                  <a:pt x="233680" y="91440"/>
                </a:cubicBezTo>
                <a:cubicBezTo>
                  <a:pt x="249347" y="138440"/>
                  <a:pt x="236024" y="107382"/>
                  <a:pt x="264160" y="152400"/>
                </a:cubicBezTo>
                <a:cubicBezTo>
                  <a:pt x="313150" y="230784"/>
                  <a:pt x="274390" y="176200"/>
                  <a:pt x="325120" y="243840"/>
                </a:cubicBezTo>
                <a:cubicBezTo>
                  <a:pt x="341866" y="310823"/>
                  <a:pt x="356353" y="322861"/>
                  <a:pt x="335280" y="386080"/>
                </a:cubicBezTo>
                <a:cubicBezTo>
                  <a:pt x="328363" y="406831"/>
                  <a:pt x="285893" y="448199"/>
                  <a:pt x="274320" y="457200"/>
                </a:cubicBezTo>
                <a:cubicBezTo>
                  <a:pt x="258732" y="469324"/>
                  <a:pt x="240266" y="477214"/>
                  <a:pt x="223520" y="487680"/>
                </a:cubicBezTo>
                <a:cubicBezTo>
                  <a:pt x="213165" y="494152"/>
                  <a:pt x="203962" y="502539"/>
                  <a:pt x="193040" y="508000"/>
                </a:cubicBezTo>
                <a:cubicBezTo>
                  <a:pt x="172212" y="518414"/>
                  <a:pt x="131082" y="524456"/>
                  <a:pt x="111760" y="528320"/>
                </a:cubicBezTo>
                <a:cubicBezTo>
                  <a:pt x="88053" y="524933"/>
                  <a:pt x="62523" y="527886"/>
                  <a:pt x="40640" y="518160"/>
                </a:cubicBezTo>
                <a:cubicBezTo>
                  <a:pt x="31408" y="514057"/>
                  <a:pt x="1607" y="450254"/>
                  <a:pt x="0" y="447040"/>
                </a:cubicBezTo>
                <a:cubicBezTo>
                  <a:pt x="3387" y="436880"/>
                  <a:pt x="1797" y="423250"/>
                  <a:pt x="10160" y="416560"/>
                </a:cubicBezTo>
                <a:cubicBezTo>
                  <a:pt x="21064" y="407837"/>
                  <a:pt x="36836" y="406400"/>
                  <a:pt x="50800" y="406400"/>
                </a:cubicBezTo>
                <a:cubicBezTo>
                  <a:pt x="105092" y="406400"/>
                  <a:pt x="159173" y="413173"/>
                  <a:pt x="213360" y="416560"/>
                </a:cubicBezTo>
                <a:cubicBezTo>
                  <a:pt x="238150" y="424823"/>
                  <a:pt x="254625" y="427345"/>
                  <a:pt x="274320" y="447040"/>
                </a:cubicBezTo>
                <a:cubicBezTo>
                  <a:pt x="282954" y="455674"/>
                  <a:pt x="287543" y="467584"/>
                  <a:pt x="294640" y="477520"/>
                </a:cubicBezTo>
                <a:cubicBezTo>
                  <a:pt x="304482" y="491299"/>
                  <a:pt x="314960" y="504613"/>
                  <a:pt x="325120" y="518160"/>
                </a:cubicBezTo>
                <a:cubicBezTo>
                  <a:pt x="333137" y="542212"/>
                  <a:pt x="345440" y="574919"/>
                  <a:pt x="345440" y="599440"/>
                </a:cubicBezTo>
                <a:cubicBezTo>
                  <a:pt x="345440" y="626744"/>
                  <a:pt x="340164" y="653856"/>
                  <a:pt x="335280" y="680720"/>
                </a:cubicBezTo>
                <a:cubicBezTo>
                  <a:pt x="333364" y="691257"/>
                  <a:pt x="331810" y="702837"/>
                  <a:pt x="325120" y="711200"/>
                </a:cubicBezTo>
                <a:cubicBezTo>
                  <a:pt x="317492" y="720735"/>
                  <a:pt x="304409" y="724194"/>
                  <a:pt x="294640" y="731520"/>
                </a:cubicBezTo>
                <a:cubicBezTo>
                  <a:pt x="263749" y="754688"/>
                  <a:pt x="235329" y="781221"/>
                  <a:pt x="203200" y="802640"/>
                </a:cubicBezTo>
                <a:cubicBezTo>
                  <a:pt x="168735" y="825617"/>
                  <a:pt x="181354" y="814326"/>
                  <a:pt x="162560" y="833120"/>
                </a:cubicBezTo>
              </a:path>
            </a:pathLst>
          </a:custGeom>
          <a:noFill/>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nvGrpSpPr>
          <p:cNvPr id="75" name="Group 74">
            <a:extLst>
              <a:ext uri="{FF2B5EF4-FFF2-40B4-BE49-F238E27FC236}">
                <a16:creationId xmlns:a16="http://schemas.microsoft.com/office/drawing/2014/main" id="{F01A9094-5E10-7FF3-733D-CCFFF923CDFF}"/>
              </a:ext>
            </a:extLst>
          </p:cNvPr>
          <p:cNvGrpSpPr/>
          <p:nvPr/>
        </p:nvGrpSpPr>
        <p:grpSpPr>
          <a:xfrm>
            <a:off x="203087" y="4143593"/>
            <a:ext cx="9613644" cy="1272636"/>
            <a:chOff x="203087" y="4143593"/>
            <a:chExt cx="9613644" cy="1272636"/>
          </a:xfrm>
        </p:grpSpPr>
        <p:grpSp>
          <p:nvGrpSpPr>
            <p:cNvPr id="42" name="Group 41">
              <a:extLst>
                <a:ext uri="{FF2B5EF4-FFF2-40B4-BE49-F238E27FC236}">
                  <a16:creationId xmlns:a16="http://schemas.microsoft.com/office/drawing/2014/main" id="{8D0285CD-5C6C-B54B-CF8A-1929645CE871}"/>
                </a:ext>
              </a:extLst>
            </p:cNvPr>
            <p:cNvGrpSpPr/>
            <p:nvPr/>
          </p:nvGrpSpPr>
          <p:grpSpPr>
            <a:xfrm>
              <a:off x="203087" y="4773678"/>
              <a:ext cx="631816" cy="642551"/>
              <a:chOff x="7876826" y="5980829"/>
              <a:chExt cx="631816" cy="642551"/>
            </a:xfrm>
          </p:grpSpPr>
          <p:sp>
            <p:nvSpPr>
              <p:cNvPr id="45" name="Freeform 44">
                <a:extLst>
                  <a:ext uri="{FF2B5EF4-FFF2-40B4-BE49-F238E27FC236}">
                    <a16:creationId xmlns:a16="http://schemas.microsoft.com/office/drawing/2014/main" id="{5442579C-B426-2A64-554F-7196CACA8BE5}"/>
                  </a:ext>
                </a:extLst>
              </p:cNvPr>
              <p:cNvSpPr/>
              <p:nvPr/>
            </p:nvSpPr>
            <p:spPr>
              <a:xfrm>
                <a:off x="7998487" y="6150682"/>
                <a:ext cx="403194" cy="234779"/>
              </a:xfrm>
              <a:custGeom>
                <a:avLst/>
                <a:gdLst>
                  <a:gd name="connsiteX0" fmla="*/ 0 w 2125362"/>
                  <a:gd name="connsiteY0" fmla="*/ 605481 h 617838"/>
                  <a:gd name="connsiteX1" fmla="*/ 160638 w 2125362"/>
                  <a:gd name="connsiteY1" fmla="*/ 0 h 617838"/>
                  <a:gd name="connsiteX2" fmla="*/ 1000897 w 2125362"/>
                  <a:gd name="connsiteY2" fmla="*/ 0 h 617838"/>
                  <a:gd name="connsiteX3" fmla="*/ 1186249 w 2125362"/>
                  <a:gd name="connsiteY3" fmla="*/ 605481 h 617838"/>
                  <a:gd name="connsiteX4" fmla="*/ 2038865 w 2125362"/>
                  <a:gd name="connsiteY4" fmla="*/ 617838 h 617838"/>
                  <a:gd name="connsiteX5" fmla="*/ 2125362 w 2125362"/>
                  <a:gd name="connsiteY5" fmla="*/ 247136 h 617838"/>
                  <a:gd name="connsiteX6" fmla="*/ 2125362 w 2125362"/>
                  <a:gd name="connsiteY6" fmla="*/ 247136 h 617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5362" h="617838">
                    <a:moveTo>
                      <a:pt x="0" y="605481"/>
                    </a:moveTo>
                    <a:lnTo>
                      <a:pt x="160638" y="0"/>
                    </a:lnTo>
                    <a:lnTo>
                      <a:pt x="1000897" y="0"/>
                    </a:lnTo>
                    <a:lnTo>
                      <a:pt x="1186249" y="605481"/>
                    </a:lnTo>
                    <a:lnTo>
                      <a:pt x="2038865" y="617838"/>
                    </a:lnTo>
                    <a:lnTo>
                      <a:pt x="2125362" y="247136"/>
                    </a:lnTo>
                    <a:lnTo>
                      <a:pt x="2125362" y="247136"/>
                    </a:lnTo>
                  </a:path>
                </a:pathLst>
              </a:custGeom>
              <a:noFill/>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DD90AB1E-590E-8C33-7A82-3F9EEF0814D0}"/>
                  </a:ext>
                </a:extLst>
              </p:cNvPr>
              <p:cNvSpPr/>
              <p:nvPr/>
            </p:nvSpPr>
            <p:spPr>
              <a:xfrm>
                <a:off x="7876826" y="5980829"/>
                <a:ext cx="631816" cy="642551"/>
              </a:xfrm>
              <a:prstGeom prst="rect">
                <a:avLst/>
              </a:prstGeom>
              <a:ln w="28575">
                <a:solidFill>
                  <a:schemeClr val="accent6"/>
                </a:solidFill>
              </a:ln>
            </p:spPr>
            <p:style>
              <a:lnRef idx="1">
                <a:schemeClr val="accent1"/>
              </a:lnRef>
              <a:fillRef idx="0">
                <a:schemeClr val="accent1"/>
              </a:fillRef>
              <a:effectRef idx="0">
                <a:schemeClr val="accent1"/>
              </a:effectRef>
              <a:fontRef idx="minor">
                <a:schemeClr val="tx1"/>
              </a:fontRef>
            </p:style>
            <p:txBody>
              <a:bodyPr rtlCol="0" anchor="b"/>
              <a:lstStyle/>
              <a:p>
                <a:pPr algn="ctr"/>
                <a:r>
                  <a:rPr lang="en-US" sz="1600" dirty="0" err="1">
                    <a:solidFill>
                      <a:schemeClr val="accent6"/>
                    </a:solidFill>
                    <a:latin typeface="18 VAG Rounded Light   02390" pitchFamily="2" charset="0"/>
                  </a:rPr>
                  <a:t>clk</a:t>
                </a:r>
                <a:endParaRPr lang="en-US" sz="1600" dirty="0">
                  <a:solidFill>
                    <a:schemeClr val="accent6"/>
                  </a:solidFill>
                  <a:latin typeface="18 VAG Rounded Light   02390" pitchFamily="2" charset="0"/>
                </a:endParaRPr>
              </a:p>
            </p:txBody>
          </p:sp>
        </p:grpSp>
        <p:cxnSp>
          <p:nvCxnSpPr>
            <p:cNvPr id="49" name="Elbow Connector 48">
              <a:extLst>
                <a:ext uri="{FF2B5EF4-FFF2-40B4-BE49-F238E27FC236}">
                  <a16:creationId xmlns:a16="http://schemas.microsoft.com/office/drawing/2014/main" id="{307D2074-0591-4786-2612-77D8F36E3C68}"/>
                </a:ext>
              </a:extLst>
            </p:cNvPr>
            <p:cNvCxnSpPr>
              <a:cxnSpLocks/>
              <a:stCxn id="47" idx="3"/>
            </p:cNvCxnSpPr>
            <p:nvPr/>
          </p:nvCxnSpPr>
          <p:spPr>
            <a:xfrm flipV="1">
              <a:off x="834903" y="4438662"/>
              <a:ext cx="401594" cy="656292"/>
            </a:xfrm>
            <a:prstGeom prst="bentConnector2">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24F20873-13AC-77CC-E804-B552EA701995}"/>
                </a:ext>
              </a:extLst>
            </p:cNvPr>
            <p:cNvCxnSpPr>
              <a:cxnSpLocks/>
              <a:stCxn id="47" idx="3"/>
            </p:cNvCxnSpPr>
            <p:nvPr/>
          </p:nvCxnSpPr>
          <p:spPr>
            <a:xfrm flipV="1">
              <a:off x="834903" y="4316370"/>
              <a:ext cx="4348238" cy="778584"/>
            </a:xfrm>
            <a:prstGeom prst="bentConnector2">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3C9A031C-DE88-E538-8866-D63D0E7C487F}"/>
                </a:ext>
              </a:extLst>
            </p:cNvPr>
            <p:cNvCxnSpPr>
              <a:cxnSpLocks/>
              <a:stCxn id="47" idx="3"/>
            </p:cNvCxnSpPr>
            <p:nvPr/>
          </p:nvCxnSpPr>
          <p:spPr>
            <a:xfrm flipV="1">
              <a:off x="834903" y="4922983"/>
              <a:ext cx="8870982" cy="171971"/>
            </a:xfrm>
            <a:prstGeom prst="bentConnector2">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sp>
          <p:nvSpPr>
            <p:cNvPr id="71" name="Isosceles Triangle 58">
              <a:extLst>
                <a:ext uri="{FF2B5EF4-FFF2-40B4-BE49-F238E27FC236}">
                  <a16:creationId xmlns:a16="http://schemas.microsoft.com/office/drawing/2014/main" id="{4BE2FD15-D1A2-15B4-2332-589E9D299A07}"/>
                </a:ext>
              </a:extLst>
            </p:cNvPr>
            <p:cNvSpPr/>
            <p:nvPr/>
          </p:nvSpPr>
          <p:spPr>
            <a:xfrm>
              <a:off x="1125650" y="4265885"/>
              <a:ext cx="221693" cy="172777"/>
            </a:xfrm>
            <a:prstGeom prst="triangle">
              <a:avLst/>
            </a:prstGeom>
            <a:noFill/>
            <a:ln w="28575" cap="flat" cmpd="sng" algn="ctr">
              <a:solidFill>
                <a:schemeClr val="accent6"/>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dirty="0">
                <a:ln>
                  <a:noFill/>
                </a:ln>
                <a:solidFill>
                  <a:schemeClr val="bg1"/>
                </a:solidFill>
                <a:effectLst/>
                <a:uLnTx/>
                <a:uFillTx/>
                <a:latin typeface="18 VAG Rounded Light   02390" pitchFamily="2" charset="0"/>
              </a:endParaRPr>
            </a:p>
          </p:txBody>
        </p:sp>
        <p:sp>
          <p:nvSpPr>
            <p:cNvPr id="72" name="Isosceles Triangle 59">
              <a:extLst>
                <a:ext uri="{FF2B5EF4-FFF2-40B4-BE49-F238E27FC236}">
                  <a16:creationId xmlns:a16="http://schemas.microsoft.com/office/drawing/2014/main" id="{C2F99449-A36B-4286-A614-24AA2EFD161D}"/>
                </a:ext>
              </a:extLst>
            </p:cNvPr>
            <p:cNvSpPr/>
            <p:nvPr/>
          </p:nvSpPr>
          <p:spPr>
            <a:xfrm>
              <a:off x="5072294" y="4143593"/>
              <a:ext cx="221693" cy="172777"/>
            </a:xfrm>
            <a:prstGeom prst="triangle">
              <a:avLst/>
            </a:prstGeom>
            <a:noFill/>
            <a:ln w="28575" cap="flat" cmpd="sng" algn="ctr">
              <a:solidFill>
                <a:schemeClr val="accent6"/>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dirty="0">
                <a:ln>
                  <a:noFill/>
                </a:ln>
                <a:solidFill>
                  <a:schemeClr val="bg1"/>
                </a:solidFill>
                <a:effectLst/>
                <a:uLnTx/>
                <a:uFillTx/>
                <a:latin typeface="18 VAG Rounded Light   02390" pitchFamily="2" charset="0"/>
              </a:endParaRPr>
            </a:p>
          </p:txBody>
        </p:sp>
        <p:sp>
          <p:nvSpPr>
            <p:cNvPr id="73" name="Isosceles Triangle 60">
              <a:extLst>
                <a:ext uri="{FF2B5EF4-FFF2-40B4-BE49-F238E27FC236}">
                  <a16:creationId xmlns:a16="http://schemas.microsoft.com/office/drawing/2014/main" id="{E3611D77-6D1D-9D4F-B16C-94A186398FE6}"/>
                </a:ext>
              </a:extLst>
            </p:cNvPr>
            <p:cNvSpPr/>
            <p:nvPr/>
          </p:nvSpPr>
          <p:spPr>
            <a:xfrm>
              <a:off x="9595038" y="4722369"/>
              <a:ext cx="221693" cy="200614"/>
            </a:xfrm>
            <a:prstGeom prst="triangle">
              <a:avLst/>
            </a:prstGeom>
            <a:noFill/>
            <a:ln w="28575" cap="flat" cmpd="sng" algn="ctr">
              <a:solidFill>
                <a:schemeClr val="accent6"/>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dirty="0">
                <a:ln>
                  <a:noFill/>
                </a:ln>
                <a:solidFill>
                  <a:schemeClr val="bg1"/>
                </a:solidFill>
                <a:effectLst/>
                <a:uLnTx/>
                <a:uFillTx/>
                <a:latin typeface="18 VAG Rounded Light   02390" pitchFamily="2" charset="0"/>
              </a:endParaRPr>
            </a:p>
          </p:txBody>
        </p:sp>
      </p:grpSp>
      <p:grpSp>
        <p:nvGrpSpPr>
          <p:cNvPr id="5" name="Group 4">
            <a:extLst>
              <a:ext uri="{FF2B5EF4-FFF2-40B4-BE49-F238E27FC236}">
                <a16:creationId xmlns:a16="http://schemas.microsoft.com/office/drawing/2014/main" id="{257A70D5-8C39-DA52-F662-FA2C5922D7C9}"/>
              </a:ext>
            </a:extLst>
          </p:cNvPr>
          <p:cNvGrpSpPr/>
          <p:nvPr/>
        </p:nvGrpSpPr>
        <p:grpSpPr>
          <a:xfrm>
            <a:off x="251392" y="2397305"/>
            <a:ext cx="10436928" cy="1807368"/>
            <a:chOff x="251392" y="2397305"/>
            <a:chExt cx="10436928" cy="1807368"/>
          </a:xfrm>
        </p:grpSpPr>
        <p:grpSp>
          <p:nvGrpSpPr>
            <p:cNvPr id="76" name="Group 75">
              <a:extLst>
                <a:ext uri="{FF2B5EF4-FFF2-40B4-BE49-F238E27FC236}">
                  <a16:creationId xmlns:a16="http://schemas.microsoft.com/office/drawing/2014/main" id="{CEDE2910-9CD5-0871-71CD-54F6FF86401C}"/>
                </a:ext>
              </a:extLst>
            </p:cNvPr>
            <p:cNvGrpSpPr/>
            <p:nvPr/>
          </p:nvGrpSpPr>
          <p:grpSpPr>
            <a:xfrm>
              <a:off x="251392" y="2397305"/>
              <a:ext cx="10436928" cy="1807368"/>
              <a:chOff x="251392" y="2397305"/>
              <a:chExt cx="10436928" cy="1807368"/>
            </a:xfrm>
          </p:grpSpPr>
          <p:sp>
            <p:nvSpPr>
              <p:cNvPr id="31" name="Curved Right Arrow 30">
                <a:extLst>
                  <a:ext uri="{FF2B5EF4-FFF2-40B4-BE49-F238E27FC236}">
                    <a16:creationId xmlns:a16="http://schemas.microsoft.com/office/drawing/2014/main" id="{221A6C38-ACB3-7F71-5F7E-7A3EB0B513B8}"/>
                  </a:ext>
                </a:extLst>
              </p:cNvPr>
              <p:cNvSpPr/>
              <p:nvPr/>
            </p:nvSpPr>
            <p:spPr>
              <a:xfrm rot="5400000">
                <a:off x="399753" y="2322935"/>
                <a:ext cx="730346" cy="1027068"/>
              </a:xfrm>
              <a:prstGeom prst="curvedRightArrow">
                <a:avLst/>
              </a:prstGeom>
              <a:solidFill>
                <a:schemeClr val="accent4"/>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2" name="Bent Arrow 31">
                <a:extLst>
                  <a:ext uri="{FF2B5EF4-FFF2-40B4-BE49-F238E27FC236}">
                    <a16:creationId xmlns:a16="http://schemas.microsoft.com/office/drawing/2014/main" id="{B2E9384E-2260-FFD8-E02C-C673534CB031}"/>
                  </a:ext>
                </a:extLst>
              </p:cNvPr>
              <p:cNvSpPr/>
              <p:nvPr/>
            </p:nvSpPr>
            <p:spPr>
              <a:xfrm flipV="1">
                <a:off x="376880" y="3182520"/>
                <a:ext cx="550123" cy="1022153"/>
              </a:xfrm>
              <a:prstGeom prst="bentArrow">
                <a:avLst>
                  <a:gd name="adj1" fmla="val 32167"/>
                  <a:gd name="adj2" fmla="val 50000"/>
                  <a:gd name="adj3" fmla="val 36081"/>
                  <a:gd name="adj4" fmla="val 41682"/>
                </a:avLst>
              </a:prstGeom>
              <a:solidFill>
                <a:schemeClr val="accent4"/>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68" name="Curved Left Arrow 67">
                <a:extLst>
                  <a:ext uri="{FF2B5EF4-FFF2-40B4-BE49-F238E27FC236}">
                    <a16:creationId xmlns:a16="http://schemas.microsoft.com/office/drawing/2014/main" id="{D0AC8555-2A0C-9FB6-1D76-679EB6A4AF99}"/>
                  </a:ext>
                </a:extLst>
              </p:cNvPr>
              <p:cNvSpPr/>
              <p:nvPr/>
            </p:nvSpPr>
            <p:spPr>
              <a:xfrm flipV="1">
                <a:off x="9927580" y="2397305"/>
                <a:ext cx="760740" cy="1474433"/>
              </a:xfrm>
              <a:prstGeom prst="curvedLeftArrow">
                <a:avLst/>
              </a:prstGeom>
              <a:solidFill>
                <a:schemeClr val="accent4"/>
              </a:solidFill>
              <a:ln w="28575">
                <a:no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69" name="Bent Arrow 68">
                <a:extLst>
                  <a:ext uri="{FF2B5EF4-FFF2-40B4-BE49-F238E27FC236}">
                    <a16:creationId xmlns:a16="http://schemas.microsoft.com/office/drawing/2014/main" id="{C820E64C-8C8F-A2ED-1AA4-E2FCD75B2767}"/>
                  </a:ext>
                </a:extLst>
              </p:cNvPr>
              <p:cNvSpPr/>
              <p:nvPr/>
            </p:nvSpPr>
            <p:spPr>
              <a:xfrm rot="16200000" flipH="1">
                <a:off x="6977465" y="156303"/>
                <a:ext cx="583025" cy="5301969"/>
              </a:xfrm>
              <a:prstGeom prst="bentArrow">
                <a:avLst>
                  <a:gd name="adj1" fmla="val 28722"/>
                  <a:gd name="adj2" fmla="val 35524"/>
                  <a:gd name="adj3" fmla="val 29186"/>
                  <a:gd name="adj4" fmla="val 21549"/>
                </a:avLst>
              </a:prstGeom>
              <a:solidFill>
                <a:schemeClr val="accent4"/>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70" name="Right Arrow 69">
                <a:extLst>
                  <a:ext uri="{FF2B5EF4-FFF2-40B4-BE49-F238E27FC236}">
                    <a16:creationId xmlns:a16="http://schemas.microsoft.com/office/drawing/2014/main" id="{5AF39C5F-66EE-8368-EE01-9CEEC6BA45B3}"/>
                  </a:ext>
                </a:extLst>
              </p:cNvPr>
              <p:cNvSpPr/>
              <p:nvPr/>
            </p:nvSpPr>
            <p:spPr>
              <a:xfrm rot="10800000">
                <a:off x="1236496" y="2397306"/>
                <a:ext cx="3450701" cy="381148"/>
              </a:xfrm>
              <a:prstGeom prst="rightArrow">
                <a:avLst>
                  <a:gd name="adj1" fmla="val 39337"/>
                  <a:gd name="adj2" fmla="val 50000"/>
                </a:avLst>
              </a:prstGeom>
              <a:solidFill>
                <a:schemeClr val="accent4"/>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grpSp>
        <p:sp>
          <p:nvSpPr>
            <p:cNvPr id="3" name="Up Arrow 2">
              <a:extLst>
                <a:ext uri="{FF2B5EF4-FFF2-40B4-BE49-F238E27FC236}">
                  <a16:creationId xmlns:a16="http://schemas.microsoft.com/office/drawing/2014/main" id="{2A7F20B8-CDB7-3806-3F75-A7DF6B79EB2A}"/>
                </a:ext>
              </a:extLst>
            </p:cNvPr>
            <p:cNvSpPr/>
            <p:nvPr/>
          </p:nvSpPr>
          <p:spPr>
            <a:xfrm>
              <a:off x="7511400" y="2733080"/>
              <a:ext cx="314960" cy="526358"/>
            </a:xfrm>
            <a:prstGeom prst="upArrow">
              <a:avLst/>
            </a:prstGeom>
            <a:solidFill>
              <a:schemeClr val="accent4"/>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grpSp>
    </p:spTree>
    <p:extLst>
      <p:ext uri="{BB962C8B-B14F-4D97-AF65-F5344CB8AC3E}">
        <p14:creationId xmlns:p14="http://schemas.microsoft.com/office/powerpoint/2010/main" val="279097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1" grpId="0"/>
      <p:bldP spid="12" grpId="0"/>
      <p:bldP spid="13" grpId="0"/>
      <p:bldP spid="34" grpId="0" animBg="1"/>
      <p:bldP spid="36" grpId="0" animBg="1"/>
      <p:bldP spid="37" grpId="0" animBg="1"/>
      <p:bldP spid="38" grpId="0" animBg="1"/>
      <p:bldP spid="4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EAD9FAC7-54A0-5DCF-FD0D-AF91922023D0}"/>
              </a:ext>
            </a:extLst>
          </p:cNvPr>
          <p:cNvGrpSpPr/>
          <p:nvPr/>
        </p:nvGrpSpPr>
        <p:grpSpPr>
          <a:xfrm>
            <a:off x="1014803" y="3304813"/>
            <a:ext cx="415675" cy="1133850"/>
            <a:chOff x="959047" y="2907131"/>
            <a:chExt cx="415675" cy="1133850"/>
          </a:xfrm>
        </p:grpSpPr>
        <p:sp>
          <p:nvSpPr>
            <p:cNvPr id="55" name="Rectangle 4">
              <a:extLst>
                <a:ext uri="{FF2B5EF4-FFF2-40B4-BE49-F238E27FC236}">
                  <a16:creationId xmlns:a16="http://schemas.microsoft.com/office/drawing/2014/main" id="{4F55247C-760F-7E4A-FB90-1A59EEB31C70}"/>
                </a:ext>
              </a:extLst>
            </p:cNvPr>
            <p:cNvSpPr>
              <a:spLocks noChangeArrowheads="1"/>
            </p:cNvSpPr>
            <p:nvPr/>
          </p:nvSpPr>
          <p:spPr bwMode="auto">
            <a:xfrm>
              <a:off x="959047" y="2907131"/>
              <a:ext cx="415675" cy="1133850"/>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ＭＳ Ｐゴシック" pitchFamily="-1" charset="-128"/>
                </a:rPr>
                <a:t>PC</a:t>
              </a:r>
            </a:p>
          </p:txBody>
        </p:sp>
        <p:sp>
          <p:nvSpPr>
            <p:cNvPr id="93" name="Isosceles Triangle 58">
              <a:extLst>
                <a:ext uri="{FF2B5EF4-FFF2-40B4-BE49-F238E27FC236}">
                  <a16:creationId xmlns:a16="http://schemas.microsoft.com/office/drawing/2014/main" id="{CA7EB1B9-F7F6-B068-68E6-59FFAF6972B7}"/>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grpSp>
        <p:nvGrpSpPr>
          <p:cNvPr id="113" name="Group 112">
            <a:extLst>
              <a:ext uri="{FF2B5EF4-FFF2-40B4-BE49-F238E27FC236}">
                <a16:creationId xmlns:a16="http://schemas.microsoft.com/office/drawing/2014/main" id="{EAE69A64-BEB1-9184-289A-76EA594ACFB1}"/>
              </a:ext>
            </a:extLst>
          </p:cNvPr>
          <p:cNvGrpSpPr/>
          <p:nvPr/>
        </p:nvGrpSpPr>
        <p:grpSpPr>
          <a:xfrm>
            <a:off x="4296366" y="3182521"/>
            <a:ext cx="1080756" cy="1133850"/>
            <a:chOff x="3951910" y="2907131"/>
            <a:chExt cx="1080756" cy="1133850"/>
          </a:xfrm>
        </p:grpSpPr>
        <p:sp>
          <p:nvSpPr>
            <p:cNvPr id="59" name="Rectangle 8">
              <a:extLst>
                <a:ext uri="{FF2B5EF4-FFF2-40B4-BE49-F238E27FC236}">
                  <a16:creationId xmlns:a16="http://schemas.microsoft.com/office/drawing/2014/main" id="{83BCBF40-CA42-333A-BF35-8E7A5B5CC28E}"/>
                </a:ext>
              </a:extLst>
            </p:cNvPr>
            <p:cNvSpPr>
              <a:spLocks noChangeArrowheads="1"/>
            </p:cNvSpPr>
            <p:nvPr/>
          </p:nvSpPr>
          <p:spPr bwMode="auto">
            <a:xfrm>
              <a:off x="3951910" y="2907131"/>
              <a:ext cx="1080756" cy="1133850"/>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ＭＳ Ｐゴシック" pitchFamily="-1" charset="-128"/>
                </a:rPr>
                <a:t>Reg[ ]</a:t>
              </a:r>
            </a:p>
          </p:txBody>
        </p:sp>
        <p:sp>
          <p:nvSpPr>
            <p:cNvPr id="94" name="Isosceles Triangle 59">
              <a:extLst>
                <a:ext uri="{FF2B5EF4-FFF2-40B4-BE49-F238E27FC236}">
                  <a16:creationId xmlns:a16="http://schemas.microsoft.com/office/drawing/2014/main" id="{FD3A03E2-6293-499D-746D-D16141FCFEDA}"/>
                </a:ext>
              </a:extLst>
            </p:cNvPr>
            <p:cNvSpPr/>
            <p:nvPr/>
          </p:nvSpPr>
          <p:spPr>
            <a:xfrm>
              <a:off x="4727838"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grpSp>
        <p:nvGrpSpPr>
          <p:cNvPr id="114" name="Group 113">
            <a:extLst>
              <a:ext uri="{FF2B5EF4-FFF2-40B4-BE49-F238E27FC236}">
                <a16:creationId xmlns:a16="http://schemas.microsoft.com/office/drawing/2014/main" id="{18D83392-E262-6139-1A3E-F56AEDD8025E}"/>
              </a:ext>
            </a:extLst>
          </p:cNvPr>
          <p:cNvGrpSpPr/>
          <p:nvPr/>
        </p:nvGrpSpPr>
        <p:grpSpPr>
          <a:xfrm>
            <a:off x="8197618" y="3004609"/>
            <a:ext cx="1729961" cy="1918374"/>
            <a:chOff x="6544976" y="2907130"/>
            <a:chExt cx="1729961" cy="1652181"/>
          </a:xfrm>
        </p:grpSpPr>
        <p:sp>
          <p:nvSpPr>
            <p:cNvPr id="74" name="Rectangle 23">
              <a:extLst>
                <a:ext uri="{FF2B5EF4-FFF2-40B4-BE49-F238E27FC236}">
                  <a16:creationId xmlns:a16="http://schemas.microsoft.com/office/drawing/2014/main" id="{9898B5E0-5A56-3D1F-4E4D-31BBB3DD3768}"/>
                </a:ext>
              </a:extLst>
            </p:cNvPr>
            <p:cNvSpPr>
              <a:spLocks noChangeArrowheads="1"/>
            </p:cNvSpPr>
            <p:nvPr/>
          </p:nvSpPr>
          <p:spPr bwMode="auto">
            <a:xfrm rot="16200000">
              <a:off x="6583866" y="2868240"/>
              <a:ext cx="1652181" cy="1729961"/>
            </a:xfrm>
            <a:prstGeom prst="rect">
              <a:avLst/>
            </a:prstGeom>
            <a:noFill/>
            <a:ln w="28575">
              <a:solidFill>
                <a:schemeClr val="tx1">
                  <a:lumMod val="50000"/>
                  <a:lumOff val="50000"/>
                </a:schemeClr>
              </a:solidFill>
              <a:miter lim="800000"/>
              <a:headEnd/>
              <a:tailEnd/>
            </a:ln>
          </p:spPr>
          <p:txBody>
            <a:bodyPr vert="vert" wrap="none" lIns="68580" tIns="34290" rIns="68580" bIns="34290" anchor="ctr">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u="none" strike="noStrike" kern="0" cap="none" spc="0" normalizeH="0" baseline="0" noProof="0" dirty="0">
                  <a:ln>
                    <a:noFill/>
                  </a:ln>
                  <a:solidFill>
                    <a:schemeClr val="tx1">
                      <a:lumMod val="50000"/>
                      <a:lumOff val="50000"/>
                    </a:schemeClr>
                  </a:solidFill>
                  <a:effectLst/>
                  <a:uLnTx/>
                  <a:uFillTx/>
                  <a:latin typeface="18 VAG Rounded Light   02390" pitchFamily="2" charset="0"/>
                  <a:ea typeface="ＭＳ Ｐゴシック" pitchFamily="-1" charset="-128"/>
                </a:rPr>
                <a:t>DMEM</a:t>
              </a:r>
            </a:p>
          </p:txBody>
        </p:sp>
        <p:sp>
          <p:nvSpPr>
            <p:cNvPr id="95" name="Isosceles Triangle 60">
              <a:extLst>
                <a:ext uri="{FF2B5EF4-FFF2-40B4-BE49-F238E27FC236}">
                  <a16:creationId xmlns:a16="http://schemas.microsoft.com/office/drawing/2014/main" id="{37F2BC33-91A7-D724-4FFB-1C280FEB691A}"/>
                </a:ext>
              </a:extLst>
            </p:cNvPr>
            <p:cNvSpPr/>
            <p:nvPr/>
          </p:nvSpPr>
          <p:spPr>
            <a:xfrm>
              <a:off x="7942396" y="4386534"/>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sp>
        <p:nvSpPr>
          <p:cNvPr id="98" name="Freeform 97">
            <a:extLst>
              <a:ext uri="{FF2B5EF4-FFF2-40B4-BE49-F238E27FC236}">
                <a16:creationId xmlns:a16="http://schemas.microsoft.com/office/drawing/2014/main" id="{82B5C02B-B9D8-0049-1387-1E246E539D6C}"/>
              </a:ext>
            </a:extLst>
          </p:cNvPr>
          <p:cNvSpPr>
            <a:spLocks/>
          </p:cNvSpPr>
          <p:nvPr/>
        </p:nvSpPr>
        <p:spPr>
          <a:xfrm>
            <a:off x="6223461" y="3005650"/>
            <a:ext cx="916681" cy="1607053"/>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2000" dirty="0">
                <a:solidFill>
                  <a:schemeClr val="tx1">
                    <a:lumMod val="50000"/>
                    <a:lumOff val="50000"/>
                  </a:schemeClr>
                </a:solidFill>
                <a:latin typeface="18 VAG Rounded Light   02390" pitchFamily="2" charset="0"/>
              </a:rPr>
              <a:t>ALU</a:t>
            </a:r>
          </a:p>
        </p:txBody>
      </p:sp>
      <p:sp>
        <p:nvSpPr>
          <p:cNvPr id="66" name="Rectangle 65">
            <a:extLst>
              <a:ext uri="{FF2B5EF4-FFF2-40B4-BE49-F238E27FC236}">
                <a16:creationId xmlns:a16="http://schemas.microsoft.com/office/drawing/2014/main" id="{F37DD6D3-48BB-015C-B36F-0E314ACD6116}"/>
              </a:ext>
            </a:extLst>
          </p:cNvPr>
          <p:cNvSpPr/>
          <p:nvPr/>
        </p:nvSpPr>
        <p:spPr>
          <a:xfrm>
            <a:off x="2205130" y="2780558"/>
            <a:ext cx="1181029" cy="2142426"/>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000" dirty="0">
                <a:solidFill>
                  <a:schemeClr val="tx1">
                    <a:lumMod val="50000"/>
                    <a:lumOff val="50000"/>
                  </a:schemeClr>
                </a:solidFill>
                <a:latin typeface="18 VAG Rounded Light   02390" pitchFamily="2" charset="0"/>
              </a:rPr>
              <a:t>IMEM</a:t>
            </a:r>
          </a:p>
        </p:txBody>
      </p:sp>
      <p:sp>
        <p:nvSpPr>
          <p:cNvPr id="4" name="TextBox 3">
            <a:extLst>
              <a:ext uri="{FF2B5EF4-FFF2-40B4-BE49-F238E27FC236}">
                <a16:creationId xmlns:a16="http://schemas.microsoft.com/office/drawing/2014/main" id="{CA0A6F74-3A69-32F9-0E0A-CE86742238CF}"/>
              </a:ext>
            </a:extLst>
          </p:cNvPr>
          <p:cNvSpPr txBox="1"/>
          <p:nvPr/>
        </p:nvSpPr>
        <p:spPr>
          <a:xfrm>
            <a:off x="440273" y="956529"/>
            <a:ext cx="2072640" cy="830997"/>
          </a:xfrm>
          <a:prstGeom prst="rect">
            <a:avLst/>
          </a:prstGeom>
          <a:noFill/>
        </p:spPr>
        <p:txBody>
          <a:bodyPr wrap="square" rtlCol="0">
            <a:spAutoFit/>
          </a:bodyPr>
          <a:lstStyle/>
          <a:p>
            <a:pPr algn="l"/>
            <a:r>
              <a:rPr lang="en-US" sz="2400" dirty="0">
                <a:solidFill>
                  <a:schemeClr val="tx1">
                    <a:lumMod val="50000"/>
                    <a:lumOff val="50000"/>
                  </a:schemeClr>
                </a:solidFill>
                <a:latin typeface="18 VAG Rounded Light   02390" pitchFamily="2" charset="0"/>
              </a:rPr>
              <a:t>1. Instruction Fetch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IF</a:t>
            </a:r>
            <a:r>
              <a:rPr lang="en-US" sz="2400" dirty="0">
                <a:solidFill>
                  <a:schemeClr val="tx1">
                    <a:lumMod val="50000"/>
                    <a:lumOff val="50000"/>
                  </a:schemeClr>
                </a:solidFill>
                <a:latin typeface="18 VAG Rounded Light   02390" pitchFamily="2" charset="0"/>
              </a:rPr>
              <a:t>)</a:t>
            </a:r>
          </a:p>
        </p:txBody>
      </p:sp>
      <p:sp>
        <p:nvSpPr>
          <p:cNvPr id="10" name="TextBox 9">
            <a:extLst>
              <a:ext uri="{FF2B5EF4-FFF2-40B4-BE49-F238E27FC236}">
                <a16:creationId xmlns:a16="http://schemas.microsoft.com/office/drawing/2014/main" id="{9CCB9E0A-F71E-C819-630C-91B4E53D6260}"/>
              </a:ext>
            </a:extLst>
          </p:cNvPr>
          <p:cNvSpPr txBox="1"/>
          <p:nvPr/>
        </p:nvSpPr>
        <p:spPr>
          <a:xfrm>
            <a:off x="2827378" y="956529"/>
            <a:ext cx="2423515" cy="1138773"/>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tx1">
                    <a:lumMod val="50000"/>
                    <a:lumOff val="50000"/>
                  </a:schemeClr>
                </a:solidFill>
                <a:latin typeface="18 VAG Rounded Light   02390" pitchFamily="2" charset="0"/>
              </a:rPr>
              <a:t>2. Instruction</a:t>
            </a:r>
            <a:br>
              <a:rPr lang="en-US" sz="2400" dirty="0">
                <a:solidFill>
                  <a:schemeClr val="tx1">
                    <a:lumMod val="50000"/>
                    <a:lumOff val="50000"/>
                  </a:schemeClr>
                </a:solidFill>
                <a:latin typeface="18 VAG Rounded Light   02390" pitchFamily="2" charset="0"/>
              </a:rPr>
            </a:br>
            <a:r>
              <a:rPr lang="en-US" sz="2400" dirty="0">
                <a:solidFill>
                  <a:schemeClr val="tx1">
                    <a:lumMod val="50000"/>
                    <a:lumOff val="50000"/>
                  </a:schemeClr>
                </a:solidFill>
                <a:latin typeface="18 VAG Rounded Light   02390" pitchFamily="2" charset="0"/>
              </a:rPr>
              <a:t>Decode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ID</a:t>
            </a:r>
            <a:r>
              <a:rPr lang="en-US" sz="2400" dirty="0">
                <a:solidFill>
                  <a:schemeClr val="tx1">
                    <a:lumMod val="50000"/>
                    <a:lumOff val="50000"/>
                  </a:schemeClr>
                </a:solidFill>
                <a:latin typeface="18 VAG Rounded Light   02390" pitchFamily="2" charset="0"/>
              </a:rPr>
              <a:t>)</a:t>
            </a:r>
            <a:endParaRPr kumimoji="0" lang="en-US" sz="2400" b="0" i="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mn-ea"/>
              <a:cs typeface="+mn-cs"/>
            </a:endParaRPr>
          </a:p>
          <a:p>
            <a:pPr marL="9525" marR="0" lvl="2" algn="l" defTabSz="914377" rtl="0" eaLnBrk="1" fontAlgn="auto" latinLnBrk="0" hangingPunct="1">
              <a:lnSpc>
                <a:spcPct val="100000"/>
              </a:lnSpc>
              <a:spcAft>
                <a:spcPts val="0"/>
              </a:spcAft>
              <a:buClrTx/>
              <a:buSzTx/>
              <a:defRPr/>
            </a:pPr>
            <a:r>
              <a:rPr lang="en-US" sz="2000" dirty="0">
                <a:solidFill>
                  <a:schemeClr val="tx1">
                    <a:lumMod val="50000"/>
                    <a:lumOff val="50000"/>
                  </a:schemeClr>
                </a:solidFill>
                <a:latin typeface="18 VAG Rounded Light   02390" pitchFamily="2" charset="0"/>
              </a:rPr>
              <a:t>+ Read Registers</a:t>
            </a:r>
            <a:endParaRPr lang="en-US" sz="2400" dirty="0">
              <a:solidFill>
                <a:schemeClr val="tx1">
                  <a:lumMod val="50000"/>
                  <a:lumOff val="50000"/>
                </a:schemeClr>
              </a:solidFill>
              <a:latin typeface="18 VAG Rounded Light   02390" pitchFamily="2" charset="0"/>
            </a:endParaRPr>
          </a:p>
        </p:txBody>
      </p:sp>
      <p:sp>
        <p:nvSpPr>
          <p:cNvPr id="11" name="TextBox 10">
            <a:extLst>
              <a:ext uri="{FF2B5EF4-FFF2-40B4-BE49-F238E27FC236}">
                <a16:creationId xmlns:a16="http://schemas.microsoft.com/office/drawing/2014/main" id="{24FFD686-9BF1-D0EC-A56C-4C0525883BAF}"/>
              </a:ext>
            </a:extLst>
          </p:cNvPr>
          <p:cNvSpPr txBox="1"/>
          <p:nvPr/>
        </p:nvSpPr>
        <p:spPr>
          <a:xfrm>
            <a:off x="5377122" y="956529"/>
            <a:ext cx="2182676" cy="1077218"/>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tx1">
                    <a:lumMod val="50000"/>
                    <a:lumOff val="50000"/>
                  </a:schemeClr>
                </a:solidFill>
                <a:latin typeface="18 VAG Rounded Light   02390" pitchFamily="2" charset="0"/>
              </a:rPr>
              <a:t>3. Execute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EX</a:t>
            </a:r>
            <a:r>
              <a:rPr lang="en-US" sz="2400" dirty="0">
                <a:solidFill>
                  <a:schemeClr val="tx1">
                    <a:lumMod val="50000"/>
                    <a:lumOff val="50000"/>
                  </a:schemeClr>
                </a:solidFill>
                <a:latin typeface="18 VAG Rounded Light   02390" pitchFamily="2" charset="0"/>
              </a:rPr>
              <a:t>)</a:t>
            </a:r>
          </a:p>
          <a:p>
            <a:pPr marL="9525" marR="0" lvl="1" algn="l" defTabSz="914377" rtl="0" eaLnBrk="1" fontAlgn="auto" latinLnBrk="0" hangingPunct="1">
              <a:lnSpc>
                <a:spcPct val="100000"/>
              </a:lnSpc>
              <a:spcAft>
                <a:spcPts val="0"/>
              </a:spcAft>
              <a:buClrTx/>
              <a:buSzPct val="90000"/>
              <a:defRPr/>
            </a:pPr>
            <a:r>
              <a:rPr kumimoji="0" lang="en-US" sz="2000" b="0" i="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mn-ea"/>
                <a:cs typeface="+mn-cs"/>
              </a:rPr>
              <a:t>Arithmetic Logic Unit (ALU)</a:t>
            </a:r>
            <a:endParaRPr lang="en-US" sz="2400" dirty="0">
              <a:solidFill>
                <a:schemeClr val="tx1">
                  <a:lumMod val="50000"/>
                  <a:lumOff val="50000"/>
                </a:schemeClr>
              </a:solidFill>
              <a:latin typeface="18 VAG Rounded Light   02390" pitchFamily="2" charset="0"/>
            </a:endParaRPr>
          </a:p>
        </p:txBody>
      </p:sp>
      <p:sp>
        <p:nvSpPr>
          <p:cNvPr id="12" name="TextBox 11">
            <a:extLst>
              <a:ext uri="{FF2B5EF4-FFF2-40B4-BE49-F238E27FC236}">
                <a16:creationId xmlns:a16="http://schemas.microsoft.com/office/drawing/2014/main" id="{E2DB7E85-79B0-389E-D2C3-F0764AEFFC22}"/>
              </a:ext>
            </a:extLst>
          </p:cNvPr>
          <p:cNvSpPr txBox="1"/>
          <p:nvPr/>
        </p:nvSpPr>
        <p:spPr>
          <a:xfrm>
            <a:off x="7737285" y="956529"/>
            <a:ext cx="2182676" cy="830997"/>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tx1">
                    <a:lumMod val="50000"/>
                    <a:lumOff val="50000"/>
                  </a:schemeClr>
                </a:solidFill>
                <a:latin typeface="18 VAG Rounded Light   02390" pitchFamily="2" charset="0"/>
              </a:rPr>
              <a:t>4. Memory Access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MEM</a:t>
            </a:r>
            <a:r>
              <a:rPr lang="en-US" sz="2400" dirty="0">
                <a:solidFill>
                  <a:schemeClr val="tx1">
                    <a:lumMod val="50000"/>
                    <a:lumOff val="50000"/>
                  </a:schemeClr>
                </a:solidFill>
                <a:latin typeface="18 VAG Rounded Light   02390" pitchFamily="2" charset="0"/>
              </a:rPr>
              <a:t>)</a:t>
            </a:r>
            <a:endParaRPr kumimoji="0" lang="en-US" sz="2400" b="0" i="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mn-ea"/>
              <a:cs typeface="+mn-cs"/>
            </a:endParaRPr>
          </a:p>
        </p:txBody>
      </p:sp>
      <p:sp>
        <p:nvSpPr>
          <p:cNvPr id="13" name="TextBox 12">
            <a:extLst>
              <a:ext uri="{FF2B5EF4-FFF2-40B4-BE49-F238E27FC236}">
                <a16:creationId xmlns:a16="http://schemas.microsoft.com/office/drawing/2014/main" id="{F40C5187-E6BE-895D-9EF5-50814AD23860}"/>
              </a:ext>
            </a:extLst>
          </p:cNvPr>
          <p:cNvSpPr txBox="1"/>
          <p:nvPr/>
        </p:nvSpPr>
        <p:spPr>
          <a:xfrm>
            <a:off x="9816412" y="956529"/>
            <a:ext cx="2138143" cy="830997"/>
          </a:xfrm>
          <a:prstGeom prst="rect">
            <a:avLst/>
          </a:prstGeom>
          <a:noFill/>
        </p:spPr>
        <p:txBody>
          <a:bodyPr wrap="square" rtlCol="0">
            <a:spAutoFit/>
          </a:bodyPr>
          <a:lstStyle/>
          <a:p>
            <a:pPr marL="9525" marR="0" lvl="1" algn="l" defTabSz="914377" rtl="0" eaLnBrk="1" fontAlgn="auto" latinLnBrk="0" hangingPunct="1">
              <a:lnSpc>
                <a:spcPct val="100000"/>
              </a:lnSpc>
              <a:spcBef>
                <a:spcPts val="500"/>
              </a:spcBef>
              <a:spcAft>
                <a:spcPts val="0"/>
              </a:spcAft>
              <a:buClrTx/>
              <a:buSzPct val="90000"/>
              <a:defRPr/>
            </a:pPr>
            <a:r>
              <a:rPr lang="en-US" sz="2400" dirty="0">
                <a:solidFill>
                  <a:schemeClr val="tx1">
                    <a:lumMod val="50000"/>
                    <a:lumOff val="50000"/>
                  </a:schemeClr>
                </a:solidFill>
                <a:latin typeface="18 VAG Rounded Light   02390" pitchFamily="2" charset="0"/>
              </a:rPr>
              <a:t>5. Write back to Register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WB</a:t>
            </a:r>
            <a:r>
              <a:rPr lang="en-US" sz="2400" dirty="0">
                <a:solidFill>
                  <a:schemeClr val="tx1">
                    <a:lumMod val="50000"/>
                    <a:lumOff val="50000"/>
                  </a:schemeClr>
                </a:solidFill>
                <a:latin typeface="18 VAG Rounded Light   02390" pitchFamily="2" charset="0"/>
              </a:rPr>
              <a:t>)</a:t>
            </a:r>
            <a:endParaRPr kumimoji="0" lang="en-US" sz="2400" b="0" i="0" u="none" strike="noStrike" kern="1200" cap="none" spc="0" normalizeH="0" baseline="0" noProof="0" dirty="0">
              <a:ln>
                <a:noFill/>
              </a:ln>
              <a:solidFill>
                <a:schemeClr val="tx1">
                  <a:lumMod val="50000"/>
                  <a:lumOff val="50000"/>
                </a:schemeClr>
              </a:solidFill>
              <a:effectLst/>
              <a:uLnTx/>
              <a:uFillTx/>
              <a:latin typeface="18 VAG Rounded Light   02390" pitchFamily="2" charset="0"/>
              <a:ea typeface="+mn-ea"/>
              <a:cs typeface="+mn-cs"/>
            </a:endParaRPr>
          </a:p>
        </p:txBody>
      </p:sp>
      <p:sp>
        <p:nvSpPr>
          <p:cNvPr id="14" name="Right Arrow 13">
            <a:extLst>
              <a:ext uri="{FF2B5EF4-FFF2-40B4-BE49-F238E27FC236}">
                <a16:creationId xmlns:a16="http://schemas.microsoft.com/office/drawing/2014/main" id="{83710B3D-D593-4D91-CB85-8098BA272020}"/>
              </a:ext>
            </a:extLst>
          </p:cNvPr>
          <p:cNvSpPr/>
          <p:nvPr/>
        </p:nvSpPr>
        <p:spPr>
          <a:xfrm>
            <a:off x="1669519" y="3367985"/>
            <a:ext cx="314960" cy="944943"/>
          </a:xfrm>
          <a:prstGeom prst="right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18" name="Right Arrow 17">
            <a:extLst>
              <a:ext uri="{FF2B5EF4-FFF2-40B4-BE49-F238E27FC236}">
                <a16:creationId xmlns:a16="http://schemas.microsoft.com/office/drawing/2014/main" id="{FBB476CA-6FDF-F383-AFE6-1BE22C5B6476}"/>
              </a:ext>
            </a:extLst>
          </p:cNvPr>
          <p:cNvSpPr/>
          <p:nvPr/>
        </p:nvSpPr>
        <p:spPr>
          <a:xfrm>
            <a:off x="3705608" y="3367985"/>
            <a:ext cx="314960" cy="944943"/>
          </a:xfrm>
          <a:prstGeom prst="right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19" name="Right Arrow 18">
            <a:extLst>
              <a:ext uri="{FF2B5EF4-FFF2-40B4-BE49-F238E27FC236}">
                <a16:creationId xmlns:a16="http://schemas.microsoft.com/office/drawing/2014/main" id="{6BF4ED87-594F-C55C-A15D-5C449177D00F}"/>
              </a:ext>
            </a:extLst>
          </p:cNvPr>
          <p:cNvSpPr/>
          <p:nvPr/>
        </p:nvSpPr>
        <p:spPr>
          <a:xfrm>
            <a:off x="5642811" y="3367985"/>
            <a:ext cx="314960" cy="944943"/>
          </a:xfrm>
          <a:prstGeom prst="right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0" name="Right Arrow 19">
            <a:extLst>
              <a:ext uri="{FF2B5EF4-FFF2-40B4-BE49-F238E27FC236}">
                <a16:creationId xmlns:a16="http://schemas.microsoft.com/office/drawing/2014/main" id="{C95FA45F-BDFB-8347-9C7C-49ADD7D36CB3}"/>
              </a:ext>
            </a:extLst>
          </p:cNvPr>
          <p:cNvSpPr/>
          <p:nvPr/>
        </p:nvSpPr>
        <p:spPr>
          <a:xfrm>
            <a:off x="7559798" y="3367985"/>
            <a:ext cx="314960" cy="944943"/>
          </a:xfrm>
          <a:prstGeom prst="right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1" name="Curved Left Arrow 20">
            <a:extLst>
              <a:ext uri="{FF2B5EF4-FFF2-40B4-BE49-F238E27FC236}">
                <a16:creationId xmlns:a16="http://schemas.microsoft.com/office/drawing/2014/main" id="{270B082C-A626-AC27-E391-2A47BD856C30}"/>
              </a:ext>
            </a:extLst>
          </p:cNvPr>
          <p:cNvSpPr/>
          <p:nvPr/>
        </p:nvSpPr>
        <p:spPr>
          <a:xfrm flipV="1">
            <a:off x="9927580" y="2397305"/>
            <a:ext cx="760740" cy="1474433"/>
          </a:xfrm>
          <a:prstGeom prst="curvedLeftArrow">
            <a:avLst/>
          </a:prstGeom>
          <a:solidFill>
            <a:schemeClr val="bg1">
              <a:lumMod val="75000"/>
            </a:schemeClr>
          </a:solidFill>
          <a:ln w="28575">
            <a:no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3" name="Bent Arrow 22">
            <a:extLst>
              <a:ext uri="{FF2B5EF4-FFF2-40B4-BE49-F238E27FC236}">
                <a16:creationId xmlns:a16="http://schemas.microsoft.com/office/drawing/2014/main" id="{466171E8-64DB-2FA5-F848-B8D55DA517E7}"/>
              </a:ext>
            </a:extLst>
          </p:cNvPr>
          <p:cNvSpPr/>
          <p:nvPr/>
        </p:nvSpPr>
        <p:spPr>
          <a:xfrm rot="16200000" flipH="1">
            <a:off x="6977465" y="156303"/>
            <a:ext cx="583025" cy="5301969"/>
          </a:xfrm>
          <a:prstGeom prst="bentArrow">
            <a:avLst>
              <a:gd name="adj1" fmla="val 28722"/>
              <a:gd name="adj2" fmla="val 35524"/>
              <a:gd name="adj3" fmla="val 29186"/>
              <a:gd name="adj4" fmla="val 21549"/>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1" name="Curved Right Arrow 30">
            <a:extLst>
              <a:ext uri="{FF2B5EF4-FFF2-40B4-BE49-F238E27FC236}">
                <a16:creationId xmlns:a16="http://schemas.microsoft.com/office/drawing/2014/main" id="{221A6C38-ACB3-7F71-5F7E-7A3EB0B513B8}"/>
              </a:ext>
            </a:extLst>
          </p:cNvPr>
          <p:cNvSpPr/>
          <p:nvPr/>
        </p:nvSpPr>
        <p:spPr>
          <a:xfrm rot="5400000">
            <a:off x="399753" y="2322935"/>
            <a:ext cx="730346" cy="1027068"/>
          </a:xfrm>
          <a:prstGeom prst="curvedRight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2" name="Bent Arrow 31">
            <a:extLst>
              <a:ext uri="{FF2B5EF4-FFF2-40B4-BE49-F238E27FC236}">
                <a16:creationId xmlns:a16="http://schemas.microsoft.com/office/drawing/2014/main" id="{B2E9384E-2260-FFD8-E02C-C673534CB031}"/>
              </a:ext>
            </a:extLst>
          </p:cNvPr>
          <p:cNvSpPr/>
          <p:nvPr/>
        </p:nvSpPr>
        <p:spPr>
          <a:xfrm flipV="1">
            <a:off x="376880" y="3182520"/>
            <a:ext cx="550123" cy="1022153"/>
          </a:xfrm>
          <a:prstGeom prst="bentArrow">
            <a:avLst>
              <a:gd name="adj1" fmla="val 32167"/>
              <a:gd name="adj2" fmla="val 50000"/>
              <a:gd name="adj3" fmla="val 36081"/>
              <a:gd name="adj4" fmla="val 41682"/>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7" name="Right Brace 36">
            <a:extLst>
              <a:ext uri="{FF2B5EF4-FFF2-40B4-BE49-F238E27FC236}">
                <a16:creationId xmlns:a16="http://schemas.microsoft.com/office/drawing/2014/main" id="{CB19EBA9-6DC4-FCEC-6E57-EFA9555776E6}"/>
              </a:ext>
            </a:extLst>
          </p:cNvPr>
          <p:cNvSpPr/>
          <p:nvPr/>
        </p:nvSpPr>
        <p:spPr>
          <a:xfrm rot="16200000">
            <a:off x="6455547" y="1119520"/>
            <a:ext cx="239481" cy="2170710"/>
          </a:xfrm>
          <a:prstGeom prst="rightBrace">
            <a:avLst>
              <a:gd name="adj1" fmla="val 8333"/>
              <a:gd name="adj2" fmla="val 18641"/>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Right Brace 37">
            <a:extLst>
              <a:ext uri="{FF2B5EF4-FFF2-40B4-BE49-F238E27FC236}">
                <a16:creationId xmlns:a16="http://schemas.microsoft.com/office/drawing/2014/main" id="{AFD1E27D-27EB-AAB7-8938-710380DC2E2A}"/>
              </a:ext>
            </a:extLst>
          </p:cNvPr>
          <p:cNvSpPr/>
          <p:nvPr/>
        </p:nvSpPr>
        <p:spPr>
          <a:xfrm rot="16200000">
            <a:off x="8739065" y="1119520"/>
            <a:ext cx="239481" cy="2170710"/>
          </a:xfrm>
          <a:prstGeom prst="rightBrace">
            <a:avLst>
              <a:gd name="adj1" fmla="val 8333"/>
              <a:gd name="adj2" fmla="val 18641"/>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a:extLst>
              <a:ext uri="{FF2B5EF4-FFF2-40B4-BE49-F238E27FC236}">
                <a16:creationId xmlns:a16="http://schemas.microsoft.com/office/drawing/2014/main" id="{1D1E9F0C-1DF2-0390-29FB-B8CE04A5ED5B}"/>
              </a:ext>
            </a:extLst>
          </p:cNvPr>
          <p:cNvSpPr/>
          <p:nvPr/>
        </p:nvSpPr>
        <p:spPr>
          <a:xfrm>
            <a:off x="10342683" y="1890836"/>
            <a:ext cx="345768" cy="833120"/>
          </a:xfrm>
          <a:custGeom>
            <a:avLst/>
            <a:gdLst>
              <a:gd name="connsiteX0" fmla="*/ 172720 w 345768"/>
              <a:gd name="connsiteY0" fmla="*/ 0 h 833120"/>
              <a:gd name="connsiteX1" fmla="*/ 233680 w 345768"/>
              <a:gd name="connsiteY1" fmla="*/ 91440 h 833120"/>
              <a:gd name="connsiteX2" fmla="*/ 264160 w 345768"/>
              <a:gd name="connsiteY2" fmla="*/ 152400 h 833120"/>
              <a:gd name="connsiteX3" fmla="*/ 325120 w 345768"/>
              <a:gd name="connsiteY3" fmla="*/ 243840 h 833120"/>
              <a:gd name="connsiteX4" fmla="*/ 335280 w 345768"/>
              <a:gd name="connsiteY4" fmla="*/ 386080 h 833120"/>
              <a:gd name="connsiteX5" fmla="*/ 274320 w 345768"/>
              <a:gd name="connsiteY5" fmla="*/ 457200 h 833120"/>
              <a:gd name="connsiteX6" fmla="*/ 223520 w 345768"/>
              <a:gd name="connsiteY6" fmla="*/ 487680 h 833120"/>
              <a:gd name="connsiteX7" fmla="*/ 193040 w 345768"/>
              <a:gd name="connsiteY7" fmla="*/ 508000 h 833120"/>
              <a:gd name="connsiteX8" fmla="*/ 111760 w 345768"/>
              <a:gd name="connsiteY8" fmla="*/ 528320 h 833120"/>
              <a:gd name="connsiteX9" fmla="*/ 40640 w 345768"/>
              <a:gd name="connsiteY9" fmla="*/ 518160 h 833120"/>
              <a:gd name="connsiteX10" fmla="*/ 0 w 345768"/>
              <a:gd name="connsiteY10" fmla="*/ 447040 h 833120"/>
              <a:gd name="connsiteX11" fmla="*/ 10160 w 345768"/>
              <a:gd name="connsiteY11" fmla="*/ 416560 h 833120"/>
              <a:gd name="connsiteX12" fmla="*/ 50800 w 345768"/>
              <a:gd name="connsiteY12" fmla="*/ 406400 h 833120"/>
              <a:gd name="connsiteX13" fmla="*/ 213360 w 345768"/>
              <a:gd name="connsiteY13" fmla="*/ 416560 h 833120"/>
              <a:gd name="connsiteX14" fmla="*/ 274320 w 345768"/>
              <a:gd name="connsiteY14" fmla="*/ 447040 h 833120"/>
              <a:gd name="connsiteX15" fmla="*/ 294640 w 345768"/>
              <a:gd name="connsiteY15" fmla="*/ 477520 h 833120"/>
              <a:gd name="connsiteX16" fmla="*/ 325120 w 345768"/>
              <a:gd name="connsiteY16" fmla="*/ 518160 h 833120"/>
              <a:gd name="connsiteX17" fmla="*/ 345440 w 345768"/>
              <a:gd name="connsiteY17" fmla="*/ 599440 h 833120"/>
              <a:gd name="connsiteX18" fmla="*/ 335280 w 345768"/>
              <a:gd name="connsiteY18" fmla="*/ 680720 h 833120"/>
              <a:gd name="connsiteX19" fmla="*/ 325120 w 345768"/>
              <a:gd name="connsiteY19" fmla="*/ 711200 h 833120"/>
              <a:gd name="connsiteX20" fmla="*/ 294640 w 345768"/>
              <a:gd name="connsiteY20" fmla="*/ 731520 h 833120"/>
              <a:gd name="connsiteX21" fmla="*/ 203200 w 345768"/>
              <a:gd name="connsiteY21" fmla="*/ 802640 h 833120"/>
              <a:gd name="connsiteX22" fmla="*/ 162560 w 345768"/>
              <a:gd name="connsiteY22" fmla="*/ 833120 h 833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45768" h="833120">
                <a:moveTo>
                  <a:pt x="172720" y="0"/>
                </a:moveTo>
                <a:cubicBezTo>
                  <a:pt x="193040" y="30480"/>
                  <a:pt x="222096" y="56687"/>
                  <a:pt x="233680" y="91440"/>
                </a:cubicBezTo>
                <a:cubicBezTo>
                  <a:pt x="249347" y="138440"/>
                  <a:pt x="236024" y="107382"/>
                  <a:pt x="264160" y="152400"/>
                </a:cubicBezTo>
                <a:cubicBezTo>
                  <a:pt x="313150" y="230784"/>
                  <a:pt x="274390" y="176200"/>
                  <a:pt x="325120" y="243840"/>
                </a:cubicBezTo>
                <a:cubicBezTo>
                  <a:pt x="341866" y="310823"/>
                  <a:pt x="356353" y="322861"/>
                  <a:pt x="335280" y="386080"/>
                </a:cubicBezTo>
                <a:cubicBezTo>
                  <a:pt x="328363" y="406831"/>
                  <a:pt x="285893" y="448199"/>
                  <a:pt x="274320" y="457200"/>
                </a:cubicBezTo>
                <a:cubicBezTo>
                  <a:pt x="258732" y="469324"/>
                  <a:pt x="240266" y="477214"/>
                  <a:pt x="223520" y="487680"/>
                </a:cubicBezTo>
                <a:cubicBezTo>
                  <a:pt x="213165" y="494152"/>
                  <a:pt x="203962" y="502539"/>
                  <a:pt x="193040" y="508000"/>
                </a:cubicBezTo>
                <a:cubicBezTo>
                  <a:pt x="172212" y="518414"/>
                  <a:pt x="131082" y="524456"/>
                  <a:pt x="111760" y="528320"/>
                </a:cubicBezTo>
                <a:cubicBezTo>
                  <a:pt x="88053" y="524933"/>
                  <a:pt x="62523" y="527886"/>
                  <a:pt x="40640" y="518160"/>
                </a:cubicBezTo>
                <a:cubicBezTo>
                  <a:pt x="31408" y="514057"/>
                  <a:pt x="1607" y="450254"/>
                  <a:pt x="0" y="447040"/>
                </a:cubicBezTo>
                <a:cubicBezTo>
                  <a:pt x="3387" y="436880"/>
                  <a:pt x="1797" y="423250"/>
                  <a:pt x="10160" y="416560"/>
                </a:cubicBezTo>
                <a:cubicBezTo>
                  <a:pt x="21064" y="407837"/>
                  <a:pt x="36836" y="406400"/>
                  <a:pt x="50800" y="406400"/>
                </a:cubicBezTo>
                <a:cubicBezTo>
                  <a:pt x="105092" y="406400"/>
                  <a:pt x="159173" y="413173"/>
                  <a:pt x="213360" y="416560"/>
                </a:cubicBezTo>
                <a:cubicBezTo>
                  <a:pt x="238150" y="424823"/>
                  <a:pt x="254625" y="427345"/>
                  <a:pt x="274320" y="447040"/>
                </a:cubicBezTo>
                <a:cubicBezTo>
                  <a:pt x="282954" y="455674"/>
                  <a:pt x="287543" y="467584"/>
                  <a:pt x="294640" y="477520"/>
                </a:cubicBezTo>
                <a:cubicBezTo>
                  <a:pt x="304482" y="491299"/>
                  <a:pt x="314960" y="504613"/>
                  <a:pt x="325120" y="518160"/>
                </a:cubicBezTo>
                <a:cubicBezTo>
                  <a:pt x="333137" y="542212"/>
                  <a:pt x="345440" y="574919"/>
                  <a:pt x="345440" y="599440"/>
                </a:cubicBezTo>
                <a:cubicBezTo>
                  <a:pt x="345440" y="626744"/>
                  <a:pt x="340164" y="653856"/>
                  <a:pt x="335280" y="680720"/>
                </a:cubicBezTo>
                <a:cubicBezTo>
                  <a:pt x="333364" y="691257"/>
                  <a:pt x="331810" y="702837"/>
                  <a:pt x="325120" y="711200"/>
                </a:cubicBezTo>
                <a:cubicBezTo>
                  <a:pt x="317492" y="720735"/>
                  <a:pt x="304409" y="724194"/>
                  <a:pt x="294640" y="731520"/>
                </a:cubicBezTo>
                <a:cubicBezTo>
                  <a:pt x="263749" y="754688"/>
                  <a:pt x="235329" y="781221"/>
                  <a:pt x="203200" y="802640"/>
                </a:cubicBezTo>
                <a:cubicBezTo>
                  <a:pt x="168735" y="825617"/>
                  <a:pt x="181354" y="814326"/>
                  <a:pt x="162560" y="833120"/>
                </a:cubicBezTo>
              </a:path>
            </a:pathLst>
          </a:custGeom>
          <a:noFill/>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ectangle 5">
            <a:extLst>
              <a:ext uri="{FF2B5EF4-FFF2-40B4-BE49-F238E27FC236}">
                <a16:creationId xmlns:a16="http://schemas.microsoft.com/office/drawing/2014/main" id="{61A14A98-AA6B-41D1-51C8-651FEA3CE3C2}"/>
              </a:ext>
            </a:extLst>
          </p:cNvPr>
          <p:cNvSpPr/>
          <p:nvPr/>
        </p:nvSpPr>
        <p:spPr>
          <a:xfrm>
            <a:off x="376879" y="5143207"/>
            <a:ext cx="10626400" cy="458004"/>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dirty="0">
                <a:solidFill>
                  <a:schemeClr val="accent3"/>
                </a:solidFill>
                <a:latin typeface="18 VAG Rounded Light   02390" pitchFamily="2" charset="0"/>
              </a:rPr>
              <a:t>Control Logic</a:t>
            </a:r>
          </a:p>
        </p:txBody>
      </p:sp>
      <p:cxnSp>
        <p:nvCxnSpPr>
          <p:cNvPr id="7" name="Straight Arrow Connector 6">
            <a:extLst>
              <a:ext uri="{FF2B5EF4-FFF2-40B4-BE49-F238E27FC236}">
                <a16:creationId xmlns:a16="http://schemas.microsoft.com/office/drawing/2014/main" id="{ACA3E7D9-AEC7-0AF4-ADB1-FE037086713E}"/>
              </a:ext>
            </a:extLst>
          </p:cNvPr>
          <p:cNvCxnSpPr>
            <a:cxnSpLocks/>
          </p:cNvCxnSpPr>
          <p:nvPr/>
        </p:nvCxnSpPr>
        <p:spPr>
          <a:xfrm flipV="1">
            <a:off x="1066187" y="4448049"/>
            <a:ext cx="0" cy="695158"/>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3772714-24F2-8B42-5DE8-CF8C93AF20DD}"/>
              </a:ext>
            </a:extLst>
          </p:cNvPr>
          <p:cNvCxnSpPr>
            <a:cxnSpLocks/>
          </p:cNvCxnSpPr>
          <p:nvPr/>
        </p:nvCxnSpPr>
        <p:spPr>
          <a:xfrm flipV="1">
            <a:off x="2512913" y="4922983"/>
            <a:ext cx="0" cy="220224"/>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7202E11-053E-77F0-048B-FF5D85868C98}"/>
              </a:ext>
            </a:extLst>
          </p:cNvPr>
          <p:cNvCxnSpPr>
            <a:cxnSpLocks/>
          </p:cNvCxnSpPr>
          <p:nvPr/>
        </p:nvCxnSpPr>
        <p:spPr>
          <a:xfrm flipV="1">
            <a:off x="4617993" y="4312928"/>
            <a:ext cx="0" cy="830279"/>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A715EB83-07F5-6B1F-52CD-CC816341BBC0}"/>
              </a:ext>
            </a:extLst>
          </p:cNvPr>
          <p:cNvCxnSpPr>
            <a:cxnSpLocks/>
          </p:cNvCxnSpPr>
          <p:nvPr/>
        </p:nvCxnSpPr>
        <p:spPr>
          <a:xfrm flipV="1">
            <a:off x="6335033" y="4612703"/>
            <a:ext cx="0" cy="530504"/>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DBBE2C2-00D6-E04E-949D-40CF95C3BA11}"/>
              </a:ext>
            </a:extLst>
          </p:cNvPr>
          <p:cNvCxnSpPr>
            <a:cxnSpLocks/>
          </p:cNvCxnSpPr>
          <p:nvPr/>
        </p:nvCxnSpPr>
        <p:spPr>
          <a:xfrm flipV="1">
            <a:off x="639467" y="4020014"/>
            <a:ext cx="0" cy="1123193"/>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BC20ED9-5EDA-796B-E465-018611BAC279}"/>
              </a:ext>
            </a:extLst>
          </p:cNvPr>
          <p:cNvCxnSpPr>
            <a:cxnSpLocks/>
          </p:cNvCxnSpPr>
          <p:nvPr/>
        </p:nvCxnSpPr>
        <p:spPr>
          <a:xfrm flipV="1">
            <a:off x="1757067" y="4080974"/>
            <a:ext cx="0" cy="1062233"/>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4C370AD-B3F7-43AE-EC37-B7D2C5CE65DE}"/>
              </a:ext>
            </a:extLst>
          </p:cNvPr>
          <p:cNvCxnSpPr>
            <a:cxnSpLocks/>
          </p:cNvCxnSpPr>
          <p:nvPr/>
        </p:nvCxnSpPr>
        <p:spPr>
          <a:xfrm flipV="1">
            <a:off x="8793753" y="4877955"/>
            <a:ext cx="0" cy="265252"/>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3E6D324D-90CE-B13F-F7F6-6ED2F2874A1D}"/>
              </a:ext>
            </a:extLst>
          </p:cNvPr>
          <p:cNvCxnSpPr>
            <a:cxnSpLocks/>
          </p:cNvCxnSpPr>
          <p:nvPr/>
        </p:nvCxnSpPr>
        <p:spPr>
          <a:xfrm flipV="1">
            <a:off x="3947433" y="4064016"/>
            <a:ext cx="0" cy="1079191"/>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EC9D486-D516-07CF-DEEF-0CFC33E3B2D5}"/>
              </a:ext>
            </a:extLst>
          </p:cNvPr>
          <p:cNvCxnSpPr>
            <a:cxnSpLocks/>
          </p:cNvCxnSpPr>
          <p:nvPr/>
        </p:nvCxnSpPr>
        <p:spPr>
          <a:xfrm flipV="1">
            <a:off x="5715273" y="4080974"/>
            <a:ext cx="0" cy="1062233"/>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0050C660-3274-D169-596A-1369F2449959}"/>
              </a:ext>
            </a:extLst>
          </p:cNvPr>
          <p:cNvCxnSpPr>
            <a:cxnSpLocks/>
          </p:cNvCxnSpPr>
          <p:nvPr/>
        </p:nvCxnSpPr>
        <p:spPr>
          <a:xfrm flipV="1">
            <a:off x="7660643" y="4073107"/>
            <a:ext cx="0" cy="1079191"/>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FD4EB15-2B78-9C4E-290E-7F45EA9E2BEF}"/>
              </a:ext>
            </a:extLst>
          </p:cNvPr>
          <p:cNvCxnSpPr>
            <a:cxnSpLocks/>
          </p:cNvCxnSpPr>
          <p:nvPr/>
        </p:nvCxnSpPr>
        <p:spPr>
          <a:xfrm flipV="1">
            <a:off x="10210803" y="3843792"/>
            <a:ext cx="0" cy="1299415"/>
          </a:xfrm>
          <a:prstGeom prst="straightConnector1">
            <a:avLst/>
          </a:prstGeom>
          <a:ln w="12700">
            <a:solidFill>
              <a:schemeClr val="accent3"/>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9CD2A9E-2F37-BC84-5E76-3E205ED06D52}"/>
              </a:ext>
            </a:extLst>
          </p:cNvPr>
          <p:cNvCxnSpPr>
            <a:stCxn id="93" idx="3"/>
          </p:cNvCxnSpPr>
          <p:nvPr/>
        </p:nvCxnSpPr>
        <p:spPr>
          <a:xfrm>
            <a:off x="1236497" y="4438662"/>
            <a:ext cx="0" cy="91440"/>
          </a:xfrm>
          <a:prstGeom prst="line">
            <a:avLst/>
          </a:prstGeom>
          <a:ln w="28575">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DDE6177-B316-E685-7B2B-DC551B299922}"/>
              </a:ext>
            </a:extLst>
          </p:cNvPr>
          <p:cNvCxnSpPr/>
          <p:nvPr/>
        </p:nvCxnSpPr>
        <p:spPr>
          <a:xfrm>
            <a:off x="5178577" y="4296808"/>
            <a:ext cx="0" cy="91440"/>
          </a:xfrm>
          <a:prstGeom prst="line">
            <a:avLst/>
          </a:prstGeom>
          <a:ln w="28575">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6CEF4A0-A9BF-D913-EEA5-199CD4EEEB71}"/>
              </a:ext>
            </a:extLst>
          </p:cNvPr>
          <p:cNvCxnSpPr/>
          <p:nvPr/>
        </p:nvCxnSpPr>
        <p:spPr>
          <a:xfrm>
            <a:off x="9709937" y="4922983"/>
            <a:ext cx="0" cy="91440"/>
          </a:xfrm>
          <a:prstGeom prst="line">
            <a:avLst/>
          </a:prstGeom>
          <a:ln w="28575">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72" name="Bent Arrow 71">
            <a:extLst>
              <a:ext uri="{FF2B5EF4-FFF2-40B4-BE49-F238E27FC236}">
                <a16:creationId xmlns:a16="http://schemas.microsoft.com/office/drawing/2014/main" id="{8FF0E0D4-70B9-EC55-6CDF-C5495924C429}"/>
              </a:ext>
            </a:extLst>
          </p:cNvPr>
          <p:cNvSpPr/>
          <p:nvPr/>
        </p:nvSpPr>
        <p:spPr>
          <a:xfrm rot="5400000">
            <a:off x="3241575" y="4589040"/>
            <a:ext cx="759663" cy="348673"/>
          </a:xfrm>
          <a:prstGeom prst="bentArrow">
            <a:avLst>
              <a:gd name="adj1" fmla="val 42483"/>
              <a:gd name="adj2" fmla="val 38112"/>
              <a:gd name="adj3" fmla="val 39569"/>
              <a:gd name="adj4" fmla="val 43750"/>
            </a:avLst>
          </a:prstGeom>
          <a:solidFill>
            <a:schemeClr val="accent3">
              <a:lumMod val="40000"/>
              <a:lumOff val="60000"/>
            </a:schemeClr>
          </a:solidFill>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75" name="Down Arrow 74">
            <a:extLst>
              <a:ext uri="{FF2B5EF4-FFF2-40B4-BE49-F238E27FC236}">
                <a16:creationId xmlns:a16="http://schemas.microsoft.com/office/drawing/2014/main" id="{FCACEB5A-D81D-DCB5-7B8D-D943A9398E24}"/>
              </a:ext>
            </a:extLst>
          </p:cNvPr>
          <p:cNvSpPr/>
          <p:nvPr/>
        </p:nvSpPr>
        <p:spPr>
          <a:xfrm>
            <a:off x="5837670" y="4060916"/>
            <a:ext cx="254854" cy="1055912"/>
          </a:xfrm>
          <a:prstGeom prst="downArrow">
            <a:avLst/>
          </a:prstGeom>
          <a:solidFill>
            <a:schemeClr val="accent3">
              <a:lumMod val="20000"/>
              <a:lumOff val="80000"/>
            </a:schemeClr>
          </a:solidFill>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76" name="Right Arrow 75">
            <a:extLst>
              <a:ext uri="{FF2B5EF4-FFF2-40B4-BE49-F238E27FC236}">
                <a16:creationId xmlns:a16="http://schemas.microsoft.com/office/drawing/2014/main" id="{57B4757B-E936-57B0-9039-8D56C0F27F29}"/>
              </a:ext>
            </a:extLst>
          </p:cNvPr>
          <p:cNvSpPr/>
          <p:nvPr/>
        </p:nvSpPr>
        <p:spPr>
          <a:xfrm rot="10800000">
            <a:off x="1236496" y="2397306"/>
            <a:ext cx="3450701" cy="381148"/>
          </a:xfrm>
          <a:prstGeom prst="rightArrow">
            <a:avLst>
              <a:gd name="adj1" fmla="val 39337"/>
              <a:gd name="adj2" fmla="val 50000"/>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8" name="Right Brace 7">
            <a:extLst>
              <a:ext uri="{FF2B5EF4-FFF2-40B4-BE49-F238E27FC236}">
                <a16:creationId xmlns:a16="http://schemas.microsoft.com/office/drawing/2014/main" id="{B733F01E-C3CB-7C72-691D-E4FA28795CF7}"/>
              </a:ext>
            </a:extLst>
          </p:cNvPr>
          <p:cNvSpPr/>
          <p:nvPr/>
        </p:nvSpPr>
        <p:spPr>
          <a:xfrm rot="16200000">
            <a:off x="1756464" y="807724"/>
            <a:ext cx="290868" cy="2742913"/>
          </a:xfrm>
          <a:prstGeom prst="rightBrace">
            <a:avLst>
              <a:gd name="adj1" fmla="val 3459"/>
              <a:gd name="adj2" fmla="val 18641"/>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5" name="Right Brace 14">
            <a:extLst>
              <a:ext uri="{FF2B5EF4-FFF2-40B4-BE49-F238E27FC236}">
                <a16:creationId xmlns:a16="http://schemas.microsoft.com/office/drawing/2014/main" id="{663B3C57-B345-6A47-0796-917E9F69A96E}"/>
              </a:ext>
            </a:extLst>
          </p:cNvPr>
          <p:cNvSpPr/>
          <p:nvPr/>
        </p:nvSpPr>
        <p:spPr>
          <a:xfrm rot="16200000">
            <a:off x="4257349" y="1204841"/>
            <a:ext cx="248584" cy="1990963"/>
          </a:xfrm>
          <a:prstGeom prst="rightBrace">
            <a:avLst>
              <a:gd name="adj1" fmla="val 8333"/>
              <a:gd name="adj2" fmla="val 18641"/>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Up Arrow 16">
            <a:extLst>
              <a:ext uri="{FF2B5EF4-FFF2-40B4-BE49-F238E27FC236}">
                <a16:creationId xmlns:a16="http://schemas.microsoft.com/office/drawing/2014/main" id="{96DA4E2C-025C-1B7F-A3A6-94D56A3F3A6D}"/>
              </a:ext>
            </a:extLst>
          </p:cNvPr>
          <p:cNvSpPr/>
          <p:nvPr/>
        </p:nvSpPr>
        <p:spPr>
          <a:xfrm>
            <a:off x="7511400" y="2733080"/>
            <a:ext cx="314960" cy="526358"/>
          </a:xfrm>
          <a:prstGeom prst="upArrow">
            <a:avLst/>
          </a:prstGeom>
          <a:solidFill>
            <a:schemeClr val="bg1">
              <a:lumMod val="75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Tree>
    <p:extLst>
      <p:ext uri="{BB962C8B-B14F-4D97-AF65-F5344CB8AC3E}">
        <p14:creationId xmlns:p14="http://schemas.microsoft.com/office/powerpoint/2010/main" val="2750885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4C3A-2F71-D1E7-691B-F4976BD41708}"/>
              </a:ext>
            </a:extLst>
          </p:cNvPr>
          <p:cNvSpPr>
            <a:spLocks noGrp="1"/>
          </p:cNvSpPr>
          <p:nvPr>
            <p:ph type="title"/>
          </p:nvPr>
        </p:nvSpPr>
        <p:spPr/>
        <p:txBody>
          <a:bodyPr/>
          <a:lstStyle/>
          <a:p>
            <a:endParaRPr lang="en-US"/>
          </a:p>
        </p:txBody>
      </p:sp>
      <p:pic>
        <p:nvPicPr>
          <p:cNvPr id="4" name="Picture 3" descr="A forward view of the International Space Station with limb of the Earth in the background. In view are the station's sixteen paired maroon-coloured main solar array wings, eight on either side of the station, mounted to a central integrated truss structure. Spaced along the truss are ten white radiators. Mounted to the base of the two rightmost main solar arrays pairs, there are two smaller paired light brown- coloured ISS Roll-out Solar Arrays. Attached to the centre of the truss is a cluster of pressurised modules arranged in an elongated T shape. A set of solar arrays are mounted to the module at the aft end of the cluster.">
            <a:extLst>
              <a:ext uri="{FF2B5EF4-FFF2-40B4-BE49-F238E27FC236}">
                <a16:creationId xmlns:a16="http://schemas.microsoft.com/office/drawing/2014/main" id="{98C5ED19-F156-126C-6B81-8C8295B643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0813" y="1942108"/>
            <a:ext cx="2352514" cy="13526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1603C87C-0D5E-6C3B-76FF-A186EBE540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7564" y="1942107"/>
            <a:ext cx="2036871" cy="1352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523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BDB42723-84AE-227B-FB33-F3757040CA2C}"/>
              </a:ext>
            </a:extLst>
          </p:cNvPr>
          <p:cNvSpPr/>
          <p:nvPr/>
        </p:nvSpPr>
        <p:spPr>
          <a:xfrm>
            <a:off x="9459993" y="3586419"/>
            <a:ext cx="1021734" cy="1127284"/>
          </a:xfrm>
          <a:prstGeom prst="rect">
            <a:avLst/>
          </a:prstGeom>
          <a:noFill/>
          <a:ln w="28575">
            <a:solidFill>
              <a:schemeClr val="tx1">
                <a:lumMod val="50000"/>
                <a:lumOff val="50000"/>
              </a:schemeClr>
            </a:solidFill>
            <a:prstDash val="sysDash"/>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tx1">
                    <a:lumMod val="50000"/>
                    <a:lumOff val="50000"/>
                  </a:schemeClr>
                </a:solidFill>
                <a:latin typeface="18 VAG Rounded Light   02390" pitchFamily="2" charset="0"/>
              </a:rPr>
              <a:t>	</a:t>
            </a:r>
            <a:r>
              <a:rPr lang="en-US" sz="1400" i="1" dirty="0" err="1">
                <a:solidFill>
                  <a:schemeClr val="tx1">
                    <a:lumMod val="50000"/>
                    <a:lumOff val="50000"/>
                  </a:schemeClr>
                </a:solidFill>
                <a:latin typeface="18 VAG Rounded Light   02390" pitchFamily="2" charset="0"/>
              </a:rPr>
              <a:t>rdata</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spcBef>
                <a:spcPts val="400"/>
              </a:spcBef>
              <a:tabLst>
                <a:tab pos="1249363" algn="r"/>
              </a:tabLst>
            </a:pPr>
            <a:r>
              <a:rPr lang="en-US" sz="1600" b="1" dirty="0">
                <a:solidFill>
                  <a:schemeClr val="tx1">
                    <a:lumMod val="50000"/>
                    <a:lumOff val="50000"/>
                  </a:schemeClr>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tx1">
                    <a:lumMod val="50000"/>
                    <a:lumOff val="50000"/>
                  </a:schemeClr>
                </a:solidFill>
                <a:latin typeface="18 VAG ROUNDED LIGHT   02390" pitchFamily="2" charset="0"/>
                <a:cs typeface="Courier New" panose="02070309020205020404" pitchFamily="49" charset="0"/>
              </a:rPr>
              <a:t>wdata</a:t>
            </a:r>
            <a:endParaRPr lang="en-US" sz="1200" i="1" dirty="0">
              <a:solidFill>
                <a:schemeClr val="tx1">
                  <a:lumMod val="50000"/>
                  <a:lumOff val="50000"/>
                </a:schemeClr>
              </a:solidFill>
              <a:latin typeface="18 VAG ROUNDED LIGHT   02390" pitchFamily="2" charset="0"/>
              <a:cs typeface="Courier New" panose="02070309020205020404" pitchFamily="49" charset="0"/>
            </a:endParaRPr>
          </a:p>
        </p:txBody>
      </p:sp>
      <p:sp>
        <p:nvSpPr>
          <p:cNvPr id="6" name="Isosceles Triangle 59">
            <a:extLst>
              <a:ext uri="{FF2B5EF4-FFF2-40B4-BE49-F238E27FC236}">
                <a16:creationId xmlns:a16="http://schemas.microsoft.com/office/drawing/2014/main" id="{B23C8F55-2BA9-741F-EF92-83C1C9BED8BE}"/>
              </a:ext>
            </a:extLst>
          </p:cNvPr>
          <p:cNvSpPr/>
          <p:nvPr/>
        </p:nvSpPr>
        <p:spPr>
          <a:xfrm>
            <a:off x="10225464" y="4540637"/>
            <a:ext cx="182880"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sp>
        <p:nvSpPr>
          <p:cNvPr id="22" name="TextBox 21">
            <a:extLst>
              <a:ext uri="{FF2B5EF4-FFF2-40B4-BE49-F238E27FC236}">
                <a16:creationId xmlns:a16="http://schemas.microsoft.com/office/drawing/2014/main" id="{63AB85A5-D604-BA42-5C60-AB61ADC08F09}"/>
              </a:ext>
            </a:extLst>
          </p:cNvPr>
          <p:cNvSpPr txBox="1"/>
          <p:nvPr/>
        </p:nvSpPr>
        <p:spPr>
          <a:xfrm>
            <a:off x="10153308" y="4842550"/>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25" name="Straight Connector 24">
            <a:extLst>
              <a:ext uri="{FF2B5EF4-FFF2-40B4-BE49-F238E27FC236}">
                <a16:creationId xmlns:a16="http://schemas.microsoft.com/office/drawing/2014/main" id="{C38931D3-0D93-E61C-49E8-9415DF9424DA}"/>
              </a:ext>
            </a:extLst>
          </p:cNvPr>
          <p:cNvCxnSpPr>
            <a:cxnSpLocks/>
            <a:stCxn id="22" idx="0"/>
          </p:cNvCxnSpPr>
          <p:nvPr/>
        </p:nvCxnSpPr>
        <p:spPr>
          <a:xfrm flipV="1">
            <a:off x="10324188" y="4713414"/>
            <a:ext cx="0" cy="129136"/>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bg1"/>
                </a:solidFill>
                <a:latin typeface="18 VAG Rounded Light   02390" pitchFamily="2" charset="0"/>
              </a:rPr>
              <a:t>addr</a:t>
            </a:r>
            <a:endParaRPr lang="en-US" sz="1400" i="1" dirty="0">
              <a:solidFill>
                <a:schemeClr val="bg1"/>
              </a:solidFill>
              <a:latin typeface="18 VAG Rounded Light   02390" pitchFamily="2" charset="0"/>
            </a:endParaRPr>
          </a:p>
          <a:p>
            <a:pPr algn="r"/>
            <a:r>
              <a:rPr lang="en-US" sz="1400" i="1" dirty="0" err="1">
                <a:solidFill>
                  <a:schemeClr val="bg1"/>
                </a:solidFill>
                <a:latin typeface="18 VAG Rounded Light   02390" pitchFamily="2" charset="0"/>
              </a:rPr>
              <a:t>inst</a:t>
            </a:r>
            <a:endParaRPr lang="en-US" sz="1400" i="1" dirty="0">
              <a:solidFill>
                <a:schemeClr val="bg1"/>
              </a:solidFill>
              <a:latin typeface="18 VAG Rounded Light   02390" pitchFamily="2" charset="0"/>
            </a:endParaRPr>
          </a:p>
          <a:p>
            <a:endParaRPr lang="en-US" sz="1600" dirty="0">
              <a:solidFill>
                <a:schemeClr val="bg1"/>
              </a:solidFill>
              <a:latin typeface="18 VAG Rounded Light   02390" pitchFamily="2" charset="0"/>
            </a:endParaRPr>
          </a:p>
          <a:p>
            <a:r>
              <a:rPr lang="en-US" sz="1600" b="1" dirty="0">
                <a:solidFill>
                  <a:schemeClr val="bg1"/>
                </a:solidFill>
                <a:latin typeface="Courier New" panose="02070309020205020404" pitchFamily="49" charset="0"/>
                <a:cs typeface="Courier New" panose="02070309020205020404" pitchFamily="49" charset="0"/>
              </a:rPr>
              <a:t>IMEM</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bg1"/>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bg1"/>
                </a:solidFill>
                <a:latin typeface="18 VAG Rounded Light   02390" pitchFamily="2" charset="0"/>
              </a:rPr>
              <a:t>rd</a:t>
            </a:r>
            <a:endParaRPr lang="en-US" sz="1400" i="1" dirty="0">
              <a:solidFill>
                <a:schemeClr val="bg1"/>
              </a:solidFill>
              <a:latin typeface="18 VAG Rounded Light   02390" pitchFamily="2" charset="0"/>
            </a:endParaRPr>
          </a:p>
          <a:p>
            <a:pPr>
              <a:spcBef>
                <a:spcPts val="400"/>
              </a:spcBef>
              <a:tabLst>
                <a:tab pos="1249363" algn="r"/>
              </a:tabLst>
            </a:pPr>
            <a:r>
              <a:rPr lang="en-US" sz="1400" i="1" dirty="0">
                <a:solidFill>
                  <a:schemeClr val="bg1"/>
                </a:solidFill>
                <a:latin typeface="18 VAG Rounded Light   02390" pitchFamily="2" charset="0"/>
              </a:rPr>
              <a:t>rs1	rdata1</a:t>
            </a:r>
          </a:p>
          <a:p>
            <a:pPr>
              <a:spcBef>
                <a:spcPts val="400"/>
              </a:spcBef>
              <a:tabLst>
                <a:tab pos="1249363" algn="r"/>
              </a:tabLst>
            </a:pPr>
            <a:r>
              <a:rPr lang="en-US" sz="1400" i="1" dirty="0">
                <a:solidFill>
                  <a:schemeClr val="bg1"/>
                </a:solidFill>
                <a:latin typeface="18 VAG Rounded Light   02390" pitchFamily="2" charset="0"/>
              </a:rPr>
              <a:t>rs2	</a:t>
            </a:r>
          </a:p>
          <a:p>
            <a:pPr>
              <a:spcBef>
                <a:spcPts val="400"/>
              </a:spcBef>
              <a:tabLst>
                <a:tab pos="1249363" algn="r"/>
              </a:tabLst>
            </a:pPr>
            <a:r>
              <a:rPr lang="en-US" sz="1400" i="1" dirty="0">
                <a:solidFill>
                  <a:schemeClr val="bg1"/>
                </a:solidFill>
                <a:latin typeface="18 VAG Rounded Light   02390" pitchFamily="2" charset="0"/>
              </a:rPr>
              <a:t>	rdata2</a:t>
            </a:r>
          </a:p>
          <a:p>
            <a:r>
              <a:rPr lang="en-US" sz="1600" b="1" dirty="0" err="1">
                <a:solidFill>
                  <a:schemeClr val="bg1"/>
                </a:solidFill>
                <a:latin typeface="Courier New" panose="02070309020205020404" pitchFamily="49" charset="0"/>
                <a:cs typeface="Courier New" panose="02070309020205020404" pitchFamily="49" charset="0"/>
              </a:rPr>
              <a:t>RegFile</a:t>
            </a:r>
            <a:endParaRPr lang="en-US" sz="1600" b="1" dirty="0">
              <a:solidFill>
                <a:schemeClr val="bg1"/>
              </a:solidFill>
              <a:latin typeface="Courier New" panose="02070309020205020404" pitchFamily="49" charset="0"/>
              <a:cs typeface="Courier New" panose="02070309020205020404" pitchFamily="49"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56DE453D-A8B6-306B-C73B-3ED047C1AECE}"/>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Tree>
    <p:extLst>
      <p:ext uri="{BB962C8B-B14F-4D97-AF65-F5344CB8AC3E}">
        <p14:creationId xmlns:p14="http://schemas.microsoft.com/office/powerpoint/2010/main" val="1100030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7023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2" name="Group 131">
            <a:extLst>
              <a:ext uri="{FF2B5EF4-FFF2-40B4-BE49-F238E27FC236}">
                <a16:creationId xmlns:a16="http://schemas.microsoft.com/office/drawing/2014/main" id="{05AF7F34-FE14-3774-43E1-F033AA59F69B}"/>
              </a:ext>
            </a:extLst>
          </p:cNvPr>
          <p:cNvGrpSpPr/>
          <p:nvPr/>
        </p:nvGrpSpPr>
        <p:grpSpPr>
          <a:xfrm>
            <a:off x="659332" y="2260284"/>
            <a:ext cx="2712208" cy="1417320"/>
            <a:chOff x="669619" y="2248996"/>
            <a:chExt cx="2712208" cy="1417320"/>
          </a:xfrm>
        </p:grpSpPr>
        <p:grpSp>
          <p:nvGrpSpPr>
            <p:cNvPr id="133" name="Group 132">
              <a:extLst>
                <a:ext uri="{FF2B5EF4-FFF2-40B4-BE49-F238E27FC236}">
                  <a16:creationId xmlns:a16="http://schemas.microsoft.com/office/drawing/2014/main" id="{B865D32E-6E83-9B68-7CE2-FD6F867B3FF5}"/>
                </a:ext>
              </a:extLst>
            </p:cNvPr>
            <p:cNvGrpSpPr/>
            <p:nvPr/>
          </p:nvGrpSpPr>
          <p:grpSpPr>
            <a:xfrm>
              <a:off x="669619" y="2260284"/>
              <a:ext cx="2712208" cy="1389326"/>
              <a:chOff x="669619" y="2260284"/>
              <a:chExt cx="2712208" cy="1389326"/>
            </a:xfrm>
          </p:grpSpPr>
          <p:grpSp>
            <p:nvGrpSpPr>
              <p:cNvPr id="135" name="Group 134">
                <a:extLst>
                  <a:ext uri="{FF2B5EF4-FFF2-40B4-BE49-F238E27FC236}">
                    <a16:creationId xmlns:a16="http://schemas.microsoft.com/office/drawing/2014/main" id="{94952550-271B-743B-B65C-FCFBB1F95660}"/>
                  </a:ext>
                </a:extLst>
              </p:cNvPr>
              <p:cNvGrpSpPr/>
              <p:nvPr/>
            </p:nvGrpSpPr>
            <p:grpSpPr>
              <a:xfrm>
                <a:off x="675203" y="2260284"/>
                <a:ext cx="2706624" cy="477526"/>
                <a:chOff x="675203" y="2260284"/>
                <a:chExt cx="2706624" cy="477526"/>
              </a:xfrm>
            </p:grpSpPr>
            <p:cxnSp>
              <p:nvCxnSpPr>
                <p:cNvPr id="137" name="Elbow Connector 136">
                  <a:extLst>
                    <a:ext uri="{FF2B5EF4-FFF2-40B4-BE49-F238E27FC236}">
                      <a16:creationId xmlns:a16="http://schemas.microsoft.com/office/drawing/2014/main" id="{27A522B4-1B6D-25AE-34D2-3BA9E0057EED}"/>
                    </a:ext>
                  </a:extLst>
                </p:cNvPr>
                <p:cNvCxnSpPr>
                  <a:cxnSpLocks/>
                </p:cNvCxnSpPr>
                <p:nvPr/>
              </p:nvCxnSpPr>
              <p:spPr>
                <a:xfrm rot="5400000" flipH="1" flipV="1">
                  <a:off x="2999590" y="2363686"/>
                  <a:ext cx="477525" cy="270723"/>
                </a:xfrm>
                <a:prstGeom prst="bentConnector3">
                  <a:avLst>
                    <a:gd name="adj1" fmla="val -2954"/>
                  </a:avLst>
                </a:prstGeom>
                <a:ln w="28575">
                  <a:solidFill>
                    <a:schemeClr val="bg1"/>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C7D6132C-2C7A-950D-471A-D7CD6B70282D}"/>
                    </a:ext>
                  </a:extLst>
                </p:cNvPr>
                <p:cNvCxnSpPr>
                  <a:cxnSpLocks/>
                </p:cNvCxnSpPr>
                <p:nvPr/>
              </p:nvCxnSpPr>
              <p:spPr>
                <a:xfrm flipV="1">
                  <a:off x="675203" y="2260284"/>
                  <a:ext cx="2706624" cy="1985"/>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136" name="Straight Arrow Connector 135">
                <a:extLst>
                  <a:ext uri="{FF2B5EF4-FFF2-40B4-BE49-F238E27FC236}">
                    <a16:creationId xmlns:a16="http://schemas.microsoft.com/office/drawing/2014/main" id="{2AA13178-5FB3-879C-7469-20CBDDA8717C}"/>
                  </a:ext>
                </a:extLst>
              </p:cNvPr>
              <p:cNvCxnSpPr>
                <a:cxnSpLocks/>
              </p:cNvCxnSpPr>
              <p:nvPr/>
            </p:nvCxnSpPr>
            <p:spPr>
              <a:xfrm flipV="1">
                <a:off x="669619" y="3649608"/>
                <a:ext cx="768096" cy="2"/>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34" name="Straight Connector 133">
              <a:extLst>
                <a:ext uri="{FF2B5EF4-FFF2-40B4-BE49-F238E27FC236}">
                  <a16:creationId xmlns:a16="http://schemas.microsoft.com/office/drawing/2014/main" id="{6467C407-5FBE-46FF-D0AE-69D75D11307D}"/>
                </a:ext>
              </a:extLst>
            </p:cNvPr>
            <p:cNvCxnSpPr/>
            <p:nvPr/>
          </p:nvCxnSpPr>
          <p:spPr>
            <a:xfrm flipH="1">
              <a:off x="675203" y="2248996"/>
              <a:ext cx="0" cy="141732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73AA1396-2C6A-D02D-7731-252469673087}"/>
              </a:ext>
            </a:extLst>
          </p:cNvPr>
          <p:cNvGrpSpPr/>
          <p:nvPr/>
        </p:nvGrpSpPr>
        <p:grpSpPr>
          <a:xfrm>
            <a:off x="3793678" y="2375192"/>
            <a:ext cx="7343673" cy="1592748"/>
            <a:chOff x="3793678" y="2375192"/>
            <a:chExt cx="7343673" cy="1592748"/>
          </a:xfrm>
        </p:grpSpPr>
        <p:grpSp>
          <p:nvGrpSpPr>
            <p:cNvPr id="14" name="Group 13">
              <a:extLst>
                <a:ext uri="{FF2B5EF4-FFF2-40B4-BE49-F238E27FC236}">
                  <a16:creationId xmlns:a16="http://schemas.microsoft.com/office/drawing/2014/main" id="{D09EDBDC-99FC-8618-B868-68A73021618A}"/>
                </a:ext>
              </a:extLst>
            </p:cNvPr>
            <p:cNvGrpSpPr/>
            <p:nvPr/>
          </p:nvGrpSpPr>
          <p:grpSpPr>
            <a:xfrm>
              <a:off x="3793678" y="2384802"/>
              <a:ext cx="7342632" cy="657210"/>
              <a:chOff x="3793678" y="2384802"/>
              <a:chExt cx="7342632" cy="657210"/>
            </a:xfrm>
          </p:grpSpPr>
          <p:cxnSp>
            <p:nvCxnSpPr>
              <p:cNvPr id="23" name="Straight Connector 22">
                <a:extLst>
                  <a:ext uri="{FF2B5EF4-FFF2-40B4-BE49-F238E27FC236}">
                    <a16:creationId xmlns:a16="http://schemas.microsoft.com/office/drawing/2014/main" id="{BE6A0BE6-E5FF-6B72-1933-39397EBDE4AB}"/>
                  </a:ext>
                </a:extLst>
              </p:cNvPr>
              <p:cNvCxnSpPr/>
              <p:nvPr/>
            </p:nvCxnSpPr>
            <p:spPr>
              <a:xfrm>
                <a:off x="3793678" y="2384802"/>
                <a:ext cx="7342632"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971754AB-1C7E-B6CE-9A8E-5C1A4C6D9BFD}"/>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8" name="Elbow Connector 17">
              <a:extLst>
                <a:ext uri="{FF2B5EF4-FFF2-40B4-BE49-F238E27FC236}">
                  <a16:creationId xmlns:a16="http://schemas.microsoft.com/office/drawing/2014/main" id="{67F34C69-074B-1C9A-2C8E-A08A88FAA9E0}"/>
                </a:ext>
              </a:extLst>
            </p:cNvPr>
            <p:cNvCxnSpPr>
              <a:cxnSpLocks/>
            </p:cNvCxnSpPr>
            <p:nvPr/>
          </p:nvCxnSpPr>
          <p:spPr>
            <a:xfrm flipV="1">
              <a:off x="8861193" y="2375192"/>
              <a:ext cx="2276158" cy="1592748"/>
            </a:xfrm>
            <a:prstGeom prst="bentConnector3">
              <a:avLst>
                <a:gd name="adj1" fmla="val 99625"/>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normAutofit/>
          </a:bodyPr>
          <a:lstStyle/>
          <a:p>
            <a:pPr>
              <a:tabLst>
                <a:tab pos="10280650" algn="r"/>
              </a:tabLst>
            </a:pPr>
            <a:r>
              <a:rPr lang="en-US" dirty="0"/>
              <a:t>Datapath for </a:t>
            </a:r>
            <a:r>
              <a:rPr lang="en-US" dirty="0">
                <a:solidFill>
                  <a:schemeClr val="bg2"/>
                </a:solidFill>
                <a:latin typeface="Courier New" panose="02070309020205020404" pitchFamily="49" charset="0"/>
                <a:cs typeface="Courier New" panose="02070309020205020404" pitchFamily="49" charset="0"/>
              </a:rPr>
              <a:t>sub</a:t>
            </a: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bg1"/>
                </a:solidFill>
                <a:latin typeface="18 VAG Rounded Light   02390" pitchFamily="2" charset="0"/>
              </a:rPr>
              <a:t>addr</a:t>
            </a:r>
            <a:endParaRPr lang="en-US" sz="1400" i="1" dirty="0">
              <a:solidFill>
                <a:schemeClr val="bg1"/>
              </a:solidFill>
              <a:latin typeface="18 VAG Rounded Light   02390" pitchFamily="2" charset="0"/>
            </a:endParaRPr>
          </a:p>
          <a:p>
            <a:pPr algn="r"/>
            <a:r>
              <a:rPr lang="en-US" sz="1400" i="1" dirty="0" err="1">
                <a:solidFill>
                  <a:schemeClr val="bg1"/>
                </a:solidFill>
                <a:latin typeface="18 VAG Rounded Light   02390" pitchFamily="2" charset="0"/>
              </a:rPr>
              <a:t>inst</a:t>
            </a:r>
            <a:endParaRPr lang="en-US" sz="1400" i="1" dirty="0">
              <a:solidFill>
                <a:schemeClr val="bg1"/>
              </a:solidFill>
              <a:latin typeface="18 VAG Rounded Light   02390" pitchFamily="2" charset="0"/>
            </a:endParaRPr>
          </a:p>
          <a:p>
            <a:endParaRPr lang="en-US" sz="1600" dirty="0">
              <a:solidFill>
                <a:schemeClr val="bg1"/>
              </a:solidFill>
              <a:latin typeface="18 VAG Rounded Light   02390" pitchFamily="2" charset="0"/>
            </a:endParaRPr>
          </a:p>
          <a:p>
            <a:r>
              <a:rPr lang="en-US" sz="1600" b="1" dirty="0">
                <a:solidFill>
                  <a:schemeClr val="bg1"/>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bg1"/>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bg1"/>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22" name="TextBox 421">
            <a:extLst>
              <a:ext uri="{FF2B5EF4-FFF2-40B4-BE49-F238E27FC236}">
                <a16:creationId xmlns:a16="http://schemas.microsoft.com/office/drawing/2014/main" id="{C2019ECA-1D43-2798-7640-624AE67C748A}"/>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bg1"/>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bg1"/>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bg1"/>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8834341" y="3722124"/>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accent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accent1"/>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RegWEn</a:t>
            </a:r>
            <a:endParaRPr lang="en-US" sz="1600" dirty="0">
              <a:solidFill>
                <a:schemeClr val="accent3"/>
              </a:solidFill>
              <a:latin typeface="18 VAG Rounded Light   02390" pitchFamily="2" charset="0"/>
            </a:endParaRPr>
          </a:p>
          <a:p>
            <a:pPr algn="ctr">
              <a:lnSpc>
                <a:spcPct val="85000"/>
              </a:lnSpc>
            </a:pPr>
            <a:r>
              <a:rPr lang="en-US" sz="1600" dirty="0">
                <a:solidFill>
                  <a:schemeClr val="accent4"/>
                </a:solidFill>
                <a:latin typeface="18 VAG Rounded Light   02390" pitchFamily="2" charset="0"/>
              </a:rPr>
              <a:t>1</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bg1"/>
                </a:solidFill>
                <a:latin typeface="18 VAG Rounded Light   02390" pitchFamily="2" charset="0"/>
              </a:rPr>
              <a:t>rd</a:t>
            </a:r>
            <a:endParaRPr lang="en-US" sz="1400" i="1" dirty="0">
              <a:solidFill>
                <a:schemeClr val="bg1"/>
              </a:solidFill>
              <a:latin typeface="18 VAG Rounded Light   02390" pitchFamily="2" charset="0"/>
            </a:endParaRPr>
          </a:p>
          <a:p>
            <a:pPr>
              <a:spcBef>
                <a:spcPts val="400"/>
              </a:spcBef>
              <a:tabLst>
                <a:tab pos="1249363" algn="r"/>
              </a:tabLst>
            </a:pPr>
            <a:r>
              <a:rPr lang="en-US" sz="1400" i="1" dirty="0">
                <a:solidFill>
                  <a:schemeClr val="bg1"/>
                </a:solidFill>
                <a:latin typeface="18 VAG Rounded Light   02390" pitchFamily="2" charset="0"/>
              </a:rPr>
              <a:t>rs1	rdata1</a:t>
            </a:r>
          </a:p>
          <a:p>
            <a:pPr>
              <a:spcBef>
                <a:spcPts val="400"/>
              </a:spcBef>
              <a:tabLst>
                <a:tab pos="1249363" algn="r"/>
              </a:tabLst>
            </a:pPr>
            <a:r>
              <a:rPr lang="en-US" sz="1400" i="1" dirty="0">
                <a:solidFill>
                  <a:schemeClr val="bg1"/>
                </a:solidFill>
                <a:latin typeface="18 VAG Rounded Light   02390" pitchFamily="2" charset="0"/>
              </a:rPr>
              <a:t>rs2	</a:t>
            </a:r>
          </a:p>
          <a:p>
            <a:pPr>
              <a:spcBef>
                <a:spcPts val="400"/>
              </a:spcBef>
              <a:tabLst>
                <a:tab pos="1249363" algn="r"/>
              </a:tabLst>
            </a:pPr>
            <a:r>
              <a:rPr lang="en-US" sz="1400" i="1" dirty="0">
                <a:solidFill>
                  <a:schemeClr val="bg1"/>
                </a:solidFill>
                <a:latin typeface="18 VAG Rounded Light   02390" pitchFamily="2" charset="0"/>
              </a:rPr>
              <a:t>	rdata2</a:t>
            </a:r>
          </a:p>
          <a:p>
            <a:r>
              <a:rPr lang="en-US" sz="1600" b="1" dirty="0" err="1">
                <a:solidFill>
                  <a:schemeClr val="bg1"/>
                </a:solidFill>
                <a:latin typeface="Courier New" panose="02070309020205020404" pitchFamily="49" charset="0"/>
                <a:cs typeface="Courier New" panose="02070309020205020404" pitchFamily="49" charset="0"/>
              </a:rPr>
              <a:t>RegFile</a:t>
            </a:r>
            <a:endParaRPr lang="en-US" sz="1600" b="1" dirty="0">
              <a:solidFill>
                <a:schemeClr val="bg1"/>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bg1"/>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FB24231-C5EC-8884-7F89-001FF67827CC}"/>
              </a:ext>
            </a:extLst>
          </p:cNvPr>
          <p:cNvCxnSpPr>
            <a:cxnSpLocks/>
          </p:cNvCxnSpPr>
          <p:nvPr/>
        </p:nvCxnSpPr>
        <p:spPr>
          <a:xfrm flipV="1">
            <a:off x="6261052" y="4243270"/>
            <a:ext cx="20184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56DE453D-A8B6-306B-C73B-3ED047C1AECE}"/>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accent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5193D0A6-42CC-44F9-82F3-EA02C6EAFB4F}"/>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[24:20]</a:t>
            </a:r>
          </a:p>
        </p:txBody>
      </p:sp>
      <p:graphicFrame>
        <p:nvGraphicFramePr>
          <p:cNvPr id="4" name="Table 5">
            <a:extLst>
              <a:ext uri="{FF2B5EF4-FFF2-40B4-BE49-F238E27FC236}">
                <a16:creationId xmlns:a16="http://schemas.microsoft.com/office/drawing/2014/main" id="{993C8457-033C-5265-66F3-346C2D61C503}"/>
              </a:ext>
            </a:extLst>
          </p:cNvPr>
          <p:cNvGraphicFramePr>
            <a:graphicFrameLocks/>
          </p:cNvGraphicFramePr>
          <p:nvPr/>
        </p:nvGraphicFramePr>
        <p:xfrm>
          <a:off x="5816885" y="220380"/>
          <a:ext cx="6237536" cy="480822"/>
        </p:xfrm>
        <a:graphic>
          <a:graphicData uri="http://schemas.openxmlformats.org/drawingml/2006/table">
            <a:tbl>
              <a:tblPr>
                <a:tableStyleId>{5C22544A-7EE6-4342-B048-85BDC9FD1C3A}</a:tableStyleId>
              </a:tblPr>
              <a:tblGrid>
                <a:gridCol w="357504">
                  <a:extLst>
                    <a:ext uri="{9D8B030D-6E8A-4147-A177-3AD203B41FA5}">
                      <a16:colId xmlns:a16="http://schemas.microsoft.com/office/drawing/2014/main" val="1624853830"/>
                    </a:ext>
                  </a:extLst>
                </a:gridCol>
                <a:gridCol w="208280">
                  <a:extLst>
                    <a:ext uri="{9D8B030D-6E8A-4147-A177-3AD203B41FA5}">
                      <a16:colId xmlns:a16="http://schemas.microsoft.com/office/drawing/2014/main" val="888743132"/>
                    </a:ext>
                  </a:extLst>
                </a:gridCol>
                <a:gridCol w="208280">
                  <a:extLst>
                    <a:ext uri="{9D8B030D-6E8A-4147-A177-3AD203B41FA5}">
                      <a16:colId xmlns:a16="http://schemas.microsoft.com/office/drawing/2014/main" val="928495398"/>
                    </a:ext>
                  </a:extLst>
                </a:gridCol>
                <a:gridCol w="208280">
                  <a:extLst>
                    <a:ext uri="{9D8B030D-6E8A-4147-A177-3AD203B41FA5}">
                      <a16:colId xmlns:a16="http://schemas.microsoft.com/office/drawing/2014/main" val="4258887520"/>
                    </a:ext>
                  </a:extLst>
                </a:gridCol>
                <a:gridCol w="386510">
                  <a:extLst>
                    <a:ext uri="{9D8B030D-6E8A-4147-A177-3AD203B41FA5}">
                      <a16:colId xmlns:a16="http://schemas.microsoft.com/office/drawing/2014/main" val="4279900494"/>
                    </a:ext>
                  </a:extLst>
                </a:gridCol>
                <a:gridCol w="367645">
                  <a:extLst>
                    <a:ext uri="{9D8B030D-6E8A-4147-A177-3AD203B41FA5}">
                      <a16:colId xmlns:a16="http://schemas.microsoft.com/office/drawing/2014/main" val="797878386"/>
                    </a:ext>
                  </a:extLst>
                </a:gridCol>
                <a:gridCol w="276254">
                  <a:extLst>
                    <a:ext uri="{9D8B030D-6E8A-4147-A177-3AD203B41FA5}">
                      <a16:colId xmlns:a16="http://schemas.microsoft.com/office/drawing/2014/main" val="3004986411"/>
                    </a:ext>
                  </a:extLst>
                </a:gridCol>
                <a:gridCol w="383622">
                  <a:extLst>
                    <a:ext uri="{9D8B030D-6E8A-4147-A177-3AD203B41FA5}">
                      <a16:colId xmlns:a16="http://schemas.microsoft.com/office/drawing/2014/main" val="62611582"/>
                    </a:ext>
                  </a:extLst>
                </a:gridCol>
                <a:gridCol w="443060">
                  <a:extLst>
                    <a:ext uri="{9D8B030D-6E8A-4147-A177-3AD203B41FA5}">
                      <a16:colId xmlns:a16="http://schemas.microsoft.com/office/drawing/2014/main" val="1657610230"/>
                    </a:ext>
                  </a:extLst>
                </a:gridCol>
                <a:gridCol w="208280">
                  <a:extLst>
                    <a:ext uri="{9D8B030D-6E8A-4147-A177-3AD203B41FA5}">
                      <a16:colId xmlns:a16="http://schemas.microsoft.com/office/drawing/2014/main" val="2935468491"/>
                    </a:ext>
                  </a:extLst>
                </a:gridCol>
                <a:gridCol w="413889">
                  <a:extLst>
                    <a:ext uri="{9D8B030D-6E8A-4147-A177-3AD203B41FA5}">
                      <a16:colId xmlns:a16="http://schemas.microsoft.com/office/drawing/2014/main" val="1797088917"/>
                    </a:ext>
                  </a:extLst>
                </a:gridCol>
                <a:gridCol w="386499">
                  <a:extLst>
                    <a:ext uri="{9D8B030D-6E8A-4147-A177-3AD203B41FA5}">
                      <a16:colId xmlns:a16="http://schemas.microsoft.com/office/drawing/2014/main" val="953689441"/>
                    </a:ext>
                  </a:extLst>
                </a:gridCol>
                <a:gridCol w="405353">
                  <a:extLst>
                    <a:ext uri="{9D8B030D-6E8A-4147-A177-3AD203B41FA5}">
                      <a16:colId xmlns:a16="http://schemas.microsoft.com/office/drawing/2014/main" val="1552716741"/>
                    </a:ext>
                  </a:extLst>
                </a:gridCol>
                <a:gridCol w="461913">
                  <a:extLst>
                    <a:ext uri="{9D8B030D-6E8A-4147-A177-3AD203B41FA5}">
                      <a16:colId xmlns:a16="http://schemas.microsoft.com/office/drawing/2014/main" val="2842259910"/>
                    </a:ext>
                  </a:extLst>
                </a:gridCol>
                <a:gridCol w="208280">
                  <a:extLst>
                    <a:ext uri="{9D8B030D-6E8A-4147-A177-3AD203B41FA5}">
                      <a16:colId xmlns:a16="http://schemas.microsoft.com/office/drawing/2014/main" val="264973538"/>
                    </a:ext>
                  </a:extLst>
                </a:gridCol>
                <a:gridCol w="272487">
                  <a:extLst>
                    <a:ext uri="{9D8B030D-6E8A-4147-A177-3AD203B41FA5}">
                      <a16:colId xmlns:a16="http://schemas.microsoft.com/office/drawing/2014/main" val="3901696933"/>
                    </a:ext>
                  </a:extLst>
                </a:gridCol>
                <a:gridCol w="208280">
                  <a:extLst>
                    <a:ext uri="{9D8B030D-6E8A-4147-A177-3AD203B41FA5}">
                      <a16:colId xmlns:a16="http://schemas.microsoft.com/office/drawing/2014/main" val="2051879303"/>
                    </a:ext>
                  </a:extLst>
                </a:gridCol>
                <a:gridCol w="208280">
                  <a:extLst>
                    <a:ext uri="{9D8B030D-6E8A-4147-A177-3AD203B41FA5}">
                      <a16:colId xmlns:a16="http://schemas.microsoft.com/office/drawing/2014/main" val="854787181"/>
                    </a:ext>
                  </a:extLst>
                </a:gridCol>
                <a:gridCol w="208280">
                  <a:extLst>
                    <a:ext uri="{9D8B030D-6E8A-4147-A177-3AD203B41FA5}">
                      <a16:colId xmlns:a16="http://schemas.microsoft.com/office/drawing/2014/main" val="3270592488"/>
                    </a:ext>
                  </a:extLst>
                </a:gridCol>
                <a:gridCol w="208280">
                  <a:extLst>
                    <a:ext uri="{9D8B030D-6E8A-4147-A177-3AD203B41FA5}">
                      <a16:colId xmlns:a16="http://schemas.microsoft.com/office/drawing/2014/main" val="2901077752"/>
                    </a:ext>
                  </a:extLst>
                </a:gridCol>
                <a:gridCol w="208280">
                  <a:extLst>
                    <a:ext uri="{9D8B030D-6E8A-4147-A177-3AD203B41FA5}">
                      <a16:colId xmlns:a16="http://schemas.microsoft.com/office/drawing/2014/main" val="4059237148"/>
                    </a:ext>
                  </a:extLst>
                </a:gridCol>
              </a:tblGrid>
              <a:tr h="161807">
                <a:tc>
                  <a:txBody>
                    <a:bodyPr/>
                    <a:lstStyle/>
                    <a:p>
                      <a:pPr algn="l">
                        <a:lnSpc>
                          <a:spcPct val="80000"/>
                        </a:lnSpc>
                      </a:pPr>
                      <a:r>
                        <a:rPr lang="en-US" sz="1100" b="0" i="0" dirty="0">
                          <a:solidFill>
                            <a:schemeClr val="bg1"/>
                          </a:solidFill>
                          <a:latin typeface="Courier New" panose="02070309020205020404" pitchFamily="49" charset="0"/>
                          <a:cs typeface="Courier New" panose="02070309020205020404" pitchFamily="49" charset="0"/>
                        </a:rPr>
                        <a:t>31</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25</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r>
                        <a:rPr lang="en-US" sz="1100" b="0" i="0" dirty="0">
                          <a:solidFill>
                            <a:schemeClr val="bg1"/>
                          </a:solidFill>
                          <a:latin typeface="Courier New" panose="02070309020205020404" pitchFamily="49" charset="0"/>
                          <a:cs typeface="Courier New" panose="02070309020205020404" pitchFamily="49" charset="0"/>
                        </a:rPr>
                        <a:t>24</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20</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r>
                        <a:rPr lang="en-US" sz="1100" b="0" i="0" dirty="0">
                          <a:solidFill>
                            <a:schemeClr val="bg1"/>
                          </a:solidFill>
                          <a:latin typeface="Courier New" panose="02070309020205020404" pitchFamily="49" charset="0"/>
                          <a:cs typeface="Courier New" panose="02070309020205020404" pitchFamily="49" charset="0"/>
                        </a:rPr>
                        <a:t>19</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15</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r>
                        <a:rPr lang="en-US" sz="1100" b="0" i="0" dirty="0">
                          <a:solidFill>
                            <a:schemeClr val="bg1"/>
                          </a:solidFill>
                          <a:latin typeface="Courier New" panose="02070309020205020404" pitchFamily="49" charset="0"/>
                          <a:cs typeface="Courier New" panose="02070309020205020404" pitchFamily="49" charset="0"/>
                        </a:rPr>
                        <a:t>14</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12</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r>
                        <a:rPr lang="en-US" sz="1100" b="0" i="0" dirty="0">
                          <a:solidFill>
                            <a:schemeClr val="bg1"/>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7</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r>
                        <a:rPr lang="en-US" sz="1100" b="0" i="0" dirty="0">
                          <a:solidFill>
                            <a:schemeClr val="bg1"/>
                          </a:solidFill>
                          <a:latin typeface="Courier New" panose="02070309020205020404" pitchFamily="49" charset="0"/>
                          <a:cs typeface="Courier New" panose="02070309020205020404" pitchFamily="49" charset="0"/>
                        </a:rPr>
                        <a:t>6</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80000"/>
                        </a:lnSpc>
                      </a:pPr>
                      <a:endParaRPr lang="en-US" sz="1100" b="0" i="0"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80000"/>
                        </a:lnSpc>
                      </a:pPr>
                      <a:r>
                        <a:rPr lang="en-US" sz="1100" b="0" i="0" dirty="0">
                          <a:solidFill>
                            <a:schemeClr val="bg1"/>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3741400"/>
                  </a:ext>
                </a:extLst>
              </a:tr>
              <a:tr h="171060">
                <a:tc gridSpan="5">
                  <a:txBody>
                    <a:bodyPr/>
                    <a:lstStyle/>
                    <a:p>
                      <a:pPr algn="ctr">
                        <a:lnSpc>
                          <a:spcPct val="80000"/>
                        </a:lnSpc>
                        <a:spcBef>
                          <a:spcPts val="600"/>
                        </a:spcBef>
                      </a:pPr>
                      <a:r>
                        <a:rPr lang="en-US" sz="1200" b="1" i="0" dirty="0">
                          <a:solidFill>
                            <a:schemeClr val="bg1"/>
                          </a:solidFill>
                          <a:latin typeface="Courier New" panose="02070309020205020404" pitchFamily="49" charset="0"/>
                          <a:cs typeface="Courier New" panose="02070309020205020404" pitchFamily="49" charset="0"/>
                        </a:rPr>
                        <a:t>0</a:t>
                      </a:r>
                      <a:r>
                        <a:rPr lang="en-US" sz="1200" b="1" i="0" u="sng" dirty="0">
                          <a:solidFill>
                            <a:schemeClr val="accent1"/>
                          </a:solidFill>
                          <a:latin typeface="Courier New" panose="02070309020205020404" pitchFamily="49" charset="0"/>
                          <a:cs typeface="Courier New" panose="02070309020205020404" pitchFamily="49" charset="0"/>
                        </a:rPr>
                        <a:t>1</a:t>
                      </a:r>
                      <a:r>
                        <a:rPr lang="en-US" sz="1200" b="1" i="0" dirty="0">
                          <a:solidFill>
                            <a:schemeClr val="bg1"/>
                          </a:solidFill>
                          <a:latin typeface="Courier New" panose="02070309020205020404" pitchFamily="49" charset="0"/>
                          <a:cs typeface="Courier New" panose="02070309020205020404" pitchFamily="49" charset="0"/>
                        </a:rPr>
                        <a:t>00000</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0000"/>
                        </a:lnSpc>
                        <a:spcBef>
                          <a:spcPts val="600"/>
                        </a:spcBef>
                      </a:pPr>
                      <a:r>
                        <a:rPr lang="en-US" sz="1200" b="1" i="0" dirty="0">
                          <a:solidFill>
                            <a:schemeClr val="bg1"/>
                          </a:solidFill>
                          <a:latin typeface="Courier New" panose="02070309020205020404" pitchFamily="49" charset="0"/>
                          <a:cs typeface="Courier New" panose="02070309020205020404" pitchFamily="49" charset="0"/>
                        </a:rPr>
                        <a:t>rs2</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0000"/>
                        </a:lnSpc>
                        <a:spcBef>
                          <a:spcPts val="600"/>
                        </a:spcBef>
                      </a:pPr>
                      <a:r>
                        <a:rPr lang="en-US" sz="1200" b="1" i="0" dirty="0">
                          <a:solidFill>
                            <a:schemeClr val="bg1"/>
                          </a:solidFill>
                          <a:latin typeface="Courier New" panose="02070309020205020404" pitchFamily="49" charset="0"/>
                          <a:cs typeface="Courier New" panose="02070309020205020404" pitchFamily="49" charset="0"/>
                        </a:rPr>
                        <a:t>rs1</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0000"/>
                        </a:lnSpc>
                        <a:spcBef>
                          <a:spcPts val="600"/>
                        </a:spcBef>
                      </a:pPr>
                      <a:r>
                        <a:rPr lang="en-US" sz="1200" b="1" i="0" dirty="0">
                          <a:solidFill>
                            <a:schemeClr val="bg1"/>
                          </a:solidFill>
                          <a:latin typeface="Courier New" panose="02070309020205020404" pitchFamily="49" charset="0"/>
                          <a:cs typeface="Courier New" panose="02070309020205020404" pitchFamily="49" charset="0"/>
                        </a:rPr>
                        <a:t>funct3</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3">
                  <a:txBody>
                    <a:bodyPr/>
                    <a:lstStyle/>
                    <a:p>
                      <a:pPr algn="ctr">
                        <a:lnSpc>
                          <a:spcPct val="80000"/>
                        </a:lnSpc>
                        <a:spcBef>
                          <a:spcPts val="600"/>
                        </a:spcBef>
                      </a:pPr>
                      <a:r>
                        <a:rPr lang="en-US" sz="1200" b="1" i="0" dirty="0" err="1">
                          <a:solidFill>
                            <a:schemeClr val="bg1"/>
                          </a:solidFill>
                          <a:latin typeface="Courier New" panose="02070309020205020404" pitchFamily="49" charset="0"/>
                          <a:cs typeface="Courier New" panose="02070309020205020404" pitchFamily="49" charset="0"/>
                        </a:rPr>
                        <a:t>rd</a:t>
                      </a:r>
                      <a:endParaRPr lang="en-US" sz="1200" b="1" i="0" dirty="0">
                        <a:solidFill>
                          <a:schemeClr val="bg1"/>
                        </a:solidFill>
                        <a:latin typeface="Courier New" panose="02070309020205020404" pitchFamily="49" charset="0"/>
                        <a:cs typeface="Courier New" panose="02070309020205020404" pitchFamily="49" charset="0"/>
                      </a:endParaRP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0000"/>
                        </a:lnSpc>
                        <a:spcBef>
                          <a:spcPts val="600"/>
                        </a:spcBef>
                      </a:pPr>
                      <a:r>
                        <a:rPr lang="en-US" sz="1200" b="1" i="0" dirty="0">
                          <a:solidFill>
                            <a:schemeClr val="bg1"/>
                          </a:solidFill>
                          <a:latin typeface="Courier New" panose="02070309020205020404" pitchFamily="49" charset="0"/>
                          <a:cs typeface="Courier New" panose="02070309020205020404" pitchFamily="49" charset="0"/>
                        </a:rPr>
                        <a:t>0110011 </a:t>
                      </a:r>
                    </a:p>
                  </a:txBody>
                  <a:tcPr anchor="b">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886246549"/>
                  </a:ext>
                </a:extLst>
              </a:tr>
            </a:tbl>
          </a:graphicData>
        </a:graphic>
      </p:graphicFrame>
      <p:sp>
        <p:nvSpPr>
          <p:cNvPr id="31" name="TextBox 30">
            <a:extLst>
              <a:ext uri="{FF2B5EF4-FFF2-40B4-BE49-F238E27FC236}">
                <a16:creationId xmlns:a16="http://schemas.microsoft.com/office/drawing/2014/main" id="{2E89CAB9-FACE-3872-A05A-06101ADDDD8A}"/>
              </a:ext>
            </a:extLst>
          </p:cNvPr>
          <p:cNvSpPr txBox="1"/>
          <p:nvPr/>
        </p:nvSpPr>
        <p:spPr>
          <a:xfrm>
            <a:off x="293424" y="1488776"/>
            <a:ext cx="2639992" cy="707886"/>
          </a:xfrm>
          <a:prstGeom prst="rect">
            <a:avLst/>
          </a:prstGeom>
          <a:noFill/>
        </p:spPr>
        <p:txBody>
          <a:bodyPr wrap="square" rtlCol="0">
            <a:spAutoFit/>
          </a:bodyPr>
          <a:lstStyle/>
          <a:p>
            <a:pPr algn="l"/>
            <a:r>
              <a:rPr lang="en-US" sz="2000" dirty="0">
                <a:solidFill>
                  <a:schemeClr val="tx1">
                    <a:lumMod val="50000"/>
                    <a:lumOff val="50000"/>
                  </a:schemeClr>
                </a:solidFill>
                <a:latin typeface="18 VAG Rounded Light   02390" pitchFamily="2" charset="0"/>
              </a:rPr>
              <a:t>Increment PC to next instruction.</a:t>
            </a:r>
          </a:p>
        </p:txBody>
      </p:sp>
      <p:sp>
        <p:nvSpPr>
          <p:cNvPr id="32" name="TextBox 31">
            <a:extLst>
              <a:ext uri="{FF2B5EF4-FFF2-40B4-BE49-F238E27FC236}">
                <a16:creationId xmlns:a16="http://schemas.microsoft.com/office/drawing/2014/main" id="{5B60DF95-2399-AAFD-54E5-0904FED910AB}"/>
              </a:ext>
            </a:extLst>
          </p:cNvPr>
          <p:cNvSpPr txBox="1"/>
          <p:nvPr/>
        </p:nvSpPr>
        <p:spPr>
          <a:xfrm>
            <a:off x="9273885" y="1488776"/>
            <a:ext cx="2863169" cy="707886"/>
          </a:xfrm>
          <a:prstGeom prst="rect">
            <a:avLst/>
          </a:prstGeom>
          <a:noFill/>
        </p:spPr>
        <p:txBody>
          <a:bodyPr wrap="square" rtlCol="0">
            <a:spAutoFit/>
          </a:bodyPr>
          <a:lstStyle/>
          <a:p>
            <a:pPr algn="l"/>
            <a:r>
              <a:rPr lang="en-US" sz="2000" dirty="0">
                <a:solidFill>
                  <a:schemeClr val="tx1">
                    <a:lumMod val="50000"/>
                    <a:lumOff val="50000"/>
                  </a:schemeClr>
                </a:solidFill>
                <a:latin typeface="18 VAG Rounded Light   02390" pitchFamily="2" charset="0"/>
              </a:rPr>
              <a:t>Write </a:t>
            </a:r>
            <a:r>
              <a:rPr lang="en-US" sz="2000" i="1" dirty="0">
                <a:solidFill>
                  <a:schemeClr val="accent1"/>
                </a:solidFill>
                <a:latin typeface="18 VAG Rounded Light   02390" pitchFamily="2" charset="0"/>
              </a:rPr>
              <a:t>ALU output</a:t>
            </a:r>
            <a:r>
              <a:rPr lang="en-US" sz="2000" dirty="0">
                <a:solidFill>
                  <a:schemeClr val="tx1">
                    <a:lumMod val="50000"/>
                    <a:lumOff val="50000"/>
                  </a:schemeClr>
                </a:solidFill>
                <a:latin typeface="18 VAG Rounded Light   02390" pitchFamily="2" charset="0"/>
              </a:rPr>
              <a:t> to destination register.</a:t>
            </a:r>
          </a:p>
        </p:txBody>
      </p:sp>
      <p:sp>
        <p:nvSpPr>
          <p:cNvPr id="33" name="TextBox 32">
            <a:extLst>
              <a:ext uri="{FF2B5EF4-FFF2-40B4-BE49-F238E27FC236}">
                <a16:creationId xmlns:a16="http://schemas.microsoft.com/office/drawing/2014/main" id="{C2677858-5252-AC75-9EF9-51BC5599BE25}"/>
              </a:ext>
            </a:extLst>
          </p:cNvPr>
          <p:cNvSpPr txBox="1"/>
          <p:nvPr/>
        </p:nvSpPr>
        <p:spPr>
          <a:xfrm>
            <a:off x="6181437" y="1488776"/>
            <a:ext cx="2356549" cy="677108"/>
          </a:xfrm>
          <a:prstGeom prst="rect">
            <a:avLst/>
          </a:prstGeom>
          <a:noFill/>
        </p:spPr>
        <p:txBody>
          <a:bodyPr wrap="square" rtlCol="0">
            <a:spAutoFit/>
          </a:bodyPr>
          <a:lstStyle/>
          <a:p>
            <a:pPr algn="l">
              <a:lnSpc>
                <a:spcPct val="95000"/>
              </a:lnSpc>
            </a:pPr>
            <a:r>
              <a:rPr lang="en-US" sz="2000" dirty="0">
                <a:solidFill>
                  <a:schemeClr val="tx1">
                    <a:lumMod val="50000"/>
                    <a:lumOff val="50000"/>
                  </a:schemeClr>
                </a:solidFill>
                <a:latin typeface="18 VAG Rounded Light   02390" pitchFamily="2" charset="0"/>
              </a:rPr>
              <a:t>Feed read register values </a:t>
            </a:r>
            <a:r>
              <a:rPr lang="en-US" sz="2000" i="1" dirty="0">
                <a:solidFill>
                  <a:schemeClr val="accent1"/>
                </a:solidFill>
                <a:latin typeface="18 VAG Rounded Light   02390" pitchFamily="2" charset="0"/>
              </a:rPr>
              <a:t>into ALU.</a:t>
            </a:r>
          </a:p>
        </p:txBody>
      </p:sp>
      <p:sp>
        <p:nvSpPr>
          <p:cNvPr id="39" name="TextBox 38">
            <a:extLst>
              <a:ext uri="{FF2B5EF4-FFF2-40B4-BE49-F238E27FC236}">
                <a16:creationId xmlns:a16="http://schemas.microsoft.com/office/drawing/2014/main" id="{0E165C3E-DC9C-F55A-CEE3-85605C914D6B}"/>
              </a:ext>
            </a:extLst>
          </p:cNvPr>
          <p:cNvSpPr txBox="1"/>
          <p:nvPr/>
        </p:nvSpPr>
        <p:spPr>
          <a:xfrm>
            <a:off x="3118252" y="1488776"/>
            <a:ext cx="2664586" cy="677108"/>
          </a:xfrm>
          <a:prstGeom prst="rect">
            <a:avLst/>
          </a:prstGeom>
          <a:noFill/>
        </p:spPr>
        <p:txBody>
          <a:bodyPr wrap="square" rtlCol="0">
            <a:spAutoFit/>
          </a:bodyPr>
          <a:lstStyle/>
          <a:p>
            <a:pPr algn="l">
              <a:lnSpc>
                <a:spcPct val="95000"/>
              </a:lnSpc>
            </a:pPr>
            <a:r>
              <a:rPr lang="en-US" sz="2000" i="1" dirty="0">
                <a:solidFill>
                  <a:schemeClr val="tx1">
                    <a:lumMod val="50000"/>
                    <a:lumOff val="50000"/>
                  </a:schemeClr>
                </a:solidFill>
                <a:latin typeface="18 VAG Rounded Light   02390" pitchFamily="2" charset="0"/>
              </a:rPr>
              <a:t>Split</a:t>
            </a:r>
            <a:r>
              <a:rPr lang="en-US" sz="2000" dirty="0">
                <a:solidFill>
                  <a:schemeClr val="tx1">
                    <a:lumMod val="50000"/>
                    <a:lumOff val="50000"/>
                  </a:schemeClr>
                </a:solidFill>
                <a:latin typeface="18 VAG Rounded Light   02390" pitchFamily="2" charset="0"/>
              </a:rPr>
              <a:t> instruction to index into </a:t>
            </a:r>
            <a:r>
              <a:rPr lang="en-US" sz="2000" dirty="0" err="1">
                <a:solidFill>
                  <a:schemeClr val="tx1">
                    <a:lumMod val="50000"/>
                    <a:lumOff val="50000"/>
                  </a:schemeClr>
                </a:solidFill>
                <a:latin typeface="18 VAG Rounded Light   02390" pitchFamily="2" charset="0"/>
              </a:rPr>
              <a:t>RegFile</a:t>
            </a:r>
            <a:r>
              <a:rPr lang="en-US" sz="2000" dirty="0">
                <a:solidFill>
                  <a:schemeClr val="tx1">
                    <a:lumMod val="50000"/>
                    <a:lumOff val="50000"/>
                  </a:schemeClr>
                </a:solidFill>
                <a:latin typeface="18 VAG Rounded Light   02390" pitchFamily="2" charset="0"/>
              </a:rPr>
              <a:t>.</a:t>
            </a:r>
          </a:p>
        </p:txBody>
      </p:sp>
      <p:grpSp>
        <p:nvGrpSpPr>
          <p:cNvPr id="6" name="Group 5">
            <a:extLst>
              <a:ext uri="{FF2B5EF4-FFF2-40B4-BE49-F238E27FC236}">
                <a16:creationId xmlns:a16="http://schemas.microsoft.com/office/drawing/2014/main" id="{B2064A46-6821-517E-4F82-6CB9B85E7508}"/>
              </a:ext>
            </a:extLst>
          </p:cNvPr>
          <p:cNvGrpSpPr/>
          <p:nvPr/>
        </p:nvGrpSpPr>
        <p:grpSpPr>
          <a:xfrm>
            <a:off x="8268893" y="4186857"/>
            <a:ext cx="3724192" cy="1810868"/>
            <a:chOff x="8268893" y="4186857"/>
            <a:chExt cx="3724192" cy="1810868"/>
          </a:xfrm>
        </p:grpSpPr>
        <p:sp>
          <p:nvSpPr>
            <p:cNvPr id="163" name="TextBox 162">
              <a:extLst>
                <a:ext uri="{FF2B5EF4-FFF2-40B4-BE49-F238E27FC236}">
                  <a16:creationId xmlns:a16="http://schemas.microsoft.com/office/drawing/2014/main" id="{0D0C1867-1FFD-F311-31BB-7C2A4E3DB4AD}"/>
                </a:ext>
              </a:extLst>
            </p:cNvPr>
            <p:cNvSpPr txBox="1"/>
            <p:nvPr/>
          </p:nvSpPr>
          <p:spPr>
            <a:xfrm>
              <a:off x="8268893" y="5536765"/>
              <a:ext cx="702435"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Sub</a:t>
              </a:r>
            </a:p>
          </p:txBody>
        </p:sp>
        <p:cxnSp>
          <p:nvCxnSpPr>
            <p:cNvPr id="28" name="Straight Arrow Connector 27">
              <a:extLst>
                <a:ext uri="{FF2B5EF4-FFF2-40B4-BE49-F238E27FC236}">
                  <a16:creationId xmlns:a16="http://schemas.microsoft.com/office/drawing/2014/main" id="{83BE36E6-FA9A-B39A-2231-AABD99961C55}"/>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3E4573E0-F9F1-A5E2-EAA5-2E071D2BC093}"/>
                </a:ext>
              </a:extLst>
            </p:cNvPr>
            <p:cNvSpPr/>
            <p:nvPr/>
          </p:nvSpPr>
          <p:spPr>
            <a:xfrm>
              <a:off x="9037591" y="4186857"/>
              <a:ext cx="2955494" cy="1182366"/>
            </a:xfrm>
            <a:prstGeom prst="rect">
              <a:avLst/>
            </a:prstGeom>
            <a:no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nSpc>
                  <a:spcPct val="90000"/>
                </a:lnSpc>
              </a:pPr>
              <a:r>
                <a:rPr lang="en-US" sz="2000" b="1" dirty="0">
                  <a:solidFill>
                    <a:schemeClr val="bg1"/>
                  </a:solidFill>
                  <a:latin typeface="18 VAG Rounded Bold   07390" pitchFamily="2" charset="0"/>
                </a:rPr>
                <a:t>The control line </a:t>
              </a:r>
              <a:r>
                <a:rPr lang="en-US" sz="2000" b="1" dirty="0" err="1">
                  <a:solidFill>
                    <a:schemeClr val="bg1"/>
                  </a:solidFill>
                  <a:latin typeface="18 VAG Rounded Bold   07390" pitchFamily="2" charset="0"/>
                </a:rPr>
                <a:t>ALUSel</a:t>
              </a:r>
              <a:r>
                <a:rPr lang="en-US" sz="2000" b="1" dirty="0">
                  <a:solidFill>
                    <a:schemeClr val="bg1"/>
                  </a:solidFill>
                  <a:latin typeface="18 VAG Rounded Bold   07390" pitchFamily="2" charset="0"/>
                </a:rPr>
                <a:t> selects which ALU operation to output.</a:t>
              </a:r>
              <a:endParaRPr lang="en-US" sz="1800" dirty="0">
                <a:solidFill>
                  <a:schemeClr val="accent2"/>
                </a:solidFill>
                <a:latin typeface="18 VAG Rounded Light   02390" pitchFamily="2" charset="0"/>
              </a:endParaRPr>
            </a:p>
          </p:txBody>
        </p:sp>
      </p:grpSp>
      <p:grpSp>
        <p:nvGrpSpPr>
          <p:cNvPr id="5" name="Group 4">
            <a:extLst>
              <a:ext uri="{FF2B5EF4-FFF2-40B4-BE49-F238E27FC236}">
                <a16:creationId xmlns:a16="http://schemas.microsoft.com/office/drawing/2014/main" id="{8CF3E949-D8DB-7891-5170-F81BBB9E909D}"/>
              </a:ext>
            </a:extLst>
          </p:cNvPr>
          <p:cNvGrpSpPr/>
          <p:nvPr/>
        </p:nvGrpSpPr>
        <p:grpSpPr>
          <a:xfrm>
            <a:off x="367560" y="3951299"/>
            <a:ext cx="3446994" cy="1870906"/>
            <a:chOff x="367560" y="3951299"/>
            <a:chExt cx="3446994" cy="1870906"/>
          </a:xfrm>
        </p:grpSpPr>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57150">
              <a:solidFill>
                <a:schemeClr val="accent5"/>
              </a:solidFill>
              <a:headEnd type="oval" w="sm" len="sm"/>
              <a:tailEnd type="triangl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47" name="TextBox 46">
              <a:extLst>
                <a:ext uri="{FF2B5EF4-FFF2-40B4-BE49-F238E27FC236}">
                  <a16:creationId xmlns:a16="http://schemas.microsoft.com/office/drawing/2014/main" id="{3EDDCE53-578A-B34A-207D-17B3D2F7AEB0}"/>
                </a:ext>
              </a:extLst>
            </p:cNvPr>
            <p:cNvSpPr txBox="1"/>
            <p:nvPr/>
          </p:nvSpPr>
          <p:spPr>
            <a:xfrm>
              <a:off x="367560" y="4630824"/>
              <a:ext cx="2512355" cy="923330"/>
            </a:xfrm>
            <a:prstGeom prst="rect">
              <a:avLst/>
            </a:prstGeom>
            <a:noFill/>
          </p:spPr>
          <p:txBody>
            <a:bodyPr wrap="square" rtlCol="0">
              <a:spAutoFit/>
            </a:bodyPr>
            <a:lstStyle/>
            <a:p>
              <a:pPr algn="r"/>
              <a:r>
                <a:rPr lang="en-US" sz="1800" dirty="0">
                  <a:solidFill>
                    <a:schemeClr val="accent5"/>
                  </a:solidFill>
                  <a:latin typeface="18 VAG Rounded Light   02390" pitchFamily="2" charset="0"/>
                </a:rPr>
                <a:t>Pass </a:t>
              </a:r>
              <a:r>
                <a:rPr lang="en-US" sz="1800" b="1" dirty="0" err="1">
                  <a:solidFill>
                    <a:schemeClr val="accent5"/>
                  </a:solidFill>
                  <a:latin typeface="Courier New" panose="02070309020205020404" pitchFamily="49" charset="0"/>
                  <a:cs typeface="Courier New" panose="02070309020205020404" pitchFamily="49" charset="0"/>
                </a:rPr>
                <a:t>inst</a:t>
              </a:r>
              <a:r>
                <a:rPr lang="en-US" sz="1800" dirty="0">
                  <a:solidFill>
                    <a:schemeClr val="accent5"/>
                  </a:solidFill>
                  <a:latin typeface="18 VAG Rounded Light   02390" pitchFamily="2" charset="0"/>
                </a:rPr>
                <a:t> to Control for instruction decoding</a:t>
              </a:r>
              <a:br>
                <a:rPr lang="en-US" sz="1800" dirty="0">
                  <a:solidFill>
                    <a:schemeClr val="accent5"/>
                  </a:solidFill>
                  <a:latin typeface="18 VAG Rounded Light   02390" pitchFamily="2" charset="0"/>
                </a:rPr>
              </a:br>
              <a:r>
                <a:rPr lang="en-US" sz="1800" dirty="0">
                  <a:solidFill>
                    <a:schemeClr val="accent5"/>
                  </a:solidFill>
                  <a:latin typeface="18 VAG Rounded Light   02390" pitchFamily="2" charset="0"/>
                </a:rPr>
                <a:t>(for now, all 32 bits).</a:t>
              </a:r>
            </a:p>
          </p:txBody>
        </p:sp>
        <p:sp>
          <p:nvSpPr>
            <p:cNvPr id="49" name="Freeform 48">
              <a:extLst>
                <a:ext uri="{FF2B5EF4-FFF2-40B4-BE49-F238E27FC236}">
                  <a16:creationId xmlns:a16="http://schemas.microsoft.com/office/drawing/2014/main" id="{14B6EA35-5924-2F31-2D36-CBF222689A8A}"/>
                </a:ext>
              </a:extLst>
            </p:cNvPr>
            <p:cNvSpPr/>
            <p:nvPr/>
          </p:nvSpPr>
          <p:spPr>
            <a:xfrm>
              <a:off x="2854960" y="4866640"/>
              <a:ext cx="294852" cy="152400"/>
            </a:xfrm>
            <a:custGeom>
              <a:avLst/>
              <a:gdLst>
                <a:gd name="connsiteX0" fmla="*/ 0 w 294852"/>
                <a:gd name="connsiteY0" fmla="*/ 142240 h 152400"/>
                <a:gd name="connsiteX1" fmla="*/ 10160 w 294852"/>
                <a:gd name="connsiteY1" fmla="*/ 60960 h 152400"/>
                <a:gd name="connsiteX2" fmla="*/ 20320 w 294852"/>
                <a:gd name="connsiteY2" fmla="*/ 30480 h 152400"/>
                <a:gd name="connsiteX3" fmla="*/ 132080 w 294852"/>
                <a:gd name="connsiteY3" fmla="*/ 0 h 152400"/>
                <a:gd name="connsiteX4" fmla="*/ 213360 w 294852"/>
                <a:gd name="connsiteY4" fmla="*/ 20320 h 152400"/>
                <a:gd name="connsiteX5" fmla="*/ 243840 w 294852"/>
                <a:gd name="connsiteY5" fmla="*/ 40640 h 152400"/>
                <a:gd name="connsiteX6" fmla="*/ 274320 w 294852"/>
                <a:gd name="connsiteY6" fmla="*/ 101600 h 152400"/>
                <a:gd name="connsiteX7" fmla="*/ 294640 w 294852"/>
                <a:gd name="connsiteY7" fmla="*/ 1524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4852" h="152400">
                  <a:moveTo>
                    <a:pt x="0" y="142240"/>
                  </a:moveTo>
                  <a:cubicBezTo>
                    <a:pt x="3387" y="115147"/>
                    <a:pt x="5276" y="87824"/>
                    <a:pt x="10160" y="60960"/>
                  </a:cubicBezTo>
                  <a:cubicBezTo>
                    <a:pt x="12076" y="50423"/>
                    <a:pt x="11605" y="36705"/>
                    <a:pt x="20320" y="30480"/>
                  </a:cubicBezTo>
                  <a:cubicBezTo>
                    <a:pt x="40372" y="16157"/>
                    <a:pt x="106466" y="5123"/>
                    <a:pt x="132080" y="0"/>
                  </a:cubicBezTo>
                  <a:cubicBezTo>
                    <a:pt x="151402" y="3864"/>
                    <a:pt x="192532" y="9906"/>
                    <a:pt x="213360" y="20320"/>
                  </a:cubicBezTo>
                  <a:cubicBezTo>
                    <a:pt x="224282" y="25781"/>
                    <a:pt x="233680" y="33867"/>
                    <a:pt x="243840" y="40640"/>
                  </a:cubicBezTo>
                  <a:cubicBezTo>
                    <a:pt x="302074" y="127991"/>
                    <a:pt x="232256" y="17472"/>
                    <a:pt x="274320" y="101600"/>
                  </a:cubicBezTo>
                  <a:cubicBezTo>
                    <a:pt x="298397" y="149754"/>
                    <a:pt x="294640" y="113191"/>
                    <a:pt x="294640" y="152400"/>
                  </a:cubicBezTo>
                </a:path>
              </a:pathLst>
            </a:custGeom>
            <a:noFill/>
            <a:ln w="28575">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 name="TextBox 6">
            <a:extLst>
              <a:ext uri="{FF2B5EF4-FFF2-40B4-BE49-F238E27FC236}">
                <a16:creationId xmlns:a16="http://schemas.microsoft.com/office/drawing/2014/main" id="{3BF5938D-A715-0D66-36D8-80EDA78DE700}"/>
              </a:ext>
            </a:extLst>
          </p:cNvPr>
          <p:cNvSpPr txBox="1"/>
          <p:nvPr/>
        </p:nvSpPr>
        <p:spPr>
          <a:xfrm>
            <a:off x="981283" y="882773"/>
            <a:ext cx="2212465" cy="461665"/>
          </a:xfrm>
          <a:prstGeom prst="rect">
            <a:avLst/>
          </a:prstGeom>
          <a:noFill/>
        </p:spPr>
        <p:txBody>
          <a:bodyPr wrap="none" rtlCol="0">
            <a:spAutoFit/>
          </a:bodyPr>
          <a:lstStyle/>
          <a:p>
            <a:pPr algn="ctr"/>
            <a:r>
              <a:rPr lang="en-US" sz="2400" b="1" dirty="0">
                <a:solidFill>
                  <a:schemeClr val="accent2"/>
                </a:solidFill>
                <a:latin typeface="Courier New" panose="02070309020205020404" pitchFamily="49" charset="0"/>
                <a:cs typeface="Courier New" panose="02070309020205020404" pitchFamily="49" charset="0"/>
              </a:rPr>
              <a:t>PC = PC + 4</a:t>
            </a:r>
          </a:p>
        </p:txBody>
      </p:sp>
      <p:sp>
        <p:nvSpPr>
          <p:cNvPr id="10" name="TextBox 9">
            <a:extLst>
              <a:ext uri="{FF2B5EF4-FFF2-40B4-BE49-F238E27FC236}">
                <a16:creationId xmlns:a16="http://schemas.microsoft.com/office/drawing/2014/main" id="{47A44DDC-21B2-55F2-742C-639C44C66AAC}"/>
              </a:ext>
            </a:extLst>
          </p:cNvPr>
          <p:cNvSpPr txBox="1"/>
          <p:nvPr/>
        </p:nvSpPr>
        <p:spPr>
          <a:xfrm>
            <a:off x="5430126" y="882773"/>
            <a:ext cx="4424609" cy="461665"/>
          </a:xfrm>
          <a:prstGeom prst="rect">
            <a:avLst/>
          </a:prstGeom>
          <a:noFill/>
        </p:spPr>
        <p:txBody>
          <a:bodyPr wrap="none" rtlCol="0">
            <a:spAutoFit/>
          </a:bodyPr>
          <a:lstStyle/>
          <a:p>
            <a:pPr algn="ctr"/>
            <a:r>
              <a:rPr lang="en-US" sz="2400" b="1" dirty="0">
                <a:solidFill>
                  <a:schemeClr val="accent2"/>
                </a:solidFill>
                <a:latin typeface="Courier New" panose="02070309020205020404" pitchFamily="49" charset="0"/>
                <a:cs typeface="Courier New" panose="02070309020205020404" pitchFamily="49" charset="0"/>
              </a:rPr>
              <a:t>R[</a:t>
            </a:r>
            <a:r>
              <a:rPr lang="en-US" sz="2400" b="1" dirty="0" err="1">
                <a:solidFill>
                  <a:schemeClr val="accent2"/>
                </a:solidFill>
                <a:latin typeface="Courier New" panose="02070309020205020404" pitchFamily="49" charset="0"/>
                <a:cs typeface="Courier New" panose="02070309020205020404" pitchFamily="49" charset="0"/>
              </a:rPr>
              <a:t>rd</a:t>
            </a:r>
            <a:r>
              <a:rPr lang="en-US" sz="2400" b="1" dirty="0">
                <a:solidFill>
                  <a:schemeClr val="accent2"/>
                </a:solidFill>
                <a:latin typeface="Courier New" panose="02070309020205020404" pitchFamily="49" charset="0"/>
                <a:cs typeface="Courier New" panose="02070309020205020404" pitchFamily="49" charset="0"/>
              </a:rPr>
              <a:t>] = R[rs1] </a:t>
            </a:r>
            <a:r>
              <a:rPr lang="en-US" sz="2400" b="1" dirty="0">
                <a:solidFill>
                  <a:schemeClr val="accent1"/>
                </a:solidFill>
                <a:latin typeface="Courier New" panose="02070309020205020404" pitchFamily="49" charset="0"/>
                <a:cs typeface="Courier New" panose="02070309020205020404" pitchFamily="49" charset="0"/>
              </a:rPr>
              <a:t>-</a:t>
            </a:r>
            <a:r>
              <a:rPr lang="en-US" sz="2400" b="1" dirty="0">
                <a:solidFill>
                  <a:schemeClr val="accent2"/>
                </a:solidFill>
                <a:latin typeface="Courier New" panose="02070309020205020404" pitchFamily="49" charset="0"/>
                <a:cs typeface="Courier New" panose="02070309020205020404" pitchFamily="49" charset="0"/>
              </a:rPr>
              <a:t> R[rs2]</a:t>
            </a:r>
          </a:p>
        </p:txBody>
      </p:sp>
      <p:sp>
        <p:nvSpPr>
          <p:cNvPr id="11" name="Right Brace 10">
            <a:extLst>
              <a:ext uri="{FF2B5EF4-FFF2-40B4-BE49-F238E27FC236}">
                <a16:creationId xmlns:a16="http://schemas.microsoft.com/office/drawing/2014/main" id="{D439ECD6-3B0C-420A-B6E9-B42EDA4A86A8}"/>
              </a:ext>
            </a:extLst>
          </p:cNvPr>
          <p:cNvSpPr/>
          <p:nvPr/>
        </p:nvSpPr>
        <p:spPr>
          <a:xfrm rot="16200000">
            <a:off x="2015794" y="-111993"/>
            <a:ext cx="143445" cy="2970484"/>
          </a:xfrm>
          <a:prstGeom prst="rightBrace">
            <a:avLst/>
          </a:prstGeom>
          <a:ln w="19050">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B1906937-AFB8-0EDC-6186-AE285CB551D8}"/>
              </a:ext>
            </a:extLst>
          </p:cNvPr>
          <p:cNvSpPr/>
          <p:nvPr/>
        </p:nvSpPr>
        <p:spPr>
          <a:xfrm rot="16200000">
            <a:off x="7570709" y="-2596742"/>
            <a:ext cx="143445" cy="7943950"/>
          </a:xfrm>
          <a:prstGeom prst="rightBrace">
            <a:avLst/>
          </a:prstGeom>
          <a:ln w="19050">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893270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3AA1396-2C6A-D02D-7731-252469673087}"/>
              </a:ext>
            </a:extLst>
          </p:cNvPr>
          <p:cNvGrpSpPr/>
          <p:nvPr/>
        </p:nvGrpSpPr>
        <p:grpSpPr>
          <a:xfrm>
            <a:off x="3793678" y="2375192"/>
            <a:ext cx="7343673" cy="1592748"/>
            <a:chOff x="3793678" y="2375192"/>
            <a:chExt cx="7343673" cy="1592748"/>
          </a:xfrm>
        </p:grpSpPr>
        <p:grpSp>
          <p:nvGrpSpPr>
            <p:cNvPr id="14" name="Group 13">
              <a:extLst>
                <a:ext uri="{FF2B5EF4-FFF2-40B4-BE49-F238E27FC236}">
                  <a16:creationId xmlns:a16="http://schemas.microsoft.com/office/drawing/2014/main" id="{D09EDBDC-99FC-8618-B868-68A73021618A}"/>
                </a:ext>
              </a:extLst>
            </p:cNvPr>
            <p:cNvGrpSpPr/>
            <p:nvPr/>
          </p:nvGrpSpPr>
          <p:grpSpPr>
            <a:xfrm>
              <a:off x="3793678" y="2384802"/>
              <a:ext cx="7342632" cy="657210"/>
              <a:chOff x="3793678" y="2384802"/>
              <a:chExt cx="7342632" cy="657210"/>
            </a:xfrm>
          </p:grpSpPr>
          <p:cxnSp>
            <p:nvCxnSpPr>
              <p:cNvPr id="23" name="Straight Connector 22">
                <a:extLst>
                  <a:ext uri="{FF2B5EF4-FFF2-40B4-BE49-F238E27FC236}">
                    <a16:creationId xmlns:a16="http://schemas.microsoft.com/office/drawing/2014/main" id="{BE6A0BE6-E5FF-6B72-1933-39397EBDE4AB}"/>
                  </a:ext>
                </a:extLst>
              </p:cNvPr>
              <p:cNvCxnSpPr/>
              <p:nvPr/>
            </p:nvCxnSpPr>
            <p:spPr>
              <a:xfrm>
                <a:off x="3793678" y="2384802"/>
                <a:ext cx="7342632"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971754AB-1C7E-B6CE-9A8E-5C1A4C6D9BFD}"/>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8" name="Elbow Connector 17">
              <a:extLst>
                <a:ext uri="{FF2B5EF4-FFF2-40B4-BE49-F238E27FC236}">
                  <a16:creationId xmlns:a16="http://schemas.microsoft.com/office/drawing/2014/main" id="{67F34C69-074B-1C9A-2C8E-A08A88FAA9E0}"/>
                </a:ext>
              </a:extLst>
            </p:cNvPr>
            <p:cNvCxnSpPr>
              <a:cxnSpLocks/>
            </p:cNvCxnSpPr>
            <p:nvPr/>
          </p:nvCxnSpPr>
          <p:spPr>
            <a:xfrm flipV="1">
              <a:off x="8861193" y="2375192"/>
              <a:ext cx="2276158" cy="1592748"/>
            </a:xfrm>
            <a:prstGeom prst="bentConnector3">
              <a:avLst>
                <a:gd name="adj1" fmla="val 99625"/>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normAutofit/>
          </a:bodyPr>
          <a:lstStyle/>
          <a:p>
            <a:pPr>
              <a:tabLst>
                <a:tab pos="10280650" algn="r"/>
              </a:tabLst>
            </a:pPr>
            <a:r>
              <a:rPr lang="en-US" dirty="0"/>
              <a:t>What Does the Datapath Need for </a:t>
            </a:r>
            <a:r>
              <a:rPr lang="en-US" dirty="0" err="1">
                <a:solidFill>
                  <a:schemeClr val="bg2"/>
                </a:solidFill>
                <a:latin typeface="Courier New" panose="02070309020205020404" pitchFamily="49" charset="0"/>
                <a:cs typeface="Courier New" panose="02070309020205020404" pitchFamily="49" charset="0"/>
              </a:rPr>
              <a:t>addi</a:t>
            </a:r>
            <a:r>
              <a:rPr lang="en-US" dirty="0"/>
              <a:t>?</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2" name="TextBox 421">
            <a:extLst>
              <a:ext uri="{FF2B5EF4-FFF2-40B4-BE49-F238E27FC236}">
                <a16:creationId xmlns:a16="http://schemas.microsoft.com/office/drawing/2014/main" id="{C2019ECA-1D43-2798-7640-624AE67C748A}"/>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8834341" y="3722124"/>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r>
              <a:rPr lang="en-US" sz="1600" dirty="0">
                <a:solidFill>
                  <a:schemeClr val="tx1">
                    <a:lumMod val="50000"/>
                    <a:lumOff val="50000"/>
                  </a:schemeClr>
                </a:solidFill>
                <a:latin typeface="18 VAG Rounded Light   02390" pitchFamily="2" charset="0"/>
              </a:rPr>
              <a:t>1</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63" name="TextBox 162">
            <a:extLst>
              <a:ext uri="{FF2B5EF4-FFF2-40B4-BE49-F238E27FC236}">
                <a16:creationId xmlns:a16="http://schemas.microsoft.com/office/drawing/2014/main" id="{0D0C1867-1FFD-F311-31BB-7C2A4E3DB4AD}"/>
              </a:ext>
            </a:extLst>
          </p:cNvPr>
          <p:cNvSpPr txBox="1"/>
          <p:nvPr/>
        </p:nvSpPr>
        <p:spPr>
          <a:xfrm>
            <a:off x="8421291" y="5536765"/>
            <a:ext cx="702436"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Add</a:t>
            </a: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Reg[]</a:t>
            </a: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FB24231-C5EC-8884-7F89-001FF67827CC}"/>
              </a:ext>
            </a:extLst>
          </p:cNvPr>
          <p:cNvCxnSpPr>
            <a:cxnSpLocks/>
          </p:cNvCxnSpPr>
          <p:nvPr/>
        </p:nvCxnSpPr>
        <p:spPr>
          <a:xfrm flipV="1">
            <a:off x="6261052" y="4243270"/>
            <a:ext cx="201841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Cloud 21">
            <a:extLst>
              <a:ext uri="{FF2B5EF4-FFF2-40B4-BE49-F238E27FC236}">
                <a16:creationId xmlns:a16="http://schemas.microsoft.com/office/drawing/2014/main" id="{E7301435-2843-2EB4-B0C8-0F0543ED05C3}"/>
              </a:ext>
            </a:extLst>
          </p:cNvPr>
          <p:cNvSpPr/>
          <p:nvPr/>
        </p:nvSpPr>
        <p:spPr>
          <a:xfrm>
            <a:off x="7132468" y="3997728"/>
            <a:ext cx="828552" cy="592466"/>
          </a:xfrm>
          <a:prstGeom prst="cloud">
            <a:avLst/>
          </a:prstGeom>
          <a:solidFill>
            <a:schemeClr val="accent5">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 name="Freeform 2">
            <a:extLst>
              <a:ext uri="{FF2B5EF4-FFF2-40B4-BE49-F238E27FC236}">
                <a16:creationId xmlns:a16="http://schemas.microsoft.com/office/drawing/2014/main" id="{56DE453D-A8B6-306B-C73B-3ED047C1AECE}"/>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5193D0A6-42CC-44F9-82F3-EA02C6EAFB4F}"/>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cxnSp>
        <p:nvCxnSpPr>
          <p:cNvPr id="25" name="Straight Arrow Connector 24">
            <a:extLst>
              <a:ext uri="{FF2B5EF4-FFF2-40B4-BE49-F238E27FC236}">
                <a16:creationId xmlns:a16="http://schemas.microsoft.com/office/drawing/2014/main" id="{8DA1011B-5ACF-04F7-07D9-BEC949545057}"/>
              </a:ext>
            </a:extLst>
          </p:cNvPr>
          <p:cNvCxnSpPr>
            <a:cxnSpLocks/>
          </p:cNvCxnSpPr>
          <p:nvPr/>
        </p:nvCxnSpPr>
        <p:spPr>
          <a:xfrm flipV="1">
            <a:off x="7959424" y="4243270"/>
            <a:ext cx="32004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3BE36E6-FA9A-B39A-2231-AABD99961C55}"/>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031430F-B19A-E7C5-B322-B8846AA19A06}"/>
              </a:ext>
            </a:extLst>
          </p:cNvPr>
          <p:cNvSpPr txBox="1"/>
          <p:nvPr/>
        </p:nvSpPr>
        <p:spPr>
          <a:xfrm>
            <a:off x="1827696" y="1568834"/>
            <a:ext cx="492443" cy="461665"/>
          </a:xfrm>
          <a:prstGeom prst="rect">
            <a:avLst/>
          </a:prstGeom>
          <a:noFill/>
        </p:spPr>
        <p:txBody>
          <a:bodyPr wrap="none" rtlCol="0">
            <a:spAutoFit/>
          </a:bodyPr>
          <a:lstStyle/>
          <a:p>
            <a:pPr algn="l"/>
            <a:r>
              <a:rPr lang="en-US" sz="2400" dirty="0">
                <a:solidFill>
                  <a:schemeClr val="accent1"/>
                </a:solidFill>
                <a:latin typeface="18 VAG Rounded Light   02390" pitchFamily="2" charset="0"/>
              </a:rPr>
              <a:t>✅</a:t>
            </a:r>
          </a:p>
        </p:txBody>
      </p:sp>
      <p:grpSp>
        <p:nvGrpSpPr>
          <p:cNvPr id="51" name="Group 50">
            <a:extLst>
              <a:ext uri="{FF2B5EF4-FFF2-40B4-BE49-F238E27FC236}">
                <a16:creationId xmlns:a16="http://schemas.microsoft.com/office/drawing/2014/main" id="{F1089836-4653-1D80-32B0-88F130F0C028}"/>
              </a:ext>
            </a:extLst>
          </p:cNvPr>
          <p:cNvGrpSpPr/>
          <p:nvPr/>
        </p:nvGrpSpPr>
        <p:grpSpPr>
          <a:xfrm>
            <a:off x="669619" y="2248996"/>
            <a:ext cx="2712208" cy="1417320"/>
            <a:chOff x="669619" y="2248996"/>
            <a:chExt cx="2712208" cy="1417320"/>
          </a:xfrm>
        </p:grpSpPr>
        <p:grpSp>
          <p:nvGrpSpPr>
            <p:cNvPr id="52" name="Group 51">
              <a:extLst>
                <a:ext uri="{FF2B5EF4-FFF2-40B4-BE49-F238E27FC236}">
                  <a16:creationId xmlns:a16="http://schemas.microsoft.com/office/drawing/2014/main" id="{4BFC6FCC-9F7D-7382-3BA5-BF6F01D97DD9}"/>
                </a:ext>
              </a:extLst>
            </p:cNvPr>
            <p:cNvGrpSpPr/>
            <p:nvPr/>
          </p:nvGrpSpPr>
          <p:grpSpPr>
            <a:xfrm>
              <a:off x="669619" y="2260284"/>
              <a:ext cx="2712208" cy="1389326"/>
              <a:chOff x="669619" y="2260284"/>
              <a:chExt cx="2712208" cy="1389326"/>
            </a:xfrm>
          </p:grpSpPr>
          <p:grpSp>
            <p:nvGrpSpPr>
              <p:cNvPr id="54" name="Group 53">
                <a:extLst>
                  <a:ext uri="{FF2B5EF4-FFF2-40B4-BE49-F238E27FC236}">
                    <a16:creationId xmlns:a16="http://schemas.microsoft.com/office/drawing/2014/main" id="{5E180314-3698-A05C-F4C5-688EBECE264F}"/>
                  </a:ext>
                </a:extLst>
              </p:cNvPr>
              <p:cNvGrpSpPr/>
              <p:nvPr/>
            </p:nvGrpSpPr>
            <p:grpSpPr>
              <a:xfrm>
                <a:off x="675203" y="2260284"/>
                <a:ext cx="2706624" cy="477526"/>
                <a:chOff x="675203" y="2260284"/>
                <a:chExt cx="2706624" cy="477526"/>
              </a:xfrm>
            </p:grpSpPr>
            <p:cxnSp>
              <p:nvCxnSpPr>
                <p:cNvPr id="56" name="Elbow Connector 55">
                  <a:extLst>
                    <a:ext uri="{FF2B5EF4-FFF2-40B4-BE49-F238E27FC236}">
                      <a16:creationId xmlns:a16="http://schemas.microsoft.com/office/drawing/2014/main" id="{CFED1FEF-CC37-9EE8-B01E-EC781CDC66C6}"/>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4D69582-EF30-2F84-DC59-EF959C1AEE4A}"/>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55" name="Straight Arrow Connector 54">
                <a:extLst>
                  <a:ext uri="{FF2B5EF4-FFF2-40B4-BE49-F238E27FC236}">
                    <a16:creationId xmlns:a16="http://schemas.microsoft.com/office/drawing/2014/main" id="{6BEA6E97-3913-853A-EB9E-3ED58440957B}"/>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53" name="Straight Connector 52">
              <a:extLst>
                <a:ext uri="{FF2B5EF4-FFF2-40B4-BE49-F238E27FC236}">
                  <a16:creationId xmlns:a16="http://schemas.microsoft.com/office/drawing/2014/main" id="{B638280B-E442-533A-3E9E-FCC0DDC8D95B}"/>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CB3AA95C-9005-44F9-0297-EEF80AA16781}"/>
              </a:ext>
            </a:extLst>
          </p:cNvPr>
          <p:cNvSpPr txBox="1"/>
          <p:nvPr/>
        </p:nvSpPr>
        <p:spPr>
          <a:xfrm>
            <a:off x="981283" y="882773"/>
            <a:ext cx="2212465" cy="461665"/>
          </a:xfrm>
          <a:prstGeom prst="rect">
            <a:avLst/>
          </a:prstGeom>
          <a:noFill/>
        </p:spPr>
        <p:txBody>
          <a:bodyPr wrap="none" rtlCol="0">
            <a:spAutoFit/>
          </a:bodyPr>
          <a:lstStyle/>
          <a:p>
            <a:pPr algn="ctr"/>
            <a:r>
              <a:rPr lang="en-US" sz="2400" b="1" dirty="0">
                <a:solidFill>
                  <a:schemeClr val="accent2"/>
                </a:solidFill>
                <a:latin typeface="Courier New" panose="02070309020205020404" pitchFamily="49" charset="0"/>
                <a:cs typeface="Courier New" panose="02070309020205020404" pitchFamily="49" charset="0"/>
              </a:rPr>
              <a:t>PC = PC + 4</a:t>
            </a:r>
          </a:p>
        </p:txBody>
      </p:sp>
      <p:sp>
        <p:nvSpPr>
          <p:cNvPr id="9" name="TextBox 8">
            <a:extLst>
              <a:ext uri="{FF2B5EF4-FFF2-40B4-BE49-F238E27FC236}">
                <a16:creationId xmlns:a16="http://schemas.microsoft.com/office/drawing/2014/main" id="{767804C8-27EC-5E18-1271-0DDA8112E66D}"/>
              </a:ext>
            </a:extLst>
          </p:cNvPr>
          <p:cNvSpPr txBox="1"/>
          <p:nvPr/>
        </p:nvSpPr>
        <p:spPr>
          <a:xfrm>
            <a:off x="5706644" y="882773"/>
            <a:ext cx="3871573" cy="461665"/>
          </a:xfrm>
          <a:prstGeom prst="rect">
            <a:avLst/>
          </a:prstGeom>
          <a:noFill/>
        </p:spPr>
        <p:txBody>
          <a:bodyPr wrap="none" rtlCol="0">
            <a:spAutoFit/>
          </a:bodyPr>
          <a:lstStyle/>
          <a:p>
            <a:pPr algn="ctr"/>
            <a:r>
              <a:rPr lang="en-US" sz="2400" b="1" dirty="0">
                <a:solidFill>
                  <a:schemeClr val="accent2"/>
                </a:solidFill>
                <a:latin typeface="Courier New" panose="02070309020205020404" pitchFamily="49" charset="0"/>
                <a:cs typeface="Courier New" panose="02070309020205020404" pitchFamily="49" charset="0"/>
              </a:rPr>
              <a:t>R[</a:t>
            </a:r>
            <a:r>
              <a:rPr lang="en-US" sz="2400" b="1" dirty="0" err="1">
                <a:solidFill>
                  <a:schemeClr val="accent2"/>
                </a:solidFill>
                <a:latin typeface="Courier New" panose="02070309020205020404" pitchFamily="49" charset="0"/>
                <a:cs typeface="Courier New" panose="02070309020205020404" pitchFamily="49" charset="0"/>
              </a:rPr>
              <a:t>rd</a:t>
            </a:r>
            <a:r>
              <a:rPr lang="en-US" sz="2400" b="1" dirty="0">
                <a:solidFill>
                  <a:schemeClr val="accent2"/>
                </a:solidFill>
                <a:latin typeface="Courier New" panose="02070309020205020404" pitchFamily="49" charset="0"/>
                <a:cs typeface="Courier New" panose="02070309020205020404" pitchFamily="49" charset="0"/>
              </a:rPr>
              <a:t>] = R[rs1] + </a:t>
            </a:r>
            <a:r>
              <a:rPr lang="en-US" sz="2400" b="1" dirty="0" err="1">
                <a:solidFill>
                  <a:schemeClr val="accent2"/>
                </a:solidFill>
                <a:latin typeface="Courier New" panose="02070309020205020404" pitchFamily="49" charset="0"/>
                <a:cs typeface="Courier New" panose="02070309020205020404" pitchFamily="49" charset="0"/>
              </a:rPr>
              <a:t>imm</a:t>
            </a:r>
            <a:endParaRPr lang="en-US" sz="2400" b="1" dirty="0">
              <a:solidFill>
                <a:schemeClr val="accent2"/>
              </a:solidFill>
              <a:latin typeface="Courier New" panose="02070309020205020404" pitchFamily="49" charset="0"/>
              <a:cs typeface="Courier New" panose="02070309020205020404" pitchFamily="49" charset="0"/>
            </a:endParaRPr>
          </a:p>
        </p:txBody>
      </p:sp>
      <p:sp>
        <p:nvSpPr>
          <p:cNvPr id="10" name="Right Brace 9">
            <a:extLst>
              <a:ext uri="{FF2B5EF4-FFF2-40B4-BE49-F238E27FC236}">
                <a16:creationId xmlns:a16="http://schemas.microsoft.com/office/drawing/2014/main" id="{0B728B86-8C36-FA35-4F3F-8194D751D377}"/>
              </a:ext>
            </a:extLst>
          </p:cNvPr>
          <p:cNvSpPr/>
          <p:nvPr/>
        </p:nvSpPr>
        <p:spPr>
          <a:xfrm rot="16200000">
            <a:off x="2015794" y="-111993"/>
            <a:ext cx="143445" cy="2970484"/>
          </a:xfrm>
          <a:prstGeom prst="rightBrace">
            <a:avLst/>
          </a:prstGeom>
          <a:ln w="19050">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a:extLst>
              <a:ext uri="{FF2B5EF4-FFF2-40B4-BE49-F238E27FC236}">
                <a16:creationId xmlns:a16="http://schemas.microsoft.com/office/drawing/2014/main" id="{4E2EFAF9-15D6-81A3-D45F-1AE9BB0AECBD}"/>
              </a:ext>
            </a:extLst>
          </p:cNvPr>
          <p:cNvSpPr/>
          <p:nvPr/>
        </p:nvSpPr>
        <p:spPr>
          <a:xfrm rot="16200000">
            <a:off x="7570709" y="-2596742"/>
            <a:ext cx="143445" cy="7943950"/>
          </a:xfrm>
          <a:prstGeom prst="rightBrace">
            <a:avLst/>
          </a:prstGeom>
          <a:ln w="19050">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6033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ECE67-DD6C-F9D5-3B48-4559C97F95EC}"/>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0BB25111-2CBE-AEDA-0956-44390D497092}"/>
              </a:ext>
            </a:extLst>
          </p:cNvPr>
          <p:cNvGrpSpPr/>
          <p:nvPr/>
        </p:nvGrpSpPr>
        <p:grpSpPr>
          <a:xfrm>
            <a:off x="3793678" y="2375192"/>
            <a:ext cx="7343673" cy="1592748"/>
            <a:chOff x="3793678" y="2375192"/>
            <a:chExt cx="7343673" cy="1592748"/>
          </a:xfrm>
        </p:grpSpPr>
        <p:grpSp>
          <p:nvGrpSpPr>
            <p:cNvPr id="14" name="Group 13">
              <a:extLst>
                <a:ext uri="{FF2B5EF4-FFF2-40B4-BE49-F238E27FC236}">
                  <a16:creationId xmlns:a16="http://schemas.microsoft.com/office/drawing/2014/main" id="{980CD4EA-C968-DD0E-5D0D-611E939929B9}"/>
                </a:ext>
              </a:extLst>
            </p:cNvPr>
            <p:cNvGrpSpPr/>
            <p:nvPr/>
          </p:nvGrpSpPr>
          <p:grpSpPr>
            <a:xfrm>
              <a:off x="3793678" y="2384802"/>
              <a:ext cx="7342632" cy="657210"/>
              <a:chOff x="3793678" y="2384802"/>
              <a:chExt cx="7342632" cy="657210"/>
            </a:xfrm>
          </p:grpSpPr>
          <p:cxnSp>
            <p:nvCxnSpPr>
              <p:cNvPr id="23" name="Straight Connector 22">
                <a:extLst>
                  <a:ext uri="{FF2B5EF4-FFF2-40B4-BE49-F238E27FC236}">
                    <a16:creationId xmlns:a16="http://schemas.microsoft.com/office/drawing/2014/main" id="{968DADD8-F330-01E9-1EF1-3B7A1F033468}"/>
                  </a:ext>
                </a:extLst>
              </p:cNvPr>
              <p:cNvCxnSpPr/>
              <p:nvPr/>
            </p:nvCxnSpPr>
            <p:spPr>
              <a:xfrm>
                <a:off x="3793678" y="2384802"/>
                <a:ext cx="7342632"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44233BD1-93FF-42CA-12CC-4314E2AEF9E0}"/>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8" name="Elbow Connector 17">
              <a:extLst>
                <a:ext uri="{FF2B5EF4-FFF2-40B4-BE49-F238E27FC236}">
                  <a16:creationId xmlns:a16="http://schemas.microsoft.com/office/drawing/2014/main" id="{A366FC5F-0827-24D2-E5A5-C4C67A3E5C4F}"/>
                </a:ext>
              </a:extLst>
            </p:cNvPr>
            <p:cNvCxnSpPr>
              <a:cxnSpLocks/>
            </p:cNvCxnSpPr>
            <p:nvPr/>
          </p:nvCxnSpPr>
          <p:spPr>
            <a:xfrm flipV="1">
              <a:off x="8861193" y="2375192"/>
              <a:ext cx="2276158" cy="1592748"/>
            </a:xfrm>
            <a:prstGeom prst="bentConnector3">
              <a:avLst>
                <a:gd name="adj1" fmla="val 99625"/>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E6A4A49-1A37-495C-CCD0-8F48F2E591AA}"/>
              </a:ext>
            </a:extLst>
          </p:cNvPr>
          <p:cNvSpPr>
            <a:spLocks noGrp="1"/>
          </p:cNvSpPr>
          <p:nvPr>
            <p:ph type="title"/>
          </p:nvPr>
        </p:nvSpPr>
        <p:spPr/>
        <p:txBody>
          <a:bodyPr>
            <a:normAutofit/>
          </a:bodyPr>
          <a:lstStyle/>
          <a:p>
            <a:pPr>
              <a:tabLst>
                <a:tab pos="10280650" algn="r"/>
              </a:tabLst>
            </a:pPr>
            <a:r>
              <a:rPr lang="en-US" dirty="0">
                <a:solidFill>
                  <a:schemeClr val="bg2">
                    <a:alpha val="99000"/>
                  </a:schemeClr>
                </a:solidFill>
                <a:latin typeface="18 VAG ROUNDED BOLD   07390" pitchFamily="2" charset="0"/>
                <a:cs typeface="Courier New" panose="02070309020205020404" pitchFamily="49" charset="0"/>
              </a:rPr>
              <a:t>MUX and Immediate Generator Block</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B8977A8E-227B-AAF9-482E-3E3E264A8575}"/>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E0CA5DF2-5B2A-50F1-5457-0B8C19F40314}"/>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7168043-25C3-F4BD-91A0-0C64141BC451}"/>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35C31BE9-9A9E-BBE5-4C46-701F075DA06E}"/>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C584A811-D70B-753B-AFC6-3F333F82BE25}"/>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30D33BE2-3AAC-9C8A-CD6C-1EEFA3B27889}"/>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372051CA-365A-BCBD-C289-54ACFBC3C434}"/>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B04CFDD4-DDA0-0FEC-C884-E837A15EE358}"/>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C7DCDA98-E723-1D32-7B4C-E9E58AB29177}"/>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395351DB-82F7-CD63-A0F0-F0C686F2D8E5}"/>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1551DE75-45E5-9E1E-0579-55F01B1F299A}"/>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454" name="TextBox 453">
            <a:extLst>
              <a:ext uri="{FF2B5EF4-FFF2-40B4-BE49-F238E27FC236}">
                <a16:creationId xmlns:a16="http://schemas.microsoft.com/office/drawing/2014/main" id="{654718F3-CFBA-FDB7-502B-B68FB97CAE9E}"/>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1F4E46C2-8025-007C-3A23-867AFD8E4A3F}"/>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08847296-1BE4-F653-F16A-5B2ED476C028}"/>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59FB3145-E0DF-B5BB-A8F7-EEE25E1877BB}"/>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2" name="TextBox 421">
            <a:extLst>
              <a:ext uri="{FF2B5EF4-FFF2-40B4-BE49-F238E27FC236}">
                <a16:creationId xmlns:a16="http://schemas.microsoft.com/office/drawing/2014/main" id="{05EFC9EB-3893-6DA8-95F1-0840141588AC}"/>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304BA319-15B9-E6DB-6B03-DC4DA6A04DBA}"/>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FEC63E04-A8FB-6A87-9AA5-501DFA39D675}"/>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AE41E79-D1B7-89BF-9371-7DF14ED631D7}"/>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9D488967-F686-2CA3-8D21-04C45D89D0C6}"/>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B8FB370B-FB3F-B426-9416-2EA10855DF1F}"/>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7EEF6CCC-D66A-A191-EB4B-B94D6970612B}"/>
              </a:ext>
            </a:extLst>
          </p:cNvPr>
          <p:cNvSpPr txBox="1"/>
          <p:nvPr/>
        </p:nvSpPr>
        <p:spPr>
          <a:xfrm>
            <a:off x="8834341" y="3722124"/>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151" name="TextBox 150">
            <a:extLst>
              <a:ext uri="{FF2B5EF4-FFF2-40B4-BE49-F238E27FC236}">
                <a16:creationId xmlns:a16="http://schemas.microsoft.com/office/drawing/2014/main" id="{8BCF210C-ACD9-16B1-9972-3EB7C0A0437D}"/>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6" name="TextBox 155">
            <a:extLst>
              <a:ext uri="{FF2B5EF4-FFF2-40B4-BE49-F238E27FC236}">
                <a16:creationId xmlns:a16="http://schemas.microsoft.com/office/drawing/2014/main" id="{C5A2FCFC-B42D-D362-998E-CC6D47FBEB63}"/>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r>
              <a:rPr lang="en-US" sz="1600" dirty="0">
                <a:solidFill>
                  <a:schemeClr val="tx1">
                    <a:lumMod val="50000"/>
                    <a:lumOff val="50000"/>
                  </a:schemeClr>
                </a:solidFill>
                <a:latin typeface="18 VAG Rounded Light   02390" pitchFamily="2" charset="0"/>
              </a:rPr>
              <a:t>1</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71" name="Rectangle 170">
            <a:extLst>
              <a:ext uri="{FF2B5EF4-FFF2-40B4-BE49-F238E27FC236}">
                <a16:creationId xmlns:a16="http://schemas.microsoft.com/office/drawing/2014/main" id="{4C5B7AD2-221F-15E0-67C2-2A62DCBD6EF8}"/>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8983B62F-04BC-C6DE-A1F4-0FEDBF4CB026}"/>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404BDB94-F714-44FD-7B1D-18081F21AB14}"/>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B6B5DB48-734C-6CCB-5D27-D1988210C2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B596B96-69C6-A97B-3C41-81283636C760}"/>
              </a:ext>
            </a:extLst>
          </p:cNvPr>
          <p:cNvCxnSpPr>
            <a:cxnSpLocks/>
          </p:cNvCxnSpPr>
          <p:nvPr/>
        </p:nvCxnSpPr>
        <p:spPr>
          <a:xfrm>
            <a:off x="6246032" y="3676635"/>
            <a:ext cx="20391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0EA32068-8A1A-58FE-D123-ADCEB19F8CD3}"/>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4262E1DE-5F16-235D-5CAA-5324FDE9A24A}"/>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cxnSp>
        <p:nvCxnSpPr>
          <p:cNvPr id="4" name="Straight Arrow Connector 3">
            <a:extLst>
              <a:ext uri="{FF2B5EF4-FFF2-40B4-BE49-F238E27FC236}">
                <a16:creationId xmlns:a16="http://schemas.microsoft.com/office/drawing/2014/main" id="{427DD1E8-A4CD-01F7-F47A-3384FB0437EC}"/>
              </a:ext>
            </a:extLst>
          </p:cNvPr>
          <p:cNvCxnSpPr>
            <a:cxnSpLocks/>
          </p:cNvCxnSpPr>
          <p:nvPr/>
        </p:nvCxnSpPr>
        <p:spPr>
          <a:xfrm>
            <a:off x="7983123" y="4427042"/>
            <a:ext cx="301752" cy="149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91B18CF-6CC5-D33C-85E9-684FC0FA3266}"/>
              </a:ext>
            </a:extLst>
          </p:cNvPr>
          <p:cNvCxnSpPr>
            <a:cxnSpLocks/>
          </p:cNvCxnSpPr>
          <p:nvPr/>
        </p:nvCxnSpPr>
        <p:spPr>
          <a:xfrm flipV="1">
            <a:off x="7883379" y="4657965"/>
            <a:ext cx="0" cy="87951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8" name="Trapezoid 7">
            <a:extLst>
              <a:ext uri="{FF2B5EF4-FFF2-40B4-BE49-F238E27FC236}">
                <a16:creationId xmlns:a16="http://schemas.microsoft.com/office/drawing/2014/main" id="{EE9A569E-F2B2-6799-E821-181AE83DB6CA}"/>
              </a:ext>
            </a:extLst>
          </p:cNvPr>
          <p:cNvSpPr/>
          <p:nvPr/>
        </p:nvSpPr>
        <p:spPr>
          <a:xfrm rot="5400000">
            <a:off x="7564091" y="4309794"/>
            <a:ext cx="598172" cy="234496"/>
          </a:xfrm>
          <a:prstGeom prst="trapezoid">
            <a:avLst>
              <a:gd name="adj" fmla="val 62818"/>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sp>
        <p:nvSpPr>
          <p:cNvPr id="33" name="TextBox 32">
            <a:extLst>
              <a:ext uri="{FF2B5EF4-FFF2-40B4-BE49-F238E27FC236}">
                <a16:creationId xmlns:a16="http://schemas.microsoft.com/office/drawing/2014/main" id="{E626C99C-B08F-5EC1-5BF5-631D135E3132}"/>
              </a:ext>
            </a:extLst>
          </p:cNvPr>
          <p:cNvSpPr txBox="1"/>
          <p:nvPr/>
        </p:nvSpPr>
        <p:spPr>
          <a:xfrm>
            <a:off x="7558332" y="5524627"/>
            <a:ext cx="4491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Bsel</a:t>
            </a:r>
            <a:endParaRPr lang="en-US" sz="1200" dirty="0">
              <a:solidFill>
                <a:schemeClr val="accent3"/>
              </a:solidFill>
              <a:latin typeface="18 VAG Rounded Light   02390" pitchFamily="2" charset="0"/>
            </a:endParaRPr>
          </a:p>
          <a:p>
            <a:pPr algn="ctr">
              <a:lnSpc>
                <a:spcPct val="85000"/>
              </a:lnSpc>
            </a:pPr>
            <a:r>
              <a:rPr lang="en-US" sz="1200" dirty="0">
                <a:solidFill>
                  <a:schemeClr val="accent1"/>
                </a:solidFill>
                <a:latin typeface="18 VAG Rounded Light   02390" pitchFamily="2" charset="0"/>
              </a:rPr>
              <a:t>1</a:t>
            </a:r>
          </a:p>
        </p:txBody>
      </p:sp>
      <p:cxnSp>
        <p:nvCxnSpPr>
          <p:cNvPr id="35" name="Straight Arrow Connector 34">
            <a:extLst>
              <a:ext uri="{FF2B5EF4-FFF2-40B4-BE49-F238E27FC236}">
                <a16:creationId xmlns:a16="http://schemas.microsoft.com/office/drawing/2014/main" id="{EEBE80A7-402A-ADB0-EAC3-9A32DC9119FA}"/>
              </a:ext>
            </a:extLst>
          </p:cNvPr>
          <p:cNvCxnSpPr>
            <a:cxnSpLocks/>
          </p:cNvCxnSpPr>
          <p:nvPr/>
        </p:nvCxnSpPr>
        <p:spPr>
          <a:xfrm>
            <a:off x="6261052" y="4241300"/>
            <a:ext cx="1484877"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C49D39CA-EA90-E083-1BD6-2E3ED918E654}"/>
              </a:ext>
            </a:extLst>
          </p:cNvPr>
          <p:cNvGrpSpPr/>
          <p:nvPr/>
        </p:nvGrpSpPr>
        <p:grpSpPr>
          <a:xfrm>
            <a:off x="3106523" y="4530234"/>
            <a:ext cx="4639406" cy="1542027"/>
            <a:chOff x="3106523" y="4530234"/>
            <a:chExt cx="4639406" cy="1542027"/>
          </a:xfrm>
        </p:grpSpPr>
        <p:sp>
          <p:nvSpPr>
            <p:cNvPr id="45" name="TextBox 44">
              <a:extLst>
                <a:ext uri="{FF2B5EF4-FFF2-40B4-BE49-F238E27FC236}">
                  <a16:creationId xmlns:a16="http://schemas.microsoft.com/office/drawing/2014/main" id="{0FA9B0F1-9F1F-C0E0-DD6E-283A212DE2AD}"/>
                </a:ext>
              </a:extLst>
            </p:cNvPr>
            <p:cNvSpPr txBox="1"/>
            <p:nvPr/>
          </p:nvSpPr>
          <p:spPr>
            <a:xfrm>
              <a:off x="3106523" y="4777354"/>
              <a:ext cx="1119217"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inst</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[31:20]</a:t>
              </a:r>
              <a:endParaRPr lang="en-US" sz="2000" b="1" dirty="0">
                <a:solidFill>
                  <a:schemeClr val="accent5"/>
                </a:solidFill>
                <a:latin typeface="18 VAG Rounded Light   02390" pitchFamily="2" charset="0"/>
              </a:endParaRPr>
            </a:p>
          </p:txBody>
        </p:sp>
        <p:cxnSp>
          <p:nvCxnSpPr>
            <p:cNvPr id="46" name="Elbow Connector 45">
              <a:extLst>
                <a:ext uri="{FF2B5EF4-FFF2-40B4-BE49-F238E27FC236}">
                  <a16:creationId xmlns:a16="http://schemas.microsoft.com/office/drawing/2014/main" id="{332157A9-D6A5-84A8-0C11-9DE52264A86E}"/>
                </a:ext>
              </a:extLst>
            </p:cNvPr>
            <p:cNvCxnSpPr>
              <a:cxnSpLocks/>
            </p:cNvCxnSpPr>
            <p:nvPr/>
          </p:nvCxnSpPr>
          <p:spPr>
            <a:xfrm rot="10800000" flipH="1">
              <a:off x="4808959" y="4530234"/>
              <a:ext cx="2936970" cy="596712"/>
            </a:xfrm>
            <a:prstGeom prst="bentConnector3">
              <a:avLst>
                <a:gd name="adj1" fmla="val 92537"/>
              </a:avLst>
            </a:prstGeom>
            <a:ln w="28575">
              <a:solidFill>
                <a:schemeClr val="accent5"/>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13289A8-071D-A3BB-F5F8-AAD86E1DD141}"/>
                </a:ext>
              </a:extLst>
            </p:cNvPr>
            <p:cNvCxnSpPr>
              <a:cxnSpLocks/>
            </p:cNvCxnSpPr>
            <p:nvPr/>
          </p:nvCxnSpPr>
          <p:spPr>
            <a:xfrm flipV="1">
              <a:off x="3187909" y="5013221"/>
              <a:ext cx="914400" cy="0"/>
            </a:xfrm>
            <a:prstGeom prst="straightConnector1">
              <a:avLst/>
            </a:prstGeom>
            <a:ln w="28575">
              <a:solidFill>
                <a:schemeClr val="accent5"/>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0E99734-C658-CFB1-CD94-9FED4177AD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515BF81-15B0-C804-7D2E-F7908A2BFB83}"/>
                </a:ext>
              </a:extLst>
            </p:cNvPr>
            <p:cNvSpPr txBox="1"/>
            <p:nvPr/>
          </p:nvSpPr>
          <p:spPr>
            <a:xfrm>
              <a:off x="4789384" y="4884927"/>
              <a:ext cx="949299"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imm</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[31:0]</a:t>
              </a:r>
              <a:endParaRPr lang="en-US" sz="2000" b="1" dirty="0">
                <a:solidFill>
                  <a:schemeClr val="accent5"/>
                </a:solidFill>
                <a:latin typeface="18 VAG Rounded Light   02390" pitchFamily="2" charset="0"/>
              </a:endParaRPr>
            </a:p>
          </p:txBody>
        </p:sp>
        <p:sp>
          <p:nvSpPr>
            <p:cNvPr id="50" name="TextBox 49">
              <a:extLst>
                <a:ext uri="{FF2B5EF4-FFF2-40B4-BE49-F238E27FC236}">
                  <a16:creationId xmlns:a16="http://schemas.microsoft.com/office/drawing/2014/main" id="{52832293-F9E4-18B8-3C56-10D1D1A82AE0}"/>
                </a:ext>
              </a:extLst>
            </p:cNvPr>
            <p:cNvSpPr txBox="1"/>
            <p:nvPr/>
          </p:nvSpPr>
          <p:spPr>
            <a:xfrm>
              <a:off x="4062897" y="5552119"/>
              <a:ext cx="817853" cy="52014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b="1" dirty="0">
                  <a:solidFill>
                    <a:schemeClr val="accent5"/>
                  </a:solidFill>
                  <a:latin typeface="Courier New" panose="02070309020205020404" pitchFamily="49" charset="0"/>
                  <a:cs typeface="Courier New" panose="02070309020205020404" pitchFamily="49" charset="0"/>
                </a:rPr>
                <a:t>I</a:t>
              </a:r>
            </a:p>
          </p:txBody>
        </p:sp>
        <p:sp>
          <p:nvSpPr>
            <p:cNvPr id="51" name="Rounded Rectangle 50">
              <a:extLst>
                <a:ext uri="{FF2B5EF4-FFF2-40B4-BE49-F238E27FC236}">
                  <a16:creationId xmlns:a16="http://schemas.microsoft.com/office/drawing/2014/main" id="{A9C8AAA3-D427-F59C-9806-B284A346431A}"/>
                </a:ext>
              </a:extLst>
            </p:cNvPr>
            <p:cNvSpPr/>
            <p:nvPr/>
          </p:nvSpPr>
          <p:spPr>
            <a:xfrm>
              <a:off x="4095066" y="4684066"/>
              <a:ext cx="734547" cy="615137"/>
            </a:xfrm>
            <a:prstGeom prst="roundRect">
              <a:avLst/>
            </a:prstGeom>
            <a:solidFill>
              <a:srgbClr val="011223"/>
            </a:solidFill>
            <a:ln w="5715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b="1" dirty="0" err="1">
                  <a:solidFill>
                    <a:schemeClr val="accent5"/>
                  </a:solidFill>
                  <a:latin typeface="18 VAG Rounded Bold   07390" pitchFamily="2" charset="0"/>
                </a:rPr>
                <a:t>Imm</a:t>
              </a:r>
              <a:r>
                <a:rPr lang="en-US" sz="1400" b="1" dirty="0">
                  <a:solidFill>
                    <a:schemeClr val="accent5"/>
                  </a:solidFill>
                  <a:latin typeface="18 VAG Rounded Bold   07390" pitchFamily="2" charset="0"/>
                </a:rPr>
                <a:t>. Gen</a:t>
              </a:r>
            </a:p>
          </p:txBody>
        </p:sp>
      </p:grpSp>
      <p:sp>
        <p:nvSpPr>
          <p:cNvPr id="55" name="TextBox 54">
            <a:extLst>
              <a:ext uri="{FF2B5EF4-FFF2-40B4-BE49-F238E27FC236}">
                <a16:creationId xmlns:a16="http://schemas.microsoft.com/office/drawing/2014/main" id="{01103E90-A072-58A7-2CC1-4BC6090D77BB}"/>
              </a:ext>
            </a:extLst>
          </p:cNvPr>
          <p:cNvSpPr txBox="1"/>
          <p:nvPr/>
        </p:nvSpPr>
        <p:spPr>
          <a:xfrm>
            <a:off x="8421291" y="5536765"/>
            <a:ext cx="702436"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Add</a:t>
            </a:r>
          </a:p>
        </p:txBody>
      </p:sp>
      <p:cxnSp>
        <p:nvCxnSpPr>
          <p:cNvPr id="56" name="Straight Arrow Connector 55">
            <a:extLst>
              <a:ext uri="{FF2B5EF4-FFF2-40B4-BE49-F238E27FC236}">
                <a16:creationId xmlns:a16="http://schemas.microsoft.com/office/drawing/2014/main" id="{59B28381-12E6-C20E-1946-37C5084D7DDA}"/>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451" name="Group 450">
            <a:extLst>
              <a:ext uri="{FF2B5EF4-FFF2-40B4-BE49-F238E27FC236}">
                <a16:creationId xmlns:a16="http://schemas.microsoft.com/office/drawing/2014/main" id="{BD97162D-B827-012E-59CF-A08DCAC1E741}"/>
              </a:ext>
            </a:extLst>
          </p:cNvPr>
          <p:cNvGrpSpPr/>
          <p:nvPr/>
        </p:nvGrpSpPr>
        <p:grpSpPr>
          <a:xfrm>
            <a:off x="669619" y="2248996"/>
            <a:ext cx="2712208" cy="1417320"/>
            <a:chOff x="669619" y="2248996"/>
            <a:chExt cx="2712208" cy="1417320"/>
          </a:xfrm>
        </p:grpSpPr>
        <p:grpSp>
          <p:nvGrpSpPr>
            <p:cNvPr id="452" name="Group 451">
              <a:extLst>
                <a:ext uri="{FF2B5EF4-FFF2-40B4-BE49-F238E27FC236}">
                  <a16:creationId xmlns:a16="http://schemas.microsoft.com/office/drawing/2014/main" id="{970CE836-239D-E86A-95B9-E3B70BE7F13A}"/>
                </a:ext>
              </a:extLst>
            </p:cNvPr>
            <p:cNvGrpSpPr/>
            <p:nvPr/>
          </p:nvGrpSpPr>
          <p:grpSpPr>
            <a:xfrm>
              <a:off x="669619" y="2260284"/>
              <a:ext cx="2712208" cy="1389326"/>
              <a:chOff x="669619" y="2260284"/>
              <a:chExt cx="2712208" cy="1389326"/>
            </a:xfrm>
          </p:grpSpPr>
          <p:grpSp>
            <p:nvGrpSpPr>
              <p:cNvPr id="455" name="Group 454">
                <a:extLst>
                  <a:ext uri="{FF2B5EF4-FFF2-40B4-BE49-F238E27FC236}">
                    <a16:creationId xmlns:a16="http://schemas.microsoft.com/office/drawing/2014/main" id="{A28366B8-46D4-5401-7CF9-5E92D8478203}"/>
                  </a:ext>
                </a:extLst>
              </p:cNvPr>
              <p:cNvGrpSpPr/>
              <p:nvPr/>
            </p:nvGrpSpPr>
            <p:grpSpPr>
              <a:xfrm>
                <a:off x="675203" y="2260284"/>
                <a:ext cx="2706624" cy="477526"/>
                <a:chOff x="675203" y="2260284"/>
                <a:chExt cx="2706624" cy="477526"/>
              </a:xfrm>
            </p:grpSpPr>
            <p:cxnSp>
              <p:nvCxnSpPr>
                <p:cNvPr id="459" name="Elbow Connector 458">
                  <a:extLst>
                    <a:ext uri="{FF2B5EF4-FFF2-40B4-BE49-F238E27FC236}">
                      <a16:creationId xmlns:a16="http://schemas.microsoft.com/office/drawing/2014/main" id="{F51ADEE6-9D55-1403-33FA-9A6DD5EEB56D}"/>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7AE8585F-6E9E-0427-C5D3-82AD4E104EA5}"/>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58" name="Straight Arrow Connector 457">
                <a:extLst>
                  <a:ext uri="{FF2B5EF4-FFF2-40B4-BE49-F238E27FC236}">
                    <a16:creationId xmlns:a16="http://schemas.microsoft.com/office/drawing/2014/main" id="{E16A4CBF-6B47-2BA6-C5FE-0D3084695FD1}"/>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453" name="Straight Connector 452">
              <a:extLst>
                <a:ext uri="{FF2B5EF4-FFF2-40B4-BE49-F238E27FC236}">
                  <a16:creationId xmlns:a16="http://schemas.microsoft.com/office/drawing/2014/main" id="{DF5C915B-EEDF-358D-BA48-1533B4E8F709}"/>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9223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3AA1396-2C6A-D02D-7731-252469673087}"/>
              </a:ext>
            </a:extLst>
          </p:cNvPr>
          <p:cNvGrpSpPr/>
          <p:nvPr/>
        </p:nvGrpSpPr>
        <p:grpSpPr>
          <a:xfrm>
            <a:off x="3793678" y="2375192"/>
            <a:ext cx="7343673" cy="1592748"/>
            <a:chOff x="3793678" y="2375192"/>
            <a:chExt cx="7343673" cy="1592748"/>
          </a:xfrm>
        </p:grpSpPr>
        <p:grpSp>
          <p:nvGrpSpPr>
            <p:cNvPr id="14" name="Group 13">
              <a:extLst>
                <a:ext uri="{FF2B5EF4-FFF2-40B4-BE49-F238E27FC236}">
                  <a16:creationId xmlns:a16="http://schemas.microsoft.com/office/drawing/2014/main" id="{D09EDBDC-99FC-8618-B868-68A73021618A}"/>
                </a:ext>
              </a:extLst>
            </p:cNvPr>
            <p:cNvGrpSpPr/>
            <p:nvPr/>
          </p:nvGrpSpPr>
          <p:grpSpPr>
            <a:xfrm>
              <a:off x="3793678" y="2384802"/>
              <a:ext cx="7342632" cy="657210"/>
              <a:chOff x="3793678" y="2384802"/>
              <a:chExt cx="7342632" cy="657210"/>
            </a:xfrm>
          </p:grpSpPr>
          <p:cxnSp>
            <p:nvCxnSpPr>
              <p:cNvPr id="23" name="Straight Connector 22">
                <a:extLst>
                  <a:ext uri="{FF2B5EF4-FFF2-40B4-BE49-F238E27FC236}">
                    <a16:creationId xmlns:a16="http://schemas.microsoft.com/office/drawing/2014/main" id="{BE6A0BE6-E5FF-6B72-1933-39397EBDE4AB}"/>
                  </a:ext>
                </a:extLst>
              </p:cNvPr>
              <p:cNvCxnSpPr/>
              <p:nvPr/>
            </p:nvCxnSpPr>
            <p:spPr>
              <a:xfrm>
                <a:off x="3793678" y="2384802"/>
                <a:ext cx="7342632"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971754AB-1C7E-B6CE-9A8E-5C1A4C6D9BFD}"/>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8" name="Elbow Connector 17">
              <a:extLst>
                <a:ext uri="{FF2B5EF4-FFF2-40B4-BE49-F238E27FC236}">
                  <a16:creationId xmlns:a16="http://schemas.microsoft.com/office/drawing/2014/main" id="{67F34C69-074B-1C9A-2C8E-A08A88FAA9E0}"/>
                </a:ext>
              </a:extLst>
            </p:cNvPr>
            <p:cNvCxnSpPr>
              <a:cxnSpLocks/>
            </p:cNvCxnSpPr>
            <p:nvPr/>
          </p:nvCxnSpPr>
          <p:spPr>
            <a:xfrm flipV="1">
              <a:off x="8861193" y="2375192"/>
              <a:ext cx="2276158" cy="1592748"/>
            </a:xfrm>
            <a:prstGeom prst="bentConnector3">
              <a:avLst>
                <a:gd name="adj1" fmla="val 99625"/>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a:xfrm>
            <a:off x="1104901" y="76199"/>
            <a:ext cx="10914274" cy="768096"/>
          </a:xfrm>
        </p:spPr>
        <p:txBody>
          <a:bodyPr>
            <a:normAutofit/>
          </a:bodyPr>
          <a:lstStyle/>
          <a:p>
            <a:pPr>
              <a:tabLst>
                <a:tab pos="10280650" algn="r"/>
              </a:tabLst>
            </a:pPr>
            <a:r>
              <a:rPr lang="en-US" dirty="0"/>
              <a:t>1. New MUX to Select Immediate for ALU</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2" name="TextBox 421">
            <a:extLst>
              <a:ext uri="{FF2B5EF4-FFF2-40B4-BE49-F238E27FC236}">
                <a16:creationId xmlns:a16="http://schemas.microsoft.com/office/drawing/2014/main" id="{C2019ECA-1D43-2798-7640-624AE67C748A}"/>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8834341" y="3722124"/>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r>
              <a:rPr lang="en-US" sz="1600" dirty="0">
                <a:solidFill>
                  <a:schemeClr val="tx1">
                    <a:lumMod val="50000"/>
                    <a:lumOff val="50000"/>
                  </a:schemeClr>
                </a:solidFill>
                <a:latin typeface="18 VAG Rounded Light   02390" pitchFamily="2" charset="0"/>
              </a:rPr>
              <a:t>1</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56DE453D-A8B6-306B-C73B-3ED047C1AECE}"/>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5193D0A6-42CC-44F9-82F3-EA02C6EAFB4F}"/>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cxnSp>
        <p:nvCxnSpPr>
          <p:cNvPr id="4" name="Straight Arrow Connector 3">
            <a:extLst>
              <a:ext uri="{FF2B5EF4-FFF2-40B4-BE49-F238E27FC236}">
                <a16:creationId xmlns:a16="http://schemas.microsoft.com/office/drawing/2014/main" id="{14AEA537-7903-C296-D0BD-9AF4EC920C3B}"/>
              </a:ext>
            </a:extLst>
          </p:cNvPr>
          <p:cNvCxnSpPr>
            <a:cxnSpLocks/>
          </p:cNvCxnSpPr>
          <p:nvPr/>
        </p:nvCxnSpPr>
        <p:spPr>
          <a:xfrm>
            <a:off x="7983123" y="4427042"/>
            <a:ext cx="301752" cy="149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194E636-CD7D-D4C1-6E47-C68A6EC83DBE}"/>
              </a:ext>
            </a:extLst>
          </p:cNvPr>
          <p:cNvCxnSpPr>
            <a:cxnSpLocks/>
          </p:cNvCxnSpPr>
          <p:nvPr/>
        </p:nvCxnSpPr>
        <p:spPr>
          <a:xfrm flipV="1">
            <a:off x="7883379" y="4657965"/>
            <a:ext cx="0" cy="87951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8" name="Trapezoid 7">
            <a:extLst>
              <a:ext uri="{FF2B5EF4-FFF2-40B4-BE49-F238E27FC236}">
                <a16:creationId xmlns:a16="http://schemas.microsoft.com/office/drawing/2014/main" id="{DF375AF9-DC53-47CA-1DF5-111B4362C0CF}"/>
              </a:ext>
            </a:extLst>
          </p:cNvPr>
          <p:cNvSpPr/>
          <p:nvPr/>
        </p:nvSpPr>
        <p:spPr>
          <a:xfrm rot="5400000">
            <a:off x="7564091" y="4309794"/>
            <a:ext cx="598172" cy="234496"/>
          </a:xfrm>
          <a:prstGeom prst="trapezoid">
            <a:avLst>
              <a:gd name="adj" fmla="val 62818"/>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sp>
        <p:nvSpPr>
          <p:cNvPr id="16" name="Down Arrow 15">
            <a:extLst>
              <a:ext uri="{FF2B5EF4-FFF2-40B4-BE49-F238E27FC236}">
                <a16:creationId xmlns:a16="http://schemas.microsoft.com/office/drawing/2014/main" id="{786A1424-4906-C5BA-2FFB-29FA8882EF32}"/>
              </a:ext>
            </a:extLst>
          </p:cNvPr>
          <p:cNvSpPr/>
          <p:nvPr/>
        </p:nvSpPr>
        <p:spPr>
          <a:xfrm>
            <a:off x="7639967" y="2222630"/>
            <a:ext cx="338898" cy="1761103"/>
          </a:xfrm>
          <a:prstGeom prst="downArrow">
            <a:avLst/>
          </a:prstGeom>
          <a:solidFill>
            <a:schemeClr val="accent1">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cxnSp>
        <p:nvCxnSpPr>
          <p:cNvPr id="28" name="Elbow Connector 27">
            <a:extLst>
              <a:ext uri="{FF2B5EF4-FFF2-40B4-BE49-F238E27FC236}">
                <a16:creationId xmlns:a16="http://schemas.microsoft.com/office/drawing/2014/main" id="{519E8F3F-287D-460B-C885-34BFFF7B7FFD}"/>
              </a:ext>
            </a:extLst>
          </p:cNvPr>
          <p:cNvCxnSpPr>
            <a:cxnSpLocks/>
            <a:stCxn id="31" idx="0"/>
          </p:cNvCxnSpPr>
          <p:nvPr/>
        </p:nvCxnSpPr>
        <p:spPr>
          <a:xfrm flipV="1">
            <a:off x="6949508" y="4579442"/>
            <a:ext cx="797673" cy="585762"/>
          </a:xfrm>
          <a:prstGeom prst="bentConnector3">
            <a:avLst>
              <a:gd name="adj1" fmla="val 25725"/>
            </a:avLst>
          </a:prstGeom>
          <a:ln w="28575">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cxnSp>
      <p:sp>
        <p:nvSpPr>
          <p:cNvPr id="31" name="Cloud 30">
            <a:extLst>
              <a:ext uri="{FF2B5EF4-FFF2-40B4-BE49-F238E27FC236}">
                <a16:creationId xmlns:a16="http://schemas.microsoft.com/office/drawing/2014/main" id="{6B0BDAE8-5672-8C0E-5BA3-683226782435}"/>
              </a:ext>
            </a:extLst>
          </p:cNvPr>
          <p:cNvSpPr/>
          <p:nvPr/>
        </p:nvSpPr>
        <p:spPr>
          <a:xfrm>
            <a:off x="6121646" y="4868971"/>
            <a:ext cx="828552" cy="592466"/>
          </a:xfrm>
          <a:prstGeom prst="cloud">
            <a:avLst/>
          </a:prstGeom>
          <a:solidFill>
            <a:schemeClr val="accent5">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2" name="TextBox 31">
            <a:extLst>
              <a:ext uri="{FF2B5EF4-FFF2-40B4-BE49-F238E27FC236}">
                <a16:creationId xmlns:a16="http://schemas.microsoft.com/office/drawing/2014/main" id="{81D81A09-A981-6E53-C77D-08DBC47C1DAA}"/>
              </a:ext>
            </a:extLst>
          </p:cNvPr>
          <p:cNvSpPr txBox="1"/>
          <p:nvPr/>
        </p:nvSpPr>
        <p:spPr>
          <a:xfrm>
            <a:off x="7136972" y="4959519"/>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imm</a:t>
            </a:r>
            <a:endParaRPr lang="en-US" sz="2000" dirty="0">
              <a:solidFill>
                <a:schemeClr val="accent5"/>
              </a:solidFill>
              <a:latin typeface="18 VAG Rounded Light   02390" pitchFamily="2" charset="0"/>
            </a:endParaRPr>
          </a:p>
        </p:txBody>
      </p:sp>
      <p:sp>
        <p:nvSpPr>
          <p:cNvPr id="33" name="TextBox 32">
            <a:extLst>
              <a:ext uri="{FF2B5EF4-FFF2-40B4-BE49-F238E27FC236}">
                <a16:creationId xmlns:a16="http://schemas.microsoft.com/office/drawing/2014/main" id="{B6BCE760-DAF9-1424-255D-2C49B6FA42F6}"/>
              </a:ext>
            </a:extLst>
          </p:cNvPr>
          <p:cNvSpPr txBox="1"/>
          <p:nvPr/>
        </p:nvSpPr>
        <p:spPr>
          <a:xfrm>
            <a:off x="7558332" y="5524627"/>
            <a:ext cx="4491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Bsel</a:t>
            </a:r>
            <a:endParaRPr lang="en-US" sz="1200" dirty="0">
              <a:solidFill>
                <a:schemeClr val="accent3"/>
              </a:solidFill>
              <a:latin typeface="18 VAG Rounded Light   02390" pitchFamily="2" charset="0"/>
            </a:endParaRPr>
          </a:p>
          <a:p>
            <a:pPr algn="ctr">
              <a:lnSpc>
                <a:spcPct val="85000"/>
              </a:lnSpc>
            </a:pPr>
            <a:r>
              <a:rPr lang="en-US" sz="1200" dirty="0">
                <a:solidFill>
                  <a:schemeClr val="accent1"/>
                </a:solidFill>
                <a:latin typeface="18 VAG Rounded Light   02390" pitchFamily="2" charset="0"/>
              </a:rPr>
              <a:t>1</a:t>
            </a:r>
          </a:p>
        </p:txBody>
      </p:sp>
      <p:cxnSp>
        <p:nvCxnSpPr>
          <p:cNvPr id="35" name="Straight Arrow Connector 34">
            <a:extLst>
              <a:ext uri="{FF2B5EF4-FFF2-40B4-BE49-F238E27FC236}">
                <a16:creationId xmlns:a16="http://schemas.microsoft.com/office/drawing/2014/main" id="{26492243-DDA8-7F0B-4929-832007698FAE}"/>
              </a:ext>
            </a:extLst>
          </p:cNvPr>
          <p:cNvCxnSpPr>
            <a:cxnSpLocks/>
          </p:cNvCxnSpPr>
          <p:nvPr/>
        </p:nvCxnSpPr>
        <p:spPr>
          <a:xfrm>
            <a:off x="6261052" y="4241300"/>
            <a:ext cx="1484877"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FA3891F5-D96B-C069-D1C1-F1EDA2551363}"/>
              </a:ext>
            </a:extLst>
          </p:cNvPr>
          <p:cNvSpPr txBox="1"/>
          <p:nvPr/>
        </p:nvSpPr>
        <p:spPr>
          <a:xfrm>
            <a:off x="8421291" y="5536765"/>
            <a:ext cx="702436"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Add</a:t>
            </a:r>
          </a:p>
        </p:txBody>
      </p:sp>
      <p:cxnSp>
        <p:nvCxnSpPr>
          <p:cNvPr id="38" name="Straight Arrow Connector 37">
            <a:extLst>
              <a:ext uri="{FF2B5EF4-FFF2-40B4-BE49-F238E27FC236}">
                <a16:creationId xmlns:a16="http://schemas.microsoft.com/office/drawing/2014/main" id="{91F4AAAC-91B9-02C1-4722-D9E97D0D7839}"/>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54" name="Group 53">
            <a:extLst>
              <a:ext uri="{FF2B5EF4-FFF2-40B4-BE49-F238E27FC236}">
                <a16:creationId xmlns:a16="http://schemas.microsoft.com/office/drawing/2014/main" id="{49B061F0-E19C-CA57-D4BC-EE2F4A6FE476}"/>
              </a:ext>
            </a:extLst>
          </p:cNvPr>
          <p:cNvGrpSpPr/>
          <p:nvPr/>
        </p:nvGrpSpPr>
        <p:grpSpPr>
          <a:xfrm>
            <a:off x="669619" y="2248996"/>
            <a:ext cx="2712208" cy="1417320"/>
            <a:chOff x="669619" y="2248996"/>
            <a:chExt cx="2712208" cy="1417320"/>
          </a:xfrm>
        </p:grpSpPr>
        <p:grpSp>
          <p:nvGrpSpPr>
            <p:cNvPr id="55" name="Group 54">
              <a:extLst>
                <a:ext uri="{FF2B5EF4-FFF2-40B4-BE49-F238E27FC236}">
                  <a16:creationId xmlns:a16="http://schemas.microsoft.com/office/drawing/2014/main" id="{7510373D-F98C-02BB-7A28-E10D97A35EB5}"/>
                </a:ext>
              </a:extLst>
            </p:cNvPr>
            <p:cNvGrpSpPr/>
            <p:nvPr/>
          </p:nvGrpSpPr>
          <p:grpSpPr>
            <a:xfrm>
              <a:off x="669619" y="2260284"/>
              <a:ext cx="2712208" cy="1389326"/>
              <a:chOff x="669619" y="2260284"/>
              <a:chExt cx="2712208" cy="1389326"/>
            </a:xfrm>
          </p:grpSpPr>
          <p:grpSp>
            <p:nvGrpSpPr>
              <p:cNvPr id="57" name="Group 56">
                <a:extLst>
                  <a:ext uri="{FF2B5EF4-FFF2-40B4-BE49-F238E27FC236}">
                    <a16:creationId xmlns:a16="http://schemas.microsoft.com/office/drawing/2014/main" id="{4F8CDC8E-D74C-B2D4-4621-A3398AFEA9A2}"/>
                  </a:ext>
                </a:extLst>
              </p:cNvPr>
              <p:cNvGrpSpPr/>
              <p:nvPr/>
            </p:nvGrpSpPr>
            <p:grpSpPr>
              <a:xfrm>
                <a:off x="675203" y="2260284"/>
                <a:ext cx="2706624" cy="477526"/>
                <a:chOff x="675203" y="2260284"/>
                <a:chExt cx="2706624" cy="477526"/>
              </a:xfrm>
            </p:grpSpPr>
            <p:cxnSp>
              <p:nvCxnSpPr>
                <p:cNvPr id="59" name="Elbow Connector 58">
                  <a:extLst>
                    <a:ext uri="{FF2B5EF4-FFF2-40B4-BE49-F238E27FC236}">
                      <a16:creationId xmlns:a16="http://schemas.microsoft.com/office/drawing/2014/main" id="{EA68F135-D7CB-0E63-5CB3-6C6689AAE924}"/>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D2CD8D6-5413-BF67-70E1-8ACEFEF2E2DC}"/>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58" name="Straight Arrow Connector 57">
                <a:extLst>
                  <a:ext uri="{FF2B5EF4-FFF2-40B4-BE49-F238E27FC236}">
                    <a16:creationId xmlns:a16="http://schemas.microsoft.com/office/drawing/2014/main" id="{F209D709-171E-617E-1F67-6F8F050DB631}"/>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8CF1022C-913E-F787-BF2B-79FC2F5EAAAB}"/>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61" name="TextBox 60">
            <a:extLst>
              <a:ext uri="{FF2B5EF4-FFF2-40B4-BE49-F238E27FC236}">
                <a16:creationId xmlns:a16="http://schemas.microsoft.com/office/drawing/2014/main" id="{90E35DA9-A45C-A464-C4EF-EF5DADA0CC42}"/>
              </a:ext>
            </a:extLst>
          </p:cNvPr>
          <p:cNvSpPr txBox="1"/>
          <p:nvPr/>
        </p:nvSpPr>
        <p:spPr>
          <a:xfrm>
            <a:off x="6917336" y="998582"/>
            <a:ext cx="2356549" cy="1144929"/>
          </a:xfrm>
          <a:prstGeom prst="rect">
            <a:avLst/>
          </a:prstGeom>
          <a:noFill/>
        </p:spPr>
        <p:txBody>
          <a:bodyPr wrap="square" rtlCol="0">
            <a:spAutoFit/>
          </a:bodyPr>
          <a:lstStyle/>
          <a:p>
            <a:pPr algn="l">
              <a:lnSpc>
                <a:spcPct val="95000"/>
              </a:lnSpc>
            </a:pPr>
            <a:r>
              <a:rPr lang="en-US" sz="1800" dirty="0">
                <a:solidFill>
                  <a:schemeClr val="accent1"/>
                </a:solidFill>
                <a:latin typeface="18 VAG Rounded Light   02390" pitchFamily="2" charset="0"/>
              </a:rPr>
              <a:t>1. Control line </a:t>
            </a:r>
            <a:r>
              <a:rPr lang="en-US" sz="1800" dirty="0" err="1">
                <a:solidFill>
                  <a:schemeClr val="accent1"/>
                </a:solidFill>
                <a:latin typeface="18 VAG Rounded Light   02390" pitchFamily="2" charset="0"/>
              </a:rPr>
              <a:t>Bsel</a:t>
            </a:r>
            <a:r>
              <a:rPr lang="en-US" sz="1800" dirty="0">
                <a:solidFill>
                  <a:schemeClr val="accent1"/>
                </a:solidFill>
                <a:latin typeface="18 VAG Rounded Light   02390" pitchFamily="2" charset="0"/>
              </a:rPr>
              <a:t>=1 selects the generated immediate </a:t>
            </a:r>
            <a:r>
              <a:rPr lang="en-US" sz="1800" b="1" dirty="0" err="1">
                <a:solidFill>
                  <a:schemeClr val="accent1"/>
                </a:solidFill>
                <a:latin typeface="Courier New" panose="02070309020205020404" pitchFamily="49" charset="0"/>
                <a:cs typeface="Courier New" panose="02070309020205020404" pitchFamily="49" charset="0"/>
              </a:rPr>
              <a:t>imm</a:t>
            </a:r>
            <a:r>
              <a:rPr lang="en-US" sz="1800" dirty="0">
                <a:solidFill>
                  <a:schemeClr val="accent1"/>
                </a:solidFill>
                <a:latin typeface="18 VAG Rounded Light   02390" pitchFamily="2" charset="0"/>
              </a:rPr>
              <a:t> for ALU input B.</a:t>
            </a:r>
          </a:p>
        </p:txBody>
      </p:sp>
    </p:spTree>
    <p:extLst>
      <p:ext uri="{BB962C8B-B14F-4D97-AF65-F5344CB8AC3E}">
        <p14:creationId xmlns:p14="http://schemas.microsoft.com/office/powerpoint/2010/main" val="923041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3AA1396-2C6A-D02D-7731-252469673087}"/>
              </a:ext>
            </a:extLst>
          </p:cNvPr>
          <p:cNvGrpSpPr/>
          <p:nvPr/>
        </p:nvGrpSpPr>
        <p:grpSpPr>
          <a:xfrm>
            <a:off x="3793678" y="2375192"/>
            <a:ext cx="7343673" cy="1592748"/>
            <a:chOff x="3793678" y="2375192"/>
            <a:chExt cx="7343673" cy="1592748"/>
          </a:xfrm>
        </p:grpSpPr>
        <p:grpSp>
          <p:nvGrpSpPr>
            <p:cNvPr id="14" name="Group 13">
              <a:extLst>
                <a:ext uri="{FF2B5EF4-FFF2-40B4-BE49-F238E27FC236}">
                  <a16:creationId xmlns:a16="http://schemas.microsoft.com/office/drawing/2014/main" id="{D09EDBDC-99FC-8618-B868-68A73021618A}"/>
                </a:ext>
              </a:extLst>
            </p:cNvPr>
            <p:cNvGrpSpPr/>
            <p:nvPr/>
          </p:nvGrpSpPr>
          <p:grpSpPr>
            <a:xfrm>
              <a:off x="3793678" y="2384802"/>
              <a:ext cx="7342632" cy="657210"/>
              <a:chOff x="3793678" y="2384802"/>
              <a:chExt cx="7342632" cy="657210"/>
            </a:xfrm>
          </p:grpSpPr>
          <p:cxnSp>
            <p:nvCxnSpPr>
              <p:cNvPr id="23" name="Straight Connector 22">
                <a:extLst>
                  <a:ext uri="{FF2B5EF4-FFF2-40B4-BE49-F238E27FC236}">
                    <a16:creationId xmlns:a16="http://schemas.microsoft.com/office/drawing/2014/main" id="{BE6A0BE6-E5FF-6B72-1933-39397EBDE4AB}"/>
                  </a:ext>
                </a:extLst>
              </p:cNvPr>
              <p:cNvCxnSpPr/>
              <p:nvPr/>
            </p:nvCxnSpPr>
            <p:spPr>
              <a:xfrm>
                <a:off x="3793678" y="2384802"/>
                <a:ext cx="7342632"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971754AB-1C7E-B6CE-9A8E-5C1A4C6D9BFD}"/>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18" name="Elbow Connector 17">
              <a:extLst>
                <a:ext uri="{FF2B5EF4-FFF2-40B4-BE49-F238E27FC236}">
                  <a16:creationId xmlns:a16="http://schemas.microsoft.com/office/drawing/2014/main" id="{67F34C69-074B-1C9A-2C8E-A08A88FAA9E0}"/>
                </a:ext>
              </a:extLst>
            </p:cNvPr>
            <p:cNvCxnSpPr>
              <a:cxnSpLocks/>
            </p:cNvCxnSpPr>
            <p:nvPr/>
          </p:nvCxnSpPr>
          <p:spPr>
            <a:xfrm flipV="1">
              <a:off x="8861193" y="2375192"/>
              <a:ext cx="2276158" cy="1592748"/>
            </a:xfrm>
            <a:prstGeom prst="bentConnector3">
              <a:avLst>
                <a:gd name="adj1" fmla="val 99625"/>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normAutofit/>
          </a:bodyPr>
          <a:lstStyle/>
          <a:p>
            <a:pPr>
              <a:tabLst>
                <a:tab pos="10280650" algn="r"/>
              </a:tabLst>
            </a:pPr>
            <a:r>
              <a:rPr lang="en-US" dirty="0">
                <a:solidFill>
                  <a:schemeClr val="bg2">
                    <a:alpha val="99000"/>
                  </a:schemeClr>
                </a:solidFill>
                <a:latin typeface="18 VAG ROUNDED BOLD   07390" pitchFamily="2" charset="0"/>
                <a:cs typeface="Courier New" panose="02070309020205020404" pitchFamily="49" charset="0"/>
              </a:rPr>
              <a:t>2. New Block to Generate 32-bit Immediate</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22" name="TextBox 421">
            <a:extLst>
              <a:ext uri="{FF2B5EF4-FFF2-40B4-BE49-F238E27FC236}">
                <a16:creationId xmlns:a16="http://schemas.microsoft.com/office/drawing/2014/main" id="{C2019ECA-1D43-2798-7640-624AE67C748A}"/>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8834341" y="3722124"/>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r>
              <a:rPr lang="en-US" sz="1600" dirty="0">
                <a:solidFill>
                  <a:schemeClr val="tx1">
                    <a:lumMod val="50000"/>
                    <a:lumOff val="50000"/>
                  </a:schemeClr>
                </a:solidFill>
                <a:latin typeface="18 VAG Rounded Light   02390" pitchFamily="2" charset="0"/>
              </a:rPr>
              <a:t>1</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56DE453D-A8B6-306B-C73B-3ED047C1AECE}"/>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5193D0A6-42CC-44F9-82F3-EA02C6EAFB4F}"/>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cxnSp>
        <p:nvCxnSpPr>
          <p:cNvPr id="4" name="Straight Arrow Connector 3">
            <a:extLst>
              <a:ext uri="{FF2B5EF4-FFF2-40B4-BE49-F238E27FC236}">
                <a16:creationId xmlns:a16="http://schemas.microsoft.com/office/drawing/2014/main" id="{14AEA537-7903-C296-D0BD-9AF4EC920C3B}"/>
              </a:ext>
            </a:extLst>
          </p:cNvPr>
          <p:cNvCxnSpPr>
            <a:cxnSpLocks/>
          </p:cNvCxnSpPr>
          <p:nvPr/>
        </p:nvCxnSpPr>
        <p:spPr>
          <a:xfrm>
            <a:off x="7983123" y="4427042"/>
            <a:ext cx="301752" cy="149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E194E636-CD7D-D4C1-6E47-C68A6EC83DBE}"/>
              </a:ext>
            </a:extLst>
          </p:cNvPr>
          <p:cNvCxnSpPr>
            <a:cxnSpLocks/>
          </p:cNvCxnSpPr>
          <p:nvPr/>
        </p:nvCxnSpPr>
        <p:spPr>
          <a:xfrm flipV="1">
            <a:off x="7883379" y="4657965"/>
            <a:ext cx="0" cy="87951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8" name="Trapezoid 7">
            <a:extLst>
              <a:ext uri="{FF2B5EF4-FFF2-40B4-BE49-F238E27FC236}">
                <a16:creationId xmlns:a16="http://schemas.microsoft.com/office/drawing/2014/main" id="{DF375AF9-DC53-47CA-1DF5-111B4362C0CF}"/>
              </a:ext>
            </a:extLst>
          </p:cNvPr>
          <p:cNvSpPr/>
          <p:nvPr/>
        </p:nvSpPr>
        <p:spPr>
          <a:xfrm rot="5400000">
            <a:off x="7564091" y="4309794"/>
            <a:ext cx="598172" cy="234496"/>
          </a:xfrm>
          <a:prstGeom prst="trapezoid">
            <a:avLst>
              <a:gd name="adj" fmla="val 62818"/>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sp>
        <p:nvSpPr>
          <p:cNvPr id="33" name="TextBox 32">
            <a:extLst>
              <a:ext uri="{FF2B5EF4-FFF2-40B4-BE49-F238E27FC236}">
                <a16:creationId xmlns:a16="http://schemas.microsoft.com/office/drawing/2014/main" id="{B6BCE760-DAF9-1424-255D-2C49B6FA42F6}"/>
              </a:ext>
            </a:extLst>
          </p:cNvPr>
          <p:cNvSpPr txBox="1"/>
          <p:nvPr/>
        </p:nvSpPr>
        <p:spPr>
          <a:xfrm>
            <a:off x="7558332" y="5524627"/>
            <a:ext cx="4491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Bsel</a:t>
            </a:r>
            <a:endParaRPr lang="en-US" sz="1200" dirty="0">
              <a:solidFill>
                <a:schemeClr val="accent3"/>
              </a:solidFill>
              <a:latin typeface="18 VAG Rounded Light   02390" pitchFamily="2" charset="0"/>
            </a:endParaRPr>
          </a:p>
          <a:p>
            <a:pPr algn="ctr">
              <a:lnSpc>
                <a:spcPct val="85000"/>
              </a:lnSpc>
            </a:pPr>
            <a:r>
              <a:rPr lang="en-US" sz="1200" dirty="0">
                <a:solidFill>
                  <a:schemeClr val="accent1"/>
                </a:solidFill>
                <a:latin typeface="18 VAG Rounded Light   02390" pitchFamily="2" charset="0"/>
              </a:rPr>
              <a:t>1</a:t>
            </a:r>
          </a:p>
        </p:txBody>
      </p:sp>
      <p:cxnSp>
        <p:nvCxnSpPr>
          <p:cNvPr id="35" name="Straight Arrow Connector 34">
            <a:extLst>
              <a:ext uri="{FF2B5EF4-FFF2-40B4-BE49-F238E27FC236}">
                <a16:creationId xmlns:a16="http://schemas.microsoft.com/office/drawing/2014/main" id="{26492243-DDA8-7F0B-4929-832007698FAE}"/>
              </a:ext>
            </a:extLst>
          </p:cNvPr>
          <p:cNvCxnSpPr>
            <a:cxnSpLocks/>
          </p:cNvCxnSpPr>
          <p:nvPr/>
        </p:nvCxnSpPr>
        <p:spPr>
          <a:xfrm>
            <a:off x="6261052" y="4241300"/>
            <a:ext cx="1484877"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0F92333-B80F-7868-1CBA-C7E667DD5979}"/>
              </a:ext>
            </a:extLst>
          </p:cNvPr>
          <p:cNvSpPr txBox="1"/>
          <p:nvPr/>
        </p:nvSpPr>
        <p:spPr>
          <a:xfrm>
            <a:off x="436368" y="4705774"/>
            <a:ext cx="2443547" cy="646331"/>
          </a:xfrm>
          <a:prstGeom prst="rect">
            <a:avLst/>
          </a:prstGeom>
          <a:noFill/>
        </p:spPr>
        <p:txBody>
          <a:bodyPr wrap="square" rtlCol="0">
            <a:spAutoFit/>
          </a:bodyPr>
          <a:lstStyle/>
          <a:p>
            <a:pPr algn="r"/>
            <a:r>
              <a:rPr lang="en-US" sz="1800" dirty="0">
                <a:solidFill>
                  <a:schemeClr val="accent1"/>
                </a:solidFill>
                <a:latin typeface="18 VAG Rounded Light   02390" pitchFamily="2" charset="0"/>
              </a:rPr>
              <a:t>Split and get the upper 12 bits of </a:t>
            </a:r>
            <a:r>
              <a:rPr lang="en-US" sz="1800" b="1" dirty="0">
                <a:solidFill>
                  <a:schemeClr val="accent1"/>
                </a:solidFill>
                <a:latin typeface="Courier New" panose="02070309020205020404" pitchFamily="49" charset="0"/>
                <a:cs typeface="Courier New" panose="02070309020205020404" pitchFamily="49" charset="0"/>
              </a:rPr>
              <a:t>inst</a:t>
            </a:r>
            <a:r>
              <a:rPr lang="en-US" sz="1800" dirty="0">
                <a:solidFill>
                  <a:schemeClr val="accent1"/>
                </a:solidFill>
                <a:latin typeface="18 VAG Rounded Light   02390" pitchFamily="2" charset="0"/>
              </a:rPr>
              <a:t>.</a:t>
            </a:r>
          </a:p>
        </p:txBody>
      </p:sp>
      <p:grpSp>
        <p:nvGrpSpPr>
          <p:cNvPr id="6" name="Group 5">
            <a:extLst>
              <a:ext uri="{FF2B5EF4-FFF2-40B4-BE49-F238E27FC236}">
                <a16:creationId xmlns:a16="http://schemas.microsoft.com/office/drawing/2014/main" id="{E62E4782-3A66-8D6F-31DA-33D6BA8BF26B}"/>
              </a:ext>
            </a:extLst>
          </p:cNvPr>
          <p:cNvGrpSpPr/>
          <p:nvPr/>
        </p:nvGrpSpPr>
        <p:grpSpPr>
          <a:xfrm>
            <a:off x="3106523" y="4530234"/>
            <a:ext cx="4639406" cy="1542027"/>
            <a:chOff x="3106523" y="4530234"/>
            <a:chExt cx="4639406" cy="1542027"/>
          </a:xfrm>
        </p:grpSpPr>
        <p:sp>
          <p:nvSpPr>
            <p:cNvPr id="45" name="TextBox 44">
              <a:extLst>
                <a:ext uri="{FF2B5EF4-FFF2-40B4-BE49-F238E27FC236}">
                  <a16:creationId xmlns:a16="http://schemas.microsoft.com/office/drawing/2014/main" id="{1CC4CB68-646B-0A51-7C57-2414E94EECCA}"/>
                </a:ext>
              </a:extLst>
            </p:cNvPr>
            <p:cNvSpPr txBox="1"/>
            <p:nvPr/>
          </p:nvSpPr>
          <p:spPr>
            <a:xfrm>
              <a:off x="3106523" y="4777354"/>
              <a:ext cx="1119217"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inst</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[31:20]</a:t>
              </a:r>
              <a:endParaRPr lang="en-US" sz="2000" b="1" dirty="0">
                <a:solidFill>
                  <a:schemeClr val="accent5"/>
                </a:solidFill>
                <a:latin typeface="18 VAG Rounded Light   02390" pitchFamily="2" charset="0"/>
              </a:endParaRPr>
            </a:p>
          </p:txBody>
        </p:sp>
        <p:cxnSp>
          <p:nvCxnSpPr>
            <p:cNvPr id="46" name="Elbow Connector 45">
              <a:extLst>
                <a:ext uri="{FF2B5EF4-FFF2-40B4-BE49-F238E27FC236}">
                  <a16:creationId xmlns:a16="http://schemas.microsoft.com/office/drawing/2014/main" id="{A982EF39-0A3B-6BF7-64F1-784B226C0F4B}"/>
                </a:ext>
              </a:extLst>
            </p:cNvPr>
            <p:cNvCxnSpPr>
              <a:cxnSpLocks/>
            </p:cNvCxnSpPr>
            <p:nvPr/>
          </p:nvCxnSpPr>
          <p:spPr>
            <a:xfrm rot="10800000" flipH="1">
              <a:off x="4808959" y="4530234"/>
              <a:ext cx="2936970" cy="596712"/>
            </a:xfrm>
            <a:prstGeom prst="bentConnector3">
              <a:avLst>
                <a:gd name="adj1" fmla="val 92537"/>
              </a:avLst>
            </a:prstGeom>
            <a:ln w="28575">
              <a:solidFill>
                <a:schemeClr val="accent5"/>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4D6D02E-39BB-968F-74E3-31A19DC21A63}"/>
                </a:ext>
              </a:extLst>
            </p:cNvPr>
            <p:cNvCxnSpPr>
              <a:cxnSpLocks/>
            </p:cNvCxnSpPr>
            <p:nvPr/>
          </p:nvCxnSpPr>
          <p:spPr>
            <a:xfrm flipV="1">
              <a:off x="3187909" y="5013221"/>
              <a:ext cx="914400" cy="0"/>
            </a:xfrm>
            <a:prstGeom prst="straightConnector1">
              <a:avLst/>
            </a:prstGeom>
            <a:ln w="28575">
              <a:solidFill>
                <a:schemeClr val="accent5"/>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4E0AAE2-BF05-E481-7A79-09E74EA21995}"/>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494DA4A-CB8D-A13C-E689-064EDEB8D745}"/>
                </a:ext>
              </a:extLst>
            </p:cNvPr>
            <p:cNvSpPr txBox="1"/>
            <p:nvPr/>
          </p:nvSpPr>
          <p:spPr>
            <a:xfrm>
              <a:off x="4789384" y="4884927"/>
              <a:ext cx="949299"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imm</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[31:0]</a:t>
              </a:r>
              <a:endParaRPr lang="en-US" sz="2000" b="1" dirty="0">
                <a:solidFill>
                  <a:schemeClr val="accent5"/>
                </a:solidFill>
                <a:latin typeface="18 VAG Rounded Light   02390" pitchFamily="2" charset="0"/>
              </a:endParaRPr>
            </a:p>
          </p:txBody>
        </p:sp>
        <p:sp>
          <p:nvSpPr>
            <p:cNvPr id="50" name="TextBox 49">
              <a:extLst>
                <a:ext uri="{FF2B5EF4-FFF2-40B4-BE49-F238E27FC236}">
                  <a16:creationId xmlns:a16="http://schemas.microsoft.com/office/drawing/2014/main" id="{895B047C-43B9-5987-04B7-10F553D64291}"/>
                </a:ext>
              </a:extLst>
            </p:cNvPr>
            <p:cNvSpPr txBox="1"/>
            <p:nvPr/>
          </p:nvSpPr>
          <p:spPr>
            <a:xfrm>
              <a:off x="4062897" y="5552119"/>
              <a:ext cx="817853" cy="52014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b="1" dirty="0">
                  <a:solidFill>
                    <a:schemeClr val="accent5"/>
                  </a:solidFill>
                  <a:latin typeface="Courier New" panose="02070309020205020404" pitchFamily="49" charset="0"/>
                  <a:cs typeface="Courier New" panose="02070309020205020404" pitchFamily="49" charset="0"/>
                </a:rPr>
                <a:t>I</a:t>
              </a:r>
            </a:p>
          </p:txBody>
        </p:sp>
        <p:sp>
          <p:nvSpPr>
            <p:cNvPr id="51" name="Rounded Rectangle 50">
              <a:extLst>
                <a:ext uri="{FF2B5EF4-FFF2-40B4-BE49-F238E27FC236}">
                  <a16:creationId xmlns:a16="http://schemas.microsoft.com/office/drawing/2014/main" id="{BA2B2B26-C7D8-EC09-4723-07A9C123344C}"/>
                </a:ext>
              </a:extLst>
            </p:cNvPr>
            <p:cNvSpPr/>
            <p:nvPr/>
          </p:nvSpPr>
          <p:spPr>
            <a:xfrm>
              <a:off x="4095066" y="4684066"/>
              <a:ext cx="734547" cy="615137"/>
            </a:xfrm>
            <a:prstGeom prst="roundRect">
              <a:avLst/>
            </a:prstGeom>
            <a:solidFill>
              <a:srgbClr val="011223"/>
            </a:solidFill>
            <a:ln w="5715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b="1" dirty="0" err="1">
                  <a:solidFill>
                    <a:schemeClr val="accent5"/>
                  </a:solidFill>
                  <a:latin typeface="18 VAG Rounded Bold   07390" pitchFamily="2" charset="0"/>
                </a:rPr>
                <a:t>Imm</a:t>
              </a:r>
              <a:r>
                <a:rPr lang="en-US" sz="1400" b="1" dirty="0">
                  <a:solidFill>
                    <a:schemeClr val="accent5"/>
                  </a:solidFill>
                  <a:latin typeface="18 VAG Rounded Bold   07390" pitchFamily="2" charset="0"/>
                </a:rPr>
                <a:t>. Gen</a:t>
              </a:r>
            </a:p>
          </p:txBody>
        </p:sp>
      </p:grpSp>
      <p:sp>
        <p:nvSpPr>
          <p:cNvPr id="53" name="Freeform 52">
            <a:extLst>
              <a:ext uri="{FF2B5EF4-FFF2-40B4-BE49-F238E27FC236}">
                <a16:creationId xmlns:a16="http://schemas.microsoft.com/office/drawing/2014/main" id="{F1349C0D-4171-A514-B372-DE18E06DDD44}"/>
              </a:ext>
            </a:extLst>
          </p:cNvPr>
          <p:cNvSpPr/>
          <p:nvPr/>
        </p:nvSpPr>
        <p:spPr>
          <a:xfrm>
            <a:off x="2904565" y="4554071"/>
            <a:ext cx="815836" cy="394447"/>
          </a:xfrm>
          <a:custGeom>
            <a:avLst/>
            <a:gdLst>
              <a:gd name="connsiteX0" fmla="*/ 0 w 815836"/>
              <a:gd name="connsiteY0" fmla="*/ 394447 h 394447"/>
              <a:gd name="connsiteX1" fmla="*/ 17929 w 815836"/>
              <a:gd name="connsiteY1" fmla="*/ 322729 h 394447"/>
              <a:gd name="connsiteX2" fmla="*/ 35859 w 815836"/>
              <a:gd name="connsiteY2" fmla="*/ 295835 h 394447"/>
              <a:gd name="connsiteX3" fmla="*/ 62753 w 815836"/>
              <a:gd name="connsiteY3" fmla="*/ 251011 h 394447"/>
              <a:gd name="connsiteX4" fmla="*/ 80682 w 815836"/>
              <a:gd name="connsiteY4" fmla="*/ 224117 h 394447"/>
              <a:gd name="connsiteX5" fmla="*/ 125506 w 815836"/>
              <a:gd name="connsiteY5" fmla="*/ 179294 h 394447"/>
              <a:gd name="connsiteX6" fmla="*/ 143435 w 815836"/>
              <a:gd name="connsiteY6" fmla="*/ 161364 h 394447"/>
              <a:gd name="connsiteX7" fmla="*/ 170329 w 815836"/>
              <a:gd name="connsiteY7" fmla="*/ 143435 h 394447"/>
              <a:gd name="connsiteX8" fmla="*/ 188259 w 815836"/>
              <a:gd name="connsiteY8" fmla="*/ 125505 h 394447"/>
              <a:gd name="connsiteX9" fmla="*/ 206188 w 815836"/>
              <a:gd name="connsiteY9" fmla="*/ 98611 h 394447"/>
              <a:gd name="connsiteX10" fmla="*/ 233082 w 815836"/>
              <a:gd name="connsiteY10" fmla="*/ 89647 h 394447"/>
              <a:gd name="connsiteX11" fmla="*/ 277906 w 815836"/>
              <a:gd name="connsiteY11" fmla="*/ 53788 h 394447"/>
              <a:gd name="connsiteX12" fmla="*/ 304800 w 815836"/>
              <a:gd name="connsiteY12" fmla="*/ 44823 h 394447"/>
              <a:gd name="connsiteX13" fmla="*/ 340659 w 815836"/>
              <a:gd name="connsiteY13" fmla="*/ 26894 h 394447"/>
              <a:gd name="connsiteX14" fmla="*/ 394447 w 815836"/>
              <a:gd name="connsiteY14" fmla="*/ 8964 h 394447"/>
              <a:gd name="connsiteX15" fmla="*/ 421341 w 815836"/>
              <a:gd name="connsiteY15" fmla="*/ 0 h 394447"/>
              <a:gd name="connsiteX16" fmla="*/ 502023 w 815836"/>
              <a:gd name="connsiteY16" fmla="*/ 17929 h 394447"/>
              <a:gd name="connsiteX17" fmla="*/ 537882 w 815836"/>
              <a:gd name="connsiteY17" fmla="*/ 53788 h 394447"/>
              <a:gd name="connsiteX18" fmla="*/ 537882 w 815836"/>
              <a:gd name="connsiteY18" fmla="*/ 152400 h 394447"/>
              <a:gd name="connsiteX19" fmla="*/ 528917 w 815836"/>
              <a:gd name="connsiteY19" fmla="*/ 179294 h 394447"/>
              <a:gd name="connsiteX20" fmla="*/ 502023 w 815836"/>
              <a:gd name="connsiteY20" fmla="*/ 188258 h 394447"/>
              <a:gd name="connsiteX21" fmla="*/ 457200 w 815836"/>
              <a:gd name="connsiteY21" fmla="*/ 179294 h 394447"/>
              <a:gd name="connsiteX22" fmla="*/ 421341 w 815836"/>
              <a:gd name="connsiteY22" fmla="*/ 134470 h 394447"/>
              <a:gd name="connsiteX23" fmla="*/ 403411 w 815836"/>
              <a:gd name="connsiteY23" fmla="*/ 116541 h 394447"/>
              <a:gd name="connsiteX24" fmla="*/ 394447 w 815836"/>
              <a:gd name="connsiteY24" fmla="*/ 89647 h 394447"/>
              <a:gd name="connsiteX25" fmla="*/ 403411 w 815836"/>
              <a:gd name="connsiteY25" fmla="*/ 62753 h 394447"/>
              <a:gd name="connsiteX26" fmla="*/ 430306 w 815836"/>
              <a:gd name="connsiteY26" fmla="*/ 53788 h 394447"/>
              <a:gd name="connsiteX27" fmla="*/ 493059 w 815836"/>
              <a:gd name="connsiteY27" fmla="*/ 44823 h 394447"/>
              <a:gd name="connsiteX28" fmla="*/ 555811 w 815836"/>
              <a:gd name="connsiteY28" fmla="*/ 53788 h 394447"/>
              <a:gd name="connsiteX29" fmla="*/ 663388 w 815836"/>
              <a:gd name="connsiteY29" fmla="*/ 71717 h 394447"/>
              <a:gd name="connsiteX30" fmla="*/ 726141 w 815836"/>
              <a:gd name="connsiteY30" fmla="*/ 116541 h 394447"/>
              <a:gd name="connsiteX31" fmla="*/ 779929 w 815836"/>
              <a:gd name="connsiteY31" fmla="*/ 179294 h 394447"/>
              <a:gd name="connsiteX32" fmla="*/ 797859 w 815836"/>
              <a:gd name="connsiteY32" fmla="*/ 197223 h 394447"/>
              <a:gd name="connsiteX33" fmla="*/ 815788 w 815836"/>
              <a:gd name="connsiteY33" fmla="*/ 268941 h 394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5836" h="394447">
                <a:moveTo>
                  <a:pt x="0" y="394447"/>
                </a:moveTo>
                <a:cubicBezTo>
                  <a:pt x="3410" y="377395"/>
                  <a:pt x="8739" y="341108"/>
                  <a:pt x="17929" y="322729"/>
                </a:cubicBezTo>
                <a:cubicBezTo>
                  <a:pt x="22748" y="313092"/>
                  <a:pt x="29882" y="304800"/>
                  <a:pt x="35859" y="295835"/>
                </a:cubicBezTo>
                <a:cubicBezTo>
                  <a:pt x="51426" y="249130"/>
                  <a:pt x="34626" y="286171"/>
                  <a:pt x="62753" y="251011"/>
                </a:cubicBezTo>
                <a:cubicBezTo>
                  <a:pt x="69484" y="242598"/>
                  <a:pt x="73587" y="232225"/>
                  <a:pt x="80682" y="224117"/>
                </a:cubicBezTo>
                <a:cubicBezTo>
                  <a:pt x="94596" y="208215"/>
                  <a:pt x="110565" y="194235"/>
                  <a:pt x="125506" y="179294"/>
                </a:cubicBezTo>
                <a:cubicBezTo>
                  <a:pt x="131483" y="173317"/>
                  <a:pt x="136402" y="166052"/>
                  <a:pt x="143435" y="161364"/>
                </a:cubicBezTo>
                <a:cubicBezTo>
                  <a:pt x="152400" y="155388"/>
                  <a:pt x="161916" y="150166"/>
                  <a:pt x="170329" y="143435"/>
                </a:cubicBezTo>
                <a:cubicBezTo>
                  <a:pt x="176929" y="138155"/>
                  <a:pt x="182979" y="132105"/>
                  <a:pt x="188259" y="125505"/>
                </a:cubicBezTo>
                <a:cubicBezTo>
                  <a:pt x="194990" y="117092"/>
                  <a:pt x="197775" y="105341"/>
                  <a:pt x="206188" y="98611"/>
                </a:cubicBezTo>
                <a:cubicBezTo>
                  <a:pt x="213567" y="92708"/>
                  <a:pt x="224117" y="92635"/>
                  <a:pt x="233082" y="89647"/>
                </a:cubicBezTo>
                <a:cubicBezTo>
                  <a:pt x="249760" y="72968"/>
                  <a:pt x="255284" y="65099"/>
                  <a:pt x="277906" y="53788"/>
                </a:cubicBezTo>
                <a:cubicBezTo>
                  <a:pt x="286358" y="49562"/>
                  <a:pt x="296114" y="48545"/>
                  <a:pt x="304800" y="44823"/>
                </a:cubicBezTo>
                <a:cubicBezTo>
                  <a:pt x="317083" y="39559"/>
                  <a:pt x="328251" y="31857"/>
                  <a:pt x="340659" y="26894"/>
                </a:cubicBezTo>
                <a:cubicBezTo>
                  <a:pt x="358206" y="19875"/>
                  <a:pt x="376518" y="14940"/>
                  <a:pt x="394447" y="8964"/>
                </a:cubicBezTo>
                <a:lnTo>
                  <a:pt x="421341" y="0"/>
                </a:lnTo>
                <a:cubicBezTo>
                  <a:pt x="425392" y="675"/>
                  <a:pt x="488588" y="8333"/>
                  <a:pt x="502023" y="17929"/>
                </a:cubicBezTo>
                <a:cubicBezTo>
                  <a:pt x="515778" y="27754"/>
                  <a:pt x="537882" y="53788"/>
                  <a:pt x="537882" y="53788"/>
                </a:cubicBezTo>
                <a:cubicBezTo>
                  <a:pt x="553296" y="100029"/>
                  <a:pt x="551001" y="80250"/>
                  <a:pt x="537882" y="152400"/>
                </a:cubicBezTo>
                <a:cubicBezTo>
                  <a:pt x="536192" y="161697"/>
                  <a:pt x="535599" y="172612"/>
                  <a:pt x="528917" y="179294"/>
                </a:cubicBezTo>
                <a:cubicBezTo>
                  <a:pt x="522235" y="185976"/>
                  <a:pt x="510988" y="185270"/>
                  <a:pt x="502023" y="188258"/>
                </a:cubicBezTo>
                <a:cubicBezTo>
                  <a:pt x="487082" y="185270"/>
                  <a:pt x="471205" y="185296"/>
                  <a:pt x="457200" y="179294"/>
                </a:cubicBezTo>
                <a:cubicBezTo>
                  <a:pt x="444024" y="173647"/>
                  <a:pt x="428188" y="143028"/>
                  <a:pt x="421341" y="134470"/>
                </a:cubicBezTo>
                <a:cubicBezTo>
                  <a:pt x="416061" y="127870"/>
                  <a:pt x="409388" y="122517"/>
                  <a:pt x="403411" y="116541"/>
                </a:cubicBezTo>
                <a:cubicBezTo>
                  <a:pt x="400423" y="107576"/>
                  <a:pt x="394447" y="99097"/>
                  <a:pt x="394447" y="89647"/>
                </a:cubicBezTo>
                <a:cubicBezTo>
                  <a:pt x="394447" y="80197"/>
                  <a:pt x="396729" y="69435"/>
                  <a:pt x="403411" y="62753"/>
                </a:cubicBezTo>
                <a:cubicBezTo>
                  <a:pt x="410093" y="56071"/>
                  <a:pt x="421040" y="55641"/>
                  <a:pt x="430306" y="53788"/>
                </a:cubicBezTo>
                <a:cubicBezTo>
                  <a:pt x="451026" y="49644"/>
                  <a:pt x="472141" y="47811"/>
                  <a:pt x="493059" y="44823"/>
                </a:cubicBezTo>
                <a:lnTo>
                  <a:pt x="555811" y="53788"/>
                </a:lnTo>
                <a:cubicBezTo>
                  <a:pt x="651892" y="65799"/>
                  <a:pt x="608725" y="53497"/>
                  <a:pt x="663388" y="71717"/>
                </a:cubicBezTo>
                <a:cubicBezTo>
                  <a:pt x="705929" y="114258"/>
                  <a:pt x="683210" y="102230"/>
                  <a:pt x="726141" y="116541"/>
                </a:cubicBezTo>
                <a:cubicBezTo>
                  <a:pt x="753446" y="157499"/>
                  <a:pt x="736453" y="135819"/>
                  <a:pt x="779929" y="179294"/>
                </a:cubicBezTo>
                <a:lnTo>
                  <a:pt x="797859" y="197223"/>
                </a:lnTo>
                <a:cubicBezTo>
                  <a:pt x="817678" y="256681"/>
                  <a:pt x="815788" y="232112"/>
                  <a:pt x="815788" y="268941"/>
                </a:cubicBezTo>
              </a:path>
            </a:pathLst>
          </a:custGeom>
          <a:noFill/>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TextBox 54">
            <a:extLst>
              <a:ext uri="{FF2B5EF4-FFF2-40B4-BE49-F238E27FC236}">
                <a16:creationId xmlns:a16="http://schemas.microsoft.com/office/drawing/2014/main" id="{70B8E6B3-E8DA-6C5C-9EEE-94A258710CC4}"/>
              </a:ext>
            </a:extLst>
          </p:cNvPr>
          <p:cNvSpPr txBox="1"/>
          <p:nvPr/>
        </p:nvSpPr>
        <p:spPr>
          <a:xfrm>
            <a:off x="8421291" y="5536765"/>
            <a:ext cx="702436"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Add</a:t>
            </a:r>
          </a:p>
        </p:txBody>
      </p:sp>
      <p:cxnSp>
        <p:nvCxnSpPr>
          <p:cNvPr id="56" name="Straight Arrow Connector 55">
            <a:extLst>
              <a:ext uri="{FF2B5EF4-FFF2-40B4-BE49-F238E27FC236}">
                <a16:creationId xmlns:a16="http://schemas.microsoft.com/office/drawing/2014/main" id="{AEBCA607-DC28-8F45-2E1F-E7D3D06F26AB}"/>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9" name="Down Arrow 58">
            <a:extLst>
              <a:ext uri="{FF2B5EF4-FFF2-40B4-BE49-F238E27FC236}">
                <a16:creationId xmlns:a16="http://schemas.microsoft.com/office/drawing/2014/main" id="{2966FCB9-9690-13FA-353A-42E99CF840DC}"/>
              </a:ext>
            </a:extLst>
          </p:cNvPr>
          <p:cNvSpPr/>
          <p:nvPr/>
        </p:nvSpPr>
        <p:spPr>
          <a:xfrm>
            <a:off x="4225740" y="2222630"/>
            <a:ext cx="415708" cy="2304743"/>
          </a:xfrm>
          <a:prstGeom prst="downArrow">
            <a:avLst/>
          </a:prstGeom>
          <a:solidFill>
            <a:schemeClr val="accent5">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grpSp>
        <p:nvGrpSpPr>
          <p:cNvPr id="451" name="Group 450">
            <a:extLst>
              <a:ext uri="{FF2B5EF4-FFF2-40B4-BE49-F238E27FC236}">
                <a16:creationId xmlns:a16="http://schemas.microsoft.com/office/drawing/2014/main" id="{65C6F539-3179-4A2F-0FA0-70520EFDBD80}"/>
              </a:ext>
            </a:extLst>
          </p:cNvPr>
          <p:cNvGrpSpPr/>
          <p:nvPr/>
        </p:nvGrpSpPr>
        <p:grpSpPr>
          <a:xfrm>
            <a:off x="669619" y="2248996"/>
            <a:ext cx="2712208" cy="1417320"/>
            <a:chOff x="669619" y="2248996"/>
            <a:chExt cx="2712208" cy="1417320"/>
          </a:xfrm>
        </p:grpSpPr>
        <p:grpSp>
          <p:nvGrpSpPr>
            <p:cNvPr id="452" name="Group 451">
              <a:extLst>
                <a:ext uri="{FF2B5EF4-FFF2-40B4-BE49-F238E27FC236}">
                  <a16:creationId xmlns:a16="http://schemas.microsoft.com/office/drawing/2014/main" id="{367610FC-0E45-3C7D-7771-D693D5E28847}"/>
                </a:ext>
              </a:extLst>
            </p:cNvPr>
            <p:cNvGrpSpPr/>
            <p:nvPr/>
          </p:nvGrpSpPr>
          <p:grpSpPr>
            <a:xfrm>
              <a:off x="669619" y="2260284"/>
              <a:ext cx="2712208" cy="1389326"/>
              <a:chOff x="669619" y="2260284"/>
              <a:chExt cx="2712208" cy="1389326"/>
            </a:xfrm>
          </p:grpSpPr>
          <p:grpSp>
            <p:nvGrpSpPr>
              <p:cNvPr id="455" name="Group 454">
                <a:extLst>
                  <a:ext uri="{FF2B5EF4-FFF2-40B4-BE49-F238E27FC236}">
                    <a16:creationId xmlns:a16="http://schemas.microsoft.com/office/drawing/2014/main" id="{C45972A3-3BF5-A12A-7F89-BD356C318B3B}"/>
                  </a:ext>
                </a:extLst>
              </p:cNvPr>
              <p:cNvGrpSpPr/>
              <p:nvPr/>
            </p:nvGrpSpPr>
            <p:grpSpPr>
              <a:xfrm>
                <a:off x="675203" y="2260284"/>
                <a:ext cx="2706624" cy="477526"/>
                <a:chOff x="675203" y="2260284"/>
                <a:chExt cx="2706624" cy="477526"/>
              </a:xfrm>
            </p:grpSpPr>
            <p:cxnSp>
              <p:nvCxnSpPr>
                <p:cNvPr id="459" name="Elbow Connector 458">
                  <a:extLst>
                    <a:ext uri="{FF2B5EF4-FFF2-40B4-BE49-F238E27FC236}">
                      <a16:creationId xmlns:a16="http://schemas.microsoft.com/office/drawing/2014/main" id="{F3FBF817-AD9A-D574-2BF3-83046E096000}"/>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Connector 459">
                  <a:extLst>
                    <a:ext uri="{FF2B5EF4-FFF2-40B4-BE49-F238E27FC236}">
                      <a16:creationId xmlns:a16="http://schemas.microsoft.com/office/drawing/2014/main" id="{BA6567B2-D6DB-D6FB-3485-6F857CD80EB2}"/>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58" name="Straight Arrow Connector 457">
                <a:extLst>
                  <a:ext uri="{FF2B5EF4-FFF2-40B4-BE49-F238E27FC236}">
                    <a16:creationId xmlns:a16="http://schemas.microsoft.com/office/drawing/2014/main" id="{1DEF4AFA-BD71-45F4-BC2B-0564E0C7A76F}"/>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453" name="Straight Connector 452">
              <a:extLst>
                <a:ext uri="{FF2B5EF4-FFF2-40B4-BE49-F238E27FC236}">
                  <a16:creationId xmlns:a16="http://schemas.microsoft.com/office/drawing/2014/main" id="{FCB08FD0-893D-395C-F3B5-E14188476A81}"/>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469" name="TextBox 468">
            <a:extLst>
              <a:ext uri="{FF2B5EF4-FFF2-40B4-BE49-F238E27FC236}">
                <a16:creationId xmlns:a16="http://schemas.microsoft.com/office/drawing/2014/main" id="{D03DA913-62C2-7459-6E2E-50F9264A088B}"/>
              </a:ext>
            </a:extLst>
          </p:cNvPr>
          <p:cNvSpPr txBox="1"/>
          <p:nvPr/>
        </p:nvSpPr>
        <p:spPr>
          <a:xfrm>
            <a:off x="3118252" y="1001582"/>
            <a:ext cx="2664586" cy="1147897"/>
          </a:xfrm>
          <a:prstGeom prst="rect">
            <a:avLst/>
          </a:prstGeom>
          <a:noFill/>
        </p:spPr>
        <p:txBody>
          <a:bodyPr wrap="square" rtlCol="0">
            <a:spAutoFit/>
          </a:bodyPr>
          <a:lstStyle/>
          <a:p>
            <a:pPr algn="l">
              <a:lnSpc>
                <a:spcPct val="95000"/>
              </a:lnSpc>
            </a:pPr>
            <a:r>
              <a:rPr lang="en-US" sz="1800" dirty="0">
                <a:solidFill>
                  <a:schemeClr val="accent5"/>
                </a:solidFill>
                <a:latin typeface="18 VAG Rounded Light   02390" pitchFamily="2" charset="0"/>
              </a:rPr>
              <a:t>2. </a:t>
            </a:r>
            <a:r>
              <a:rPr lang="en-US" sz="1800" i="1" dirty="0">
                <a:solidFill>
                  <a:schemeClr val="accent5"/>
                </a:solidFill>
                <a:latin typeface="18 VAG Rounded Light   02390" pitchFamily="2" charset="0"/>
              </a:rPr>
              <a:t>Immediate Generation Block </a:t>
            </a:r>
            <a:r>
              <a:rPr lang="en-US" sz="1800" dirty="0">
                <a:solidFill>
                  <a:schemeClr val="accent5"/>
                </a:solidFill>
                <a:latin typeface="18 VAG Rounded Light   02390" pitchFamily="2" charset="0"/>
              </a:rPr>
              <a:t>builds a 32-bit immediate </a:t>
            </a:r>
            <a:r>
              <a:rPr lang="en-US" sz="1800" b="1" dirty="0" err="1">
                <a:solidFill>
                  <a:schemeClr val="accent5"/>
                </a:solidFill>
                <a:latin typeface="Courier New" panose="02070309020205020404" pitchFamily="49" charset="0"/>
                <a:cs typeface="Courier New" panose="02070309020205020404" pitchFamily="49" charset="0"/>
              </a:rPr>
              <a:t>imm</a:t>
            </a:r>
            <a:r>
              <a:rPr lang="en-US" sz="1800" dirty="0">
                <a:solidFill>
                  <a:schemeClr val="accent5"/>
                </a:solidFill>
                <a:latin typeface="18 VAG Rounded Light   02390" pitchFamily="2" charset="0"/>
              </a:rPr>
              <a:t> from instruction bits.</a:t>
            </a:r>
          </a:p>
        </p:txBody>
      </p:sp>
    </p:spTree>
    <p:extLst>
      <p:ext uri="{BB962C8B-B14F-4D97-AF65-F5344CB8AC3E}">
        <p14:creationId xmlns:p14="http://schemas.microsoft.com/office/powerpoint/2010/main" val="14348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53" grpId="0" animBg="1"/>
      <p:bldP spid="59" grpId="0" animBg="1"/>
      <p:bldP spid="46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Isosceles Triangle 59">
            <a:extLst>
              <a:ext uri="{FF2B5EF4-FFF2-40B4-BE49-F238E27FC236}">
                <a16:creationId xmlns:a16="http://schemas.microsoft.com/office/drawing/2014/main" id="{2B4B4629-359C-B390-D2CC-4BBCE9E04472}"/>
              </a:ext>
            </a:extLst>
          </p:cNvPr>
          <p:cNvSpPr/>
          <p:nvPr/>
        </p:nvSpPr>
        <p:spPr>
          <a:xfrm>
            <a:off x="9886099" y="4540637"/>
            <a:ext cx="182880" cy="172777"/>
          </a:xfrm>
          <a:prstGeom prst="triangle">
            <a:avLst/>
          </a:prstGeom>
          <a:noFill/>
          <a:ln w="28575"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8" name="Group 37">
            <a:extLst>
              <a:ext uri="{FF2B5EF4-FFF2-40B4-BE49-F238E27FC236}">
                <a16:creationId xmlns:a16="http://schemas.microsoft.com/office/drawing/2014/main" id="{09FB69CD-2A8B-4B1A-FFD1-911DA34EB6F7}"/>
              </a:ext>
            </a:extLst>
          </p:cNvPr>
          <p:cNvGrpSpPr/>
          <p:nvPr/>
        </p:nvGrpSpPr>
        <p:grpSpPr>
          <a:xfrm>
            <a:off x="9120628" y="3586419"/>
            <a:ext cx="1021734" cy="1127284"/>
            <a:chOff x="9120628" y="3586419"/>
            <a:chExt cx="1021734" cy="1127284"/>
          </a:xfrm>
        </p:grpSpPr>
        <p:sp>
          <p:nvSpPr>
            <p:cNvPr id="43" name="Rectangle 42">
              <a:extLst>
                <a:ext uri="{FF2B5EF4-FFF2-40B4-BE49-F238E27FC236}">
                  <a16:creationId xmlns:a16="http://schemas.microsoft.com/office/drawing/2014/main" id="{3FBC5440-F04E-2160-D321-EF3A6268F1B9}"/>
                </a:ext>
              </a:extLst>
            </p:cNvPr>
            <p:cNvSpPr/>
            <p:nvPr/>
          </p:nvSpPr>
          <p:spPr>
            <a:xfrm>
              <a:off x="9120628" y="3586419"/>
              <a:ext cx="1021734" cy="1127284"/>
            </a:xfrm>
            <a:prstGeom prst="rect">
              <a:avLst/>
            </a:prstGeom>
            <a:noFill/>
            <a:ln w="5715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accent6"/>
                  </a:solidFill>
                  <a:latin typeface="18 VAG Rounded Light   02390" pitchFamily="2" charset="0"/>
                </a:rPr>
                <a:t>	</a:t>
              </a:r>
              <a:r>
                <a:rPr lang="en-US" sz="1400" i="1" dirty="0" err="1">
                  <a:solidFill>
                    <a:schemeClr val="accent6"/>
                  </a:solidFill>
                  <a:latin typeface="18 VAG Rounded Light   02390" pitchFamily="2" charset="0"/>
                </a:rPr>
                <a:t>rdata</a:t>
              </a:r>
              <a:endParaRPr lang="en-US" sz="1400" i="1" dirty="0">
                <a:solidFill>
                  <a:schemeClr val="accent6"/>
                </a:solidFill>
                <a:latin typeface="18 VAG Rounded Light   02390" pitchFamily="2" charset="0"/>
              </a:endParaRPr>
            </a:p>
            <a:p>
              <a:pPr>
                <a:spcBef>
                  <a:spcPts val="400"/>
                </a:spcBef>
                <a:tabLst>
                  <a:tab pos="1249363" algn="r"/>
                </a:tabLst>
              </a:pPr>
              <a:r>
                <a:rPr lang="en-US" sz="1400" i="1" dirty="0" err="1">
                  <a:solidFill>
                    <a:schemeClr val="accent6"/>
                  </a:solidFill>
                  <a:latin typeface="18 VAG Rounded Light   02390" pitchFamily="2" charset="0"/>
                </a:rPr>
                <a:t>addr</a:t>
              </a:r>
              <a:endParaRPr lang="en-US" sz="1400" i="1" dirty="0">
                <a:solidFill>
                  <a:schemeClr val="accent6"/>
                </a:solidFill>
                <a:latin typeface="18 VAG Rounded Light   02390" pitchFamily="2" charset="0"/>
              </a:endParaRPr>
            </a:p>
            <a:p>
              <a:pPr algn="r">
                <a:spcBef>
                  <a:spcPts val="400"/>
                </a:spcBef>
                <a:tabLst>
                  <a:tab pos="1249363" algn="r"/>
                </a:tabLst>
              </a:pPr>
              <a:r>
                <a:rPr lang="en-US" sz="1600" b="1" dirty="0">
                  <a:solidFill>
                    <a:schemeClr val="accent6"/>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accent6"/>
                  </a:solidFill>
                  <a:latin typeface="18 VAG ROUNDED LIGHT   02390" pitchFamily="2" charset="0"/>
                  <a:cs typeface="Courier New" panose="02070309020205020404" pitchFamily="49" charset="0"/>
                </a:rPr>
                <a:t>wdata</a:t>
              </a:r>
              <a:r>
                <a:rPr lang="en-US" sz="1600" i="1" dirty="0">
                  <a:solidFill>
                    <a:schemeClr val="accent6"/>
                  </a:solidFill>
                  <a:latin typeface="18 VAG ROUNDED LIGHT   02390" pitchFamily="2" charset="0"/>
                  <a:cs typeface="Courier New" panose="02070309020205020404" pitchFamily="49" charset="0"/>
                </a:rPr>
                <a:t> </a:t>
              </a:r>
              <a:endParaRPr lang="en-US" sz="1200" i="1" dirty="0">
                <a:solidFill>
                  <a:schemeClr val="accent6"/>
                </a:solidFill>
                <a:latin typeface="18 VAG ROUNDED LIGHT   02390" pitchFamily="2" charset="0"/>
                <a:cs typeface="Courier New" panose="02070309020205020404" pitchFamily="49" charset="0"/>
              </a:endParaRPr>
            </a:p>
          </p:txBody>
        </p:sp>
        <p:sp>
          <p:nvSpPr>
            <p:cNvPr id="44" name="Rectangle 43">
              <a:extLst>
                <a:ext uri="{FF2B5EF4-FFF2-40B4-BE49-F238E27FC236}">
                  <a16:creationId xmlns:a16="http://schemas.microsoft.com/office/drawing/2014/main" id="{F84C5885-B7A6-6082-B9CE-CACE45871ACD}"/>
                </a:ext>
              </a:extLst>
            </p:cNvPr>
            <p:cNvSpPr/>
            <p:nvPr/>
          </p:nvSpPr>
          <p:spPr>
            <a:xfrm>
              <a:off x="9120628" y="4444602"/>
              <a:ext cx="165031" cy="191496"/>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grpSp>
      <p:sp>
        <p:nvSpPr>
          <p:cNvPr id="45" name="TextBox 44">
            <a:extLst>
              <a:ext uri="{FF2B5EF4-FFF2-40B4-BE49-F238E27FC236}">
                <a16:creationId xmlns:a16="http://schemas.microsoft.com/office/drawing/2014/main" id="{25D21807-1DCC-38EC-B8F0-EB0A20059BDF}"/>
              </a:ext>
            </a:extLst>
          </p:cNvPr>
          <p:cNvSpPr txBox="1"/>
          <p:nvPr/>
        </p:nvSpPr>
        <p:spPr>
          <a:xfrm>
            <a:off x="9813943" y="4842550"/>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6" name="Straight Connector 45">
            <a:extLst>
              <a:ext uri="{FF2B5EF4-FFF2-40B4-BE49-F238E27FC236}">
                <a16:creationId xmlns:a16="http://schemas.microsoft.com/office/drawing/2014/main" id="{0E56E751-DF5C-ECE3-7528-2EC20B22DC18}"/>
              </a:ext>
            </a:extLst>
          </p:cNvPr>
          <p:cNvCxnSpPr>
            <a:cxnSpLocks/>
            <a:stCxn id="45" idx="0"/>
          </p:cNvCxnSpPr>
          <p:nvPr/>
        </p:nvCxnSpPr>
        <p:spPr>
          <a:xfrm flipV="1">
            <a:off x="9984823" y="4713414"/>
            <a:ext cx="0" cy="129136"/>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CCFE2A50-FE6F-276E-14D3-4EB9CAD49B7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bg1"/>
              </a:solidFill>
              <a:latin typeface="18 VAG Rounded Light   02390" pitchFamily="2" charset="0"/>
            </a:endParaRPr>
          </a:p>
        </p:txBody>
      </p:sp>
      <p:cxnSp>
        <p:nvCxnSpPr>
          <p:cNvPr id="48" name="Straight Arrow Connector 47">
            <a:extLst>
              <a:ext uri="{FF2B5EF4-FFF2-40B4-BE49-F238E27FC236}">
                <a16:creationId xmlns:a16="http://schemas.microsoft.com/office/drawing/2014/main" id="{1BACB544-6C31-53A7-1FEB-6A0584CC63B1}"/>
              </a:ext>
            </a:extLst>
          </p:cNvPr>
          <p:cNvCxnSpPr>
            <a:cxnSpLocks/>
          </p:cNvCxnSpPr>
          <p:nvPr/>
        </p:nvCxnSpPr>
        <p:spPr>
          <a:xfrm>
            <a:off x="8861193" y="3967940"/>
            <a:ext cx="29744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3928B5D-79A7-F2D5-8331-CD9583C7CF92}"/>
              </a:ext>
            </a:extLst>
          </p:cNvPr>
          <p:cNvCxnSpPr>
            <a:cxnSpLocks/>
          </p:cNvCxnSpPr>
          <p:nvPr/>
        </p:nvCxnSpPr>
        <p:spPr>
          <a:xfrm flipV="1">
            <a:off x="10142760" y="3707112"/>
            <a:ext cx="403456" cy="7631"/>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54EC5A78-C3C0-6B98-A833-D7FEFF18325E}"/>
              </a:ext>
            </a:extLst>
          </p:cNvPr>
          <p:cNvGrpSpPr/>
          <p:nvPr/>
        </p:nvGrpSpPr>
        <p:grpSpPr>
          <a:xfrm>
            <a:off x="3790286" y="2375192"/>
            <a:ext cx="7347065" cy="1124151"/>
            <a:chOff x="3790286" y="2375192"/>
            <a:chExt cx="7347065" cy="1124151"/>
          </a:xfrm>
          <a:effectLst/>
        </p:grpSpPr>
        <p:cxnSp>
          <p:nvCxnSpPr>
            <p:cNvPr id="51" name="Elbow Connector 50">
              <a:extLst>
                <a:ext uri="{FF2B5EF4-FFF2-40B4-BE49-F238E27FC236}">
                  <a16:creationId xmlns:a16="http://schemas.microsoft.com/office/drawing/2014/main" id="{504D489D-3191-78FA-DCBC-6978EECC45EE}"/>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08BAABF1-ABB5-CF01-FF69-A5C5D54CB8ED}"/>
                </a:ext>
              </a:extLst>
            </p:cNvPr>
            <p:cNvCxnSpPr/>
            <p:nvPr/>
          </p:nvCxnSpPr>
          <p:spPr>
            <a:xfrm>
              <a:off x="3790286" y="2384802"/>
              <a:ext cx="7334708"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F6F650C6-702E-7B2C-8558-800018F1DC57}"/>
                </a:ext>
              </a:extLst>
            </p:cNvPr>
            <p:cNvCxnSpPr>
              <a:cxnSpLocks/>
              <a:stCxn id="54" idx="0"/>
            </p:cNvCxnSpPr>
            <p:nvPr/>
          </p:nvCxnSpPr>
          <p:spPr>
            <a:xfrm flipV="1">
              <a:off x="10817058" y="2375192"/>
              <a:ext cx="320293" cy="1124151"/>
            </a:xfrm>
            <a:prstGeom prst="bentConnector2">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54" name="Trapezoid 53">
            <a:extLst>
              <a:ext uri="{FF2B5EF4-FFF2-40B4-BE49-F238E27FC236}">
                <a16:creationId xmlns:a16="http://schemas.microsoft.com/office/drawing/2014/main" id="{FE097CB7-FFC1-6C9B-AA09-CA8AD487810D}"/>
              </a:ext>
            </a:extLst>
          </p:cNvPr>
          <p:cNvSpPr/>
          <p:nvPr/>
        </p:nvSpPr>
        <p:spPr>
          <a:xfrm rot="5400000">
            <a:off x="10337532" y="3361302"/>
            <a:ext cx="682970" cy="276082"/>
          </a:xfrm>
          <a:prstGeom prst="trapezoid">
            <a:avLst>
              <a:gd name="adj" fmla="val 62818"/>
            </a:avLst>
          </a:prstGeom>
          <a:noFill/>
          <a:ln w="5715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cxnSp>
        <p:nvCxnSpPr>
          <p:cNvPr id="55" name="Elbow Connector 54">
            <a:extLst>
              <a:ext uri="{FF2B5EF4-FFF2-40B4-BE49-F238E27FC236}">
                <a16:creationId xmlns:a16="http://schemas.microsoft.com/office/drawing/2014/main" id="{032C0BBF-EA36-E521-B9ED-201CC0331F0A}"/>
              </a:ext>
            </a:extLst>
          </p:cNvPr>
          <p:cNvCxnSpPr>
            <a:cxnSpLocks/>
          </p:cNvCxnSpPr>
          <p:nvPr/>
        </p:nvCxnSpPr>
        <p:spPr>
          <a:xfrm flipV="1">
            <a:off x="8929306" y="3375224"/>
            <a:ext cx="1611670" cy="592716"/>
          </a:xfrm>
          <a:prstGeom prst="bentConnector3">
            <a:avLst>
              <a:gd name="adj1" fmla="val 288"/>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77A206D-E262-8AF5-35CA-2655B662424D}"/>
              </a:ext>
            </a:extLst>
          </p:cNvPr>
          <p:cNvSpPr txBox="1"/>
          <p:nvPr/>
        </p:nvSpPr>
        <p:spPr>
          <a:xfrm>
            <a:off x="10106672" y="3087231"/>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35" name="Rounded Rectangle 34">
            <a:extLst>
              <a:ext uri="{FF2B5EF4-FFF2-40B4-BE49-F238E27FC236}">
                <a16:creationId xmlns:a16="http://schemas.microsoft.com/office/drawing/2014/main" id="{0F34E2EF-E6E4-480A-85BB-220BE1C28AFF}"/>
              </a:ext>
            </a:extLst>
          </p:cNvPr>
          <p:cNvSpPr/>
          <p:nvPr/>
        </p:nvSpPr>
        <p:spPr>
          <a:xfrm>
            <a:off x="4095066" y="4684066"/>
            <a:ext cx="734547" cy="615137"/>
          </a:xfrm>
          <a:prstGeom prst="roundRect">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tx1">
                    <a:lumMod val="50000"/>
                    <a:lumOff val="50000"/>
                  </a:schemeClr>
                </a:solidFill>
                <a:latin typeface="18 VAG Rounded Light   02390" pitchFamily="2" charset="0"/>
              </a:rPr>
              <a:t>Imm</a:t>
            </a:r>
            <a:r>
              <a:rPr lang="en-US" sz="1400" dirty="0">
                <a:solidFill>
                  <a:schemeClr val="tx1">
                    <a:lumMod val="50000"/>
                    <a:lumOff val="50000"/>
                  </a:schemeClr>
                </a:solidFill>
                <a:latin typeface="18 VAG Rounded Light   02390" pitchFamily="2" charset="0"/>
              </a:rPr>
              <a:t>. Gen</a:t>
            </a:r>
          </a:p>
        </p:txBody>
      </p:sp>
      <p:sp>
        <p:nvSpPr>
          <p:cNvPr id="33" name="TextBox 32">
            <a:extLst>
              <a:ext uri="{FF2B5EF4-FFF2-40B4-BE49-F238E27FC236}">
                <a16:creationId xmlns:a16="http://schemas.microsoft.com/office/drawing/2014/main" id="{2A5E8AD9-296E-37B4-4E87-99DCBDA65600}"/>
              </a:ext>
            </a:extLst>
          </p:cNvPr>
          <p:cNvSpPr txBox="1"/>
          <p:nvPr/>
        </p:nvSpPr>
        <p:spPr>
          <a:xfrm>
            <a:off x="3106523" y="4777354"/>
            <a:ext cx="111921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[31:20]</a:t>
            </a:r>
            <a:endParaRPr lang="en-US" sz="2000" dirty="0">
              <a:solidFill>
                <a:schemeClr val="tx1">
                  <a:lumMod val="50000"/>
                  <a:lumOff val="50000"/>
                </a:schemeClr>
              </a:solidFill>
              <a:latin typeface="18 VAG Rounded Light   02390" pitchFamily="2" charset="0"/>
            </a:endParaRPr>
          </a:p>
        </p:txBody>
      </p: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tx1">
                <a:lumMod val="50000"/>
                <a:lumOff val="5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E4D1DEAE-7AAB-4FA5-9AC7-CEF254DF6C1E}"/>
              </a:ext>
            </a:extLst>
          </p:cNvPr>
          <p:cNvCxnSpPr>
            <a:cxnSpLocks/>
          </p:cNvCxnSpPr>
          <p:nvPr/>
        </p:nvCxnSpPr>
        <p:spPr>
          <a:xfrm>
            <a:off x="7983123" y="4427042"/>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normAutofit/>
          </a:bodyPr>
          <a:lstStyle/>
          <a:p>
            <a:pPr>
              <a:tabLst>
                <a:tab pos="10280650" algn="r"/>
              </a:tabLst>
            </a:pPr>
            <a:r>
              <a:rPr lang="en-US" dirty="0"/>
              <a:t>Connect DMEM</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tx1">
                  <a:lumMod val="50000"/>
                  <a:lumOff val="50000"/>
                </a:schemeClr>
              </a:solidFill>
              <a:latin typeface="18 VAG Rounded Light   02390" pitchFamily="2" charset="0"/>
            </a:endParaRPr>
          </a:p>
        </p:txBody>
      </p: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tx1">
                  <a:lumMod val="50000"/>
                  <a:lumOff val="50000"/>
                </a:schemeClr>
              </a:solidFill>
              <a:latin typeface="18 VAG Rounded Light   02390" pitchFamily="2" charset="0"/>
            </a:endParaRPr>
          </a:p>
        </p:txBody>
      </p:sp>
      <p:sp>
        <p:nvSpPr>
          <p:cNvPr id="155" name="TextBox 154">
            <a:extLst>
              <a:ext uri="{FF2B5EF4-FFF2-40B4-BE49-F238E27FC236}">
                <a16:creationId xmlns:a16="http://schemas.microsoft.com/office/drawing/2014/main" id="{805FC406-05B2-8242-650C-D6E9D3BC10DC}"/>
              </a:ext>
            </a:extLst>
          </p:cNvPr>
          <p:cNvSpPr txBox="1"/>
          <p:nvPr/>
        </p:nvSpPr>
        <p:spPr>
          <a:xfrm>
            <a:off x="4062897" y="5552119"/>
            <a:ext cx="817853" cy="304314"/>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ImmSel</a:t>
            </a:r>
            <a:endParaRPr lang="en-US" sz="1600" dirty="0">
              <a:solidFill>
                <a:schemeClr val="tx1">
                  <a:lumMod val="50000"/>
                  <a:lumOff val="50000"/>
                </a:schemeClr>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513602"/>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BSel</a:t>
            </a:r>
            <a:endParaRPr lang="en-US" sz="1200" dirty="0">
              <a:solidFill>
                <a:schemeClr val="tx1">
                  <a:lumMod val="50000"/>
                  <a:lumOff val="50000"/>
                </a:schemeClr>
              </a:solidFill>
              <a:latin typeface="18 VAG Rounded Light   02390" pitchFamily="2" charset="0"/>
            </a:endParaRPr>
          </a:p>
        </p:txBody>
      </p:sp>
      <p:sp>
        <p:nvSpPr>
          <p:cNvPr id="163" name="TextBox 162">
            <a:extLst>
              <a:ext uri="{FF2B5EF4-FFF2-40B4-BE49-F238E27FC236}">
                <a16:creationId xmlns:a16="http://schemas.microsoft.com/office/drawing/2014/main" id="{0D0C1867-1FFD-F311-31BB-7C2A4E3DB4AD}"/>
              </a:ext>
            </a:extLst>
          </p:cNvPr>
          <p:cNvSpPr txBox="1"/>
          <p:nvPr/>
        </p:nvSpPr>
        <p:spPr>
          <a:xfrm>
            <a:off x="8421291" y="5536765"/>
            <a:ext cx="702436"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ALUSel</a:t>
            </a:r>
            <a:endParaRPr lang="en-US" sz="1400" dirty="0">
              <a:solidFill>
                <a:schemeClr val="tx1">
                  <a:lumMod val="50000"/>
                  <a:lumOff val="50000"/>
                </a:schemeClr>
              </a:solidFill>
              <a:latin typeface="18 VAG Rounded Light   02390" pitchFamily="2" charset="0"/>
            </a:endParaRPr>
          </a:p>
        </p:txBody>
      </p: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tx1">
                    <a:lumMod val="50000"/>
                    <a:lumOff val="50000"/>
                  </a:schemeClr>
                </a:solidFill>
                <a:latin typeface="18 VAG Rounded Light   02390" pitchFamily="2" charset="0"/>
              </a:rPr>
              <a:t>wdata</a:t>
            </a:r>
            <a:endParaRPr lang="en-US" sz="1400" i="1" dirty="0">
              <a:solidFill>
                <a:schemeClr val="tx1">
                  <a:lumMod val="50000"/>
                  <a:lumOff val="50000"/>
                </a:schemeClr>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14" name="Trapezoid 13">
            <a:extLst>
              <a:ext uri="{FF2B5EF4-FFF2-40B4-BE49-F238E27FC236}">
                <a16:creationId xmlns:a16="http://schemas.microsoft.com/office/drawing/2014/main" id="{1FA82655-74D3-4483-7C00-4AA72A5B4B28}"/>
              </a:ext>
            </a:extLst>
          </p:cNvPr>
          <p:cNvSpPr/>
          <p:nvPr/>
        </p:nvSpPr>
        <p:spPr>
          <a:xfrm rot="5400000">
            <a:off x="7564091" y="4309794"/>
            <a:ext cx="598172" cy="234496"/>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sp>
        <p:nvSpPr>
          <p:cNvPr id="34" name="Rounded Rectangle 33">
            <a:extLst>
              <a:ext uri="{FF2B5EF4-FFF2-40B4-BE49-F238E27FC236}">
                <a16:creationId xmlns:a16="http://schemas.microsoft.com/office/drawing/2014/main" id="{5FF65934-C540-D4EB-5E26-A7998F695809}"/>
              </a:ext>
            </a:extLst>
          </p:cNvPr>
          <p:cNvSpPr/>
          <p:nvPr/>
        </p:nvSpPr>
        <p:spPr>
          <a:xfrm>
            <a:off x="4095066" y="4684066"/>
            <a:ext cx="734547" cy="615137"/>
          </a:xfrm>
          <a:prstGeom prst="roundRect">
            <a:avLst/>
          </a:prstGeom>
          <a:solidFill>
            <a:srgbClr val="011223"/>
          </a:solid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tx1">
                    <a:lumMod val="50000"/>
                    <a:lumOff val="50000"/>
                  </a:schemeClr>
                </a:solidFill>
                <a:latin typeface="18 VAG Rounded Light   02390" pitchFamily="2" charset="0"/>
              </a:rPr>
              <a:t>Imm</a:t>
            </a:r>
            <a:r>
              <a:rPr lang="en-US" sz="1400" dirty="0">
                <a:solidFill>
                  <a:schemeClr val="tx1">
                    <a:lumMod val="50000"/>
                    <a:lumOff val="50000"/>
                  </a:schemeClr>
                </a:solidFill>
                <a:latin typeface="18 VAG Rounded Light   02390" pitchFamily="2" charset="0"/>
              </a:rPr>
              <a:t>. Gen</a:t>
            </a:r>
          </a:p>
        </p:txBody>
      </p: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19" name="Freeform 318">
            <a:extLst>
              <a:ext uri="{FF2B5EF4-FFF2-40B4-BE49-F238E27FC236}">
                <a16:creationId xmlns:a16="http://schemas.microsoft.com/office/drawing/2014/main" id="{50D48F20-2317-959C-0E0D-67B0974EEDE2}"/>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A</a:t>
            </a:r>
            <a:endParaRPr lang="en-US" sz="1600" dirty="0">
              <a:solidFill>
                <a:schemeClr val="tx1">
                  <a:lumMod val="50000"/>
                  <a:lumOff val="50000"/>
                </a:schemeClr>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tx1">
                    <a:lumMod val="50000"/>
                    <a:lumOff val="50000"/>
                  </a:schemeClr>
                </a:solidFill>
                <a:latin typeface="18 VAG Rounded Light   02390" pitchFamily="2" charset="0"/>
              </a:rPr>
              <a:t>ALU</a:t>
            </a:r>
          </a:p>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B</a:t>
            </a:r>
          </a:p>
        </p:txBody>
      </p:sp>
      <p:cxnSp>
        <p:nvCxnSpPr>
          <p:cNvPr id="3" name="Straight Arrow Connector 2">
            <a:extLst>
              <a:ext uri="{FF2B5EF4-FFF2-40B4-BE49-F238E27FC236}">
                <a16:creationId xmlns:a16="http://schemas.microsoft.com/office/drawing/2014/main" id="{B85FEE0E-074D-77D4-188C-6DC79262AD4A}"/>
              </a:ext>
            </a:extLst>
          </p:cNvPr>
          <p:cNvCxnSpPr>
            <a:cxnSpLocks/>
          </p:cNvCxnSpPr>
          <p:nvPr/>
        </p:nvCxnSpPr>
        <p:spPr>
          <a:xfrm>
            <a:off x="6261052" y="4241300"/>
            <a:ext cx="1484877"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03E87B2-1F9D-3361-3F99-CE4E6716B765}"/>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6" name="TextBox 5">
            <a:extLst>
              <a:ext uri="{FF2B5EF4-FFF2-40B4-BE49-F238E27FC236}">
                <a16:creationId xmlns:a16="http://schemas.microsoft.com/office/drawing/2014/main" id="{08F1057F-7450-E561-9399-19A362092C91}"/>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sp>
        <p:nvSpPr>
          <p:cNvPr id="31" name="TextBox 30">
            <a:extLst>
              <a:ext uri="{FF2B5EF4-FFF2-40B4-BE49-F238E27FC236}">
                <a16:creationId xmlns:a16="http://schemas.microsoft.com/office/drawing/2014/main" id="{966BD622-2D4B-8D32-D21D-061FF05C1962}"/>
              </a:ext>
            </a:extLst>
          </p:cNvPr>
          <p:cNvSpPr txBox="1"/>
          <p:nvPr/>
        </p:nvSpPr>
        <p:spPr>
          <a:xfrm>
            <a:off x="7332576" y="1027852"/>
            <a:ext cx="2892888" cy="622093"/>
          </a:xfrm>
          <a:prstGeom prst="rect">
            <a:avLst/>
          </a:prstGeom>
          <a:noFill/>
        </p:spPr>
        <p:txBody>
          <a:bodyPr wrap="square" rtlCol="0">
            <a:spAutoFit/>
          </a:bodyPr>
          <a:lstStyle/>
          <a:p>
            <a:pPr>
              <a:lnSpc>
                <a:spcPct val="95000"/>
              </a:lnSpc>
            </a:pPr>
            <a:r>
              <a:rPr lang="en-US" sz="1800" dirty="0">
                <a:solidFill>
                  <a:schemeClr val="bg1"/>
                </a:solidFill>
                <a:latin typeface="18 VAG Rounded Light   02390" pitchFamily="2" charset="0"/>
              </a:rPr>
              <a:t>Read memory at address</a:t>
            </a:r>
            <a:br>
              <a:rPr lang="en-US" sz="1800" dirty="0">
                <a:solidFill>
                  <a:schemeClr val="bg1"/>
                </a:solidFill>
                <a:latin typeface="18 VAG Rounded Light   02390" pitchFamily="2" charset="0"/>
              </a:rPr>
            </a:br>
            <a:r>
              <a:rPr lang="en-US" sz="1800" b="1" dirty="0" err="1">
                <a:solidFill>
                  <a:schemeClr val="bg1"/>
                </a:solidFill>
                <a:latin typeface="Courier New" panose="02070309020205020404" pitchFamily="49" charset="0"/>
                <a:cs typeface="Courier New" panose="02070309020205020404" pitchFamily="49" charset="0"/>
              </a:rPr>
              <a:t>alu</a:t>
            </a:r>
            <a:r>
              <a:rPr lang="en-US" sz="1800" b="1" dirty="0">
                <a:solidFill>
                  <a:schemeClr val="bg1"/>
                </a:solidFill>
                <a:latin typeface="Courier New" panose="02070309020205020404" pitchFamily="49" charset="0"/>
                <a:cs typeface="Courier New" panose="02070309020205020404" pitchFamily="49" charset="0"/>
              </a:rPr>
              <a:t> = R[rs1] + </a:t>
            </a:r>
            <a:r>
              <a:rPr lang="en-US" sz="1800" b="1" dirty="0" err="1">
                <a:solidFill>
                  <a:schemeClr val="bg1"/>
                </a:solidFill>
                <a:latin typeface="Courier New" panose="02070309020205020404" pitchFamily="49" charset="0"/>
                <a:cs typeface="Courier New" panose="02070309020205020404" pitchFamily="49" charset="0"/>
              </a:rPr>
              <a:t>imm</a:t>
            </a:r>
            <a:r>
              <a:rPr lang="en-US" sz="1800" dirty="0">
                <a:solidFill>
                  <a:schemeClr val="bg1"/>
                </a:solidFill>
                <a:latin typeface="18 VAG Rounded Light   02390" pitchFamily="2" charset="0"/>
              </a:rPr>
              <a:t>.</a:t>
            </a:r>
            <a:endParaRPr lang="en-US" sz="1800" b="1" dirty="0">
              <a:solidFill>
                <a:schemeClr val="accent4"/>
              </a:solidFill>
              <a:latin typeface="Courier New" panose="02070309020205020404" pitchFamily="49" charset="0"/>
              <a:cs typeface="Courier New" panose="02070309020205020404" pitchFamily="49" charset="0"/>
            </a:endParaRPr>
          </a:p>
        </p:txBody>
      </p:sp>
      <p:sp>
        <p:nvSpPr>
          <p:cNvPr id="57" name="Down Arrow 56">
            <a:extLst>
              <a:ext uri="{FF2B5EF4-FFF2-40B4-BE49-F238E27FC236}">
                <a16:creationId xmlns:a16="http://schemas.microsoft.com/office/drawing/2014/main" id="{D92BE08B-AD4B-85AD-8AA1-F4BA8223AC8B}"/>
              </a:ext>
            </a:extLst>
          </p:cNvPr>
          <p:cNvSpPr/>
          <p:nvPr/>
        </p:nvSpPr>
        <p:spPr>
          <a:xfrm>
            <a:off x="9210586" y="1782076"/>
            <a:ext cx="338898" cy="1724704"/>
          </a:xfrm>
          <a:prstGeom prst="downArrow">
            <a:avLst/>
          </a:prstGeom>
          <a:solidFill>
            <a:schemeClr val="accent6">
              <a:lumMod val="60000"/>
              <a:lumOff val="4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grpSp>
        <p:nvGrpSpPr>
          <p:cNvPr id="461" name="Group 460">
            <a:extLst>
              <a:ext uri="{FF2B5EF4-FFF2-40B4-BE49-F238E27FC236}">
                <a16:creationId xmlns:a16="http://schemas.microsoft.com/office/drawing/2014/main" id="{3FA5B7F1-4E76-2AD2-472F-EAF0408D03F5}"/>
              </a:ext>
            </a:extLst>
          </p:cNvPr>
          <p:cNvGrpSpPr/>
          <p:nvPr/>
        </p:nvGrpSpPr>
        <p:grpSpPr>
          <a:xfrm>
            <a:off x="9813916" y="1187745"/>
            <a:ext cx="2276158" cy="1899486"/>
            <a:chOff x="9813916" y="1187745"/>
            <a:chExt cx="2276158" cy="1899486"/>
          </a:xfrm>
        </p:grpSpPr>
        <p:sp>
          <p:nvSpPr>
            <p:cNvPr id="22" name="TextBox 21">
              <a:extLst>
                <a:ext uri="{FF2B5EF4-FFF2-40B4-BE49-F238E27FC236}">
                  <a16:creationId xmlns:a16="http://schemas.microsoft.com/office/drawing/2014/main" id="{DF33B203-E86E-4680-E927-9831E1FABFFB}"/>
                </a:ext>
              </a:extLst>
            </p:cNvPr>
            <p:cNvSpPr txBox="1"/>
            <p:nvPr/>
          </p:nvSpPr>
          <p:spPr>
            <a:xfrm>
              <a:off x="9813916" y="1187745"/>
              <a:ext cx="2276158" cy="885242"/>
            </a:xfrm>
            <a:prstGeom prst="rect">
              <a:avLst/>
            </a:prstGeom>
            <a:noFill/>
          </p:spPr>
          <p:txBody>
            <a:bodyPr wrap="square" rtlCol="0">
              <a:spAutoFit/>
            </a:bodyPr>
            <a:lstStyle/>
            <a:p>
              <a:pPr algn="r">
                <a:lnSpc>
                  <a:spcPct val="95000"/>
                </a:lnSpc>
              </a:pPr>
              <a:r>
                <a:rPr lang="en-US" sz="1800" dirty="0">
                  <a:solidFill>
                    <a:schemeClr val="bg1"/>
                  </a:solidFill>
                  <a:latin typeface="18 VAG Rounded Light   02390" pitchFamily="2" charset="0"/>
                </a:rPr>
                <a:t>If load instruction, save </a:t>
              </a:r>
              <a:r>
                <a:rPr lang="en-US" sz="1800" b="1" dirty="0">
                  <a:solidFill>
                    <a:schemeClr val="accent6"/>
                  </a:solidFill>
                  <a:latin typeface="Courier New" panose="02070309020205020404" pitchFamily="49" charset="0"/>
                  <a:cs typeface="Courier New" panose="02070309020205020404" pitchFamily="49" charset="0"/>
                </a:rPr>
                <a:t>mem</a:t>
              </a:r>
              <a:r>
                <a:rPr lang="en-US" sz="1800" dirty="0">
                  <a:solidFill>
                    <a:schemeClr val="bg1"/>
                  </a:solidFill>
                  <a:latin typeface="18 VAG Rounded Light   02390" pitchFamily="2" charset="0"/>
                </a:rPr>
                <a:t>.</a:t>
              </a:r>
              <a:br>
                <a:rPr lang="en-US" sz="1800" dirty="0">
                  <a:solidFill>
                    <a:schemeClr val="bg1"/>
                  </a:solidFill>
                  <a:latin typeface="18 VAG Rounded Light   02390" pitchFamily="2" charset="0"/>
                </a:rPr>
              </a:br>
              <a:r>
                <a:rPr lang="en-US" sz="1800" dirty="0">
                  <a:solidFill>
                    <a:schemeClr val="bg1"/>
                  </a:solidFill>
                  <a:latin typeface="18 VAG Rounded Light   02390" pitchFamily="2" charset="0"/>
                </a:rPr>
                <a:t>Otherwise, save </a:t>
              </a:r>
              <a:r>
                <a:rPr lang="en-US" sz="1800" b="1" dirty="0" err="1">
                  <a:solidFill>
                    <a:schemeClr val="accent1"/>
                  </a:solidFill>
                  <a:latin typeface="Courier New" panose="02070309020205020404" pitchFamily="49" charset="0"/>
                  <a:cs typeface="Courier New" panose="02070309020205020404" pitchFamily="49" charset="0"/>
                </a:rPr>
                <a:t>alu</a:t>
              </a:r>
              <a:r>
                <a:rPr lang="en-US" sz="1800" dirty="0">
                  <a:solidFill>
                    <a:schemeClr val="bg1"/>
                  </a:solidFill>
                  <a:latin typeface="18 VAG Rounded Light   02390" pitchFamily="2" charset="0"/>
                </a:rPr>
                <a:t>.</a:t>
              </a:r>
              <a:endParaRPr lang="en-US" sz="1800" b="1" dirty="0">
                <a:solidFill>
                  <a:schemeClr val="accent4"/>
                </a:solidFill>
                <a:latin typeface="Courier New" panose="02070309020205020404" pitchFamily="49" charset="0"/>
                <a:cs typeface="Courier New" panose="02070309020205020404" pitchFamily="49" charset="0"/>
              </a:endParaRPr>
            </a:p>
          </p:txBody>
        </p:sp>
        <p:sp>
          <p:nvSpPr>
            <p:cNvPr id="59" name="Down Arrow 58">
              <a:extLst>
                <a:ext uri="{FF2B5EF4-FFF2-40B4-BE49-F238E27FC236}">
                  <a16:creationId xmlns:a16="http://schemas.microsoft.com/office/drawing/2014/main" id="{124552C4-A60D-C9E6-BA82-747E05E2B524}"/>
                </a:ext>
              </a:extLst>
            </p:cNvPr>
            <p:cNvSpPr/>
            <p:nvPr/>
          </p:nvSpPr>
          <p:spPr>
            <a:xfrm>
              <a:off x="10455806" y="2101932"/>
              <a:ext cx="338898" cy="985299"/>
            </a:xfrm>
            <a:prstGeom prst="downArrow">
              <a:avLst/>
            </a:prstGeom>
            <a:solidFill>
              <a:schemeClr val="accent4">
                <a:lumMod val="60000"/>
                <a:lumOff val="4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grpSp>
      <p:cxnSp>
        <p:nvCxnSpPr>
          <p:cNvPr id="60" name="Straight Arrow Connector 59">
            <a:extLst>
              <a:ext uri="{FF2B5EF4-FFF2-40B4-BE49-F238E27FC236}">
                <a16:creationId xmlns:a16="http://schemas.microsoft.com/office/drawing/2014/main" id="{0BF1E212-2DC6-176C-D28B-C47FD0986927}"/>
              </a:ext>
            </a:extLst>
          </p:cNvPr>
          <p:cNvCxnSpPr>
            <a:cxnSpLocks/>
          </p:cNvCxnSpPr>
          <p:nvPr/>
        </p:nvCxnSpPr>
        <p:spPr>
          <a:xfrm flipV="1">
            <a:off x="9596488" y="4736341"/>
            <a:ext cx="0" cy="8011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0EB4868-81A2-C4DE-C374-64E30199B374}"/>
              </a:ext>
            </a:extLst>
          </p:cNvPr>
          <p:cNvSpPr txBox="1"/>
          <p:nvPr/>
        </p:nvSpPr>
        <p:spPr>
          <a:xfrm>
            <a:off x="9285659" y="5555777"/>
            <a:ext cx="817853"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MemRW</a:t>
            </a:r>
            <a:endParaRPr lang="en-US" sz="1400" dirty="0">
              <a:solidFill>
                <a:schemeClr val="accent3"/>
              </a:solidFill>
              <a:latin typeface="18 VAG Rounded Light   02390" pitchFamily="2" charset="0"/>
            </a:endParaRPr>
          </a:p>
          <a:p>
            <a:pPr algn="ctr">
              <a:lnSpc>
                <a:spcPct val="85000"/>
              </a:lnSpc>
            </a:pPr>
            <a:r>
              <a:rPr lang="en-US" sz="1400" dirty="0">
                <a:solidFill>
                  <a:schemeClr val="accent6"/>
                </a:solidFill>
                <a:latin typeface="18 VAG Rounded Light   02390" pitchFamily="2" charset="0"/>
              </a:rPr>
              <a:t>Read</a:t>
            </a:r>
          </a:p>
        </p:txBody>
      </p:sp>
      <p:sp>
        <p:nvSpPr>
          <p:cNvPr id="62" name="TextBox 61">
            <a:extLst>
              <a:ext uri="{FF2B5EF4-FFF2-40B4-BE49-F238E27FC236}">
                <a16:creationId xmlns:a16="http://schemas.microsoft.com/office/drawing/2014/main" id="{C428BA7A-2988-8D4D-53DB-2D2B76B7F299}"/>
              </a:ext>
            </a:extLst>
          </p:cNvPr>
          <p:cNvSpPr txBox="1"/>
          <p:nvPr/>
        </p:nvSpPr>
        <p:spPr>
          <a:xfrm>
            <a:off x="10252493" y="5557253"/>
            <a:ext cx="646331"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WBSel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4"/>
                </a:solidFill>
                <a:latin typeface="18 VAG Rounded Light   02390" pitchFamily="2" charset="0"/>
              </a:rPr>
              <a:t>0</a:t>
            </a:r>
          </a:p>
        </p:txBody>
      </p:sp>
      <p:cxnSp>
        <p:nvCxnSpPr>
          <p:cNvPr id="63" name="Straight Arrow Connector 62">
            <a:extLst>
              <a:ext uri="{FF2B5EF4-FFF2-40B4-BE49-F238E27FC236}">
                <a16:creationId xmlns:a16="http://schemas.microsoft.com/office/drawing/2014/main" id="{DE95DD85-BAE4-19CE-C696-9720FE80C59F}"/>
              </a:ext>
            </a:extLst>
          </p:cNvPr>
          <p:cNvCxnSpPr>
            <a:cxnSpLocks/>
          </p:cNvCxnSpPr>
          <p:nvPr/>
        </p:nvCxnSpPr>
        <p:spPr>
          <a:xfrm flipV="1">
            <a:off x="10664370" y="3759701"/>
            <a:ext cx="0" cy="17670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449" name="Group 448">
            <a:extLst>
              <a:ext uri="{FF2B5EF4-FFF2-40B4-BE49-F238E27FC236}">
                <a16:creationId xmlns:a16="http://schemas.microsoft.com/office/drawing/2014/main" id="{F5875CB4-51B8-39A0-916B-B26CE088C059}"/>
              </a:ext>
            </a:extLst>
          </p:cNvPr>
          <p:cNvGrpSpPr/>
          <p:nvPr/>
        </p:nvGrpSpPr>
        <p:grpSpPr>
          <a:xfrm>
            <a:off x="669619" y="2248996"/>
            <a:ext cx="2712208" cy="1417320"/>
            <a:chOff x="669619" y="2248996"/>
            <a:chExt cx="2712208" cy="1417320"/>
          </a:xfrm>
        </p:grpSpPr>
        <p:grpSp>
          <p:nvGrpSpPr>
            <p:cNvPr id="450" name="Group 449">
              <a:extLst>
                <a:ext uri="{FF2B5EF4-FFF2-40B4-BE49-F238E27FC236}">
                  <a16:creationId xmlns:a16="http://schemas.microsoft.com/office/drawing/2014/main" id="{389E5244-7FB2-B721-3D93-7B4AC5A31272}"/>
                </a:ext>
              </a:extLst>
            </p:cNvPr>
            <p:cNvGrpSpPr/>
            <p:nvPr/>
          </p:nvGrpSpPr>
          <p:grpSpPr>
            <a:xfrm>
              <a:off x="669619" y="2260284"/>
              <a:ext cx="2712208" cy="1389326"/>
              <a:chOff x="669619" y="2260284"/>
              <a:chExt cx="2712208" cy="1389326"/>
            </a:xfrm>
          </p:grpSpPr>
          <p:grpSp>
            <p:nvGrpSpPr>
              <p:cNvPr id="452" name="Group 451">
                <a:extLst>
                  <a:ext uri="{FF2B5EF4-FFF2-40B4-BE49-F238E27FC236}">
                    <a16:creationId xmlns:a16="http://schemas.microsoft.com/office/drawing/2014/main" id="{C327288D-75E6-6AA3-6182-E64D27359121}"/>
                  </a:ext>
                </a:extLst>
              </p:cNvPr>
              <p:cNvGrpSpPr/>
              <p:nvPr/>
            </p:nvGrpSpPr>
            <p:grpSpPr>
              <a:xfrm>
                <a:off x="675203" y="2260284"/>
                <a:ext cx="2706624" cy="477526"/>
                <a:chOff x="675203" y="2260284"/>
                <a:chExt cx="2706624" cy="477526"/>
              </a:xfrm>
            </p:grpSpPr>
            <p:cxnSp>
              <p:nvCxnSpPr>
                <p:cNvPr id="455" name="Elbow Connector 454">
                  <a:extLst>
                    <a:ext uri="{FF2B5EF4-FFF2-40B4-BE49-F238E27FC236}">
                      <a16:creationId xmlns:a16="http://schemas.microsoft.com/office/drawing/2014/main" id="{468760B0-2338-2560-4019-D446EF4AD0EB}"/>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Connector 457">
                  <a:extLst>
                    <a:ext uri="{FF2B5EF4-FFF2-40B4-BE49-F238E27FC236}">
                      <a16:creationId xmlns:a16="http://schemas.microsoft.com/office/drawing/2014/main" id="{D680C80E-C26D-D19D-12E5-5AB9665297BD}"/>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53" name="Straight Arrow Connector 452">
                <a:extLst>
                  <a:ext uri="{FF2B5EF4-FFF2-40B4-BE49-F238E27FC236}">
                    <a16:creationId xmlns:a16="http://schemas.microsoft.com/office/drawing/2014/main" id="{965BDE7C-4189-4250-2E87-EEC52D37E3DD}"/>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451" name="Straight Connector 450">
              <a:extLst>
                <a:ext uri="{FF2B5EF4-FFF2-40B4-BE49-F238E27FC236}">
                  <a16:creationId xmlns:a16="http://schemas.microsoft.com/office/drawing/2014/main" id="{37C5FD18-F3FD-4D11-8964-7F1679B197C6}"/>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86771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ounded Rectangle 34">
            <a:extLst>
              <a:ext uri="{FF2B5EF4-FFF2-40B4-BE49-F238E27FC236}">
                <a16:creationId xmlns:a16="http://schemas.microsoft.com/office/drawing/2014/main" id="{0F34E2EF-E6E4-480A-85BB-220BE1C28AFF}"/>
              </a:ext>
            </a:extLst>
          </p:cNvPr>
          <p:cNvSpPr/>
          <p:nvPr/>
        </p:nvSpPr>
        <p:spPr>
          <a:xfrm>
            <a:off x="4095066" y="4684066"/>
            <a:ext cx="734547" cy="615137"/>
          </a:xfrm>
          <a:prstGeom prst="roundRect">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bg1"/>
                </a:solidFill>
                <a:latin typeface="18 VAG Rounded Light   02390" pitchFamily="2" charset="0"/>
              </a:rPr>
              <a:t>Imm</a:t>
            </a:r>
            <a:r>
              <a:rPr lang="en-US" sz="1400" dirty="0">
                <a:solidFill>
                  <a:schemeClr val="bg1"/>
                </a:solidFill>
                <a:latin typeface="18 VAG Rounded Light   02390" pitchFamily="2" charset="0"/>
              </a:rPr>
              <a:t>. Gen</a:t>
            </a:r>
          </a:p>
        </p:txBody>
      </p:sp>
      <p:sp>
        <p:nvSpPr>
          <p:cNvPr id="33" name="TextBox 32">
            <a:extLst>
              <a:ext uri="{FF2B5EF4-FFF2-40B4-BE49-F238E27FC236}">
                <a16:creationId xmlns:a16="http://schemas.microsoft.com/office/drawing/2014/main" id="{2A5E8AD9-296E-37B4-4E87-99DCBDA65600}"/>
              </a:ext>
            </a:extLst>
          </p:cNvPr>
          <p:cNvSpPr txBox="1"/>
          <p:nvPr/>
        </p:nvSpPr>
        <p:spPr>
          <a:xfrm>
            <a:off x="3131237" y="4777354"/>
            <a:ext cx="1034257"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inst</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[31:7]</a:t>
            </a:r>
            <a:endParaRPr lang="en-US" sz="2000" b="1" dirty="0">
              <a:solidFill>
                <a:schemeClr val="accent5"/>
              </a:solidFill>
              <a:latin typeface="18 VAG Rounded Light   02390" pitchFamily="2" charset="0"/>
            </a:endParaRPr>
          </a:p>
        </p:txBody>
      </p: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accent5"/>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E4D1DEAE-7AAB-4FA5-9AC7-CEF254DF6C1E}"/>
              </a:ext>
            </a:extLst>
          </p:cNvPr>
          <p:cNvCxnSpPr>
            <a:cxnSpLocks/>
          </p:cNvCxnSpPr>
          <p:nvPr/>
        </p:nvCxnSpPr>
        <p:spPr>
          <a:xfrm>
            <a:off x="7983123" y="4427042"/>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lstStyle/>
          <a:p>
            <a:pPr>
              <a:tabLst>
                <a:tab pos="10280650" algn="r"/>
              </a:tabLst>
            </a:pPr>
            <a:r>
              <a:rPr lang="en-US" dirty="0"/>
              <a:t>Updated Blocks for </a:t>
            </a:r>
            <a:r>
              <a:rPr lang="en-US" dirty="0" err="1">
                <a:latin typeface="Courier New" panose="02070309020205020404" pitchFamily="49" charset="0"/>
                <a:cs typeface="Courier New" panose="02070309020205020404" pitchFamily="49" charset="0"/>
              </a:rPr>
              <a:t>sw</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sp>
        <p:nvSpPr>
          <p:cNvPr id="329" name="Isosceles Triangle 59">
            <a:extLst>
              <a:ext uri="{FF2B5EF4-FFF2-40B4-BE49-F238E27FC236}">
                <a16:creationId xmlns:a16="http://schemas.microsoft.com/office/drawing/2014/main" id="{4BB69EA9-5AFD-ECF3-6FBC-565768226B64}"/>
              </a:ext>
            </a:extLst>
          </p:cNvPr>
          <p:cNvSpPr/>
          <p:nvPr/>
        </p:nvSpPr>
        <p:spPr>
          <a:xfrm>
            <a:off x="9886099" y="4540637"/>
            <a:ext cx="182880"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accent5"/>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200437" y="345514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tx1">
                  <a:lumMod val="50000"/>
                  <a:lumOff val="50000"/>
                </a:schemeClr>
              </a:solidFill>
              <a:latin typeface="18 VAG Rounded Light   02390" pitchFamily="2" charset="0"/>
            </a:endParaRPr>
          </a:p>
        </p:txBody>
      </p:sp>
      <p:sp>
        <p:nvSpPr>
          <p:cNvPr id="309" name="Rectangle 308">
            <a:extLst>
              <a:ext uri="{FF2B5EF4-FFF2-40B4-BE49-F238E27FC236}">
                <a16:creationId xmlns:a16="http://schemas.microsoft.com/office/drawing/2014/main" id="{6BC64DA7-A1B1-1E33-61B5-D83764BAC155}"/>
              </a:ext>
            </a:extLst>
          </p:cNvPr>
          <p:cNvSpPr/>
          <p:nvPr/>
        </p:nvSpPr>
        <p:spPr>
          <a:xfrm>
            <a:off x="9120628" y="3586419"/>
            <a:ext cx="1021734" cy="1127284"/>
          </a:xfrm>
          <a:prstGeom prst="rect">
            <a:avLst/>
          </a:prstGeom>
          <a:noFill/>
          <a:ln w="5715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tx1">
                    <a:lumMod val="50000"/>
                    <a:lumOff val="50000"/>
                  </a:schemeClr>
                </a:solidFill>
                <a:latin typeface="18 VAG Rounded Light   02390" pitchFamily="2" charset="0"/>
              </a:rPr>
              <a:t>	</a:t>
            </a:r>
            <a:r>
              <a:rPr lang="en-US" sz="1400" i="1" dirty="0" err="1">
                <a:solidFill>
                  <a:schemeClr val="tx1">
                    <a:lumMod val="50000"/>
                    <a:lumOff val="50000"/>
                  </a:schemeClr>
                </a:solidFill>
                <a:latin typeface="18 VAG Rounded Light   02390" pitchFamily="2" charset="0"/>
              </a:rPr>
              <a:t>rdata</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spcBef>
                <a:spcPts val="400"/>
              </a:spcBef>
              <a:tabLst>
                <a:tab pos="1249363" algn="r"/>
              </a:tabLst>
            </a:pPr>
            <a:r>
              <a:rPr lang="en-US" sz="1600" b="1" dirty="0">
                <a:solidFill>
                  <a:schemeClr val="tx1">
                    <a:lumMod val="50000"/>
                    <a:lumOff val="50000"/>
                  </a:schemeClr>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bg1"/>
                </a:solidFill>
                <a:latin typeface="18 VAG ROUNDED LIGHT   02390" pitchFamily="2" charset="0"/>
                <a:cs typeface="Courier New" panose="02070309020205020404" pitchFamily="49" charset="0"/>
              </a:rPr>
              <a:t>wdata</a:t>
            </a:r>
            <a:r>
              <a:rPr lang="en-US" sz="1600" i="1" dirty="0">
                <a:solidFill>
                  <a:schemeClr val="bg1"/>
                </a:solidFill>
                <a:latin typeface="18 VAG ROUNDED LIGHT   02390" pitchFamily="2" charset="0"/>
                <a:cs typeface="Courier New" panose="02070309020205020404" pitchFamily="49" charset="0"/>
              </a:rPr>
              <a:t> </a:t>
            </a:r>
            <a:endParaRPr lang="en-US" sz="1200" i="1" dirty="0">
              <a:solidFill>
                <a:schemeClr val="bg1"/>
              </a:solidFill>
              <a:latin typeface="18 VAG ROUNDED LIGHT   02390" pitchFamily="2" charset="0"/>
              <a:cs typeface="Courier New" panose="02070309020205020404" pitchFamily="49" charset="0"/>
            </a:endParaRPr>
          </a:p>
        </p:txBody>
      </p:sp>
      <p:cxnSp>
        <p:nvCxnSpPr>
          <p:cNvPr id="449" name="Straight Arrow Connector 448">
            <a:extLst>
              <a:ext uri="{FF2B5EF4-FFF2-40B4-BE49-F238E27FC236}">
                <a16:creationId xmlns:a16="http://schemas.microsoft.com/office/drawing/2014/main" id="{98CA2B2E-5BEF-6E19-FC37-311D08B845B0}"/>
              </a:ext>
            </a:extLst>
          </p:cNvPr>
          <p:cNvCxnSpPr>
            <a:cxnSpLocks/>
          </p:cNvCxnSpPr>
          <p:nvPr/>
        </p:nvCxnSpPr>
        <p:spPr>
          <a:xfrm flipV="1">
            <a:off x="9596488" y="4736341"/>
            <a:ext cx="0" cy="8011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a:ln>
            <a:noFill/>
          </a:ln>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sp>
        <p:nvSpPr>
          <p:cNvPr id="461" name="TextBox 460">
            <a:extLst>
              <a:ext uri="{FF2B5EF4-FFF2-40B4-BE49-F238E27FC236}">
                <a16:creationId xmlns:a16="http://schemas.microsoft.com/office/drawing/2014/main" id="{FE738B2C-2C36-2578-E323-38E7D6FA3739}"/>
              </a:ext>
            </a:extLst>
          </p:cNvPr>
          <p:cNvSpPr txBox="1"/>
          <p:nvPr/>
        </p:nvSpPr>
        <p:spPr>
          <a:xfrm>
            <a:off x="9813943" y="4842550"/>
            <a:ext cx="341760" cy="261610"/>
          </a:xfrm>
          <a:prstGeom prst="rect">
            <a:avLst/>
          </a:prstGeom>
          <a:noFill/>
          <a:ln>
            <a:noFill/>
          </a:ln>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62" name="Straight Connector 461">
            <a:extLst>
              <a:ext uri="{FF2B5EF4-FFF2-40B4-BE49-F238E27FC236}">
                <a16:creationId xmlns:a16="http://schemas.microsoft.com/office/drawing/2014/main" id="{C60DDE42-432D-6CCE-975F-C92E5D285C26}"/>
              </a:ext>
            </a:extLst>
          </p:cNvPr>
          <p:cNvCxnSpPr>
            <a:cxnSpLocks/>
            <a:stCxn id="461" idx="0"/>
          </p:cNvCxnSpPr>
          <p:nvPr/>
        </p:nvCxnSpPr>
        <p:spPr>
          <a:xfrm flipV="1">
            <a:off x="9984823" y="4713414"/>
            <a:ext cx="0" cy="129136"/>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1" i="0" u="none" strike="noStrike" kern="1200" cap="none" spc="0" normalizeH="0" baseline="0" noProof="0" dirty="0" err="1">
                <a:ln>
                  <a:noFill/>
                </a:ln>
                <a:solidFill>
                  <a:schemeClr val="accent5"/>
                </a:solidFill>
                <a:effectLst/>
                <a:uLnTx/>
                <a:uFillTx/>
                <a:latin typeface="Courier New" panose="02070309020205020404" pitchFamily="49" charset="0"/>
                <a:ea typeface="+mn-ea"/>
                <a:cs typeface="Courier New" panose="02070309020205020404" pitchFamily="49" charset="0"/>
              </a:rPr>
              <a:t>imm</a:t>
            </a:r>
            <a:r>
              <a:rPr kumimoji="0" lang="en-US" sz="1100" b="1" i="0" u="none" strike="noStrike" kern="1200" cap="none" spc="0" normalizeH="0" baseline="0" noProof="0" dirty="0">
                <a:ln>
                  <a:noFill/>
                </a:ln>
                <a:solidFill>
                  <a:schemeClr val="accent5"/>
                </a:solidFill>
                <a:effectLst/>
                <a:uLnTx/>
                <a:uFillTx/>
                <a:latin typeface="Courier New" panose="02070309020205020404" pitchFamily="49" charset="0"/>
                <a:ea typeface="+mn-ea"/>
                <a:cs typeface="Courier New" panose="02070309020205020404" pitchFamily="49" charset="0"/>
              </a:rPr>
              <a:t>[31:0]</a:t>
            </a:r>
            <a:endParaRPr lang="en-US" sz="2000" b="1" dirty="0">
              <a:solidFill>
                <a:schemeClr val="accent5"/>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tx1">
                  <a:lumMod val="50000"/>
                  <a:lumOff val="50000"/>
                </a:schemeClr>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5" name="TextBox 154">
            <a:extLst>
              <a:ext uri="{FF2B5EF4-FFF2-40B4-BE49-F238E27FC236}">
                <a16:creationId xmlns:a16="http://schemas.microsoft.com/office/drawing/2014/main" id="{805FC406-05B2-8242-650C-D6E9D3BC10DC}"/>
              </a:ext>
            </a:extLst>
          </p:cNvPr>
          <p:cNvSpPr txBox="1"/>
          <p:nvPr/>
        </p:nvSpPr>
        <p:spPr>
          <a:xfrm>
            <a:off x="4062897" y="5552119"/>
            <a:ext cx="817853" cy="52014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b="1" dirty="0">
                <a:solidFill>
                  <a:schemeClr val="accent5"/>
                </a:solidFill>
                <a:latin typeface="Courier New" panose="02070309020205020404" pitchFamily="49" charset="0"/>
                <a:cs typeface="Courier New" panose="02070309020205020404" pitchFamily="49" charset="0"/>
              </a:rPr>
              <a:t>S</a:t>
            </a: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BSel</a:t>
            </a:r>
            <a:endParaRPr lang="en-US" sz="1200" dirty="0">
              <a:solidFill>
                <a:schemeClr val="tx1">
                  <a:lumMod val="50000"/>
                  <a:lumOff val="50000"/>
                </a:schemeClr>
              </a:solidFill>
              <a:latin typeface="18 VAG Rounded Light   02390" pitchFamily="2" charset="0"/>
            </a:endParaRPr>
          </a:p>
        </p:txBody>
      </p:sp>
      <p:sp>
        <p:nvSpPr>
          <p:cNvPr id="163" name="TextBox 162">
            <a:extLst>
              <a:ext uri="{FF2B5EF4-FFF2-40B4-BE49-F238E27FC236}">
                <a16:creationId xmlns:a16="http://schemas.microsoft.com/office/drawing/2014/main" id="{0D0C1867-1FFD-F311-31BB-7C2A4E3DB4AD}"/>
              </a:ext>
            </a:extLst>
          </p:cNvPr>
          <p:cNvSpPr txBox="1"/>
          <p:nvPr/>
        </p:nvSpPr>
        <p:spPr>
          <a:xfrm>
            <a:off x="8421291" y="5536765"/>
            <a:ext cx="702436"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ALUSel</a:t>
            </a:r>
            <a:endParaRPr lang="en-US" sz="1400" dirty="0">
              <a:solidFill>
                <a:schemeClr val="tx1">
                  <a:lumMod val="50000"/>
                  <a:lumOff val="50000"/>
                </a:schemeClr>
              </a:solidFill>
              <a:latin typeface="18 VAG Rounded Light   02390" pitchFamily="2" charset="0"/>
            </a:endParaRPr>
          </a:p>
        </p:txBody>
      </p:sp>
      <p:sp>
        <p:nvSpPr>
          <p:cNvPr id="164" name="TextBox 163">
            <a:extLst>
              <a:ext uri="{FF2B5EF4-FFF2-40B4-BE49-F238E27FC236}">
                <a16:creationId xmlns:a16="http://schemas.microsoft.com/office/drawing/2014/main" id="{0574EDEE-392B-DC05-E19A-7C22B2FFABF2}"/>
              </a:ext>
            </a:extLst>
          </p:cNvPr>
          <p:cNvSpPr txBox="1"/>
          <p:nvPr/>
        </p:nvSpPr>
        <p:spPr>
          <a:xfrm>
            <a:off x="9285659" y="5555777"/>
            <a:ext cx="817853"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MemRW</a:t>
            </a:r>
            <a:endParaRPr lang="en-US" sz="1400" dirty="0">
              <a:solidFill>
                <a:schemeClr val="accent3"/>
              </a:solidFill>
              <a:latin typeface="18 VAG Rounded Light   02390" pitchFamily="2" charset="0"/>
            </a:endParaRPr>
          </a:p>
          <a:p>
            <a:pPr algn="ctr">
              <a:lnSpc>
                <a:spcPct val="85000"/>
              </a:lnSpc>
            </a:pPr>
            <a:r>
              <a:rPr lang="en-US" sz="1400" dirty="0">
                <a:solidFill>
                  <a:schemeClr val="accent6"/>
                </a:solidFill>
                <a:latin typeface="18 VAG Rounded Light   02390" pitchFamily="2" charset="0"/>
              </a:rPr>
              <a:t>Write</a:t>
            </a:r>
          </a:p>
        </p:txBody>
      </p:sp>
      <p:sp>
        <p:nvSpPr>
          <p:cNvPr id="165" name="TextBox 164">
            <a:extLst>
              <a:ext uri="{FF2B5EF4-FFF2-40B4-BE49-F238E27FC236}">
                <a16:creationId xmlns:a16="http://schemas.microsoft.com/office/drawing/2014/main" id="{FF0F850A-25DC-02DE-3D8E-F4BBFD4155E2}"/>
              </a:ext>
            </a:extLst>
          </p:cNvPr>
          <p:cNvSpPr txBox="1"/>
          <p:nvPr/>
        </p:nvSpPr>
        <p:spPr>
          <a:xfrm>
            <a:off x="10252493" y="5557253"/>
            <a:ext cx="646331"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WBSel</a:t>
            </a:r>
            <a:endParaRPr lang="en-US" sz="1400" dirty="0">
              <a:solidFill>
                <a:schemeClr val="tx1">
                  <a:lumMod val="50000"/>
                  <a:lumOff val="50000"/>
                </a:schemeClr>
              </a:solidFill>
              <a:latin typeface="18 VAG Rounded Light   02390" pitchFamily="2" charset="0"/>
            </a:endParaRPr>
          </a:p>
        </p:txBody>
      </p:sp>
      <p:cxnSp>
        <p:nvCxnSpPr>
          <p:cNvPr id="166" name="Straight Arrow Connector 165">
            <a:extLst>
              <a:ext uri="{FF2B5EF4-FFF2-40B4-BE49-F238E27FC236}">
                <a16:creationId xmlns:a16="http://schemas.microsoft.com/office/drawing/2014/main" id="{D5574E08-8C14-422C-BD9C-969F4F3B25C2}"/>
              </a:ext>
            </a:extLst>
          </p:cNvPr>
          <p:cNvCxnSpPr>
            <a:cxnSpLocks/>
          </p:cNvCxnSpPr>
          <p:nvPr/>
        </p:nvCxnSpPr>
        <p:spPr>
          <a:xfrm flipV="1">
            <a:off x="10664370" y="3759701"/>
            <a:ext cx="0" cy="17670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tx1">
                    <a:lumMod val="50000"/>
                    <a:lumOff val="50000"/>
                  </a:schemeClr>
                </a:solidFill>
                <a:latin typeface="18 VAG Rounded Light   02390" pitchFamily="2" charset="0"/>
              </a:rPr>
              <a:t>wdata</a:t>
            </a:r>
            <a:endParaRPr lang="en-US" sz="1400" i="1" dirty="0">
              <a:solidFill>
                <a:schemeClr val="tx1">
                  <a:lumMod val="50000"/>
                  <a:lumOff val="50000"/>
                </a:schemeClr>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3CD8F465-4708-7101-87E2-4AAEE10F4240}"/>
              </a:ext>
            </a:extLst>
          </p:cNvPr>
          <p:cNvCxnSpPr>
            <a:cxnSpLocks/>
          </p:cNvCxnSpPr>
          <p:nvPr/>
        </p:nvCxnSpPr>
        <p:spPr>
          <a:xfrm>
            <a:off x="8861193" y="3967940"/>
            <a:ext cx="29744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19" name="Freeform 318">
            <a:extLst>
              <a:ext uri="{FF2B5EF4-FFF2-40B4-BE49-F238E27FC236}">
                <a16:creationId xmlns:a16="http://schemas.microsoft.com/office/drawing/2014/main" id="{50D48F20-2317-959C-0E0D-67B0974EEDE2}"/>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A</a:t>
            </a:r>
            <a:endParaRPr lang="en-US" sz="1600" dirty="0">
              <a:solidFill>
                <a:schemeClr val="tx1">
                  <a:lumMod val="50000"/>
                  <a:lumOff val="50000"/>
                </a:schemeClr>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tx1">
                    <a:lumMod val="50000"/>
                    <a:lumOff val="50000"/>
                  </a:schemeClr>
                </a:solidFill>
                <a:latin typeface="18 VAG Rounded Light   02390" pitchFamily="2" charset="0"/>
              </a:rPr>
              <a:t>ALU</a:t>
            </a:r>
          </a:p>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B</a:t>
            </a:r>
          </a:p>
        </p:txBody>
      </p:sp>
      <p:sp>
        <p:nvSpPr>
          <p:cNvPr id="12" name="TextBox 11">
            <a:extLst>
              <a:ext uri="{FF2B5EF4-FFF2-40B4-BE49-F238E27FC236}">
                <a16:creationId xmlns:a16="http://schemas.microsoft.com/office/drawing/2014/main" id="{F89BF9E9-DBDE-9ABE-5DC3-F471518D1619}"/>
              </a:ext>
            </a:extLst>
          </p:cNvPr>
          <p:cNvSpPr txBox="1"/>
          <p:nvPr/>
        </p:nvSpPr>
        <p:spPr>
          <a:xfrm>
            <a:off x="7982779" y="1378561"/>
            <a:ext cx="4053248" cy="618631"/>
          </a:xfrm>
          <a:prstGeom prst="rect">
            <a:avLst/>
          </a:prstGeom>
          <a:noFill/>
        </p:spPr>
        <p:txBody>
          <a:bodyPr wrap="square" rtlCol="0">
            <a:spAutoFit/>
          </a:bodyPr>
          <a:lstStyle/>
          <a:p>
            <a:pPr algn="l">
              <a:lnSpc>
                <a:spcPct val="95000"/>
              </a:lnSpc>
            </a:pPr>
            <a:r>
              <a:rPr lang="en-US" sz="1800" dirty="0">
                <a:solidFill>
                  <a:schemeClr val="accent6"/>
                </a:solidFill>
                <a:latin typeface="18 VAG Rounded Light   02390" pitchFamily="2" charset="0"/>
              </a:rPr>
              <a:t>Control </a:t>
            </a:r>
            <a:r>
              <a:rPr lang="en-US" sz="1800" dirty="0" err="1">
                <a:solidFill>
                  <a:schemeClr val="accent3"/>
                </a:solidFill>
                <a:latin typeface="18 VAG Rounded Light   02390" pitchFamily="2" charset="0"/>
              </a:rPr>
              <a:t>MemRW</a:t>
            </a:r>
            <a:r>
              <a:rPr lang="en-US" sz="1800" dirty="0">
                <a:solidFill>
                  <a:schemeClr val="accent6"/>
                </a:solidFill>
                <a:latin typeface="18 VAG Rounded Light   02390" pitchFamily="2" charset="0"/>
              </a:rPr>
              <a:t>=Write saves </a:t>
            </a:r>
            <a:r>
              <a:rPr lang="en-US" sz="1800" b="1" dirty="0">
                <a:solidFill>
                  <a:schemeClr val="accent6"/>
                </a:solidFill>
                <a:latin typeface="Courier New" panose="02070309020205020404" pitchFamily="49" charset="0"/>
                <a:cs typeface="Courier New" panose="02070309020205020404" pitchFamily="49" charset="0"/>
              </a:rPr>
              <a:t>rs2</a:t>
            </a:r>
            <a:r>
              <a:rPr lang="en-US" sz="1800" dirty="0">
                <a:solidFill>
                  <a:schemeClr val="accent6"/>
                </a:solidFill>
                <a:latin typeface="18 VAG Rounded Light   02390" pitchFamily="2" charset="0"/>
              </a:rPr>
              <a:t> to memory on the next rising clock edge.</a:t>
            </a:r>
          </a:p>
        </p:txBody>
      </p:sp>
      <p:sp>
        <p:nvSpPr>
          <p:cNvPr id="14" name="Trapezoid 13">
            <a:extLst>
              <a:ext uri="{FF2B5EF4-FFF2-40B4-BE49-F238E27FC236}">
                <a16:creationId xmlns:a16="http://schemas.microsoft.com/office/drawing/2014/main" id="{1FA82655-74D3-4483-7C00-4AA72A5B4B28}"/>
              </a:ext>
            </a:extLst>
          </p:cNvPr>
          <p:cNvSpPr/>
          <p:nvPr/>
        </p:nvSpPr>
        <p:spPr>
          <a:xfrm rot="5400000">
            <a:off x="7564091" y="4309794"/>
            <a:ext cx="598172" cy="234496"/>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sp>
        <p:nvSpPr>
          <p:cNvPr id="34" name="Rounded Rectangle 33">
            <a:extLst>
              <a:ext uri="{FF2B5EF4-FFF2-40B4-BE49-F238E27FC236}">
                <a16:creationId xmlns:a16="http://schemas.microsoft.com/office/drawing/2014/main" id="{5FF65934-C540-D4EB-5E26-A7998F695809}"/>
              </a:ext>
            </a:extLst>
          </p:cNvPr>
          <p:cNvSpPr/>
          <p:nvPr/>
        </p:nvSpPr>
        <p:spPr>
          <a:xfrm>
            <a:off x="4095066" y="4684066"/>
            <a:ext cx="734547" cy="615137"/>
          </a:xfrm>
          <a:prstGeom prst="roundRect">
            <a:avLst/>
          </a:prstGeom>
          <a:solidFill>
            <a:srgbClr val="011223"/>
          </a:solidFill>
          <a:ln w="5715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accent5"/>
                </a:solidFill>
                <a:latin typeface="18 VAG Rounded Light   02390" pitchFamily="2" charset="0"/>
              </a:rPr>
              <a:t>Imm</a:t>
            </a:r>
            <a:r>
              <a:rPr lang="en-US" sz="1400" dirty="0">
                <a:solidFill>
                  <a:schemeClr val="accent5"/>
                </a:solidFill>
                <a:latin typeface="18 VAG Rounded Light   02390" pitchFamily="2" charset="0"/>
              </a:rPr>
              <a:t>. Gen</a:t>
            </a:r>
          </a:p>
        </p:txBody>
      </p:sp>
      <p:cxnSp>
        <p:nvCxnSpPr>
          <p:cNvPr id="37" name="Straight Arrow Connector 36">
            <a:extLst>
              <a:ext uri="{FF2B5EF4-FFF2-40B4-BE49-F238E27FC236}">
                <a16:creationId xmlns:a16="http://schemas.microsoft.com/office/drawing/2014/main" id="{844C30EE-0B46-F596-A1E7-DBBD05AA6E8C}"/>
              </a:ext>
            </a:extLst>
          </p:cNvPr>
          <p:cNvCxnSpPr>
            <a:cxnSpLocks/>
          </p:cNvCxnSpPr>
          <p:nvPr/>
        </p:nvCxnSpPr>
        <p:spPr>
          <a:xfrm>
            <a:off x="6246032" y="3676635"/>
            <a:ext cx="203911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CEAE60E-1B04-A561-A120-15A6EECD0B3C}"/>
              </a:ext>
            </a:extLst>
          </p:cNvPr>
          <p:cNvCxnSpPr>
            <a:cxnSpLocks/>
          </p:cNvCxnSpPr>
          <p:nvPr/>
        </p:nvCxnSpPr>
        <p:spPr>
          <a:xfrm flipV="1">
            <a:off x="10142760" y="3707112"/>
            <a:ext cx="403456" cy="763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E3F4F1F9-4F76-1372-D4F1-22ECF8F756A1}"/>
              </a:ext>
            </a:extLst>
          </p:cNvPr>
          <p:cNvGrpSpPr/>
          <p:nvPr/>
        </p:nvGrpSpPr>
        <p:grpSpPr>
          <a:xfrm>
            <a:off x="3802643" y="2375192"/>
            <a:ext cx="7334708" cy="1124151"/>
            <a:chOff x="3802643" y="2375192"/>
            <a:chExt cx="7334708" cy="1124151"/>
          </a:xfrm>
          <a:effectLst/>
        </p:grpSpPr>
        <p:cxnSp>
          <p:nvCxnSpPr>
            <p:cNvPr id="40" name="Elbow Connector 39">
              <a:extLst>
                <a:ext uri="{FF2B5EF4-FFF2-40B4-BE49-F238E27FC236}">
                  <a16:creationId xmlns:a16="http://schemas.microsoft.com/office/drawing/2014/main" id="{AF93AAFC-A844-9592-B8A6-40257AC06B05}"/>
                </a:ext>
              </a:extLst>
            </p:cNvPr>
            <p:cNvCxnSpPr>
              <a:cxnSpLocks/>
            </p:cNvCxnSpPr>
            <p:nvPr/>
          </p:nvCxnSpPr>
          <p:spPr>
            <a:xfrm rot="16200000" flipH="1">
              <a:off x="3970539" y="2216906"/>
              <a:ext cx="657210" cy="993002"/>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0BE1E6D-A9DA-D5A7-EE77-201810F89177}"/>
                </a:ext>
              </a:extLst>
            </p:cNvPr>
            <p:cNvCxnSpPr/>
            <p:nvPr/>
          </p:nvCxnSpPr>
          <p:spPr>
            <a:xfrm>
              <a:off x="3802643" y="2384802"/>
              <a:ext cx="7334708" cy="6903"/>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726D6F6D-DB6D-7664-F2B0-A90EB5753625}"/>
                </a:ext>
              </a:extLst>
            </p:cNvPr>
            <p:cNvCxnSpPr>
              <a:cxnSpLocks/>
              <a:stCxn id="43" idx="0"/>
            </p:cNvCxnSpPr>
            <p:nvPr/>
          </p:nvCxnSpPr>
          <p:spPr>
            <a:xfrm flipV="1">
              <a:off x="10817058" y="2375192"/>
              <a:ext cx="320293" cy="1124151"/>
            </a:xfrm>
            <a:prstGeom prst="bentConnector2">
              <a:avLst/>
            </a:prstGeom>
            <a:ln w="2857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43" name="Trapezoid 42">
            <a:extLst>
              <a:ext uri="{FF2B5EF4-FFF2-40B4-BE49-F238E27FC236}">
                <a16:creationId xmlns:a16="http://schemas.microsoft.com/office/drawing/2014/main" id="{3D49AA6C-FDC0-F71F-C1EB-10C8698B9FBB}"/>
              </a:ext>
            </a:extLst>
          </p:cNvPr>
          <p:cNvSpPr/>
          <p:nvPr/>
        </p:nvSpPr>
        <p:spPr>
          <a:xfrm rot="5400000">
            <a:off x="10337532" y="3361302"/>
            <a:ext cx="682970" cy="276082"/>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p:txBody>
      </p:sp>
      <p:cxnSp>
        <p:nvCxnSpPr>
          <p:cNvPr id="52" name="Elbow Connector 51">
            <a:extLst>
              <a:ext uri="{FF2B5EF4-FFF2-40B4-BE49-F238E27FC236}">
                <a16:creationId xmlns:a16="http://schemas.microsoft.com/office/drawing/2014/main" id="{57CF8F99-0286-E37E-F3FB-E0346336384D}"/>
              </a:ext>
            </a:extLst>
          </p:cNvPr>
          <p:cNvCxnSpPr>
            <a:cxnSpLocks/>
          </p:cNvCxnSpPr>
          <p:nvPr/>
        </p:nvCxnSpPr>
        <p:spPr>
          <a:xfrm flipV="1">
            <a:off x="8929306" y="3375224"/>
            <a:ext cx="1611670" cy="592716"/>
          </a:xfrm>
          <a:prstGeom prst="bentConnector3">
            <a:avLst>
              <a:gd name="adj1" fmla="val 288"/>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1" name="Down Arrow 180">
            <a:extLst>
              <a:ext uri="{FF2B5EF4-FFF2-40B4-BE49-F238E27FC236}">
                <a16:creationId xmlns:a16="http://schemas.microsoft.com/office/drawing/2014/main" id="{14165230-C955-91A8-A885-C783996D26E7}"/>
              </a:ext>
            </a:extLst>
          </p:cNvPr>
          <p:cNvSpPr/>
          <p:nvPr/>
        </p:nvSpPr>
        <p:spPr>
          <a:xfrm>
            <a:off x="9210586" y="1925880"/>
            <a:ext cx="338898" cy="1580900"/>
          </a:xfrm>
          <a:prstGeom prst="downArrow">
            <a:avLst/>
          </a:prstGeom>
          <a:solidFill>
            <a:schemeClr val="accent6">
              <a:lumMod val="60000"/>
              <a:lumOff val="4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tx1">
                  <a:lumMod val="50000"/>
                  <a:lumOff val="50000"/>
                </a:schemeClr>
              </a:solidFill>
              <a:latin typeface="18 VAG Rounded Light   02390" pitchFamily="2" charset="0"/>
            </a:endParaRPr>
          </a:p>
        </p:txBody>
      </p:sp>
      <p:sp>
        <p:nvSpPr>
          <p:cNvPr id="55" name="TextBox 54">
            <a:extLst>
              <a:ext uri="{FF2B5EF4-FFF2-40B4-BE49-F238E27FC236}">
                <a16:creationId xmlns:a16="http://schemas.microsoft.com/office/drawing/2014/main" id="{91CA6838-BFD6-90A2-80BB-BBF4B38A452B}"/>
              </a:ext>
            </a:extLst>
          </p:cNvPr>
          <p:cNvSpPr txBox="1"/>
          <p:nvPr/>
        </p:nvSpPr>
        <p:spPr>
          <a:xfrm>
            <a:off x="3180493" y="1057457"/>
            <a:ext cx="2443232" cy="885242"/>
          </a:xfrm>
          <a:prstGeom prst="rect">
            <a:avLst/>
          </a:prstGeom>
          <a:noFill/>
        </p:spPr>
        <p:txBody>
          <a:bodyPr wrap="square" rtlCol="0">
            <a:spAutoFit/>
          </a:bodyPr>
          <a:lstStyle/>
          <a:p>
            <a:pPr algn="l">
              <a:lnSpc>
                <a:spcPct val="95000"/>
              </a:lnSpc>
            </a:pPr>
            <a:r>
              <a:rPr lang="en-US" sz="1800" dirty="0">
                <a:solidFill>
                  <a:schemeClr val="accent5"/>
                </a:solidFill>
                <a:latin typeface="18 VAG Rounded Light   02390" pitchFamily="2" charset="0"/>
              </a:rPr>
              <a:t>Control </a:t>
            </a:r>
            <a:r>
              <a:rPr lang="en-US" sz="1800" dirty="0" err="1">
                <a:solidFill>
                  <a:schemeClr val="accent3"/>
                </a:solidFill>
                <a:latin typeface="18 VAG Rounded Light   02390" pitchFamily="2" charset="0"/>
              </a:rPr>
              <a:t>ImmSel</a:t>
            </a:r>
            <a:r>
              <a:rPr lang="en-US" sz="1800" dirty="0">
                <a:solidFill>
                  <a:schemeClr val="accent5"/>
                </a:solidFill>
                <a:latin typeface="18 VAG Rounded Light   02390" pitchFamily="2" charset="0"/>
              </a:rPr>
              <a:t> selects how to generate immediate type: </a:t>
            </a:r>
            <a:r>
              <a:rPr lang="en-US" sz="1800" b="1" dirty="0">
                <a:solidFill>
                  <a:schemeClr val="accent5"/>
                </a:solidFill>
                <a:latin typeface="Courier New" panose="02070309020205020404" pitchFamily="49" charset="0"/>
                <a:cs typeface="Courier New" panose="02070309020205020404" pitchFamily="49" charset="0"/>
              </a:rPr>
              <a:t>I</a:t>
            </a:r>
            <a:r>
              <a:rPr lang="en-US" sz="1800" dirty="0">
                <a:solidFill>
                  <a:schemeClr val="accent5"/>
                </a:solidFill>
                <a:latin typeface="18 VAG Rounded Light   02390" pitchFamily="2" charset="0"/>
              </a:rPr>
              <a:t>, </a:t>
            </a:r>
            <a:r>
              <a:rPr lang="en-US" sz="1800" b="1" dirty="0">
                <a:solidFill>
                  <a:schemeClr val="accent5"/>
                </a:solidFill>
                <a:latin typeface="Courier New" panose="02070309020205020404" pitchFamily="49" charset="0"/>
                <a:cs typeface="Courier New" panose="02070309020205020404" pitchFamily="49" charset="0"/>
              </a:rPr>
              <a:t>S</a:t>
            </a:r>
            <a:r>
              <a:rPr lang="en-US" sz="1800" dirty="0">
                <a:solidFill>
                  <a:schemeClr val="accent5"/>
                </a:solidFill>
                <a:latin typeface="18 VAG Rounded Light   02390" pitchFamily="2" charset="0"/>
              </a:rPr>
              <a:t>.</a:t>
            </a:r>
          </a:p>
        </p:txBody>
      </p:sp>
      <p:sp>
        <p:nvSpPr>
          <p:cNvPr id="6" name="TextBox 5">
            <a:extLst>
              <a:ext uri="{FF2B5EF4-FFF2-40B4-BE49-F238E27FC236}">
                <a16:creationId xmlns:a16="http://schemas.microsoft.com/office/drawing/2014/main" id="{D39530E4-C0FE-A21E-37D3-FDDEA2978D64}"/>
              </a:ext>
            </a:extLst>
          </p:cNvPr>
          <p:cNvSpPr txBox="1"/>
          <p:nvPr/>
        </p:nvSpPr>
        <p:spPr>
          <a:xfrm>
            <a:off x="6200437" y="4004802"/>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bg1"/>
              </a:solidFill>
              <a:latin typeface="18 VAG Rounded Light   02390" pitchFamily="2" charset="0"/>
            </a:endParaRPr>
          </a:p>
        </p:txBody>
      </p:sp>
      <p:cxnSp>
        <p:nvCxnSpPr>
          <p:cNvPr id="5" name="Straight Arrow Connector 4">
            <a:extLst>
              <a:ext uri="{FF2B5EF4-FFF2-40B4-BE49-F238E27FC236}">
                <a16:creationId xmlns:a16="http://schemas.microsoft.com/office/drawing/2014/main" id="{4AA97298-3155-EC1D-2E13-3B49BAFEFE37}"/>
              </a:ext>
            </a:extLst>
          </p:cNvPr>
          <p:cNvCxnSpPr>
            <a:cxnSpLocks/>
          </p:cNvCxnSpPr>
          <p:nvPr/>
        </p:nvCxnSpPr>
        <p:spPr>
          <a:xfrm>
            <a:off x="6261052" y="4241300"/>
            <a:ext cx="1484877"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6C6B3E-480A-D5B6-1FD6-2F9FEFAD5971}"/>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sp>
        <p:nvSpPr>
          <p:cNvPr id="32" name="Down Arrow 31">
            <a:extLst>
              <a:ext uri="{FF2B5EF4-FFF2-40B4-BE49-F238E27FC236}">
                <a16:creationId xmlns:a16="http://schemas.microsoft.com/office/drawing/2014/main" id="{C1FFFAF5-29E1-C5D2-0652-AE9C5C86AB32}"/>
              </a:ext>
            </a:extLst>
          </p:cNvPr>
          <p:cNvSpPr/>
          <p:nvPr/>
        </p:nvSpPr>
        <p:spPr>
          <a:xfrm>
            <a:off x="4225740" y="1925880"/>
            <a:ext cx="415708" cy="2601493"/>
          </a:xfrm>
          <a:prstGeom prst="downArrow">
            <a:avLst/>
          </a:prstGeom>
          <a:solidFill>
            <a:schemeClr val="accent5">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tx1">
                  <a:lumMod val="50000"/>
                  <a:lumOff val="50000"/>
                </a:schemeClr>
              </a:solidFill>
              <a:latin typeface="18 VAG Rounded Light   02390" pitchFamily="2" charset="0"/>
            </a:endParaRPr>
          </a:p>
        </p:txBody>
      </p:sp>
      <p:grpSp>
        <p:nvGrpSpPr>
          <p:cNvPr id="24" name="Group 23">
            <a:extLst>
              <a:ext uri="{FF2B5EF4-FFF2-40B4-BE49-F238E27FC236}">
                <a16:creationId xmlns:a16="http://schemas.microsoft.com/office/drawing/2014/main" id="{1D6FEF63-6F10-FB33-E208-0487C4E0B43F}"/>
              </a:ext>
            </a:extLst>
          </p:cNvPr>
          <p:cNvGrpSpPr/>
          <p:nvPr/>
        </p:nvGrpSpPr>
        <p:grpSpPr>
          <a:xfrm>
            <a:off x="669619" y="2248996"/>
            <a:ext cx="2712208" cy="1417320"/>
            <a:chOff x="669619" y="2248996"/>
            <a:chExt cx="2712208" cy="1417320"/>
          </a:xfrm>
        </p:grpSpPr>
        <p:grpSp>
          <p:nvGrpSpPr>
            <p:cNvPr id="25" name="Group 24">
              <a:extLst>
                <a:ext uri="{FF2B5EF4-FFF2-40B4-BE49-F238E27FC236}">
                  <a16:creationId xmlns:a16="http://schemas.microsoft.com/office/drawing/2014/main" id="{71789B83-E28C-A5AD-37E8-931DCDB03D2D}"/>
                </a:ext>
              </a:extLst>
            </p:cNvPr>
            <p:cNvGrpSpPr/>
            <p:nvPr/>
          </p:nvGrpSpPr>
          <p:grpSpPr>
            <a:xfrm>
              <a:off x="669619" y="2260284"/>
              <a:ext cx="2712208" cy="1389326"/>
              <a:chOff x="669619" y="2260284"/>
              <a:chExt cx="2712208" cy="1389326"/>
            </a:xfrm>
          </p:grpSpPr>
          <p:grpSp>
            <p:nvGrpSpPr>
              <p:cNvPr id="31" name="Group 30">
                <a:extLst>
                  <a:ext uri="{FF2B5EF4-FFF2-40B4-BE49-F238E27FC236}">
                    <a16:creationId xmlns:a16="http://schemas.microsoft.com/office/drawing/2014/main" id="{1F1C45B5-4C5A-ABD0-3A57-FC4963B0AF90}"/>
                  </a:ext>
                </a:extLst>
              </p:cNvPr>
              <p:cNvGrpSpPr/>
              <p:nvPr/>
            </p:nvGrpSpPr>
            <p:grpSpPr>
              <a:xfrm>
                <a:off x="675203" y="2260284"/>
                <a:ext cx="2706624" cy="477526"/>
                <a:chOff x="675203" y="2260284"/>
                <a:chExt cx="2706624" cy="477526"/>
              </a:xfrm>
            </p:grpSpPr>
            <p:cxnSp>
              <p:nvCxnSpPr>
                <p:cNvPr id="44" name="Elbow Connector 43">
                  <a:extLst>
                    <a:ext uri="{FF2B5EF4-FFF2-40B4-BE49-F238E27FC236}">
                      <a16:creationId xmlns:a16="http://schemas.microsoft.com/office/drawing/2014/main" id="{B03094BC-8F6A-D387-7898-A9D47393FBBB}"/>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48E345A-8A63-15F9-232E-CBD5A84FDAEB}"/>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36" name="Straight Arrow Connector 35">
                <a:extLst>
                  <a:ext uri="{FF2B5EF4-FFF2-40B4-BE49-F238E27FC236}">
                    <a16:creationId xmlns:a16="http://schemas.microsoft.com/office/drawing/2014/main" id="{A10B9C42-5699-EE8C-AC36-0AE32275C987}"/>
                  </a:ext>
                </a:extLst>
              </p:cNvPr>
              <p:cNvCxnSpPr>
                <a:cxnSpLocks/>
              </p:cNvCxnSpPr>
              <p:nvPr/>
            </p:nvCxnSpPr>
            <p:spPr>
              <a:xfrm flipV="1">
                <a:off x="669619" y="3649608"/>
                <a:ext cx="768096"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8EACE085-2455-FEFB-4E16-26171C21839B}"/>
                </a:ext>
              </a:extLst>
            </p:cNvPr>
            <p:cNvCxnSpPr/>
            <p:nvPr/>
          </p:nvCxnSpPr>
          <p:spPr>
            <a:xfrm flipH="1">
              <a:off x="675203" y="2248996"/>
              <a:ext cx="0" cy="141732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89571505-DBB8-FDEF-A4BB-855D3019DB8E}"/>
              </a:ext>
            </a:extLst>
          </p:cNvPr>
          <p:cNvGrpSpPr/>
          <p:nvPr/>
        </p:nvGrpSpPr>
        <p:grpSpPr>
          <a:xfrm>
            <a:off x="6246032" y="4232591"/>
            <a:ext cx="2874596" cy="560751"/>
            <a:chOff x="6246032" y="4232591"/>
            <a:chExt cx="2874596" cy="560751"/>
          </a:xfrm>
        </p:grpSpPr>
        <p:cxnSp>
          <p:nvCxnSpPr>
            <p:cNvPr id="420" name="Elbow Connector 419">
              <a:extLst>
                <a:ext uri="{FF2B5EF4-FFF2-40B4-BE49-F238E27FC236}">
                  <a16:creationId xmlns:a16="http://schemas.microsoft.com/office/drawing/2014/main" id="{DE0A5376-D330-42E2-FB65-5A8544619591}"/>
                </a:ext>
              </a:extLst>
            </p:cNvPr>
            <p:cNvCxnSpPr>
              <a:cxnSpLocks/>
            </p:cNvCxnSpPr>
            <p:nvPr/>
          </p:nvCxnSpPr>
          <p:spPr>
            <a:xfrm>
              <a:off x="6409509" y="4232591"/>
              <a:ext cx="2490278" cy="552042"/>
            </a:xfrm>
            <a:prstGeom prst="bentConnector3">
              <a:avLst>
                <a:gd name="adj1" fmla="val 55"/>
              </a:avLst>
            </a:prstGeom>
            <a:ln w="28575">
              <a:solidFill>
                <a:schemeClr val="accent6"/>
              </a:solidFill>
              <a:headEnd type="oval"/>
              <a:tailEnd type="none" w="lg" len="lg"/>
            </a:ln>
            <a:effectLst>
              <a:glow rad="63500">
                <a:srgbClr val="011223">
                  <a:alpha val="90000"/>
                </a:srgbClr>
              </a:glow>
            </a:effectLst>
          </p:spPr>
          <p:style>
            <a:lnRef idx="1">
              <a:schemeClr val="accent1"/>
            </a:lnRef>
            <a:fillRef idx="0">
              <a:schemeClr val="accent1"/>
            </a:fillRef>
            <a:effectRef idx="0">
              <a:schemeClr val="accent1"/>
            </a:effectRef>
            <a:fontRef idx="minor">
              <a:schemeClr val="tx1"/>
            </a:fontRef>
          </p:style>
        </p:cxnSp>
        <p:cxnSp>
          <p:nvCxnSpPr>
            <p:cNvPr id="421" name="Elbow Connector 420">
              <a:extLst>
                <a:ext uri="{FF2B5EF4-FFF2-40B4-BE49-F238E27FC236}">
                  <a16:creationId xmlns:a16="http://schemas.microsoft.com/office/drawing/2014/main" id="{356B3A68-0F26-F67A-1004-D091F831F6EB}"/>
                </a:ext>
              </a:extLst>
            </p:cNvPr>
            <p:cNvCxnSpPr>
              <a:cxnSpLocks/>
            </p:cNvCxnSpPr>
            <p:nvPr/>
          </p:nvCxnSpPr>
          <p:spPr>
            <a:xfrm rot="5400000" flipH="1" flipV="1">
              <a:off x="8879358" y="4552072"/>
              <a:ext cx="252992" cy="229548"/>
            </a:xfrm>
            <a:prstGeom prst="bentConnector2">
              <a:avLst/>
            </a:prstGeom>
            <a:ln w="28575">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99E010E-3349-AC85-4092-D306DAEA12C0}"/>
                </a:ext>
              </a:extLst>
            </p:cNvPr>
            <p:cNvCxnSpPr/>
            <p:nvPr/>
          </p:nvCxnSpPr>
          <p:spPr>
            <a:xfrm>
              <a:off x="6246032" y="4241300"/>
              <a:ext cx="202306" cy="0"/>
            </a:xfrm>
            <a:prstGeom prst="line">
              <a:avLst/>
            </a:prstGeom>
            <a:ln w="28575">
              <a:solidFill>
                <a:schemeClr val="accent6"/>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30C5C4FD-043B-2028-0702-89630D57B48C}"/>
              </a:ext>
            </a:extLst>
          </p:cNvPr>
          <p:cNvSpPr txBox="1"/>
          <p:nvPr/>
        </p:nvSpPr>
        <p:spPr>
          <a:xfrm>
            <a:off x="6200437" y="4747081"/>
            <a:ext cx="694421" cy="261610"/>
          </a:xfrm>
          <a:prstGeom prst="rect">
            <a:avLst/>
          </a:prstGeom>
          <a:noFill/>
        </p:spPr>
        <p:txBody>
          <a:bodyPr wrap="none" rtlCol="0">
            <a:spAutoFit/>
          </a:bodyPr>
          <a:lstStyle/>
          <a:p>
            <a:r>
              <a:rPr kumimoji="0" lang="en-US" sz="1100" b="1" i="0" u="none" strike="noStrike" kern="1200" cap="none" spc="0" normalizeH="0" baseline="0" noProof="0" dirty="0">
                <a:ln>
                  <a:noFill/>
                </a:ln>
                <a:solidFill>
                  <a:schemeClr val="accent6"/>
                </a:solidFill>
                <a:effectLst/>
                <a:uLnTx/>
                <a:uFillTx/>
                <a:latin typeface="Courier New" panose="02070309020205020404" pitchFamily="49" charset="0"/>
                <a:ea typeface="+mn-ea"/>
                <a:cs typeface="Courier New" panose="02070309020205020404" pitchFamily="49" charset="0"/>
              </a:rPr>
              <a:t>R[rs2]</a:t>
            </a:r>
            <a:endParaRPr lang="en-US" sz="2000" b="1" dirty="0">
              <a:solidFill>
                <a:schemeClr val="accent6"/>
              </a:solidFill>
              <a:latin typeface="18 VAG Rounded Light   02390" pitchFamily="2" charset="0"/>
            </a:endParaRPr>
          </a:p>
        </p:txBody>
      </p:sp>
      <p:sp>
        <p:nvSpPr>
          <p:cNvPr id="22" name="TextBox 21">
            <a:extLst>
              <a:ext uri="{FF2B5EF4-FFF2-40B4-BE49-F238E27FC236}">
                <a16:creationId xmlns:a16="http://schemas.microsoft.com/office/drawing/2014/main" id="{FD50A5A6-0A9D-72E8-DD3C-D78B44AA6811}"/>
              </a:ext>
            </a:extLst>
          </p:cNvPr>
          <p:cNvSpPr txBox="1"/>
          <p:nvPr/>
        </p:nvSpPr>
        <p:spPr>
          <a:xfrm>
            <a:off x="3768078" y="5951091"/>
            <a:ext cx="1388522" cy="307777"/>
          </a:xfrm>
          <a:prstGeom prst="rect">
            <a:avLst/>
          </a:prstGeom>
          <a:noFill/>
        </p:spPr>
        <p:txBody>
          <a:bodyPr wrap="none" rtlCol="0">
            <a:spAutoFit/>
          </a:bodyPr>
          <a:lstStyle/>
          <a:p>
            <a:pPr algn="ctr"/>
            <a:r>
              <a:rPr lang="en-US" sz="1400" dirty="0">
                <a:solidFill>
                  <a:schemeClr val="accent1"/>
                </a:solidFill>
                <a:latin typeface="18 VAG Rounded Light   02390" pitchFamily="2" charset="0"/>
              </a:rPr>
              <a:t>(to discuss later)</a:t>
            </a:r>
          </a:p>
        </p:txBody>
      </p:sp>
    </p:spTree>
    <p:extLst>
      <p:ext uri="{BB962C8B-B14F-4D97-AF65-F5344CB8AC3E}">
        <p14:creationId xmlns:p14="http://schemas.microsoft.com/office/powerpoint/2010/main" val="806095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DAAFC2FB-B4FA-5822-B5F3-F861F08BBEB7}"/>
              </a:ext>
            </a:extLst>
          </p:cNvPr>
          <p:cNvGrpSpPr/>
          <p:nvPr/>
        </p:nvGrpSpPr>
        <p:grpSpPr>
          <a:xfrm>
            <a:off x="3790286" y="2375192"/>
            <a:ext cx="7347065" cy="1124151"/>
            <a:chOff x="3790286" y="2375192"/>
            <a:chExt cx="7347065" cy="1124151"/>
          </a:xfrm>
          <a:effectLst/>
        </p:grpSpPr>
        <p:cxnSp>
          <p:nvCxnSpPr>
            <p:cNvPr id="18" name="Elbow Connector 17">
              <a:extLst>
                <a:ext uri="{FF2B5EF4-FFF2-40B4-BE49-F238E27FC236}">
                  <a16:creationId xmlns:a16="http://schemas.microsoft.com/office/drawing/2014/main" id="{F0549970-41BE-6EBF-2A8B-13BC29938AEA}"/>
                </a:ext>
              </a:extLst>
            </p:cNvPr>
            <p:cNvCxnSpPr>
              <a:cxnSpLocks/>
            </p:cNvCxnSpPr>
            <p:nvPr/>
          </p:nvCxnSpPr>
          <p:spPr>
            <a:xfrm rot="16200000" flipH="1">
              <a:off x="3970539" y="2216906"/>
              <a:ext cx="657210" cy="993002"/>
            </a:xfrm>
            <a:prstGeom prst="bentConnector2">
              <a:avLst/>
            </a:prstGeom>
            <a:ln w="28575">
              <a:solidFill>
                <a:schemeClr val="tx1">
                  <a:lumMod val="50000"/>
                  <a:lumOff val="5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AC4C321-B7CE-5B1F-C842-3A80AF075348}"/>
                </a:ext>
              </a:extLst>
            </p:cNvPr>
            <p:cNvCxnSpPr/>
            <p:nvPr/>
          </p:nvCxnSpPr>
          <p:spPr>
            <a:xfrm>
              <a:off x="3790286" y="2384802"/>
              <a:ext cx="7334708" cy="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EE7C1A44-2C86-0F5E-5BFB-86738F2E9992}"/>
                </a:ext>
              </a:extLst>
            </p:cNvPr>
            <p:cNvCxnSpPr>
              <a:cxnSpLocks/>
            </p:cNvCxnSpPr>
            <p:nvPr/>
          </p:nvCxnSpPr>
          <p:spPr>
            <a:xfrm flipV="1">
              <a:off x="10817058" y="2375192"/>
              <a:ext cx="320293" cy="1124151"/>
            </a:xfrm>
            <a:prstGeom prst="bentConnector2">
              <a:avLst/>
            </a:prstGeom>
            <a:ln w="2857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35" name="Rounded Rectangle 34">
            <a:extLst>
              <a:ext uri="{FF2B5EF4-FFF2-40B4-BE49-F238E27FC236}">
                <a16:creationId xmlns:a16="http://schemas.microsoft.com/office/drawing/2014/main" id="{0F34E2EF-E6E4-480A-85BB-220BE1C28AFF}"/>
              </a:ext>
            </a:extLst>
          </p:cNvPr>
          <p:cNvSpPr/>
          <p:nvPr/>
        </p:nvSpPr>
        <p:spPr>
          <a:xfrm>
            <a:off x="4095066" y="4684066"/>
            <a:ext cx="734547" cy="615137"/>
          </a:xfrm>
          <a:prstGeom prst="roundRect">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tx1">
                    <a:lumMod val="50000"/>
                    <a:lumOff val="50000"/>
                  </a:schemeClr>
                </a:solidFill>
                <a:latin typeface="18 VAG Rounded Light   02390" pitchFamily="2" charset="0"/>
              </a:rPr>
              <a:t>Imm</a:t>
            </a:r>
            <a:r>
              <a:rPr lang="en-US" sz="1400" dirty="0">
                <a:solidFill>
                  <a:schemeClr val="tx1">
                    <a:lumMod val="50000"/>
                    <a:lumOff val="50000"/>
                  </a:schemeClr>
                </a:solidFill>
                <a:latin typeface="18 VAG Rounded Light   02390" pitchFamily="2" charset="0"/>
              </a:rPr>
              <a:t>. Gen</a:t>
            </a:r>
          </a:p>
        </p:txBody>
      </p:sp>
      <p:sp>
        <p:nvSpPr>
          <p:cNvPr id="33" name="TextBox 32">
            <a:extLst>
              <a:ext uri="{FF2B5EF4-FFF2-40B4-BE49-F238E27FC236}">
                <a16:creationId xmlns:a16="http://schemas.microsoft.com/office/drawing/2014/main" id="{2A5E8AD9-296E-37B4-4E87-99DCBDA65600}"/>
              </a:ext>
            </a:extLst>
          </p:cNvPr>
          <p:cNvSpPr txBox="1"/>
          <p:nvPr/>
        </p:nvSpPr>
        <p:spPr>
          <a:xfrm>
            <a:off x="3131237" y="4777354"/>
            <a:ext cx="103425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[31:7]</a:t>
            </a:r>
            <a:endParaRPr lang="en-US" sz="2000" dirty="0">
              <a:solidFill>
                <a:schemeClr val="tx1">
                  <a:lumMod val="50000"/>
                  <a:lumOff val="50000"/>
                </a:schemeClr>
              </a:solidFill>
              <a:latin typeface="18 VAG Rounded Light   02390" pitchFamily="2" charset="0"/>
            </a:endParaRPr>
          </a:p>
        </p:txBody>
      </p: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tx1">
                <a:lumMod val="50000"/>
                <a:lumOff val="50000"/>
              </a:schemeClr>
            </a:solidFill>
            <a:tailEnd type="triangle" w="lg" len="lg"/>
          </a:ln>
          <a:effectLst/>
        </p:spPr>
        <p:style>
          <a:lnRef idx="1">
            <a:schemeClr val="accent1"/>
          </a:lnRef>
          <a:fillRef idx="0">
            <a:schemeClr val="accent1"/>
          </a:fillRef>
          <a:effectRef idx="0">
            <a:schemeClr val="accent1"/>
          </a:effectRef>
          <a:fontRef idx="minor">
            <a:schemeClr val="tx1"/>
          </a:fontRef>
        </p:style>
      </p:cxn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sp>
        <p:nvSpPr>
          <p:cNvPr id="329" name="Isosceles Triangle 59">
            <a:extLst>
              <a:ext uri="{FF2B5EF4-FFF2-40B4-BE49-F238E27FC236}">
                <a16:creationId xmlns:a16="http://schemas.microsoft.com/office/drawing/2014/main" id="{4BB69EA9-5AFD-ECF3-6FBC-565768226B64}"/>
              </a:ext>
            </a:extLst>
          </p:cNvPr>
          <p:cNvSpPr/>
          <p:nvPr/>
        </p:nvSpPr>
        <p:spPr>
          <a:xfrm>
            <a:off x="9886099" y="4540637"/>
            <a:ext cx="182880"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grpSp>
        <p:nvGrpSpPr>
          <p:cNvPr id="466" name="Group 465">
            <a:extLst>
              <a:ext uri="{FF2B5EF4-FFF2-40B4-BE49-F238E27FC236}">
                <a16:creationId xmlns:a16="http://schemas.microsoft.com/office/drawing/2014/main" id="{D9AC5A45-167B-FAFC-8F95-7FB83C097F1E}"/>
              </a:ext>
            </a:extLst>
          </p:cNvPr>
          <p:cNvGrpSpPr/>
          <p:nvPr/>
        </p:nvGrpSpPr>
        <p:grpSpPr>
          <a:xfrm>
            <a:off x="9120628" y="3586419"/>
            <a:ext cx="1021734" cy="1127284"/>
            <a:chOff x="9120628" y="3586419"/>
            <a:chExt cx="1021734" cy="1127284"/>
          </a:xfrm>
        </p:grpSpPr>
        <p:sp>
          <p:nvSpPr>
            <p:cNvPr id="309" name="Rectangle 308">
              <a:extLst>
                <a:ext uri="{FF2B5EF4-FFF2-40B4-BE49-F238E27FC236}">
                  <a16:creationId xmlns:a16="http://schemas.microsoft.com/office/drawing/2014/main" id="{6BC64DA7-A1B1-1E33-61B5-D83764BAC155}"/>
                </a:ext>
              </a:extLst>
            </p:cNvPr>
            <p:cNvSpPr/>
            <p:nvPr/>
          </p:nvSpPr>
          <p:spPr>
            <a:xfrm>
              <a:off x="9120628" y="3586419"/>
              <a:ext cx="1021734" cy="1127284"/>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tx1">
                      <a:lumMod val="50000"/>
                      <a:lumOff val="50000"/>
                    </a:schemeClr>
                  </a:solidFill>
                  <a:latin typeface="18 VAG Rounded Light   02390" pitchFamily="2" charset="0"/>
                </a:rPr>
                <a:t>	</a:t>
              </a:r>
              <a:r>
                <a:rPr lang="en-US" sz="1400" i="1" dirty="0" err="1">
                  <a:solidFill>
                    <a:schemeClr val="tx1">
                      <a:lumMod val="50000"/>
                      <a:lumOff val="50000"/>
                    </a:schemeClr>
                  </a:solidFill>
                  <a:latin typeface="18 VAG Rounded Light   02390" pitchFamily="2" charset="0"/>
                </a:rPr>
                <a:t>dataR</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spcBef>
                  <a:spcPts val="400"/>
                </a:spcBef>
                <a:tabLst>
                  <a:tab pos="1249363" algn="r"/>
                </a:tabLst>
              </a:pPr>
              <a:r>
                <a:rPr lang="en-US" sz="1600" b="1" dirty="0">
                  <a:solidFill>
                    <a:schemeClr val="tx1">
                      <a:lumMod val="50000"/>
                      <a:lumOff val="50000"/>
                    </a:schemeClr>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tx1">
                      <a:lumMod val="50000"/>
                      <a:lumOff val="50000"/>
                    </a:schemeClr>
                  </a:solidFill>
                  <a:latin typeface="18 VAG ROUNDED LIGHT   02390" pitchFamily="2" charset="0"/>
                  <a:cs typeface="Courier New" panose="02070309020205020404" pitchFamily="49" charset="0"/>
                </a:rPr>
                <a:t>dataW</a:t>
              </a:r>
              <a:r>
                <a:rPr lang="en-US" sz="1600" i="1" dirty="0">
                  <a:solidFill>
                    <a:schemeClr val="tx1">
                      <a:lumMod val="50000"/>
                      <a:lumOff val="50000"/>
                    </a:schemeClr>
                  </a:solidFill>
                  <a:latin typeface="18 VAG ROUNDED LIGHT   02390" pitchFamily="2" charset="0"/>
                  <a:cs typeface="Courier New" panose="02070309020205020404" pitchFamily="49" charset="0"/>
                </a:rPr>
                <a:t> </a:t>
              </a:r>
              <a:endParaRPr lang="en-US" sz="1200" i="1" dirty="0">
                <a:solidFill>
                  <a:schemeClr val="tx1">
                    <a:lumMod val="50000"/>
                    <a:lumOff val="50000"/>
                  </a:schemeClr>
                </a:solidFill>
                <a:latin typeface="18 VAG ROUNDED LIGHT   02390" pitchFamily="2" charset="0"/>
                <a:cs typeface="Courier New" panose="02070309020205020404" pitchFamily="49" charset="0"/>
              </a:endParaRPr>
            </a:p>
          </p:txBody>
        </p:sp>
        <p:sp>
          <p:nvSpPr>
            <p:cNvPr id="419" name="Rectangle 418">
              <a:extLst>
                <a:ext uri="{FF2B5EF4-FFF2-40B4-BE49-F238E27FC236}">
                  <a16:creationId xmlns:a16="http://schemas.microsoft.com/office/drawing/2014/main" id="{A49D0FB0-BFA2-EDA4-4ABE-999F6FEBA857}"/>
                </a:ext>
              </a:extLst>
            </p:cNvPr>
            <p:cNvSpPr/>
            <p:nvPr/>
          </p:nvSpPr>
          <p:spPr>
            <a:xfrm>
              <a:off x="9120628" y="4444602"/>
              <a:ext cx="165031" cy="191496"/>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tx1">
                    <a:lumMod val="50000"/>
                    <a:lumOff val="50000"/>
                  </a:schemeClr>
                </a:solidFill>
                <a:latin typeface="18 VAG Rounded Light   02390" pitchFamily="2" charset="0"/>
              </a:endParaRPr>
            </a:p>
          </p:txBody>
        </p:sp>
      </p:grpSp>
      <p:cxnSp>
        <p:nvCxnSpPr>
          <p:cNvPr id="449" name="Straight Arrow Connector 448">
            <a:extLst>
              <a:ext uri="{FF2B5EF4-FFF2-40B4-BE49-F238E27FC236}">
                <a16:creationId xmlns:a16="http://schemas.microsoft.com/office/drawing/2014/main" id="{98CA2B2E-5BEF-6E19-FC37-311D08B845B0}"/>
              </a:ext>
            </a:extLst>
          </p:cNvPr>
          <p:cNvCxnSpPr>
            <a:cxnSpLocks/>
          </p:cNvCxnSpPr>
          <p:nvPr/>
        </p:nvCxnSpPr>
        <p:spPr>
          <a:xfrm flipV="1">
            <a:off x="9596488" y="4736341"/>
            <a:ext cx="0" cy="8011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sp>
        <p:nvSpPr>
          <p:cNvPr id="461" name="TextBox 460">
            <a:extLst>
              <a:ext uri="{FF2B5EF4-FFF2-40B4-BE49-F238E27FC236}">
                <a16:creationId xmlns:a16="http://schemas.microsoft.com/office/drawing/2014/main" id="{FE738B2C-2C36-2578-E323-38E7D6FA3739}"/>
              </a:ext>
            </a:extLst>
          </p:cNvPr>
          <p:cNvSpPr txBox="1"/>
          <p:nvPr/>
        </p:nvSpPr>
        <p:spPr>
          <a:xfrm>
            <a:off x="9813943" y="4842550"/>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62" name="Straight Connector 461">
            <a:extLst>
              <a:ext uri="{FF2B5EF4-FFF2-40B4-BE49-F238E27FC236}">
                <a16:creationId xmlns:a16="http://schemas.microsoft.com/office/drawing/2014/main" id="{C60DDE42-432D-6CCE-975F-C92E5D285C26}"/>
              </a:ext>
            </a:extLst>
          </p:cNvPr>
          <p:cNvCxnSpPr>
            <a:cxnSpLocks/>
            <a:stCxn id="461" idx="0"/>
          </p:cNvCxnSpPr>
          <p:nvPr/>
        </p:nvCxnSpPr>
        <p:spPr>
          <a:xfrm flipV="1">
            <a:off x="9984823" y="4713414"/>
            <a:ext cx="0" cy="129136"/>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tx1">
                  <a:lumMod val="50000"/>
                  <a:lumOff val="50000"/>
                </a:schemeClr>
              </a:solidFill>
              <a:latin typeface="18 VAG Rounded Light   02390" pitchFamily="2" charset="0"/>
            </a:endParaRPr>
          </a:p>
        </p:txBody>
      </p: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tx1">
                  <a:lumMod val="50000"/>
                  <a:lumOff val="50000"/>
                </a:schemeClr>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5" name="TextBox 154">
            <a:extLst>
              <a:ext uri="{FF2B5EF4-FFF2-40B4-BE49-F238E27FC236}">
                <a16:creationId xmlns:a16="http://schemas.microsoft.com/office/drawing/2014/main" id="{805FC406-05B2-8242-650C-D6E9D3BC10DC}"/>
              </a:ext>
            </a:extLst>
          </p:cNvPr>
          <p:cNvSpPr txBox="1"/>
          <p:nvPr/>
        </p:nvSpPr>
        <p:spPr>
          <a:xfrm>
            <a:off x="4062897" y="5552119"/>
            <a:ext cx="817853" cy="304314"/>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ImmSel</a:t>
            </a:r>
            <a:endParaRPr lang="en-US" sz="1600" dirty="0">
              <a:solidFill>
                <a:schemeClr val="tx1">
                  <a:lumMod val="50000"/>
                  <a:lumOff val="50000"/>
                </a:schemeClr>
              </a:solidFill>
              <a:latin typeface="18 VAG Rounded Light   02390" pitchFamily="2" charset="0"/>
            </a:endParaRP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a:p>
            <a:pPr algn="ctr">
              <a:lnSpc>
                <a:spcPct val="85000"/>
              </a:lnSpc>
            </a:pP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BSel</a:t>
            </a:r>
            <a:endParaRPr lang="en-US" sz="1200" dirty="0">
              <a:solidFill>
                <a:schemeClr val="tx1">
                  <a:lumMod val="50000"/>
                  <a:lumOff val="50000"/>
                </a:schemeClr>
              </a:solidFill>
              <a:latin typeface="18 VAG Rounded Light   02390" pitchFamily="2" charset="0"/>
            </a:endParaRPr>
          </a:p>
        </p:txBody>
      </p:sp>
      <p:sp>
        <p:nvSpPr>
          <p:cNvPr id="163" name="TextBox 162">
            <a:extLst>
              <a:ext uri="{FF2B5EF4-FFF2-40B4-BE49-F238E27FC236}">
                <a16:creationId xmlns:a16="http://schemas.microsoft.com/office/drawing/2014/main" id="{0D0C1867-1FFD-F311-31BB-7C2A4E3DB4AD}"/>
              </a:ext>
            </a:extLst>
          </p:cNvPr>
          <p:cNvSpPr txBox="1"/>
          <p:nvPr/>
        </p:nvSpPr>
        <p:spPr>
          <a:xfrm>
            <a:off x="8421291" y="5536765"/>
            <a:ext cx="702436"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ALUSel</a:t>
            </a:r>
            <a:endParaRPr lang="en-US" sz="1400" dirty="0">
              <a:solidFill>
                <a:schemeClr val="tx1">
                  <a:lumMod val="50000"/>
                  <a:lumOff val="50000"/>
                </a:schemeClr>
              </a:solidFill>
              <a:latin typeface="18 VAG Rounded Light   02390" pitchFamily="2" charset="0"/>
            </a:endParaRPr>
          </a:p>
        </p:txBody>
      </p:sp>
      <p:sp>
        <p:nvSpPr>
          <p:cNvPr id="164" name="TextBox 163">
            <a:extLst>
              <a:ext uri="{FF2B5EF4-FFF2-40B4-BE49-F238E27FC236}">
                <a16:creationId xmlns:a16="http://schemas.microsoft.com/office/drawing/2014/main" id="{0574EDEE-392B-DC05-E19A-7C22B2FFABF2}"/>
              </a:ext>
            </a:extLst>
          </p:cNvPr>
          <p:cNvSpPr txBox="1"/>
          <p:nvPr/>
        </p:nvSpPr>
        <p:spPr>
          <a:xfrm>
            <a:off x="9285659" y="5555777"/>
            <a:ext cx="817853"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MemRW</a:t>
            </a:r>
            <a:endParaRPr lang="en-US" sz="1400" dirty="0">
              <a:solidFill>
                <a:schemeClr val="tx1">
                  <a:lumMod val="50000"/>
                  <a:lumOff val="50000"/>
                </a:schemeClr>
              </a:solidFill>
              <a:latin typeface="18 VAG Rounded Light   02390" pitchFamily="2" charset="0"/>
            </a:endParaRPr>
          </a:p>
        </p:txBody>
      </p:sp>
      <p:sp>
        <p:nvSpPr>
          <p:cNvPr id="165" name="TextBox 164">
            <a:extLst>
              <a:ext uri="{FF2B5EF4-FFF2-40B4-BE49-F238E27FC236}">
                <a16:creationId xmlns:a16="http://schemas.microsoft.com/office/drawing/2014/main" id="{FF0F850A-25DC-02DE-3D8E-F4BBFD4155E2}"/>
              </a:ext>
            </a:extLst>
          </p:cNvPr>
          <p:cNvSpPr txBox="1"/>
          <p:nvPr/>
        </p:nvSpPr>
        <p:spPr>
          <a:xfrm>
            <a:off x="10252493" y="5557253"/>
            <a:ext cx="646331"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WBSel</a:t>
            </a:r>
            <a:endParaRPr lang="en-US" sz="1400" dirty="0">
              <a:solidFill>
                <a:schemeClr val="tx1">
                  <a:lumMod val="50000"/>
                  <a:lumOff val="50000"/>
                </a:schemeClr>
              </a:solidFill>
              <a:latin typeface="18 VAG Rounded Light   02390" pitchFamily="2" charset="0"/>
            </a:endParaRPr>
          </a:p>
        </p:txBody>
      </p:sp>
      <p:cxnSp>
        <p:nvCxnSpPr>
          <p:cNvPr id="166" name="Straight Arrow Connector 165">
            <a:extLst>
              <a:ext uri="{FF2B5EF4-FFF2-40B4-BE49-F238E27FC236}">
                <a16:creationId xmlns:a16="http://schemas.microsoft.com/office/drawing/2014/main" id="{D5574E08-8C14-422C-BD9C-969F4F3B25C2}"/>
              </a:ext>
            </a:extLst>
          </p:cNvPr>
          <p:cNvCxnSpPr>
            <a:cxnSpLocks/>
          </p:cNvCxnSpPr>
          <p:nvPr/>
        </p:nvCxnSpPr>
        <p:spPr>
          <a:xfrm flipV="1">
            <a:off x="10664370" y="3759701"/>
            <a:ext cx="0" cy="17670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tx1">
                    <a:lumMod val="50000"/>
                    <a:lumOff val="50000"/>
                  </a:schemeClr>
                </a:solidFill>
                <a:latin typeface="18 VAG Rounded Light   02390" pitchFamily="2" charset="0"/>
              </a:rPr>
              <a:t>wdata</a:t>
            </a:r>
            <a:endParaRPr lang="en-US" sz="1400" i="1" dirty="0">
              <a:solidFill>
                <a:schemeClr val="tx1">
                  <a:lumMod val="50000"/>
                  <a:lumOff val="50000"/>
                </a:schemeClr>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5FF65934-C540-D4EB-5E26-A7998F695809}"/>
              </a:ext>
            </a:extLst>
          </p:cNvPr>
          <p:cNvSpPr/>
          <p:nvPr/>
        </p:nvSpPr>
        <p:spPr>
          <a:xfrm>
            <a:off x="4095066" y="4684066"/>
            <a:ext cx="734547" cy="615137"/>
          </a:xfrm>
          <a:prstGeom prst="roundRect">
            <a:avLst/>
          </a:prstGeom>
          <a:solidFill>
            <a:srgbClr val="011223"/>
          </a:solid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tx1">
                    <a:lumMod val="50000"/>
                    <a:lumOff val="50000"/>
                  </a:schemeClr>
                </a:solidFill>
                <a:latin typeface="18 VAG Rounded Light   02390" pitchFamily="2" charset="0"/>
              </a:rPr>
              <a:t>Imm</a:t>
            </a:r>
            <a:r>
              <a:rPr lang="en-US" sz="1400" dirty="0">
                <a:solidFill>
                  <a:schemeClr val="tx1">
                    <a:lumMod val="50000"/>
                    <a:lumOff val="50000"/>
                  </a:schemeClr>
                </a:solidFill>
                <a:latin typeface="18 VAG Rounded Light   02390" pitchFamily="2" charset="0"/>
              </a:rPr>
              <a:t>. Gen</a:t>
            </a:r>
          </a:p>
        </p:txBody>
      </p:sp>
      <p:cxnSp>
        <p:nvCxnSpPr>
          <p:cNvPr id="38" name="Straight Arrow Connector 37">
            <a:extLst>
              <a:ext uri="{FF2B5EF4-FFF2-40B4-BE49-F238E27FC236}">
                <a16:creationId xmlns:a16="http://schemas.microsoft.com/office/drawing/2014/main" id="{9CEAE60E-1B04-A561-A120-15A6EECD0B3C}"/>
              </a:ext>
            </a:extLst>
          </p:cNvPr>
          <p:cNvCxnSpPr>
            <a:cxnSpLocks/>
          </p:cNvCxnSpPr>
          <p:nvPr/>
        </p:nvCxnSpPr>
        <p:spPr>
          <a:xfrm flipV="1">
            <a:off x="10142760" y="3707112"/>
            <a:ext cx="403456" cy="763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3" name="Trapezoid 42">
            <a:extLst>
              <a:ext uri="{FF2B5EF4-FFF2-40B4-BE49-F238E27FC236}">
                <a16:creationId xmlns:a16="http://schemas.microsoft.com/office/drawing/2014/main" id="{3D49AA6C-FDC0-F71F-C1EB-10C8698B9FBB}"/>
              </a:ext>
            </a:extLst>
          </p:cNvPr>
          <p:cNvSpPr/>
          <p:nvPr/>
        </p:nvSpPr>
        <p:spPr>
          <a:xfrm rot="5400000">
            <a:off x="10337532" y="3361302"/>
            <a:ext cx="682970" cy="276082"/>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cxnSp>
        <p:nvCxnSpPr>
          <p:cNvPr id="52" name="Elbow Connector 51">
            <a:extLst>
              <a:ext uri="{FF2B5EF4-FFF2-40B4-BE49-F238E27FC236}">
                <a16:creationId xmlns:a16="http://schemas.microsoft.com/office/drawing/2014/main" id="{57CF8F99-0286-E37E-F3FB-E0346336384D}"/>
              </a:ext>
            </a:extLst>
          </p:cNvPr>
          <p:cNvCxnSpPr>
            <a:cxnSpLocks/>
          </p:cNvCxnSpPr>
          <p:nvPr/>
        </p:nvCxnSpPr>
        <p:spPr>
          <a:xfrm flipV="1">
            <a:off x="8929306" y="3375224"/>
            <a:ext cx="1611670" cy="592716"/>
          </a:xfrm>
          <a:prstGeom prst="bentConnector3">
            <a:avLst>
              <a:gd name="adj1" fmla="val 288"/>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A6C6B3E-480A-D5B6-1FD6-2F9FEFAD5971}"/>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cxnSp>
        <p:nvCxnSpPr>
          <p:cNvPr id="4" name="Straight Arrow Connector 3">
            <a:extLst>
              <a:ext uri="{FF2B5EF4-FFF2-40B4-BE49-F238E27FC236}">
                <a16:creationId xmlns:a16="http://schemas.microsoft.com/office/drawing/2014/main" id="{6B65C544-3C7A-3A67-0F9E-BD2E2525C8AE}"/>
              </a:ext>
            </a:extLst>
          </p:cNvPr>
          <p:cNvCxnSpPr>
            <a:cxnSpLocks/>
          </p:cNvCxnSpPr>
          <p:nvPr/>
        </p:nvCxnSpPr>
        <p:spPr>
          <a:xfrm>
            <a:off x="7983123" y="4427042"/>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28E5F064-4808-2F9E-73A5-A7180D7C39D0}"/>
              </a:ext>
            </a:extLst>
          </p:cNvPr>
          <p:cNvSpPr/>
          <p:nvPr/>
        </p:nvSpPr>
        <p:spPr>
          <a:xfrm>
            <a:off x="6623312" y="3477823"/>
            <a:ext cx="723547" cy="890604"/>
          </a:xfrm>
          <a:prstGeom prst="roundRect">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b="1" dirty="0">
                <a:solidFill>
                  <a:schemeClr val="accent1"/>
                </a:solidFill>
                <a:latin typeface="18 VAG Rounded Bold   07390" pitchFamily="2" charset="0"/>
              </a:rPr>
              <a:t>Branch Comp.</a:t>
            </a:r>
          </a:p>
        </p:txBody>
      </p:sp>
      <p:sp>
        <p:nvSpPr>
          <p:cNvPr id="42" name="TextBox 41">
            <a:extLst>
              <a:ext uri="{FF2B5EF4-FFF2-40B4-BE49-F238E27FC236}">
                <a16:creationId xmlns:a16="http://schemas.microsoft.com/office/drawing/2014/main" id="{CDE7F098-CB81-4FC3-0158-489E2440453C}"/>
              </a:ext>
            </a:extLst>
          </p:cNvPr>
          <p:cNvSpPr txBox="1"/>
          <p:nvPr/>
        </p:nvSpPr>
        <p:spPr>
          <a:xfrm>
            <a:off x="6349656" y="3011006"/>
            <a:ext cx="694421" cy="261610"/>
          </a:xfrm>
          <a:prstGeom prst="rect">
            <a:avLst/>
          </a:prstGeom>
          <a:noFill/>
        </p:spPr>
        <p:txBody>
          <a:bodyPr wrap="none" rtlCol="0">
            <a:spAutoFit/>
          </a:bodyPr>
          <a:lstStyle/>
          <a:p>
            <a:r>
              <a:rPr kumimoji="0" lang="en-US" sz="1100" b="1" i="0" u="none" strike="noStrike" kern="1200" cap="none" spc="0" normalizeH="0" baseline="0" noProof="0" dirty="0">
                <a:ln>
                  <a:noFill/>
                </a:ln>
                <a:solidFill>
                  <a:schemeClr val="accent1"/>
                </a:solidFill>
                <a:effectLst/>
                <a:uLnTx/>
                <a:uFillTx/>
                <a:latin typeface="Courier New" panose="02070309020205020404" pitchFamily="49" charset="0"/>
                <a:ea typeface="+mn-ea"/>
                <a:cs typeface="Courier New" panose="02070309020205020404" pitchFamily="49" charset="0"/>
              </a:rPr>
              <a:t>R[rs1]</a:t>
            </a:r>
            <a:endParaRPr lang="en-US" sz="2000" b="1" dirty="0">
              <a:solidFill>
                <a:schemeClr val="accent1"/>
              </a:solidFill>
              <a:latin typeface="18 VAG Rounded Light   02390" pitchFamily="2" charset="0"/>
            </a:endParaRPr>
          </a:p>
        </p:txBody>
      </p:sp>
      <p:sp>
        <p:nvSpPr>
          <p:cNvPr id="47" name="TextBox 46">
            <a:extLst>
              <a:ext uri="{FF2B5EF4-FFF2-40B4-BE49-F238E27FC236}">
                <a16:creationId xmlns:a16="http://schemas.microsoft.com/office/drawing/2014/main" id="{25CE8B4F-1F4E-0DAD-0009-94BC1890A308}"/>
              </a:ext>
            </a:extLst>
          </p:cNvPr>
          <p:cNvSpPr txBox="1"/>
          <p:nvPr/>
        </p:nvSpPr>
        <p:spPr>
          <a:xfrm>
            <a:off x="8489762" y="3245823"/>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grpSp>
        <p:nvGrpSpPr>
          <p:cNvPr id="48" name="Group 47">
            <a:extLst>
              <a:ext uri="{FF2B5EF4-FFF2-40B4-BE49-F238E27FC236}">
                <a16:creationId xmlns:a16="http://schemas.microsoft.com/office/drawing/2014/main" id="{096F0867-AFB1-457A-2CF2-A72D9F12EF6C}"/>
              </a:ext>
            </a:extLst>
          </p:cNvPr>
          <p:cNvGrpSpPr/>
          <p:nvPr/>
        </p:nvGrpSpPr>
        <p:grpSpPr>
          <a:xfrm>
            <a:off x="6261052" y="4187510"/>
            <a:ext cx="2859576" cy="605832"/>
            <a:chOff x="6261052" y="4187510"/>
            <a:chExt cx="2859576" cy="605832"/>
          </a:xfrm>
        </p:grpSpPr>
        <p:cxnSp>
          <p:nvCxnSpPr>
            <p:cNvPr id="49" name="Elbow Connector 48">
              <a:extLst>
                <a:ext uri="{FF2B5EF4-FFF2-40B4-BE49-F238E27FC236}">
                  <a16:creationId xmlns:a16="http://schemas.microsoft.com/office/drawing/2014/main" id="{70680362-4D70-D4C1-FF52-9A13F3919EE9}"/>
                </a:ext>
              </a:extLst>
            </p:cNvPr>
            <p:cNvCxnSpPr/>
            <p:nvPr/>
          </p:nvCxnSpPr>
          <p:spPr>
            <a:xfrm>
              <a:off x="6389559" y="4187510"/>
              <a:ext cx="2501519" cy="605832"/>
            </a:xfrm>
            <a:prstGeom prst="bentConnector3">
              <a:avLst>
                <a:gd name="adj1" fmla="val -363"/>
              </a:avLst>
            </a:prstGeom>
            <a:ln w="28575">
              <a:solidFill>
                <a:schemeClr val="tx1">
                  <a:lumMod val="50000"/>
                  <a:lumOff val="50000"/>
                </a:schemeClr>
              </a:solidFill>
              <a:headEnd type="oval"/>
              <a:tailEnd type="none" w="lg" len="lg"/>
            </a:ln>
            <a:effectLst>
              <a:glow rad="88900">
                <a:srgbClr val="011223">
                  <a:alpha val="90000"/>
                </a:srgbClr>
              </a:glow>
            </a:effectLst>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4D208976-EC25-6C50-3B8E-0C555832CE33}"/>
                </a:ext>
              </a:extLst>
            </p:cNvPr>
            <p:cNvCxnSpPr>
              <a:cxnSpLocks/>
            </p:cNvCxnSpPr>
            <p:nvPr/>
          </p:nvCxnSpPr>
          <p:spPr>
            <a:xfrm rot="5400000" flipH="1" flipV="1">
              <a:off x="8879358" y="4552072"/>
              <a:ext cx="252992" cy="229548"/>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1" name="Elbow Connector 50">
              <a:extLst>
                <a:ext uri="{FF2B5EF4-FFF2-40B4-BE49-F238E27FC236}">
                  <a16:creationId xmlns:a16="http://schemas.microsoft.com/office/drawing/2014/main" id="{88E85500-EEBF-B6DB-6F33-5773F40AB02D}"/>
                </a:ext>
              </a:extLst>
            </p:cNvPr>
            <p:cNvCxnSpPr>
              <a:cxnSpLocks/>
            </p:cNvCxnSpPr>
            <p:nvPr/>
          </p:nvCxnSpPr>
          <p:spPr>
            <a:xfrm rot="5400000" flipH="1" flipV="1">
              <a:off x="7322511" y="4361210"/>
              <a:ext cx="518548" cy="328277"/>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DC5586C-E85D-8438-7068-0848C59CCD35}"/>
                </a:ext>
              </a:extLst>
            </p:cNvPr>
            <p:cNvCxnSpPr/>
            <p:nvPr/>
          </p:nvCxnSpPr>
          <p:spPr>
            <a:xfrm flipV="1">
              <a:off x="6261052" y="4187510"/>
              <a:ext cx="365760"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55" name="Freeform 54">
            <a:extLst>
              <a:ext uri="{FF2B5EF4-FFF2-40B4-BE49-F238E27FC236}">
                <a16:creationId xmlns:a16="http://schemas.microsoft.com/office/drawing/2014/main" id="{00A69A84-6E21-5919-6DB5-2F65EA267BAD}"/>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A</a:t>
            </a:r>
            <a:endParaRPr lang="en-US" sz="1600" dirty="0">
              <a:solidFill>
                <a:schemeClr val="tx1">
                  <a:lumMod val="50000"/>
                  <a:lumOff val="50000"/>
                </a:schemeClr>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tx1">
                    <a:lumMod val="50000"/>
                    <a:lumOff val="50000"/>
                  </a:schemeClr>
                </a:solidFill>
                <a:latin typeface="18 VAG Rounded Light   02390" pitchFamily="2" charset="0"/>
              </a:rPr>
              <a:t>ALU</a:t>
            </a:r>
          </a:p>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B</a:t>
            </a:r>
          </a:p>
        </p:txBody>
      </p:sp>
      <p:sp>
        <p:nvSpPr>
          <p:cNvPr id="56" name="Trapezoid 55">
            <a:extLst>
              <a:ext uri="{FF2B5EF4-FFF2-40B4-BE49-F238E27FC236}">
                <a16:creationId xmlns:a16="http://schemas.microsoft.com/office/drawing/2014/main" id="{9C2E0C09-D65F-0C24-027E-721E3807111B}"/>
              </a:ext>
            </a:extLst>
          </p:cNvPr>
          <p:cNvSpPr/>
          <p:nvPr/>
        </p:nvSpPr>
        <p:spPr>
          <a:xfrm rot="5400000">
            <a:off x="7564091" y="4309794"/>
            <a:ext cx="598172" cy="234496"/>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grpSp>
        <p:nvGrpSpPr>
          <p:cNvPr id="471" name="Group 470">
            <a:extLst>
              <a:ext uri="{FF2B5EF4-FFF2-40B4-BE49-F238E27FC236}">
                <a16:creationId xmlns:a16="http://schemas.microsoft.com/office/drawing/2014/main" id="{E52F3FE9-CE75-6843-1920-6FECADE6B52F}"/>
              </a:ext>
            </a:extLst>
          </p:cNvPr>
          <p:cNvGrpSpPr/>
          <p:nvPr/>
        </p:nvGrpSpPr>
        <p:grpSpPr>
          <a:xfrm>
            <a:off x="6395112" y="3227773"/>
            <a:ext cx="1889763" cy="448056"/>
            <a:chOff x="6395112" y="3227773"/>
            <a:chExt cx="1889763" cy="448056"/>
          </a:xfrm>
        </p:grpSpPr>
        <p:cxnSp>
          <p:nvCxnSpPr>
            <p:cNvPr id="46" name="Straight Arrow Connector 45">
              <a:extLst>
                <a:ext uri="{FF2B5EF4-FFF2-40B4-BE49-F238E27FC236}">
                  <a16:creationId xmlns:a16="http://schemas.microsoft.com/office/drawing/2014/main" id="{C2980AE4-D9A2-EF20-4F21-BF357EA51F51}"/>
                </a:ext>
              </a:extLst>
            </p:cNvPr>
            <p:cNvCxnSpPr>
              <a:cxnSpLocks/>
            </p:cNvCxnSpPr>
            <p:nvPr/>
          </p:nvCxnSpPr>
          <p:spPr>
            <a:xfrm>
              <a:off x="7983123" y="3661650"/>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Elbow Connector 56">
              <a:extLst>
                <a:ext uri="{FF2B5EF4-FFF2-40B4-BE49-F238E27FC236}">
                  <a16:creationId xmlns:a16="http://schemas.microsoft.com/office/drawing/2014/main" id="{07CA1B9E-7C66-1E71-A291-384F8E092C7E}"/>
                </a:ext>
              </a:extLst>
            </p:cNvPr>
            <p:cNvCxnSpPr>
              <a:cxnSpLocks/>
            </p:cNvCxnSpPr>
            <p:nvPr/>
          </p:nvCxnSpPr>
          <p:spPr>
            <a:xfrm flipV="1">
              <a:off x="6395112" y="3238401"/>
              <a:ext cx="1588011" cy="432797"/>
            </a:xfrm>
            <a:prstGeom prst="bentConnector3">
              <a:avLst>
                <a:gd name="adj1" fmla="val 118"/>
              </a:avLst>
            </a:prstGeom>
            <a:ln w="28575">
              <a:solidFill>
                <a:schemeClr val="tx1">
                  <a:lumMod val="50000"/>
                  <a:lumOff val="50000"/>
                </a:schemeClr>
              </a:solidFill>
              <a:headEnd type="oval"/>
              <a:tailEnd type="none" w="lg" len="lg"/>
            </a:ln>
          </p:spPr>
          <p:style>
            <a:lnRef idx="1">
              <a:schemeClr val="accent1"/>
            </a:lnRef>
            <a:fillRef idx="0">
              <a:schemeClr val="accent1"/>
            </a:fillRef>
            <a:effectRef idx="0">
              <a:schemeClr val="accent1"/>
            </a:effectRef>
            <a:fontRef idx="minor">
              <a:schemeClr val="tx1"/>
            </a:fontRef>
          </p:style>
        </p:cxnSp>
        <p:cxnSp>
          <p:nvCxnSpPr>
            <p:cNvPr id="453" name="Straight Arrow Connector 452">
              <a:extLst>
                <a:ext uri="{FF2B5EF4-FFF2-40B4-BE49-F238E27FC236}">
                  <a16:creationId xmlns:a16="http://schemas.microsoft.com/office/drawing/2014/main" id="{F3E54E62-DD32-D919-4F01-522F2DD52CE9}"/>
                </a:ext>
              </a:extLst>
            </p:cNvPr>
            <p:cNvCxnSpPr/>
            <p:nvPr/>
          </p:nvCxnSpPr>
          <p:spPr>
            <a:xfrm>
              <a:off x="7973637" y="3227773"/>
              <a:ext cx="0" cy="448056"/>
            </a:xfrm>
            <a:prstGeom prst="straightConnector1">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60" name="Straight Arrow Connector 459">
            <a:extLst>
              <a:ext uri="{FF2B5EF4-FFF2-40B4-BE49-F238E27FC236}">
                <a16:creationId xmlns:a16="http://schemas.microsoft.com/office/drawing/2014/main" id="{1C3D76E7-8C55-DD4A-5DA3-66875E762247}"/>
              </a:ext>
            </a:extLst>
          </p:cNvPr>
          <p:cNvCxnSpPr>
            <a:cxnSpLocks/>
          </p:cNvCxnSpPr>
          <p:nvPr/>
        </p:nvCxnSpPr>
        <p:spPr>
          <a:xfrm>
            <a:off x="8861193" y="3967940"/>
            <a:ext cx="29744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77F10816-94E5-741B-5FF4-26978D83D70A}"/>
              </a:ext>
            </a:extLst>
          </p:cNvPr>
          <p:cNvCxnSpPr>
            <a:cxnSpLocks/>
          </p:cNvCxnSpPr>
          <p:nvPr/>
        </p:nvCxnSpPr>
        <p:spPr>
          <a:xfrm>
            <a:off x="6985475" y="4381734"/>
            <a:ext cx="0" cy="1184173"/>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4" name="Straight Arrow Connector 463">
            <a:extLst>
              <a:ext uri="{FF2B5EF4-FFF2-40B4-BE49-F238E27FC236}">
                <a16:creationId xmlns:a16="http://schemas.microsoft.com/office/drawing/2014/main" id="{A909F24D-2258-2643-CE5A-12B073B580DB}"/>
              </a:ext>
            </a:extLst>
          </p:cNvPr>
          <p:cNvCxnSpPr>
            <a:cxnSpLocks/>
          </p:cNvCxnSpPr>
          <p:nvPr/>
        </p:nvCxnSpPr>
        <p:spPr>
          <a:xfrm>
            <a:off x="7198463" y="4391981"/>
            <a:ext cx="0" cy="1173926"/>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5" name="Straight Arrow Connector 464">
            <a:extLst>
              <a:ext uri="{FF2B5EF4-FFF2-40B4-BE49-F238E27FC236}">
                <a16:creationId xmlns:a16="http://schemas.microsoft.com/office/drawing/2014/main" id="{978EA2BE-E5CA-8DFE-4C89-49C185B5D2E7}"/>
              </a:ext>
            </a:extLst>
          </p:cNvPr>
          <p:cNvCxnSpPr>
            <a:cxnSpLocks/>
          </p:cNvCxnSpPr>
          <p:nvPr/>
        </p:nvCxnSpPr>
        <p:spPr>
          <a:xfrm flipV="1">
            <a:off x="6768025" y="4402393"/>
            <a:ext cx="0" cy="113508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67" name="TextBox 466">
            <a:extLst>
              <a:ext uri="{FF2B5EF4-FFF2-40B4-BE49-F238E27FC236}">
                <a16:creationId xmlns:a16="http://schemas.microsoft.com/office/drawing/2014/main" id="{6F18C4F3-0041-73D6-3C58-36B50171FD45}"/>
              </a:ext>
            </a:extLst>
          </p:cNvPr>
          <p:cNvSpPr txBox="1"/>
          <p:nvPr/>
        </p:nvSpPr>
        <p:spPr>
          <a:xfrm>
            <a:off x="6409181" y="5555777"/>
            <a:ext cx="502061" cy="251351"/>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BrUn</a:t>
            </a:r>
            <a:endParaRPr lang="en-US" sz="1200" dirty="0">
              <a:solidFill>
                <a:schemeClr val="accent3"/>
              </a:solidFill>
              <a:latin typeface="18 VAG Rounded Light   02390" pitchFamily="2" charset="0"/>
            </a:endParaRPr>
          </a:p>
        </p:txBody>
      </p:sp>
      <p:sp>
        <p:nvSpPr>
          <p:cNvPr id="468" name="TextBox 467">
            <a:extLst>
              <a:ext uri="{FF2B5EF4-FFF2-40B4-BE49-F238E27FC236}">
                <a16:creationId xmlns:a16="http://schemas.microsoft.com/office/drawing/2014/main" id="{6DC019C4-615E-C0A6-0497-955E9231FF33}"/>
              </a:ext>
            </a:extLst>
          </p:cNvPr>
          <p:cNvSpPr txBox="1"/>
          <p:nvPr/>
        </p:nvSpPr>
        <p:spPr>
          <a:xfrm>
            <a:off x="6690773" y="5779625"/>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BrEq</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469" name="TextBox 468">
            <a:extLst>
              <a:ext uri="{FF2B5EF4-FFF2-40B4-BE49-F238E27FC236}">
                <a16:creationId xmlns:a16="http://schemas.microsoft.com/office/drawing/2014/main" id="{AEA6FB86-667C-770E-2277-B196D5B24226}"/>
              </a:ext>
            </a:extLst>
          </p:cNvPr>
          <p:cNvSpPr txBox="1"/>
          <p:nvPr/>
        </p:nvSpPr>
        <p:spPr>
          <a:xfrm>
            <a:off x="6954558" y="5545178"/>
            <a:ext cx="556563" cy="413190"/>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BrLT</a:t>
            </a:r>
            <a:endParaRPr lang="en-US" sz="1200" dirty="0">
              <a:solidFill>
                <a:schemeClr val="bg1"/>
              </a:solidFill>
              <a:latin typeface="Courier New" panose="02070309020205020404" pitchFamily="49" charset="0"/>
              <a:cs typeface="Courier New" panose="02070309020205020404" pitchFamily="49" charset="0"/>
            </a:endParaRPr>
          </a:p>
          <a:p>
            <a:pPr algn="ctr">
              <a:lnSpc>
                <a:spcPct val="85000"/>
              </a:lnSpc>
            </a:pPr>
            <a:endParaRPr lang="en-US" sz="1200" dirty="0">
              <a:solidFill>
                <a:schemeClr val="bg1"/>
              </a:solidFill>
              <a:latin typeface="Courier New" panose="02070309020205020404" pitchFamily="49" charset="0"/>
              <a:cs typeface="Courier New" panose="02070309020205020404" pitchFamily="49" charset="0"/>
            </a:endParaRPr>
          </a:p>
        </p:txBody>
      </p:sp>
      <p:sp>
        <p:nvSpPr>
          <p:cNvPr id="470" name="TextBox 469">
            <a:extLst>
              <a:ext uri="{FF2B5EF4-FFF2-40B4-BE49-F238E27FC236}">
                <a16:creationId xmlns:a16="http://schemas.microsoft.com/office/drawing/2014/main" id="{EB36C471-0E58-C024-CCCA-3104D6B2506B}"/>
              </a:ext>
            </a:extLst>
          </p:cNvPr>
          <p:cNvSpPr txBox="1"/>
          <p:nvPr/>
        </p:nvSpPr>
        <p:spPr>
          <a:xfrm>
            <a:off x="6156892" y="4747081"/>
            <a:ext cx="694421" cy="261610"/>
          </a:xfrm>
          <a:prstGeom prst="rect">
            <a:avLst/>
          </a:prstGeom>
          <a:noFill/>
        </p:spPr>
        <p:txBody>
          <a:bodyPr wrap="none" rtlCol="0">
            <a:spAutoFit/>
          </a:bodyPr>
          <a:lstStyle/>
          <a:p>
            <a:r>
              <a:rPr kumimoji="0" lang="en-US" sz="1100" b="1" i="0" u="none" strike="noStrike" kern="1200" cap="none" spc="0" normalizeH="0" baseline="0" noProof="0" dirty="0">
                <a:ln>
                  <a:noFill/>
                </a:ln>
                <a:solidFill>
                  <a:schemeClr val="accent1"/>
                </a:solidFill>
                <a:effectLst/>
                <a:uLnTx/>
                <a:uFillTx/>
                <a:latin typeface="Courier New" panose="02070309020205020404" pitchFamily="49" charset="0"/>
                <a:ea typeface="+mn-ea"/>
                <a:cs typeface="Courier New" panose="02070309020205020404" pitchFamily="49" charset="0"/>
              </a:rPr>
              <a:t>R[rs2]</a:t>
            </a:r>
            <a:endParaRPr lang="en-US" sz="2000" b="1" dirty="0">
              <a:solidFill>
                <a:schemeClr val="accent1"/>
              </a:solidFill>
              <a:latin typeface="18 VAG Rounded Light   02390" pitchFamily="2" charset="0"/>
            </a:endParaRPr>
          </a:p>
        </p:txBody>
      </p:sp>
      <p:sp>
        <p:nvSpPr>
          <p:cNvPr id="476" name="TextBox 475">
            <a:extLst>
              <a:ext uri="{FF2B5EF4-FFF2-40B4-BE49-F238E27FC236}">
                <a16:creationId xmlns:a16="http://schemas.microsoft.com/office/drawing/2014/main" id="{930DE957-EAE6-BF81-8789-12115D3E84D3}"/>
              </a:ext>
            </a:extLst>
          </p:cNvPr>
          <p:cNvSpPr txBox="1"/>
          <p:nvPr/>
        </p:nvSpPr>
        <p:spPr>
          <a:xfrm>
            <a:off x="4313734" y="942743"/>
            <a:ext cx="3308919" cy="707886"/>
          </a:xfrm>
          <a:prstGeom prst="rect">
            <a:avLst/>
          </a:prstGeom>
          <a:noFill/>
        </p:spPr>
        <p:txBody>
          <a:bodyPr wrap="none" rtlCol="0">
            <a:spAutoFit/>
          </a:bodyPr>
          <a:lstStyle/>
          <a:p>
            <a:pPr algn="l"/>
            <a:r>
              <a:rPr lang="en-US" sz="2000" dirty="0">
                <a:solidFill>
                  <a:schemeClr val="accent1"/>
                </a:solidFill>
                <a:latin typeface="18 VAG Rounded Light   02390" pitchFamily="2" charset="0"/>
                <a:cs typeface="Courier New" panose="02070309020205020404" pitchFamily="49" charset="0"/>
              </a:rPr>
              <a:t>Compare </a:t>
            </a:r>
            <a:r>
              <a:rPr lang="en-US" sz="2000" b="1" dirty="0">
                <a:solidFill>
                  <a:schemeClr val="accent1"/>
                </a:solidFill>
                <a:latin typeface="Courier New" panose="02070309020205020404" pitchFamily="49" charset="0"/>
                <a:cs typeface="Courier New" panose="02070309020205020404" pitchFamily="49" charset="0"/>
              </a:rPr>
              <a:t>R[rs1],R[rs2]</a:t>
            </a:r>
            <a:r>
              <a:rPr lang="en-US" sz="1800" b="1" dirty="0">
                <a:solidFill>
                  <a:schemeClr val="accent1"/>
                </a:solidFill>
                <a:latin typeface="18 VAG Rounded Light   02390" pitchFamily="2" charset="0"/>
                <a:cs typeface="Courier New" panose="02070309020205020404" pitchFamily="49" charset="0"/>
              </a:rPr>
              <a:t>,</a:t>
            </a:r>
            <a:br>
              <a:rPr lang="en-US" sz="2000" b="1" dirty="0">
                <a:solidFill>
                  <a:schemeClr val="accent1"/>
                </a:solidFill>
                <a:latin typeface="18 VAG Rounded Light   02390" pitchFamily="2" charset="0"/>
                <a:cs typeface="Courier New" panose="02070309020205020404" pitchFamily="49" charset="0"/>
              </a:rPr>
            </a:br>
            <a:r>
              <a:rPr lang="en-US" sz="2000" b="1" dirty="0">
                <a:solidFill>
                  <a:schemeClr val="accent1"/>
                </a:solidFill>
                <a:latin typeface="18 VAG Rounded Light   02390" pitchFamily="2" charset="0"/>
                <a:cs typeface="Courier New" panose="02070309020205020404" pitchFamily="49" charset="0"/>
              </a:rPr>
              <a:t>feed result to </a:t>
            </a:r>
            <a:r>
              <a:rPr lang="en-US" sz="2000" b="1" dirty="0">
                <a:solidFill>
                  <a:schemeClr val="accent3"/>
                </a:solidFill>
                <a:latin typeface="18 VAG Rounded Light   02390" pitchFamily="2" charset="0"/>
                <a:cs typeface="Courier New" panose="02070309020205020404" pitchFamily="49" charset="0"/>
              </a:rPr>
              <a:t>Control Logic</a:t>
            </a:r>
            <a:r>
              <a:rPr lang="en-US" sz="2000" b="1" dirty="0">
                <a:solidFill>
                  <a:schemeClr val="accent1"/>
                </a:solidFill>
                <a:latin typeface="18 VAG Rounded Light   02390" pitchFamily="2" charset="0"/>
                <a:cs typeface="Courier New" panose="02070309020205020404" pitchFamily="49" charset="0"/>
              </a:rPr>
              <a:t>.</a:t>
            </a:r>
            <a:endParaRPr lang="en-US" sz="1800" dirty="0">
              <a:solidFill>
                <a:schemeClr val="accent1"/>
              </a:solidFill>
              <a:latin typeface="18 VAG Rounded Light   02390" pitchFamily="2" charset="0"/>
            </a:endParaRPr>
          </a:p>
        </p:txBody>
      </p:sp>
      <p:sp>
        <p:nvSpPr>
          <p:cNvPr id="477" name="Down Arrow 476">
            <a:extLst>
              <a:ext uri="{FF2B5EF4-FFF2-40B4-BE49-F238E27FC236}">
                <a16:creationId xmlns:a16="http://schemas.microsoft.com/office/drawing/2014/main" id="{622355FF-A308-C563-EA70-8B59FD5C7AE8}"/>
              </a:ext>
            </a:extLst>
          </p:cNvPr>
          <p:cNvSpPr/>
          <p:nvPr/>
        </p:nvSpPr>
        <p:spPr>
          <a:xfrm>
            <a:off x="6994813" y="1732282"/>
            <a:ext cx="379124" cy="1638969"/>
          </a:xfrm>
          <a:prstGeom prst="downArrow">
            <a:avLst/>
          </a:prstGeom>
          <a:solidFill>
            <a:schemeClr val="accent1">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479" name="Title 478">
            <a:extLst>
              <a:ext uri="{FF2B5EF4-FFF2-40B4-BE49-F238E27FC236}">
                <a16:creationId xmlns:a16="http://schemas.microsoft.com/office/drawing/2014/main" id="{4B99F323-5E6D-13B7-B316-6D5ECF25266C}"/>
              </a:ext>
            </a:extLst>
          </p:cNvPr>
          <p:cNvSpPr>
            <a:spLocks noGrp="1"/>
          </p:cNvSpPr>
          <p:nvPr>
            <p:ph type="title"/>
          </p:nvPr>
        </p:nvSpPr>
        <p:spPr/>
        <p:txBody>
          <a:bodyPr>
            <a:normAutofit fontScale="90000"/>
          </a:bodyPr>
          <a:lstStyle/>
          <a:p>
            <a:r>
              <a:rPr lang="en-US" dirty="0"/>
              <a:t>Branch Comparator Block, </a:t>
            </a:r>
            <a:r>
              <a:rPr lang="en-US" dirty="0" err="1"/>
              <a:t>PCSel</a:t>
            </a:r>
            <a:r>
              <a:rPr lang="en-US" dirty="0"/>
              <a:t> Control Signal</a:t>
            </a:r>
          </a:p>
        </p:txBody>
      </p:sp>
      <p:cxnSp>
        <p:nvCxnSpPr>
          <p:cNvPr id="16" name="Straight Arrow Connector 15">
            <a:extLst>
              <a:ext uri="{FF2B5EF4-FFF2-40B4-BE49-F238E27FC236}">
                <a16:creationId xmlns:a16="http://schemas.microsoft.com/office/drawing/2014/main" id="{8D25E90D-FADE-B422-4AD9-B90C327B29FA}"/>
              </a:ext>
            </a:extLst>
          </p:cNvPr>
          <p:cNvCxnSpPr>
            <a:cxnSpLocks/>
          </p:cNvCxnSpPr>
          <p:nvPr/>
        </p:nvCxnSpPr>
        <p:spPr>
          <a:xfrm flipV="1">
            <a:off x="6246033" y="3676635"/>
            <a:ext cx="365760" cy="0"/>
          </a:xfrm>
          <a:prstGeom prst="straightConnector1">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sp>
        <p:nvSpPr>
          <p:cNvPr id="481" name="TextBox 480">
            <a:extLst>
              <a:ext uri="{FF2B5EF4-FFF2-40B4-BE49-F238E27FC236}">
                <a16:creationId xmlns:a16="http://schemas.microsoft.com/office/drawing/2014/main" id="{E3898699-EB3A-77E7-5352-E5E6851567F1}"/>
              </a:ext>
            </a:extLst>
          </p:cNvPr>
          <p:cNvSpPr txBox="1"/>
          <p:nvPr/>
        </p:nvSpPr>
        <p:spPr>
          <a:xfrm>
            <a:off x="289612" y="5560036"/>
            <a:ext cx="1552028" cy="51360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PCSel</a:t>
            </a:r>
            <a:endParaRPr lang="en-US" sz="1600" dirty="0">
              <a:solidFill>
                <a:schemeClr val="accent3"/>
              </a:solidFill>
              <a:latin typeface="18 VAG Rounded Light   02390" pitchFamily="2" charset="0"/>
            </a:endParaRPr>
          </a:p>
          <a:p>
            <a:pPr algn="ctr">
              <a:lnSpc>
                <a:spcPct val="85000"/>
              </a:lnSpc>
            </a:pPr>
            <a:r>
              <a:rPr lang="en-US" sz="1600" dirty="0">
                <a:solidFill>
                  <a:schemeClr val="accent2"/>
                </a:solidFill>
                <a:latin typeface="18 VAG Rounded Light   02390" pitchFamily="2" charset="0"/>
              </a:rPr>
              <a:t>taken/not taken</a:t>
            </a:r>
          </a:p>
        </p:txBody>
      </p:sp>
      <p:sp>
        <p:nvSpPr>
          <p:cNvPr id="482" name="Trapezoid 481">
            <a:extLst>
              <a:ext uri="{FF2B5EF4-FFF2-40B4-BE49-F238E27FC236}">
                <a16:creationId xmlns:a16="http://schemas.microsoft.com/office/drawing/2014/main" id="{F637D2ED-097A-6936-4454-FBFF226F509A}"/>
              </a:ext>
            </a:extLst>
          </p:cNvPr>
          <p:cNvSpPr/>
          <p:nvPr/>
        </p:nvSpPr>
        <p:spPr>
          <a:xfrm rot="5400000">
            <a:off x="630315" y="3510125"/>
            <a:ext cx="823357" cy="267680"/>
          </a:xfrm>
          <a:prstGeom prst="trapezoid">
            <a:avLst>
              <a:gd name="adj" fmla="val 85591"/>
            </a:avLst>
          </a:prstGeom>
          <a:noFill/>
          <a:ln w="57150">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grpSp>
        <p:nvGrpSpPr>
          <p:cNvPr id="483" name="Group 482">
            <a:extLst>
              <a:ext uri="{FF2B5EF4-FFF2-40B4-BE49-F238E27FC236}">
                <a16:creationId xmlns:a16="http://schemas.microsoft.com/office/drawing/2014/main" id="{6A3B92D2-BCD9-5D74-A233-93815B6CCCCB}"/>
              </a:ext>
            </a:extLst>
          </p:cNvPr>
          <p:cNvGrpSpPr/>
          <p:nvPr/>
        </p:nvGrpSpPr>
        <p:grpSpPr>
          <a:xfrm>
            <a:off x="669619" y="2248996"/>
            <a:ext cx="2712208" cy="1271016"/>
            <a:chOff x="669619" y="2248996"/>
            <a:chExt cx="2712208" cy="1271016"/>
          </a:xfrm>
        </p:grpSpPr>
        <p:grpSp>
          <p:nvGrpSpPr>
            <p:cNvPr id="484" name="Group 483">
              <a:extLst>
                <a:ext uri="{FF2B5EF4-FFF2-40B4-BE49-F238E27FC236}">
                  <a16:creationId xmlns:a16="http://schemas.microsoft.com/office/drawing/2014/main" id="{11B3C723-71E7-69B1-11F2-F81ACAC0EEA5}"/>
                </a:ext>
              </a:extLst>
            </p:cNvPr>
            <p:cNvGrpSpPr/>
            <p:nvPr/>
          </p:nvGrpSpPr>
          <p:grpSpPr>
            <a:xfrm>
              <a:off x="669619" y="2260284"/>
              <a:ext cx="2712208" cy="1242570"/>
              <a:chOff x="669619" y="2260284"/>
              <a:chExt cx="2712208" cy="1242570"/>
            </a:xfrm>
          </p:grpSpPr>
          <p:grpSp>
            <p:nvGrpSpPr>
              <p:cNvPr id="486" name="Group 485">
                <a:extLst>
                  <a:ext uri="{FF2B5EF4-FFF2-40B4-BE49-F238E27FC236}">
                    <a16:creationId xmlns:a16="http://schemas.microsoft.com/office/drawing/2014/main" id="{386BF109-1656-1996-EDB5-88A83000DC39}"/>
                  </a:ext>
                </a:extLst>
              </p:cNvPr>
              <p:cNvGrpSpPr/>
              <p:nvPr/>
            </p:nvGrpSpPr>
            <p:grpSpPr>
              <a:xfrm>
                <a:off x="675203" y="2260284"/>
                <a:ext cx="2706624" cy="477526"/>
                <a:chOff x="675203" y="2260284"/>
                <a:chExt cx="2706624" cy="477526"/>
              </a:xfrm>
            </p:grpSpPr>
            <p:cxnSp>
              <p:nvCxnSpPr>
                <p:cNvPr id="488" name="Elbow Connector 487">
                  <a:extLst>
                    <a:ext uri="{FF2B5EF4-FFF2-40B4-BE49-F238E27FC236}">
                      <a16:creationId xmlns:a16="http://schemas.microsoft.com/office/drawing/2014/main" id="{BF25CD64-1FE3-D276-B7A5-59E7802460EB}"/>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489" name="Straight Connector 488">
                  <a:extLst>
                    <a:ext uri="{FF2B5EF4-FFF2-40B4-BE49-F238E27FC236}">
                      <a16:creationId xmlns:a16="http://schemas.microsoft.com/office/drawing/2014/main" id="{F392B8F7-4945-5FEC-79BD-7468D7B0B830}"/>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487" name="Straight Arrow Connector 486">
                <a:extLst>
                  <a:ext uri="{FF2B5EF4-FFF2-40B4-BE49-F238E27FC236}">
                    <a16:creationId xmlns:a16="http://schemas.microsoft.com/office/drawing/2014/main" id="{4EB5D2B6-5551-1274-ED57-B3B9DE60A358}"/>
                  </a:ext>
                </a:extLst>
              </p:cNvPr>
              <p:cNvCxnSpPr>
                <a:cxnSpLocks/>
              </p:cNvCxnSpPr>
              <p:nvPr/>
            </p:nvCxnSpPr>
            <p:spPr>
              <a:xfrm flipV="1">
                <a:off x="669619" y="3502852"/>
                <a:ext cx="274320"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485" name="Straight Connector 484">
              <a:extLst>
                <a:ext uri="{FF2B5EF4-FFF2-40B4-BE49-F238E27FC236}">
                  <a16:creationId xmlns:a16="http://schemas.microsoft.com/office/drawing/2014/main" id="{0DE6330E-5C5A-46AF-6552-F007170DF0C5}"/>
                </a:ext>
              </a:extLst>
            </p:cNvPr>
            <p:cNvCxnSpPr/>
            <p:nvPr/>
          </p:nvCxnSpPr>
          <p:spPr>
            <a:xfrm flipH="1">
              <a:off x="675203" y="2248996"/>
              <a:ext cx="0" cy="1271016"/>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501" name="Cloud 500">
            <a:extLst>
              <a:ext uri="{FF2B5EF4-FFF2-40B4-BE49-F238E27FC236}">
                <a16:creationId xmlns:a16="http://schemas.microsoft.com/office/drawing/2014/main" id="{F87A3445-0DF4-177E-4ABF-22F5BD3383AB}"/>
              </a:ext>
            </a:extLst>
          </p:cNvPr>
          <p:cNvSpPr/>
          <p:nvPr/>
        </p:nvSpPr>
        <p:spPr>
          <a:xfrm>
            <a:off x="85268" y="3481604"/>
            <a:ext cx="670198" cy="592466"/>
          </a:xfrm>
          <a:prstGeom prst="cloud">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502" name="TextBox 501">
            <a:extLst>
              <a:ext uri="{FF2B5EF4-FFF2-40B4-BE49-F238E27FC236}">
                <a16:creationId xmlns:a16="http://schemas.microsoft.com/office/drawing/2014/main" id="{4B46B1E1-F182-D1DD-5F06-AEE5397D5CA7}"/>
              </a:ext>
            </a:extLst>
          </p:cNvPr>
          <p:cNvSpPr txBox="1"/>
          <p:nvPr/>
        </p:nvSpPr>
        <p:spPr>
          <a:xfrm>
            <a:off x="580415" y="1444806"/>
            <a:ext cx="2360746" cy="707886"/>
          </a:xfrm>
          <a:prstGeom prst="rect">
            <a:avLst/>
          </a:prstGeom>
          <a:noFill/>
        </p:spPr>
        <p:txBody>
          <a:bodyPr wrap="square" rtlCol="0">
            <a:spAutoFit/>
          </a:bodyPr>
          <a:lstStyle/>
          <a:p>
            <a:pPr algn="l"/>
            <a:r>
              <a:rPr lang="en-US" sz="2000" dirty="0">
                <a:solidFill>
                  <a:schemeClr val="accent2"/>
                </a:solidFill>
                <a:latin typeface="18 VAG Rounded Light   02390" pitchFamily="2" charset="0"/>
                <a:cs typeface="Courier New" panose="02070309020205020404" pitchFamily="49" charset="0"/>
              </a:rPr>
              <a:t>Update PC based on branch result.</a:t>
            </a:r>
            <a:endParaRPr lang="en-US" sz="1800" dirty="0">
              <a:solidFill>
                <a:schemeClr val="accent2"/>
              </a:solidFill>
              <a:latin typeface="18 VAG Rounded Light   02390" pitchFamily="2" charset="0"/>
            </a:endParaRPr>
          </a:p>
        </p:txBody>
      </p:sp>
      <p:sp>
        <p:nvSpPr>
          <p:cNvPr id="500" name="TextBox 499">
            <a:extLst>
              <a:ext uri="{FF2B5EF4-FFF2-40B4-BE49-F238E27FC236}">
                <a16:creationId xmlns:a16="http://schemas.microsoft.com/office/drawing/2014/main" id="{2843D234-B0BD-D887-47F8-B7D095329C87}"/>
              </a:ext>
            </a:extLst>
          </p:cNvPr>
          <p:cNvSpPr txBox="1"/>
          <p:nvPr/>
        </p:nvSpPr>
        <p:spPr>
          <a:xfrm>
            <a:off x="166833" y="3569609"/>
            <a:ext cx="548840" cy="430887"/>
          </a:xfrm>
          <a:prstGeom prst="rect">
            <a:avLst/>
          </a:prstGeom>
          <a:noFill/>
        </p:spPr>
        <p:txBody>
          <a:bodyPr wrap="square" rtlCol="0">
            <a:spAutoFit/>
          </a:bodyPr>
          <a:lstStyle/>
          <a:p>
            <a:pPr algn="ctr"/>
            <a:r>
              <a:rPr kumimoji="0" lang="en-US" sz="1100" b="0" i="0" u="none" strike="noStrike" kern="1200" cap="none" spc="0" normalizeH="0" baseline="0" noProof="0" dirty="0">
                <a:ln>
                  <a:noFill/>
                </a:ln>
                <a:effectLst/>
                <a:uLnTx/>
                <a:uFillTx/>
                <a:latin typeface="Courier New" panose="02070309020205020404" pitchFamily="49" charset="0"/>
                <a:ea typeface="+mn-ea"/>
                <a:cs typeface="Courier New" panose="02070309020205020404" pitchFamily="49" charset="0"/>
              </a:rPr>
              <a:t>pc + </a:t>
            </a:r>
            <a:r>
              <a:rPr kumimoji="0" lang="en-US" sz="1100" b="0" i="0" u="none" strike="noStrike" kern="1200" cap="none" spc="0" normalizeH="0" baseline="0" noProof="0" dirty="0" err="1">
                <a:ln>
                  <a:noFill/>
                </a:ln>
                <a:effectLst/>
                <a:uLnTx/>
                <a:uFillTx/>
                <a:latin typeface="Courier New" panose="02070309020205020404" pitchFamily="49" charset="0"/>
                <a:ea typeface="+mn-ea"/>
                <a:cs typeface="Courier New" panose="02070309020205020404" pitchFamily="49" charset="0"/>
              </a:rPr>
              <a:t>imm</a:t>
            </a:r>
            <a:endParaRPr lang="en-US" sz="2000" dirty="0">
              <a:latin typeface="18 VAG Rounded Light   02390" pitchFamily="2" charset="0"/>
            </a:endParaRPr>
          </a:p>
        </p:txBody>
      </p:sp>
      <p:cxnSp>
        <p:nvCxnSpPr>
          <p:cNvPr id="504" name="Straight Arrow Connector 503">
            <a:extLst>
              <a:ext uri="{FF2B5EF4-FFF2-40B4-BE49-F238E27FC236}">
                <a16:creationId xmlns:a16="http://schemas.microsoft.com/office/drawing/2014/main" id="{3352117C-0537-7B8A-04CF-39BE9AF8108B}"/>
              </a:ext>
            </a:extLst>
          </p:cNvPr>
          <p:cNvCxnSpPr>
            <a:cxnSpLocks/>
          </p:cNvCxnSpPr>
          <p:nvPr/>
        </p:nvCxnSpPr>
        <p:spPr>
          <a:xfrm flipV="1">
            <a:off x="671191" y="3768375"/>
            <a:ext cx="274320" cy="2"/>
          </a:xfrm>
          <a:prstGeom prst="straightConnector1">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sp>
        <p:nvSpPr>
          <p:cNvPr id="505" name="Down Arrow 504">
            <a:extLst>
              <a:ext uri="{FF2B5EF4-FFF2-40B4-BE49-F238E27FC236}">
                <a16:creationId xmlns:a16="http://schemas.microsoft.com/office/drawing/2014/main" id="{B3F0AFE9-5BFB-FCEF-7A23-6931D2834F14}"/>
              </a:ext>
            </a:extLst>
          </p:cNvPr>
          <p:cNvSpPr/>
          <p:nvPr/>
        </p:nvSpPr>
        <p:spPr>
          <a:xfrm>
            <a:off x="810439" y="2152326"/>
            <a:ext cx="379124" cy="823358"/>
          </a:xfrm>
          <a:prstGeom prst="downArrow">
            <a:avLst/>
          </a:prstGeom>
          <a:solidFill>
            <a:schemeClr val="accent2"/>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cxnSp>
        <p:nvCxnSpPr>
          <p:cNvPr id="506" name="Straight Arrow Connector 505">
            <a:extLst>
              <a:ext uri="{FF2B5EF4-FFF2-40B4-BE49-F238E27FC236}">
                <a16:creationId xmlns:a16="http://schemas.microsoft.com/office/drawing/2014/main" id="{480C3389-F351-7E18-D872-4D83D5D72568}"/>
              </a:ext>
            </a:extLst>
          </p:cNvPr>
          <p:cNvCxnSpPr>
            <a:cxnSpLocks/>
          </p:cNvCxnSpPr>
          <p:nvPr/>
        </p:nvCxnSpPr>
        <p:spPr>
          <a:xfrm flipV="1">
            <a:off x="1170363" y="3643964"/>
            <a:ext cx="27432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0" name="Straight Arrow Connector 479">
            <a:extLst>
              <a:ext uri="{FF2B5EF4-FFF2-40B4-BE49-F238E27FC236}">
                <a16:creationId xmlns:a16="http://schemas.microsoft.com/office/drawing/2014/main" id="{C5FEDBE3-F00D-A4E6-F00D-A1A1C90C3A05}"/>
              </a:ext>
            </a:extLst>
          </p:cNvPr>
          <p:cNvCxnSpPr>
            <a:cxnSpLocks/>
          </p:cNvCxnSpPr>
          <p:nvPr/>
        </p:nvCxnSpPr>
        <p:spPr>
          <a:xfrm flipV="1">
            <a:off x="1043816" y="3915845"/>
            <a:ext cx="0" cy="162163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332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 grpId="0"/>
      <p:bldP spid="469" grpId="0"/>
      <p:bldP spid="48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5E9F-7A15-F0E0-064A-4CA721C217FA}"/>
              </a:ext>
            </a:extLst>
          </p:cNvPr>
          <p:cNvSpPr>
            <a:spLocks noGrp="1"/>
          </p:cNvSpPr>
          <p:nvPr>
            <p:ph type="title"/>
          </p:nvPr>
        </p:nvSpPr>
        <p:spPr/>
        <p:txBody>
          <a:bodyPr/>
          <a:lstStyle/>
          <a:p>
            <a:r>
              <a:rPr lang="en-US" dirty="0"/>
              <a:t>Branch Comparator Block, Detail</a:t>
            </a:r>
          </a:p>
        </p:txBody>
      </p:sp>
      <p:sp>
        <p:nvSpPr>
          <p:cNvPr id="3" name="Rounded Rectangle 2">
            <a:extLst>
              <a:ext uri="{FF2B5EF4-FFF2-40B4-BE49-F238E27FC236}">
                <a16:creationId xmlns:a16="http://schemas.microsoft.com/office/drawing/2014/main" id="{842F1223-817A-BDD0-DC06-1315F490E924}"/>
              </a:ext>
            </a:extLst>
          </p:cNvPr>
          <p:cNvSpPr/>
          <p:nvPr/>
        </p:nvSpPr>
        <p:spPr>
          <a:xfrm>
            <a:off x="11107676" y="2096311"/>
            <a:ext cx="723547" cy="890604"/>
          </a:xfrm>
          <a:prstGeom prst="roundRect">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b="1" dirty="0">
                <a:solidFill>
                  <a:schemeClr val="accent1"/>
                </a:solidFill>
                <a:latin typeface="18 VAG Rounded Bold   07390" pitchFamily="2" charset="0"/>
              </a:rPr>
              <a:t>Branch Comp.</a:t>
            </a:r>
          </a:p>
        </p:txBody>
      </p:sp>
      <p:sp>
        <p:nvSpPr>
          <p:cNvPr id="4" name="TextBox 3">
            <a:extLst>
              <a:ext uri="{FF2B5EF4-FFF2-40B4-BE49-F238E27FC236}">
                <a16:creationId xmlns:a16="http://schemas.microsoft.com/office/drawing/2014/main" id="{7A361085-1244-1B37-C805-8A484165D18C}"/>
              </a:ext>
            </a:extLst>
          </p:cNvPr>
          <p:cNvSpPr txBox="1"/>
          <p:nvPr/>
        </p:nvSpPr>
        <p:spPr>
          <a:xfrm>
            <a:off x="10413255" y="2014978"/>
            <a:ext cx="694421" cy="261610"/>
          </a:xfrm>
          <a:prstGeom prst="rect">
            <a:avLst/>
          </a:prstGeom>
          <a:noFill/>
        </p:spPr>
        <p:txBody>
          <a:bodyPr wrap="none" rtlCol="0">
            <a:spAutoFit/>
          </a:bodyPr>
          <a:lstStyle/>
          <a:p>
            <a:r>
              <a:rPr kumimoji="0" lang="en-US" sz="110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cxnSp>
        <p:nvCxnSpPr>
          <p:cNvPr id="5" name="Straight Arrow Connector 4">
            <a:extLst>
              <a:ext uri="{FF2B5EF4-FFF2-40B4-BE49-F238E27FC236}">
                <a16:creationId xmlns:a16="http://schemas.microsoft.com/office/drawing/2014/main" id="{436614ED-E5B3-931F-1B2B-87460DF7E867}"/>
              </a:ext>
            </a:extLst>
          </p:cNvPr>
          <p:cNvCxnSpPr>
            <a:cxnSpLocks/>
          </p:cNvCxnSpPr>
          <p:nvPr/>
        </p:nvCxnSpPr>
        <p:spPr>
          <a:xfrm>
            <a:off x="11469839" y="3000222"/>
            <a:ext cx="0" cy="1184173"/>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730FA0B-BC39-19F4-6DA9-C67CD5D16800}"/>
              </a:ext>
            </a:extLst>
          </p:cNvPr>
          <p:cNvCxnSpPr>
            <a:cxnSpLocks/>
          </p:cNvCxnSpPr>
          <p:nvPr/>
        </p:nvCxnSpPr>
        <p:spPr>
          <a:xfrm>
            <a:off x="11682827" y="3010469"/>
            <a:ext cx="0" cy="1173926"/>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447D96F-B520-07AF-CC3A-EF8712BA93E0}"/>
              </a:ext>
            </a:extLst>
          </p:cNvPr>
          <p:cNvSpPr txBox="1"/>
          <p:nvPr/>
        </p:nvSpPr>
        <p:spPr>
          <a:xfrm>
            <a:off x="10424401" y="2505928"/>
            <a:ext cx="694421" cy="261610"/>
          </a:xfrm>
          <a:prstGeom prst="rect">
            <a:avLst/>
          </a:prstGeom>
          <a:noFill/>
        </p:spPr>
        <p:txBody>
          <a:bodyPr wrap="none" rtlCol="0">
            <a:spAutoFit/>
          </a:bodyPr>
          <a:lstStyle/>
          <a:p>
            <a:r>
              <a:rPr kumimoji="0" lang="en-US" sz="110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bg1"/>
              </a:solidFill>
              <a:latin typeface="18 VAG Rounded Light   02390" pitchFamily="2" charset="0"/>
            </a:endParaRPr>
          </a:p>
        </p:txBody>
      </p:sp>
      <p:cxnSp>
        <p:nvCxnSpPr>
          <p:cNvPr id="8" name="Straight Arrow Connector 7">
            <a:extLst>
              <a:ext uri="{FF2B5EF4-FFF2-40B4-BE49-F238E27FC236}">
                <a16:creationId xmlns:a16="http://schemas.microsoft.com/office/drawing/2014/main" id="{7430914D-6876-713D-4FFA-520BE0089C8F}"/>
              </a:ext>
            </a:extLst>
          </p:cNvPr>
          <p:cNvCxnSpPr>
            <a:cxnSpLocks/>
          </p:cNvCxnSpPr>
          <p:nvPr/>
        </p:nvCxnSpPr>
        <p:spPr>
          <a:xfrm flipV="1">
            <a:off x="10730397" y="2295123"/>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BD0D2C8-B0EE-ECFB-5256-9B08642E56F2}"/>
              </a:ext>
            </a:extLst>
          </p:cNvPr>
          <p:cNvCxnSpPr>
            <a:cxnSpLocks/>
          </p:cNvCxnSpPr>
          <p:nvPr/>
        </p:nvCxnSpPr>
        <p:spPr>
          <a:xfrm flipV="1">
            <a:off x="11283306" y="3041610"/>
            <a:ext cx="0" cy="113508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9272D6E-B73A-CA90-EC23-FBBAFFFED659}"/>
              </a:ext>
            </a:extLst>
          </p:cNvPr>
          <p:cNvSpPr txBox="1"/>
          <p:nvPr/>
        </p:nvSpPr>
        <p:spPr>
          <a:xfrm>
            <a:off x="10924462" y="4194994"/>
            <a:ext cx="502061" cy="251351"/>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BrUn</a:t>
            </a:r>
            <a:endParaRPr lang="en-US" sz="1200" dirty="0">
              <a:solidFill>
                <a:schemeClr val="accent3"/>
              </a:solidFill>
              <a:latin typeface="18 VAG Rounded Light   02390" pitchFamily="2" charset="0"/>
            </a:endParaRPr>
          </a:p>
        </p:txBody>
      </p:sp>
      <p:sp>
        <p:nvSpPr>
          <p:cNvPr id="11" name="TextBox 10">
            <a:extLst>
              <a:ext uri="{FF2B5EF4-FFF2-40B4-BE49-F238E27FC236}">
                <a16:creationId xmlns:a16="http://schemas.microsoft.com/office/drawing/2014/main" id="{18A8F16F-82C8-C677-2BC3-5743273C2AB2}"/>
              </a:ext>
            </a:extLst>
          </p:cNvPr>
          <p:cNvSpPr txBox="1"/>
          <p:nvPr/>
        </p:nvSpPr>
        <p:spPr>
          <a:xfrm>
            <a:off x="11206054" y="4418842"/>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BrEq</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0A8B60B7-0C68-37EB-D6E4-E1EB41207BE6}"/>
              </a:ext>
            </a:extLst>
          </p:cNvPr>
          <p:cNvSpPr txBox="1"/>
          <p:nvPr/>
        </p:nvSpPr>
        <p:spPr>
          <a:xfrm>
            <a:off x="11469839" y="4184395"/>
            <a:ext cx="556563" cy="413190"/>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BrLT</a:t>
            </a:r>
            <a:endParaRPr lang="en-US" sz="1200" dirty="0">
              <a:solidFill>
                <a:schemeClr val="bg1"/>
              </a:solidFill>
              <a:latin typeface="Courier New" panose="02070309020205020404" pitchFamily="49" charset="0"/>
              <a:cs typeface="Courier New" panose="02070309020205020404" pitchFamily="49" charset="0"/>
            </a:endParaRPr>
          </a:p>
          <a:p>
            <a:pPr algn="ctr">
              <a:lnSpc>
                <a:spcPct val="85000"/>
              </a:lnSpc>
            </a:pPr>
            <a:endParaRPr lang="en-US" sz="1200" dirty="0">
              <a:solidFill>
                <a:schemeClr val="bg1"/>
              </a:solidFill>
              <a:latin typeface="Courier New" panose="02070309020205020404" pitchFamily="49" charset="0"/>
              <a:cs typeface="Courier New" panose="02070309020205020404" pitchFamily="49" charset="0"/>
            </a:endParaRPr>
          </a:p>
        </p:txBody>
      </p:sp>
      <p:cxnSp>
        <p:nvCxnSpPr>
          <p:cNvPr id="13" name="Straight Arrow Connector 12">
            <a:extLst>
              <a:ext uri="{FF2B5EF4-FFF2-40B4-BE49-F238E27FC236}">
                <a16:creationId xmlns:a16="http://schemas.microsoft.com/office/drawing/2014/main" id="{B486E76D-A3E3-FE44-CEE2-EFBEF8D3AF47}"/>
              </a:ext>
            </a:extLst>
          </p:cNvPr>
          <p:cNvCxnSpPr>
            <a:cxnSpLocks/>
          </p:cNvCxnSpPr>
          <p:nvPr/>
        </p:nvCxnSpPr>
        <p:spPr>
          <a:xfrm flipV="1">
            <a:off x="10753062" y="2769291"/>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59D53B5-9D21-02C1-0465-A5C002279E66}"/>
              </a:ext>
            </a:extLst>
          </p:cNvPr>
          <p:cNvSpPr txBox="1"/>
          <p:nvPr/>
        </p:nvSpPr>
        <p:spPr>
          <a:xfrm>
            <a:off x="11096157" y="2103511"/>
            <a:ext cx="314087" cy="892552"/>
          </a:xfrm>
          <a:prstGeom prst="rect">
            <a:avLst/>
          </a:prstGeom>
          <a:noFill/>
        </p:spPr>
        <p:txBody>
          <a:bodyPr wrap="square" rtlCol="0">
            <a:spAutoFit/>
          </a:bodyPr>
          <a:lstStyle/>
          <a:p>
            <a:pPr algn="l">
              <a:spcBef>
                <a:spcPts val="600"/>
              </a:spcBef>
            </a:pPr>
            <a:r>
              <a:rPr lang="en-US" sz="1400" dirty="0">
                <a:solidFill>
                  <a:schemeClr val="accent1"/>
                </a:solidFill>
                <a:latin typeface="Courier New" panose="02070309020205020404" pitchFamily="49" charset="0"/>
                <a:cs typeface="Courier New" panose="02070309020205020404" pitchFamily="49" charset="0"/>
              </a:rPr>
              <a:t>A</a:t>
            </a:r>
          </a:p>
          <a:p>
            <a:pPr algn="l">
              <a:spcBef>
                <a:spcPts val="600"/>
              </a:spcBef>
            </a:pPr>
            <a:endParaRPr lang="en-US" sz="1400" dirty="0">
              <a:solidFill>
                <a:schemeClr val="accent1"/>
              </a:solidFill>
              <a:latin typeface="Courier New" panose="02070309020205020404" pitchFamily="49" charset="0"/>
              <a:cs typeface="Courier New" panose="02070309020205020404" pitchFamily="49" charset="0"/>
            </a:endParaRPr>
          </a:p>
          <a:p>
            <a:pPr algn="l">
              <a:spcBef>
                <a:spcPts val="600"/>
              </a:spcBef>
            </a:pPr>
            <a:r>
              <a:rPr lang="en-US" sz="1400" dirty="0">
                <a:solidFill>
                  <a:schemeClr val="accent1"/>
                </a:solidFill>
                <a:latin typeface="Courier New" panose="02070309020205020404" pitchFamily="49" charset="0"/>
                <a:cs typeface="Courier New" panose="02070309020205020404" pitchFamily="49" charset="0"/>
              </a:rPr>
              <a:t>B</a:t>
            </a:r>
          </a:p>
        </p:txBody>
      </p:sp>
      <p:sp>
        <p:nvSpPr>
          <p:cNvPr id="15" name="Rectangle 14">
            <a:extLst>
              <a:ext uri="{FF2B5EF4-FFF2-40B4-BE49-F238E27FC236}">
                <a16:creationId xmlns:a16="http://schemas.microsoft.com/office/drawing/2014/main" id="{7EDFAF73-33A1-2FDE-E340-6E6BF74FA9BE}"/>
              </a:ext>
            </a:extLst>
          </p:cNvPr>
          <p:cNvSpPr/>
          <p:nvPr/>
        </p:nvSpPr>
        <p:spPr>
          <a:xfrm>
            <a:off x="8672669" y="4176423"/>
            <a:ext cx="3382262" cy="961175"/>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cxnSp>
        <p:nvCxnSpPr>
          <p:cNvPr id="16" name="Straight Arrow Connector 15">
            <a:extLst>
              <a:ext uri="{FF2B5EF4-FFF2-40B4-BE49-F238E27FC236}">
                <a16:creationId xmlns:a16="http://schemas.microsoft.com/office/drawing/2014/main" id="{4D34BDB0-DD3D-E461-7F59-02C8A77849BC}"/>
              </a:ext>
            </a:extLst>
          </p:cNvPr>
          <p:cNvCxnSpPr>
            <a:cxnSpLocks/>
          </p:cNvCxnSpPr>
          <p:nvPr/>
        </p:nvCxnSpPr>
        <p:spPr>
          <a:xfrm flipV="1">
            <a:off x="9364701" y="3751866"/>
            <a:ext cx="0" cy="420573"/>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6122930-974E-9455-DA10-3056467DDAE4}"/>
              </a:ext>
            </a:extLst>
          </p:cNvPr>
          <p:cNvSpPr txBox="1"/>
          <p:nvPr/>
        </p:nvSpPr>
        <p:spPr>
          <a:xfrm>
            <a:off x="8697059" y="4194994"/>
            <a:ext cx="1378904" cy="487121"/>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PCSel</a:t>
            </a:r>
            <a:endParaRPr lang="en-US" sz="1600" dirty="0">
              <a:solidFill>
                <a:schemeClr val="accent3"/>
              </a:solidFill>
              <a:latin typeface="18 VAG Rounded Light   02390" pitchFamily="2" charset="0"/>
            </a:endParaRPr>
          </a:p>
          <a:p>
            <a:pPr algn="ctr">
              <a:lnSpc>
                <a:spcPct val="85000"/>
              </a:lnSpc>
            </a:pPr>
            <a:r>
              <a:rPr lang="en-US" sz="1400" dirty="0">
                <a:solidFill>
                  <a:schemeClr val="accent2"/>
                </a:solidFill>
                <a:latin typeface="18 VAG Rounded Light   02390" pitchFamily="2" charset="0"/>
              </a:rPr>
              <a:t>taken/not taken</a:t>
            </a:r>
          </a:p>
        </p:txBody>
      </p:sp>
      <p:sp>
        <p:nvSpPr>
          <p:cNvPr id="18" name="TextBox 17">
            <a:extLst>
              <a:ext uri="{FF2B5EF4-FFF2-40B4-BE49-F238E27FC236}">
                <a16:creationId xmlns:a16="http://schemas.microsoft.com/office/drawing/2014/main" id="{179C5ACA-2EF1-AED1-853C-BB691AFC01BB}"/>
              </a:ext>
            </a:extLst>
          </p:cNvPr>
          <p:cNvSpPr txBox="1"/>
          <p:nvPr/>
        </p:nvSpPr>
        <p:spPr>
          <a:xfrm>
            <a:off x="9888656" y="4194959"/>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cxnSp>
        <p:nvCxnSpPr>
          <p:cNvPr id="19" name="Straight Arrow Connector 18">
            <a:extLst>
              <a:ext uri="{FF2B5EF4-FFF2-40B4-BE49-F238E27FC236}">
                <a16:creationId xmlns:a16="http://schemas.microsoft.com/office/drawing/2014/main" id="{C8A19523-D769-4D8B-233F-580BDB06A621}"/>
              </a:ext>
            </a:extLst>
          </p:cNvPr>
          <p:cNvCxnSpPr>
            <a:cxnSpLocks/>
          </p:cNvCxnSpPr>
          <p:nvPr/>
        </p:nvCxnSpPr>
        <p:spPr>
          <a:xfrm>
            <a:off x="10405784" y="3751866"/>
            <a:ext cx="0" cy="417608"/>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Cloud 19">
            <a:extLst>
              <a:ext uri="{FF2B5EF4-FFF2-40B4-BE49-F238E27FC236}">
                <a16:creationId xmlns:a16="http://schemas.microsoft.com/office/drawing/2014/main" id="{EDF1AE8D-899D-5A39-6C92-391096B28694}"/>
              </a:ext>
            </a:extLst>
          </p:cNvPr>
          <p:cNvSpPr/>
          <p:nvPr/>
        </p:nvSpPr>
        <p:spPr>
          <a:xfrm>
            <a:off x="10013664" y="3461078"/>
            <a:ext cx="739398" cy="309539"/>
          </a:xfrm>
          <a:prstGeom prst="cloud">
            <a:avLst/>
          </a:prstGeom>
          <a:solidFill>
            <a:schemeClr val="accent5">
              <a:lumMod val="20000"/>
              <a:lumOff val="80000"/>
            </a:schemeClr>
          </a:solidFill>
          <a:ln w="285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1" name="Cloud 20">
            <a:extLst>
              <a:ext uri="{FF2B5EF4-FFF2-40B4-BE49-F238E27FC236}">
                <a16:creationId xmlns:a16="http://schemas.microsoft.com/office/drawing/2014/main" id="{D854EA1A-A9B3-E5C2-AE06-470607EDFD2D}"/>
              </a:ext>
            </a:extLst>
          </p:cNvPr>
          <p:cNvSpPr/>
          <p:nvPr/>
        </p:nvSpPr>
        <p:spPr>
          <a:xfrm>
            <a:off x="9006518" y="3461078"/>
            <a:ext cx="739398" cy="309539"/>
          </a:xfrm>
          <a:prstGeom prst="cloud">
            <a:avLst/>
          </a:prstGeom>
          <a:solidFill>
            <a:schemeClr val="accent2">
              <a:lumMod val="90000"/>
            </a:schemeClr>
          </a:solidFill>
          <a:ln w="285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2" name="TextBox 21">
            <a:extLst>
              <a:ext uri="{FF2B5EF4-FFF2-40B4-BE49-F238E27FC236}">
                <a16:creationId xmlns:a16="http://schemas.microsoft.com/office/drawing/2014/main" id="{156EE6D4-7096-A64D-3747-EF8B83B9A7B7}"/>
              </a:ext>
            </a:extLst>
          </p:cNvPr>
          <p:cNvSpPr txBox="1"/>
          <p:nvPr/>
        </p:nvSpPr>
        <p:spPr>
          <a:xfrm>
            <a:off x="2576457" y="2002792"/>
            <a:ext cx="111921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[31:20]</a:t>
            </a:r>
            <a:endParaRPr lang="en-US" sz="2000" dirty="0">
              <a:solidFill>
                <a:schemeClr val="bg1"/>
              </a:solidFill>
              <a:latin typeface="18 VAG Rounded Light   02390" pitchFamily="2" charset="0"/>
            </a:endParaRPr>
          </a:p>
        </p:txBody>
      </p:sp>
      <p:cxnSp>
        <p:nvCxnSpPr>
          <p:cNvPr id="23" name="Straight Arrow Connector 22">
            <a:extLst>
              <a:ext uri="{FF2B5EF4-FFF2-40B4-BE49-F238E27FC236}">
                <a16:creationId xmlns:a16="http://schemas.microsoft.com/office/drawing/2014/main" id="{1ED40559-C0E1-3AD4-DCAA-9362A8A3A8D3}"/>
              </a:ext>
            </a:extLst>
          </p:cNvPr>
          <p:cNvCxnSpPr>
            <a:cxnSpLocks/>
          </p:cNvCxnSpPr>
          <p:nvPr/>
        </p:nvCxnSpPr>
        <p:spPr>
          <a:xfrm flipV="1">
            <a:off x="2781274" y="2309364"/>
            <a:ext cx="914400" cy="0"/>
          </a:xfrm>
          <a:prstGeom prst="straightConnector1">
            <a:avLst/>
          </a:prstGeom>
          <a:ln w="28575">
            <a:solidFill>
              <a:schemeClr val="accent5"/>
            </a:solidFill>
            <a:headEnd type="none"/>
            <a:tailEnd type="triangle" w="lg" len="lg"/>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9E799F8-03B8-DDFD-9D6A-4B6610B0FFC3}"/>
              </a:ext>
            </a:extLst>
          </p:cNvPr>
          <p:cNvSpPr txBox="1"/>
          <p:nvPr/>
        </p:nvSpPr>
        <p:spPr>
          <a:xfrm>
            <a:off x="4438428" y="2002792"/>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25" name="Rounded Rectangle 24">
            <a:extLst>
              <a:ext uri="{FF2B5EF4-FFF2-40B4-BE49-F238E27FC236}">
                <a16:creationId xmlns:a16="http://schemas.microsoft.com/office/drawing/2014/main" id="{25EAFD02-DEAE-525D-33F9-6A8A92AFC9C8}"/>
              </a:ext>
            </a:extLst>
          </p:cNvPr>
          <p:cNvSpPr/>
          <p:nvPr/>
        </p:nvSpPr>
        <p:spPr>
          <a:xfrm>
            <a:off x="3706402" y="1969019"/>
            <a:ext cx="734547" cy="615137"/>
          </a:xfrm>
          <a:prstGeom prst="roundRect">
            <a:avLst/>
          </a:prstGeom>
          <a:solidFill>
            <a:schemeClr val="accent5">
              <a:lumMod val="20000"/>
              <a:lumOff val="80000"/>
            </a:schemeClr>
          </a:solidFill>
          <a:ln w="5715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b="1" dirty="0" err="1">
                <a:solidFill>
                  <a:schemeClr val="accent5"/>
                </a:solidFill>
                <a:latin typeface="18 VAG Rounded Bold   07390" pitchFamily="2" charset="0"/>
              </a:rPr>
              <a:t>Imm</a:t>
            </a:r>
            <a:r>
              <a:rPr lang="en-US" sz="1400" b="1" dirty="0">
                <a:solidFill>
                  <a:schemeClr val="accent5"/>
                </a:solidFill>
                <a:latin typeface="18 VAG Rounded Bold   07390" pitchFamily="2" charset="0"/>
              </a:rPr>
              <a:t>. Gen</a:t>
            </a:r>
          </a:p>
        </p:txBody>
      </p:sp>
      <p:cxnSp>
        <p:nvCxnSpPr>
          <p:cNvPr id="26" name="Straight Arrow Connector 25">
            <a:extLst>
              <a:ext uri="{FF2B5EF4-FFF2-40B4-BE49-F238E27FC236}">
                <a16:creationId xmlns:a16="http://schemas.microsoft.com/office/drawing/2014/main" id="{3E6EE7D5-AB63-FE40-22BF-A35BAD280EB1}"/>
              </a:ext>
            </a:extLst>
          </p:cNvPr>
          <p:cNvCxnSpPr>
            <a:cxnSpLocks/>
          </p:cNvCxnSpPr>
          <p:nvPr/>
        </p:nvCxnSpPr>
        <p:spPr>
          <a:xfrm flipV="1">
            <a:off x="4440949" y="2298174"/>
            <a:ext cx="914400" cy="0"/>
          </a:xfrm>
          <a:prstGeom prst="straightConnector1">
            <a:avLst/>
          </a:prstGeom>
          <a:ln w="28575">
            <a:solidFill>
              <a:schemeClr val="accent5"/>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02FC954-EEE2-2C91-F073-8F3BF6C666F4}"/>
              </a:ext>
            </a:extLst>
          </p:cNvPr>
          <p:cNvCxnSpPr>
            <a:cxnSpLocks/>
          </p:cNvCxnSpPr>
          <p:nvPr/>
        </p:nvCxnSpPr>
        <p:spPr>
          <a:xfrm flipV="1">
            <a:off x="4041513" y="2651858"/>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7B86734-6B82-A22B-ED23-043B2994970A}"/>
              </a:ext>
            </a:extLst>
          </p:cNvPr>
          <p:cNvSpPr txBox="1"/>
          <p:nvPr/>
        </p:nvSpPr>
        <p:spPr>
          <a:xfrm>
            <a:off x="3701285" y="2902757"/>
            <a:ext cx="806631" cy="310854"/>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b="1" dirty="0">
              <a:solidFill>
                <a:schemeClr val="accent5"/>
              </a:solidFill>
              <a:latin typeface="Courier New" panose="02070309020205020404" pitchFamily="49" charset="0"/>
              <a:cs typeface="Courier New" panose="02070309020205020404" pitchFamily="49" charset="0"/>
            </a:endParaRPr>
          </a:p>
        </p:txBody>
      </p:sp>
      <p:sp>
        <p:nvSpPr>
          <p:cNvPr id="29" name="Rounded Rectangle 28">
            <a:extLst>
              <a:ext uri="{FF2B5EF4-FFF2-40B4-BE49-F238E27FC236}">
                <a16:creationId xmlns:a16="http://schemas.microsoft.com/office/drawing/2014/main" id="{A4989A83-454C-4CE7-6A6E-C52A47AFC8F1}"/>
              </a:ext>
            </a:extLst>
          </p:cNvPr>
          <p:cNvSpPr/>
          <p:nvPr/>
        </p:nvSpPr>
        <p:spPr>
          <a:xfrm>
            <a:off x="3661587" y="3745689"/>
            <a:ext cx="723547" cy="890604"/>
          </a:xfrm>
          <a:prstGeom prst="roundRect">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b="1" dirty="0">
                <a:solidFill>
                  <a:schemeClr val="accent1"/>
                </a:solidFill>
                <a:latin typeface="18 VAG Rounded Bold   07390" pitchFamily="2" charset="0"/>
              </a:rPr>
              <a:t>Branch Comp.</a:t>
            </a:r>
          </a:p>
        </p:txBody>
      </p:sp>
      <p:cxnSp>
        <p:nvCxnSpPr>
          <p:cNvPr id="34" name="Straight Arrow Connector 33">
            <a:extLst>
              <a:ext uri="{FF2B5EF4-FFF2-40B4-BE49-F238E27FC236}">
                <a16:creationId xmlns:a16="http://schemas.microsoft.com/office/drawing/2014/main" id="{CFD92068-EDC4-AFED-F68F-3DC65631245F}"/>
              </a:ext>
            </a:extLst>
          </p:cNvPr>
          <p:cNvCxnSpPr>
            <a:cxnSpLocks/>
          </p:cNvCxnSpPr>
          <p:nvPr/>
        </p:nvCxnSpPr>
        <p:spPr>
          <a:xfrm flipV="1">
            <a:off x="3284308" y="3944501"/>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9DF3672-A54C-FE39-A885-8D1FC41059BB}"/>
              </a:ext>
            </a:extLst>
          </p:cNvPr>
          <p:cNvCxnSpPr>
            <a:cxnSpLocks/>
          </p:cNvCxnSpPr>
          <p:nvPr/>
        </p:nvCxnSpPr>
        <p:spPr>
          <a:xfrm flipV="1">
            <a:off x="3837217" y="4690988"/>
            <a:ext cx="0" cy="275867"/>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35A7E2CC-F825-BA97-0B22-05A13A5E72A6}"/>
              </a:ext>
            </a:extLst>
          </p:cNvPr>
          <p:cNvSpPr txBox="1"/>
          <p:nvPr/>
        </p:nvSpPr>
        <p:spPr>
          <a:xfrm>
            <a:off x="3556080" y="5020722"/>
            <a:ext cx="502061" cy="251351"/>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BrUn</a:t>
            </a:r>
            <a:endParaRPr lang="en-US" sz="1200" dirty="0">
              <a:solidFill>
                <a:schemeClr val="accent3"/>
              </a:solidFill>
              <a:latin typeface="18 VAG Rounded Light   02390" pitchFamily="2" charset="0"/>
            </a:endParaRPr>
          </a:p>
        </p:txBody>
      </p:sp>
      <p:sp>
        <p:nvSpPr>
          <p:cNvPr id="37" name="TextBox 36">
            <a:extLst>
              <a:ext uri="{FF2B5EF4-FFF2-40B4-BE49-F238E27FC236}">
                <a16:creationId xmlns:a16="http://schemas.microsoft.com/office/drawing/2014/main" id="{2CFAE677-3C7C-A1C7-5D5B-0921343FB9CD}"/>
              </a:ext>
            </a:extLst>
          </p:cNvPr>
          <p:cNvSpPr txBox="1"/>
          <p:nvPr/>
        </p:nvSpPr>
        <p:spPr>
          <a:xfrm>
            <a:off x="4763193" y="4290730"/>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BrEq</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38" name="TextBox 37">
            <a:extLst>
              <a:ext uri="{FF2B5EF4-FFF2-40B4-BE49-F238E27FC236}">
                <a16:creationId xmlns:a16="http://schemas.microsoft.com/office/drawing/2014/main" id="{69389066-E123-8770-6A01-C8A7E106E91B}"/>
              </a:ext>
            </a:extLst>
          </p:cNvPr>
          <p:cNvSpPr txBox="1"/>
          <p:nvPr/>
        </p:nvSpPr>
        <p:spPr>
          <a:xfrm>
            <a:off x="4743317" y="3832558"/>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BrLT</a:t>
            </a:r>
            <a:endParaRPr lang="en-US" sz="1200" dirty="0">
              <a:solidFill>
                <a:schemeClr val="bg1"/>
              </a:solidFill>
              <a:latin typeface="Courier New" panose="02070309020205020404" pitchFamily="49" charset="0"/>
              <a:cs typeface="Courier New" panose="02070309020205020404" pitchFamily="49" charset="0"/>
            </a:endParaRPr>
          </a:p>
        </p:txBody>
      </p:sp>
      <p:cxnSp>
        <p:nvCxnSpPr>
          <p:cNvPr id="39" name="Straight Arrow Connector 38">
            <a:extLst>
              <a:ext uri="{FF2B5EF4-FFF2-40B4-BE49-F238E27FC236}">
                <a16:creationId xmlns:a16="http://schemas.microsoft.com/office/drawing/2014/main" id="{D9A0063B-27B4-6CFB-6F06-70FADB4A4692}"/>
              </a:ext>
            </a:extLst>
          </p:cNvPr>
          <p:cNvCxnSpPr>
            <a:cxnSpLocks/>
          </p:cNvCxnSpPr>
          <p:nvPr/>
        </p:nvCxnSpPr>
        <p:spPr>
          <a:xfrm flipV="1">
            <a:off x="3306973" y="4418669"/>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C1E40EF-460E-95E3-9500-92B3DAB9EA77}"/>
              </a:ext>
            </a:extLst>
          </p:cNvPr>
          <p:cNvSpPr txBox="1"/>
          <p:nvPr/>
        </p:nvSpPr>
        <p:spPr>
          <a:xfrm>
            <a:off x="3650068" y="3752889"/>
            <a:ext cx="314087" cy="892552"/>
          </a:xfrm>
          <a:prstGeom prst="rect">
            <a:avLst/>
          </a:prstGeom>
          <a:noFill/>
        </p:spPr>
        <p:txBody>
          <a:bodyPr wrap="square" rtlCol="0">
            <a:spAutoFit/>
          </a:bodyPr>
          <a:lstStyle/>
          <a:p>
            <a:pPr algn="l">
              <a:spcBef>
                <a:spcPts val="600"/>
              </a:spcBef>
            </a:pPr>
            <a:r>
              <a:rPr lang="en-US" sz="1400" dirty="0">
                <a:solidFill>
                  <a:schemeClr val="accent1"/>
                </a:solidFill>
                <a:latin typeface="Courier New" panose="02070309020205020404" pitchFamily="49" charset="0"/>
                <a:cs typeface="Courier New" panose="02070309020205020404" pitchFamily="49" charset="0"/>
              </a:rPr>
              <a:t>A</a:t>
            </a:r>
          </a:p>
          <a:p>
            <a:pPr algn="l">
              <a:spcBef>
                <a:spcPts val="600"/>
              </a:spcBef>
            </a:pPr>
            <a:endParaRPr lang="en-US" sz="1400" dirty="0">
              <a:solidFill>
                <a:schemeClr val="accent1"/>
              </a:solidFill>
              <a:latin typeface="Courier New" panose="02070309020205020404" pitchFamily="49" charset="0"/>
              <a:cs typeface="Courier New" panose="02070309020205020404" pitchFamily="49" charset="0"/>
            </a:endParaRPr>
          </a:p>
          <a:p>
            <a:pPr algn="l">
              <a:spcBef>
                <a:spcPts val="600"/>
              </a:spcBef>
            </a:pPr>
            <a:r>
              <a:rPr lang="en-US" sz="1400" dirty="0">
                <a:solidFill>
                  <a:schemeClr val="accent1"/>
                </a:solidFill>
                <a:latin typeface="Courier New" panose="02070309020205020404" pitchFamily="49" charset="0"/>
                <a:cs typeface="Courier New" panose="02070309020205020404" pitchFamily="49" charset="0"/>
              </a:rPr>
              <a:t>B</a:t>
            </a:r>
          </a:p>
        </p:txBody>
      </p:sp>
      <p:cxnSp>
        <p:nvCxnSpPr>
          <p:cNvPr id="33" name="Straight Arrow Connector 32">
            <a:extLst>
              <a:ext uri="{FF2B5EF4-FFF2-40B4-BE49-F238E27FC236}">
                <a16:creationId xmlns:a16="http://schemas.microsoft.com/office/drawing/2014/main" id="{8F480753-F286-64F5-BEE7-C16B063F107F}"/>
              </a:ext>
            </a:extLst>
          </p:cNvPr>
          <p:cNvCxnSpPr>
            <a:cxnSpLocks/>
          </p:cNvCxnSpPr>
          <p:nvPr/>
        </p:nvCxnSpPr>
        <p:spPr>
          <a:xfrm flipV="1">
            <a:off x="4397433" y="3944501"/>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94E12D1-3263-CED6-19AC-B8CD6E4A2BE6}"/>
              </a:ext>
            </a:extLst>
          </p:cNvPr>
          <p:cNvCxnSpPr>
            <a:cxnSpLocks/>
          </p:cNvCxnSpPr>
          <p:nvPr/>
        </p:nvCxnSpPr>
        <p:spPr>
          <a:xfrm flipV="1">
            <a:off x="4420098" y="4418669"/>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954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ounded Rectangle 34">
            <a:extLst>
              <a:ext uri="{FF2B5EF4-FFF2-40B4-BE49-F238E27FC236}">
                <a16:creationId xmlns:a16="http://schemas.microsoft.com/office/drawing/2014/main" id="{0F34E2EF-E6E4-480A-85BB-220BE1C28AFF}"/>
              </a:ext>
            </a:extLst>
          </p:cNvPr>
          <p:cNvSpPr/>
          <p:nvPr/>
        </p:nvSpPr>
        <p:spPr>
          <a:xfrm>
            <a:off x="4095066" y="4684066"/>
            <a:ext cx="734547" cy="615137"/>
          </a:xfrm>
          <a:prstGeom prst="roundRect">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bg1"/>
                </a:solidFill>
                <a:latin typeface="18 VAG Rounded Light   02390" pitchFamily="2" charset="0"/>
              </a:rPr>
              <a:t>Imm</a:t>
            </a:r>
            <a:r>
              <a:rPr lang="en-US" sz="1400" dirty="0">
                <a:solidFill>
                  <a:schemeClr val="bg1"/>
                </a:solidFill>
                <a:latin typeface="18 VAG Rounded Light   02390" pitchFamily="2" charset="0"/>
              </a:rPr>
              <a:t>. Gen</a:t>
            </a:r>
          </a:p>
        </p:txBody>
      </p:sp>
      <p:sp>
        <p:nvSpPr>
          <p:cNvPr id="33" name="TextBox 32">
            <a:extLst>
              <a:ext uri="{FF2B5EF4-FFF2-40B4-BE49-F238E27FC236}">
                <a16:creationId xmlns:a16="http://schemas.microsoft.com/office/drawing/2014/main" id="{2A5E8AD9-296E-37B4-4E87-99DCBDA65600}"/>
              </a:ext>
            </a:extLst>
          </p:cNvPr>
          <p:cNvSpPr txBox="1"/>
          <p:nvPr/>
        </p:nvSpPr>
        <p:spPr>
          <a:xfrm>
            <a:off x="3131237" y="4777354"/>
            <a:ext cx="103425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[31:7]</a:t>
            </a:r>
            <a:endParaRPr lang="en-US" sz="2000" dirty="0">
              <a:solidFill>
                <a:schemeClr val="tx1">
                  <a:lumMod val="50000"/>
                  <a:lumOff val="50000"/>
                </a:schemeClr>
              </a:solidFill>
              <a:latin typeface="18 VAG Rounded Light   02390" pitchFamily="2" charset="0"/>
            </a:endParaRPr>
          </a:p>
        </p:txBody>
      </p:sp>
      <p:cxnSp>
        <p:nvCxnSpPr>
          <p:cNvPr id="476" name="Straight Arrow Connector 475">
            <a:extLst>
              <a:ext uri="{FF2B5EF4-FFF2-40B4-BE49-F238E27FC236}">
                <a16:creationId xmlns:a16="http://schemas.microsoft.com/office/drawing/2014/main" id="{542881D0-E006-5FD1-06B4-BF7FDE875101}"/>
              </a:ext>
            </a:extLst>
          </p:cNvPr>
          <p:cNvCxnSpPr>
            <a:cxnSpLocks/>
          </p:cNvCxnSpPr>
          <p:nvPr/>
        </p:nvCxnSpPr>
        <p:spPr>
          <a:xfrm>
            <a:off x="6985475" y="4381734"/>
            <a:ext cx="0" cy="1184173"/>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B1CA216-A44B-94A2-491B-0FE076CC9699}"/>
              </a:ext>
            </a:extLst>
          </p:cNvPr>
          <p:cNvCxnSpPr>
            <a:cxnSpLocks/>
          </p:cNvCxnSpPr>
          <p:nvPr/>
        </p:nvCxnSpPr>
        <p:spPr>
          <a:xfrm>
            <a:off x="7198463" y="4391981"/>
            <a:ext cx="0" cy="117392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lstStyle/>
          <a:p>
            <a:pPr>
              <a:tabLst>
                <a:tab pos="10280650" algn="r"/>
              </a:tabLst>
            </a:pPr>
            <a:r>
              <a:rPr lang="en-US" dirty="0" err="1"/>
              <a:t>ASel</a:t>
            </a:r>
            <a:r>
              <a:rPr lang="en-US" dirty="0"/>
              <a:t> MUX before ALU</a:t>
            </a:r>
            <a:endParaRPr lang="en-US" dirty="0">
              <a:solidFill>
                <a:schemeClr val="bg2"/>
              </a:solidFill>
              <a:latin typeface="Courier New" panose="02070309020205020404" pitchFamily="49" charset="0"/>
              <a:cs typeface="Courier New" panose="02070309020205020404" pitchFamily="49" charset="0"/>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0" name="Rounded Rectangle 319">
            <a:extLst>
              <a:ext uri="{FF2B5EF4-FFF2-40B4-BE49-F238E27FC236}">
                <a16:creationId xmlns:a16="http://schemas.microsoft.com/office/drawing/2014/main" id="{4FDE1979-E809-7A50-A64F-A7DC871340D6}"/>
              </a:ext>
            </a:extLst>
          </p:cNvPr>
          <p:cNvSpPr/>
          <p:nvPr/>
        </p:nvSpPr>
        <p:spPr>
          <a:xfrm>
            <a:off x="6623312" y="3477823"/>
            <a:ext cx="723547" cy="890604"/>
          </a:xfrm>
          <a:prstGeom prst="round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dirty="0">
                <a:solidFill>
                  <a:schemeClr val="tx1">
                    <a:lumMod val="50000"/>
                    <a:lumOff val="50000"/>
                  </a:schemeClr>
                </a:solidFill>
                <a:latin typeface="18 VAG Rounded Light   02390" pitchFamily="2" charset="0"/>
              </a:rPr>
              <a:t>Branch Comp.</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sp>
        <p:nvSpPr>
          <p:cNvPr id="329" name="Isosceles Triangle 59">
            <a:extLst>
              <a:ext uri="{FF2B5EF4-FFF2-40B4-BE49-F238E27FC236}">
                <a16:creationId xmlns:a16="http://schemas.microsoft.com/office/drawing/2014/main" id="{4BB69EA9-5AFD-ECF3-6FBC-565768226B64}"/>
              </a:ext>
            </a:extLst>
          </p:cNvPr>
          <p:cNvSpPr/>
          <p:nvPr/>
        </p:nvSpPr>
        <p:spPr>
          <a:xfrm>
            <a:off x="9886099" y="4540637"/>
            <a:ext cx="182880"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bg1"/>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29E1759E-8C1A-B8F6-C0AE-84288FE3023D}"/>
              </a:ext>
            </a:extLst>
          </p:cNvPr>
          <p:cNvCxnSpPr>
            <a:cxnSpLocks/>
          </p:cNvCxnSpPr>
          <p:nvPr/>
        </p:nvCxnSpPr>
        <p:spPr>
          <a:xfrm flipV="1">
            <a:off x="6246033" y="3676635"/>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9" name="Elbow Connector 398">
            <a:extLst>
              <a:ext uri="{FF2B5EF4-FFF2-40B4-BE49-F238E27FC236}">
                <a16:creationId xmlns:a16="http://schemas.microsoft.com/office/drawing/2014/main" id="{81177FA1-F44B-D412-678F-D0996FE371E5}"/>
              </a:ext>
            </a:extLst>
          </p:cNvPr>
          <p:cNvCxnSpPr>
            <a:cxnSpLocks/>
          </p:cNvCxnSpPr>
          <p:nvPr/>
        </p:nvCxnSpPr>
        <p:spPr>
          <a:xfrm rot="16200000" flipH="1">
            <a:off x="7031628" y="3034682"/>
            <a:ext cx="94632" cy="1367664"/>
          </a:xfrm>
          <a:prstGeom prst="bentConnector4">
            <a:avLst>
              <a:gd name="adj1" fmla="val -456294"/>
              <a:gd name="adj2" fmla="val 76963"/>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349656" y="301100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tx1">
                  <a:lumMod val="50000"/>
                  <a:lumOff val="50000"/>
                </a:schemeClr>
              </a:solidFill>
              <a:latin typeface="18 VAG Rounded Light   02390" pitchFamily="2" charset="0"/>
            </a:endParaRPr>
          </a:p>
        </p:txBody>
      </p:sp>
      <p:sp>
        <p:nvSpPr>
          <p:cNvPr id="309" name="Rectangle 308">
            <a:extLst>
              <a:ext uri="{FF2B5EF4-FFF2-40B4-BE49-F238E27FC236}">
                <a16:creationId xmlns:a16="http://schemas.microsoft.com/office/drawing/2014/main" id="{6BC64DA7-A1B1-1E33-61B5-D83764BAC155}"/>
              </a:ext>
            </a:extLst>
          </p:cNvPr>
          <p:cNvSpPr/>
          <p:nvPr/>
        </p:nvSpPr>
        <p:spPr>
          <a:xfrm>
            <a:off x="9120628" y="3586419"/>
            <a:ext cx="1021734" cy="1127284"/>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tx1">
                    <a:lumMod val="50000"/>
                    <a:lumOff val="50000"/>
                  </a:schemeClr>
                </a:solidFill>
                <a:latin typeface="18 VAG Rounded Light   02390" pitchFamily="2" charset="0"/>
              </a:rPr>
              <a:t>	</a:t>
            </a:r>
            <a:r>
              <a:rPr lang="en-US" sz="1400" i="1" dirty="0" err="1">
                <a:solidFill>
                  <a:schemeClr val="tx1">
                    <a:lumMod val="50000"/>
                    <a:lumOff val="50000"/>
                  </a:schemeClr>
                </a:solidFill>
                <a:latin typeface="18 VAG Rounded Light   02390" pitchFamily="2" charset="0"/>
              </a:rPr>
              <a:t>rdata</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spcBef>
                <a:spcPts val="400"/>
              </a:spcBef>
              <a:tabLst>
                <a:tab pos="1249363" algn="r"/>
              </a:tabLst>
            </a:pPr>
            <a:r>
              <a:rPr lang="en-US" sz="1600" b="1" dirty="0">
                <a:solidFill>
                  <a:schemeClr val="tx1">
                    <a:lumMod val="50000"/>
                    <a:lumOff val="50000"/>
                  </a:schemeClr>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tx1">
                    <a:lumMod val="50000"/>
                    <a:lumOff val="50000"/>
                  </a:schemeClr>
                </a:solidFill>
                <a:latin typeface="18 VAG ROUNDED LIGHT   02390" pitchFamily="2" charset="0"/>
                <a:cs typeface="Courier New" panose="02070309020205020404" pitchFamily="49" charset="0"/>
              </a:rPr>
              <a:t>wdata</a:t>
            </a:r>
            <a:r>
              <a:rPr lang="en-US" sz="1600" i="1" dirty="0">
                <a:solidFill>
                  <a:schemeClr val="tx1">
                    <a:lumMod val="50000"/>
                    <a:lumOff val="50000"/>
                  </a:schemeClr>
                </a:solidFill>
                <a:latin typeface="18 VAG ROUNDED LIGHT   02390" pitchFamily="2" charset="0"/>
                <a:cs typeface="Courier New" panose="02070309020205020404" pitchFamily="49" charset="0"/>
              </a:rPr>
              <a:t> </a:t>
            </a:r>
            <a:endParaRPr lang="en-US" sz="1200" i="1" dirty="0">
              <a:solidFill>
                <a:schemeClr val="tx1">
                  <a:lumMod val="50000"/>
                  <a:lumOff val="50000"/>
                </a:schemeClr>
              </a:solidFill>
              <a:latin typeface="18 VAG ROUNDED LIGHT   02390" pitchFamily="2" charset="0"/>
              <a:cs typeface="Courier New" panose="02070309020205020404" pitchFamily="49" charset="0"/>
            </a:endParaRPr>
          </a:p>
        </p:txBody>
      </p:sp>
      <p:cxnSp>
        <p:nvCxnSpPr>
          <p:cNvPr id="427" name="Straight Arrow Connector 426">
            <a:extLst>
              <a:ext uri="{FF2B5EF4-FFF2-40B4-BE49-F238E27FC236}">
                <a16:creationId xmlns:a16="http://schemas.microsoft.com/office/drawing/2014/main" id="{67A46396-A71B-E5C3-E2EC-583B4A603C90}"/>
              </a:ext>
            </a:extLst>
          </p:cNvPr>
          <p:cNvCxnSpPr>
            <a:cxnSpLocks/>
          </p:cNvCxnSpPr>
          <p:nvPr/>
        </p:nvCxnSpPr>
        <p:spPr>
          <a:xfrm>
            <a:off x="7983123" y="3661650"/>
            <a:ext cx="301752" cy="149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9" name="Straight Arrow Connector 448">
            <a:extLst>
              <a:ext uri="{FF2B5EF4-FFF2-40B4-BE49-F238E27FC236}">
                <a16:creationId xmlns:a16="http://schemas.microsoft.com/office/drawing/2014/main" id="{98CA2B2E-5BEF-6E19-FC37-311D08B845B0}"/>
              </a:ext>
            </a:extLst>
          </p:cNvPr>
          <p:cNvCxnSpPr>
            <a:cxnSpLocks/>
          </p:cNvCxnSpPr>
          <p:nvPr/>
        </p:nvCxnSpPr>
        <p:spPr>
          <a:xfrm flipV="1">
            <a:off x="9596488" y="4736341"/>
            <a:ext cx="0" cy="8011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sp>
        <p:nvSpPr>
          <p:cNvPr id="461" name="TextBox 460">
            <a:extLst>
              <a:ext uri="{FF2B5EF4-FFF2-40B4-BE49-F238E27FC236}">
                <a16:creationId xmlns:a16="http://schemas.microsoft.com/office/drawing/2014/main" id="{FE738B2C-2C36-2578-E323-38E7D6FA3739}"/>
              </a:ext>
            </a:extLst>
          </p:cNvPr>
          <p:cNvSpPr txBox="1"/>
          <p:nvPr/>
        </p:nvSpPr>
        <p:spPr>
          <a:xfrm>
            <a:off x="9813943" y="4842550"/>
            <a:ext cx="341760" cy="261610"/>
          </a:xfrm>
          <a:prstGeom prst="rect">
            <a:avLst/>
          </a:prstGeom>
          <a:noFill/>
          <a:ln>
            <a:noFill/>
          </a:ln>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62" name="Straight Connector 461">
            <a:extLst>
              <a:ext uri="{FF2B5EF4-FFF2-40B4-BE49-F238E27FC236}">
                <a16:creationId xmlns:a16="http://schemas.microsoft.com/office/drawing/2014/main" id="{C60DDE42-432D-6CCE-975F-C92E5D285C26}"/>
              </a:ext>
            </a:extLst>
          </p:cNvPr>
          <p:cNvCxnSpPr>
            <a:cxnSpLocks/>
            <a:stCxn id="461" idx="0"/>
          </p:cNvCxnSpPr>
          <p:nvPr/>
        </p:nvCxnSpPr>
        <p:spPr>
          <a:xfrm flipV="1">
            <a:off x="9984823" y="4713414"/>
            <a:ext cx="0" cy="129136"/>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7F68ECD-ACAD-374E-B7B5-00E15FD21DCB}"/>
              </a:ext>
            </a:extLst>
          </p:cNvPr>
          <p:cNvSpPr txBox="1"/>
          <p:nvPr/>
        </p:nvSpPr>
        <p:spPr>
          <a:xfrm>
            <a:off x="8489762" y="3245823"/>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D38A11AD-8791-608A-0552-C121A94FF645}"/>
              </a:ext>
            </a:extLst>
          </p:cNvPr>
          <p:cNvCxnSpPr>
            <a:cxnSpLocks/>
          </p:cNvCxnSpPr>
          <p:nvPr/>
        </p:nvCxnSpPr>
        <p:spPr>
          <a:xfrm flipV="1">
            <a:off x="6768025" y="4402393"/>
            <a:ext cx="0" cy="11350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C66CA67-38E7-34E8-E7FC-AAD1AEB58582}"/>
              </a:ext>
            </a:extLst>
          </p:cNvPr>
          <p:cNvGrpSpPr/>
          <p:nvPr/>
        </p:nvGrpSpPr>
        <p:grpSpPr>
          <a:xfrm>
            <a:off x="6261052" y="4187510"/>
            <a:ext cx="2859576" cy="605832"/>
            <a:chOff x="6261052" y="4187510"/>
            <a:chExt cx="2859576" cy="605832"/>
          </a:xfrm>
        </p:grpSpPr>
        <p:cxnSp>
          <p:nvCxnSpPr>
            <p:cNvPr id="420" name="Elbow Connector 419">
              <a:extLst>
                <a:ext uri="{FF2B5EF4-FFF2-40B4-BE49-F238E27FC236}">
                  <a16:creationId xmlns:a16="http://schemas.microsoft.com/office/drawing/2014/main" id="{DE0A5376-D330-42E2-FB65-5A8544619591}"/>
                </a:ext>
              </a:extLst>
            </p:cNvPr>
            <p:cNvCxnSpPr/>
            <p:nvPr/>
          </p:nvCxnSpPr>
          <p:spPr>
            <a:xfrm>
              <a:off x="6389559" y="4187510"/>
              <a:ext cx="2501519" cy="605832"/>
            </a:xfrm>
            <a:prstGeom prst="bentConnector3">
              <a:avLst>
                <a:gd name="adj1" fmla="val -363"/>
              </a:avLst>
            </a:prstGeom>
            <a:ln w="28575">
              <a:solidFill>
                <a:schemeClr val="tx1">
                  <a:lumMod val="50000"/>
                  <a:lumOff val="50000"/>
                </a:schemeClr>
              </a:solidFill>
              <a:headEnd type="oval"/>
              <a:tailEnd type="none" w="lg" len="lg"/>
            </a:ln>
            <a:effectLst>
              <a:glow rad="88900">
                <a:srgbClr val="011223">
                  <a:alpha val="90000"/>
                </a:srgbClr>
              </a:glow>
            </a:effectLst>
          </p:spPr>
          <p:style>
            <a:lnRef idx="1">
              <a:schemeClr val="accent1"/>
            </a:lnRef>
            <a:fillRef idx="0">
              <a:schemeClr val="accent1"/>
            </a:fillRef>
            <a:effectRef idx="0">
              <a:schemeClr val="accent1"/>
            </a:effectRef>
            <a:fontRef idx="minor">
              <a:schemeClr val="tx1"/>
            </a:fontRef>
          </p:style>
        </p:cxnSp>
        <p:cxnSp>
          <p:nvCxnSpPr>
            <p:cNvPr id="421" name="Elbow Connector 420">
              <a:extLst>
                <a:ext uri="{FF2B5EF4-FFF2-40B4-BE49-F238E27FC236}">
                  <a16:creationId xmlns:a16="http://schemas.microsoft.com/office/drawing/2014/main" id="{356B3A68-0F26-F67A-1004-D091F831F6EB}"/>
                </a:ext>
              </a:extLst>
            </p:cNvPr>
            <p:cNvCxnSpPr>
              <a:cxnSpLocks/>
            </p:cNvCxnSpPr>
            <p:nvPr/>
          </p:nvCxnSpPr>
          <p:spPr>
            <a:xfrm rot="5400000" flipH="1" flipV="1">
              <a:off x="8879358" y="4552072"/>
              <a:ext cx="252992" cy="229548"/>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4" name="Elbow Connector 423">
              <a:extLst>
                <a:ext uri="{FF2B5EF4-FFF2-40B4-BE49-F238E27FC236}">
                  <a16:creationId xmlns:a16="http://schemas.microsoft.com/office/drawing/2014/main" id="{8C12DBEE-9119-E687-12AE-4F54DD2F9145}"/>
                </a:ext>
              </a:extLst>
            </p:cNvPr>
            <p:cNvCxnSpPr>
              <a:cxnSpLocks/>
            </p:cNvCxnSpPr>
            <p:nvPr/>
          </p:nvCxnSpPr>
          <p:spPr>
            <a:xfrm rot="5400000" flipH="1" flipV="1">
              <a:off x="7322511" y="4361210"/>
              <a:ext cx="518548" cy="328277"/>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296AC102-0DC9-9CA8-A46D-84AEF8599F88}"/>
                </a:ext>
              </a:extLst>
            </p:cNvPr>
            <p:cNvCxnSpPr/>
            <p:nvPr/>
          </p:nvCxnSpPr>
          <p:spPr>
            <a:xfrm flipV="1">
              <a:off x="6261052" y="4187510"/>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22" name="TextBox 421">
            <a:extLst>
              <a:ext uri="{FF2B5EF4-FFF2-40B4-BE49-F238E27FC236}">
                <a16:creationId xmlns:a16="http://schemas.microsoft.com/office/drawing/2014/main" id="{C2019ECA-1D43-2798-7640-624AE67C748A}"/>
              </a:ext>
            </a:extLst>
          </p:cNvPr>
          <p:cNvSpPr txBox="1"/>
          <p:nvPr/>
        </p:nvSpPr>
        <p:spPr>
          <a:xfrm>
            <a:off x="6156892" y="4747081"/>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cxnSp>
        <p:nvCxnSpPr>
          <p:cNvPr id="19" name="Straight Arrow Connector 18">
            <a:extLst>
              <a:ext uri="{FF2B5EF4-FFF2-40B4-BE49-F238E27FC236}">
                <a16:creationId xmlns:a16="http://schemas.microsoft.com/office/drawing/2014/main" id="{537A331C-250D-4072-F6B6-25839190A52F}"/>
              </a:ext>
            </a:extLst>
          </p:cNvPr>
          <p:cNvCxnSpPr>
            <a:cxnSpLocks/>
          </p:cNvCxnSpPr>
          <p:nvPr/>
        </p:nvCxnSpPr>
        <p:spPr>
          <a:xfrm flipV="1">
            <a:off x="1170363" y="3643964"/>
            <a:ext cx="27432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bg1"/>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tx1">
                  <a:lumMod val="50000"/>
                  <a:lumOff val="50000"/>
                </a:schemeClr>
              </a:solidFill>
              <a:latin typeface="18 VAG Rounded Light   02390" pitchFamily="2" charset="0"/>
            </a:endParaRPr>
          </a:p>
        </p:txBody>
      </p:sp>
      <p:cxnSp>
        <p:nvCxnSpPr>
          <p:cNvPr id="477" name="Straight Arrow Connector 476">
            <a:extLst>
              <a:ext uri="{FF2B5EF4-FFF2-40B4-BE49-F238E27FC236}">
                <a16:creationId xmlns:a16="http://schemas.microsoft.com/office/drawing/2014/main" id="{D784A5C8-32E2-3AA1-3DDB-295CDDAE88B9}"/>
              </a:ext>
            </a:extLst>
          </p:cNvPr>
          <p:cNvCxnSpPr>
            <a:cxnSpLocks/>
          </p:cNvCxnSpPr>
          <p:nvPr/>
        </p:nvCxnSpPr>
        <p:spPr>
          <a:xfrm flipV="1">
            <a:off x="10142760" y="3707112"/>
            <a:ext cx="403456" cy="763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7E10B256-ADFC-8E2C-6C6F-6E4DBEC36AB1}"/>
              </a:ext>
            </a:extLst>
          </p:cNvPr>
          <p:cNvSpPr txBox="1"/>
          <p:nvPr/>
        </p:nvSpPr>
        <p:spPr>
          <a:xfrm>
            <a:off x="504032" y="3739819"/>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tx1">
                  <a:lumMod val="50000"/>
                  <a:lumOff val="50000"/>
                </a:schemeClr>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tx1">
                  <a:lumMod val="50000"/>
                  <a:lumOff val="50000"/>
                </a:schemeClr>
              </a:solidFill>
              <a:latin typeface="18 VAG Rounded Light   02390" pitchFamily="2" charset="0"/>
            </a:endParaRPr>
          </a:p>
        </p:txBody>
      </p:sp>
      <p:sp>
        <p:nvSpPr>
          <p:cNvPr id="153" name="TextBox 152">
            <a:extLst>
              <a:ext uri="{FF2B5EF4-FFF2-40B4-BE49-F238E27FC236}">
                <a16:creationId xmlns:a16="http://schemas.microsoft.com/office/drawing/2014/main" id="{96032983-17AD-87BD-753B-0DAA16E5B7AD}"/>
              </a:ext>
            </a:extLst>
          </p:cNvPr>
          <p:cNvSpPr txBox="1"/>
          <p:nvPr/>
        </p:nvSpPr>
        <p:spPr>
          <a:xfrm>
            <a:off x="735247" y="5560036"/>
            <a:ext cx="660758" cy="304314"/>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PCSel</a:t>
            </a:r>
            <a:endParaRPr lang="en-US" sz="1600" dirty="0">
              <a:solidFill>
                <a:schemeClr val="tx1">
                  <a:lumMod val="50000"/>
                  <a:lumOff val="50000"/>
                </a:schemeClr>
              </a:solidFill>
              <a:latin typeface="18 VAG Rounded Light   02390" pitchFamily="2" charset="0"/>
            </a:endParaRPr>
          </a:p>
        </p:txBody>
      </p:sp>
      <p:sp>
        <p:nvSpPr>
          <p:cNvPr id="155" name="TextBox 154">
            <a:extLst>
              <a:ext uri="{FF2B5EF4-FFF2-40B4-BE49-F238E27FC236}">
                <a16:creationId xmlns:a16="http://schemas.microsoft.com/office/drawing/2014/main" id="{805FC406-05B2-8242-650C-D6E9D3BC10DC}"/>
              </a:ext>
            </a:extLst>
          </p:cNvPr>
          <p:cNvSpPr txBox="1"/>
          <p:nvPr/>
        </p:nvSpPr>
        <p:spPr>
          <a:xfrm>
            <a:off x="4062897" y="5552119"/>
            <a:ext cx="817853" cy="51360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dirty="0">
                <a:solidFill>
                  <a:schemeClr val="accent5"/>
                </a:solidFill>
                <a:latin typeface="18 VAG Rounded Light   02390" pitchFamily="2" charset="0"/>
              </a:rPr>
              <a:t>B</a:t>
            </a: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513602"/>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57" name="TextBox 156">
            <a:extLst>
              <a:ext uri="{FF2B5EF4-FFF2-40B4-BE49-F238E27FC236}">
                <a16:creationId xmlns:a16="http://schemas.microsoft.com/office/drawing/2014/main" id="{2668EA19-1D16-2435-39BE-AEF3AA44FFE9}"/>
              </a:ext>
            </a:extLst>
          </p:cNvPr>
          <p:cNvSpPr txBox="1"/>
          <p:nvPr/>
        </p:nvSpPr>
        <p:spPr>
          <a:xfrm>
            <a:off x="6409181" y="5555777"/>
            <a:ext cx="5020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BrUn</a:t>
            </a:r>
            <a:endParaRPr lang="en-US" sz="1200" dirty="0">
              <a:solidFill>
                <a:schemeClr val="tx1">
                  <a:lumMod val="50000"/>
                  <a:lumOff val="50000"/>
                </a:schemeClr>
              </a:solidFill>
              <a:latin typeface="18 VAG Rounded Light   02390" pitchFamily="2" charset="0"/>
            </a:endParaRPr>
          </a:p>
        </p:txBody>
      </p:sp>
      <p:sp>
        <p:nvSpPr>
          <p:cNvPr id="159" name="TextBox 158">
            <a:extLst>
              <a:ext uri="{FF2B5EF4-FFF2-40B4-BE49-F238E27FC236}">
                <a16:creationId xmlns:a16="http://schemas.microsoft.com/office/drawing/2014/main" id="{2CC95B9F-5DF4-D7FA-AEA7-3A8533F0CD4C}"/>
              </a:ext>
            </a:extLst>
          </p:cNvPr>
          <p:cNvSpPr txBox="1"/>
          <p:nvPr/>
        </p:nvSpPr>
        <p:spPr>
          <a:xfrm>
            <a:off x="6690773" y="5779625"/>
            <a:ext cx="556563" cy="256224"/>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Courier New" panose="02070309020205020404" pitchFamily="49" charset="0"/>
                <a:cs typeface="Courier New" panose="02070309020205020404" pitchFamily="49" charset="0"/>
              </a:rPr>
              <a:t>BrEq</a:t>
            </a: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60" name="TextBox 159">
            <a:extLst>
              <a:ext uri="{FF2B5EF4-FFF2-40B4-BE49-F238E27FC236}">
                <a16:creationId xmlns:a16="http://schemas.microsoft.com/office/drawing/2014/main" id="{FD1E69A0-9944-8D40-E6A1-E6D049015EEA}"/>
              </a:ext>
            </a:extLst>
          </p:cNvPr>
          <p:cNvSpPr txBox="1"/>
          <p:nvPr/>
        </p:nvSpPr>
        <p:spPr>
          <a:xfrm>
            <a:off x="6954558" y="5545178"/>
            <a:ext cx="556563" cy="413190"/>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Courier New" panose="02070309020205020404" pitchFamily="49" charset="0"/>
                <a:cs typeface="Courier New" panose="02070309020205020404" pitchFamily="49" charset="0"/>
              </a:rPr>
              <a:t>BrLT</a:t>
            </a: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a:p>
            <a:pPr algn="ctr">
              <a:lnSpc>
                <a:spcPct val="85000"/>
              </a:lnSpc>
            </a:pP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BSel</a:t>
            </a:r>
            <a:endParaRPr lang="en-US" sz="1200" dirty="0">
              <a:solidFill>
                <a:schemeClr val="accent3"/>
              </a:solidFill>
              <a:latin typeface="18 VAG Rounded Light   02390" pitchFamily="2" charset="0"/>
            </a:endParaRPr>
          </a:p>
          <a:p>
            <a:pPr algn="ctr">
              <a:lnSpc>
                <a:spcPct val="85000"/>
              </a:lnSpc>
            </a:pPr>
            <a:r>
              <a:rPr lang="en-US" sz="1200" dirty="0">
                <a:solidFill>
                  <a:schemeClr val="accent5"/>
                </a:solidFill>
                <a:latin typeface="18 VAG Rounded Light   02390" pitchFamily="2" charset="0"/>
              </a:rPr>
              <a:t>1</a:t>
            </a:r>
          </a:p>
        </p:txBody>
      </p:sp>
      <p:sp>
        <p:nvSpPr>
          <p:cNvPr id="162" name="TextBox 161">
            <a:extLst>
              <a:ext uri="{FF2B5EF4-FFF2-40B4-BE49-F238E27FC236}">
                <a16:creationId xmlns:a16="http://schemas.microsoft.com/office/drawing/2014/main" id="{2000C3DB-EA0F-B383-7B78-CA219CC6DBC8}"/>
              </a:ext>
            </a:extLst>
          </p:cNvPr>
          <p:cNvSpPr txBox="1"/>
          <p:nvPr/>
        </p:nvSpPr>
        <p:spPr>
          <a:xfrm>
            <a:off x="7954131" y="5524627"/>
            <a:ext cx="460382"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ASel</a:t>
            </a:r>
            <a:endParaRPr lang="en-US" sz="1200" dirty="0">
              <a:solidFill>
                <a:schemeClr val="accent3"/>
              </a:solidFill>
              <a:latin typeface="18 VAG Rounded Light   02390" pitchFamily="2" charset="0"/>
            </a:endParaRPr>
          </a:p>
          <a:p>
            <a:pPr algn="ctr">
              <a:lnSpc>
                <a:spcPct val="85000"/>
              </a:lnSpc>
            </a:pPr>
            <a:r>
              <a:rPr lang="en-US" sz="1200" dirty="0">
                <a:solidFill>
                  <a:schemeClr val="accent1"/>
                </a:solidFill>
                <a:latin typeface="18 VAG Rounded Light   02390" pitchFamily="2" charset="0"/>
              </a:rPr>
              <a:t>1</a:t>
            </a:r>
          </a:p>
        </p:txBody>
      </p:sp>
      <p:sp>
        <p:nvSpPr>
          <p:cNvPr id="164" name="TextBox 163">
            <a:extLst>
              <a:ext uri="{FF2B5EF4-FFF2-40B4-BE49-F238E27FC236}">
                <a16:creationId xmlns:a16="http://schemas.microsoft.com/office/drawing/2014/main" id="{0574EDEE-392B-DC05-E19A-7C22B2FFABF2}"/>
              </a:ext>
            </a:extLst>
          </p:cNvPr>
          <p:cNvSpPr txBox="1"/>
          <p:nvPr/>
        </p:nvSpPr>
        <p:spPr>
          <a:xfrm>
            <a:off x="9285659" y="5555777"/>
            <a:ext cx="817853"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MemRW</a:t>
            </a:r>
            <a:endParaRPr lang="en-US" sz="1400" dirty="0">
              <a:solidFill>
                <a:schemeClr val="tx1">
                  <a:lumMod val="50000"/>
                  <a:lumOff val="50000"/>
                </a:schemeClr>
              </a:solidFill>
              <a:latin typeface="18 VAG Rounded Light   02390" pitchFamily="2" charset="0"/>
            </a:endParaRPr>
          </a:p>
        </p:txBody>
      </p:sp>
      <p:sp>
        <p:nvSpPr>
          <p:cNvPr id="165" name="TextBox 164">
            <a:extLst>
              <a:ext uri="{FF2B5EF4-FFF2-40B4-BE49-F238E27FC236}">
                <a16:creationId xmlns:a16="http://schemas.microsoft.com/office/drawing/2014/main" id="{FF0F850A-25DC-02DE-3D8E-F4BBFD4155E2}"/>
              </a:ext>
            </a:extLst>
          </p:cNvPr>
          <p:cNvSpPr txBox="1"/>
          <p:nvPr/>
        </p:nvSpPr>
        <p:spPr>
          <a:xfrm>
            <a:off x="10252492" y="5557253"/>
            <a:ext cx="646331"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WBSel</a:t>
            </a:r>
            <a:endParaRPr lang="en-US" sz="1400" dirty="0">
              <a:solidFill>
                <a:schemeClr val="tx1">
                  <a:lumMod val="50000"/>
                  <a:lumOff val="50000"/>
                </a:schemeClr>
              </a:solidFill>
              <a:latin typeface="18 VAG Rounded Light   02390" pitchFamily="2" charset="0"/>
            </a:endParaRPr>
          </a:p>
        </p:txBody>
      </p:sp>
      <p:cxnSp>
        <p:nvCxnSpPr>
          <p:cNvPr id="166" name="Straight Arrow Connector 165">
            <a:extLst>
              <a:ext uri="{FF2B5EF4-FFF2-40B4-BE49-F238E27FC236}">
                <a16:creationId xmlns:a16="http://schemas.microsoft.com/office/drawing/2014/main" id="{D5574E08-8C14-422C-BD9C-969F4F3B25C2}"/>
              </a:ext>
            </a:extLst>
          </p:cNvPr>
          <p:cNvCxnSpPr>
            <a:cxnSpLocks/>
          </p:cNvCxnSpPr>
          <p:nvPr/>
        </p:nvCxnSpPr>
        <p:spPr>
          <a:xfrm flipV="1">
            <a:off x="10664370" y="3759701"/>
            <a:ext cx="0" cy="17670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tx1">
                    <a:lumMod val="50000"/>
                    <a:lumOff val="50000"/>
                  </a:schemeClr>
                </a:solidFill>
                <a:latin typeface="18 VAG Rounded Light   02390" pitchFamily="2" charset="0"/>
              </a:rPr>
              <a:t>wdata</a:t>
            </a:r>
            <a:endParaRPr lang="en-US" sz="1400" i="1" dirty="0">
              <a:solidFill>
                <a:schemeClr val="tx1">
                  <a:lumMod val="50000"/>
                  <a:lumOff val="50000"/>
                </a:schemeClr>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206" name="Trapezoid 205">
            <a:extLst>
              <a:ext uri="{FF2B5EF4-FFF2-40B4-BE49-F238E27FC236}">
                <a16:creationId xmlns:a16="http://schemas.microsoft.com/office/drawing/2014/main" id="{33B91885-5AE4-C6B6-F7D4-2831A6613805}"/>
              </a:ext>
            </a:extLst>
          </p:cNvPr>
          <p:cNvSpPr/>
          <p:nvPr/>
        </p:nvSpPr>
        <p:spPr>
          <a:xfrm rot="5400000">
            <a:off x="7564091" y="3537944"/>
            <a:ext cx="598172" cy="234496"/>
          </a:xfrm>
          <a:prstGeom prst="trapezoid">
            <a:avLst>
              <a:gd name="adj" fmla="val 62818"/>
            </a:avLst>
          </a:pr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sp>
        <p:nvSpPr>
          <p:cNvPr id="8" name="Trapezoid 7">
            <a:extLst>
              <a:ext uri="{FF2B5EF4-FFF2-40B4-BE49-F238E27FC236}">
                <a16:creationId xmlns:a16="http://schemas.microsoft.com/office/drawing/2014/main" id="{00F3B1FF-06EF-89A2-F610-57D50B3D3E5A}"/>
              </a:ext>
            </a:extLst>
          </p:cNvPr>
          <p:cNvSpPr/>
          <p:nvPr/>
        </p:nvSpPr>
        <p:spPr>
          <a:xfrm rot="5400000">
            <a:off x="630315" y="3510125"/>
            <a:ext cx="823357" cy="267680"/>
          </a:xfrm>
          <a:prstGeom prst="trapezoid">
            <a:avLst>
              <a:gd name="adj" fmla="val 85591"/>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sp>
        <p:nvSpPr>
          <p:cNvPr id="319" name="Freeform 318">
            <a:extLst>
              <a:ext uri="{FF2B5EF4-FFF2-40B4-BE49-F238E27FC236}">
                <a16:creationId xmlns:a16="http://schemas.microsoft.com/office/drawing/2014/main" id="{50D48F20-2317-959C-0E0D-67B0974EEDE2}"/>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5715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23" name="Trapezoid 22">
            <a:extLst>
              <a:ext uri="{FF2B5EF4-FFF2-40B4-BE49-F238E27FC236}">
                <a16:creationId xmlns:a16="http://schemas.microsoft.com/office/drawing/2014/main" id="{B73EEB42-4A6A-0E09-586D-12B1FD4E1410}"/>
              </a:ext>
            </a:extLst>
          </p:cNvPr>
          <p:cNvSpPr/>
          <p:nvPr/>
        </p:nvSpPr>
        <p:spPr>
          <a:xfrm rot="5400000">
            <a:off x="10337532" y="3361302"/>
            <a:ext cx="682970" cy="276082"/>
          </a:xfrm>
          <a:prstGeom prst="trapezoid">
            <a:avLst>
              <a:gd name="adj" fmla="val 62818"/>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p:txBody>
      </p:sp>
      <p:sp>
        <p:nvSpPr>
          <p:cNvPr id="11" name="TextBox 10">
            <a:extLst>
              <a:ext uri="{FF2B5EF4-FFF2-40B4-BE49-F238E27FC236}">
                <a16:creationId xmlns:a16="http://schemas.microsoft.com/office/drawing/2014/main" id="{B694E499-9981-9A90-3CA1-1A6AE6B40906}"/>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grpSp>
        <p:nvGrpSpPr>
          <p:cNvPr id="25" name="Group 24">
            <a:extLst>
              <a:ext uri="{FF2B5EF4-FFF2-40B4-BE49-F238E27FC236}">
                <a16:creationId xmlns:a16="http://schemas.microsoft.com/office/drawing/2014/main" id="{1747EAB4-2749-8CD2-08DA-8853F25778D0}"/>
              </a:ext>
            </a:extLst>
          </p:cNvPr>
          <p:cNvGrpSpPr/>
          <p:nvPr/>
        </p:nvGrpSpPr>
        <p:grpSpPr>
          <a:xfrm>
            <a:off x="669619" y="2248996"/>
            <a:ext cx="2712208" cy="1271016"/>
            <a:chOff x="669619" y="2248996"/>
            <a:chExt cx="2712208" cy="1271016"/>
          </a:xfrm>
        </p:grpSpPr>
        <p:grpSp>
          <p:nvGrpSpPr>
            <p:cNvPr id="28" name="Group 27">
              <a:extLst>
                <a:ext uri="{FF2B5EF4-FFF2-40B4-BE49-F238E27FC236}">
                  <a16:creationId xmlns:a16="http://schemas.microsoft.com/office/drawing/2014/main" id="{13BAACE9-C583-3A4C-5C5A-05348E9725DE}"/>
                </a:ext>
              </a:extLst>
            </p:cNvPr>
            <p:cNvGrpSpPr/>
            <p:nvPr/>
          </p:nvGrpSpPr>
          <p:grpSpPr>
            <a:xfrm>
              <a:off x="669619" y="2260284"/>
              <a:ext cx="2712208" cy="1242570"/>
              <a:chOff x="669619" y="2260284"/>
              <a:chExt cx="2712208" cy="1242570"/>
            </a:xfrm>
          </p:grpSpPr>
          <p:grpSp>
            <p:nvGrpSpPr>
              <p:cNvPr id="36" name="Group 35">
                <a:extLst>
                  <a:ext uri="{FF2B5EF4-FFF2-40B4-BE49-F238E27FC236}">
                    <a16:creationId xmlns:a16="http://schemas.microsoft.com/office/drawing/2014/main" id="{70591D75-6535-994D-E94B-EE1319B85D75}"/>
                  </a:ext>
                </a:extLst>
              </p:cNvPr>
              <p:cNvGrpSpPr/>
              <p:nvPr/>
            </p:nvGrpSpPr>
            <p:grpSpPr>
              <a:xfrm>
                <a:off x="675203" y="2260284"/>
                <a:ext cx="2706624" cy="477526"/>
                <a:chOff x="675203" y="2260284"/>
                <a:chExt cx="2706624" cy="477526"/>
              </a:xfrm>
            </p:grpSpPr>
            <p:cxnSp>
              <p:nvCxnSpPr>
                <p:cNvPr id="38" name="Elbow Connector 37">
                  <a:extLst>
                    <a:ext uri="{FF2B5EF4-FFF2-40B4-BE49-F238E27FC236}">
                      <a16:creationId xmlns:a16="http://schemas.microsoft.com/office/drawing/2014/main" id="{9D398A40-E6CF-6735-943A-64873BCF566D}"/>
                    </a:ext>
                  </a:extLst>
                </p:cNvPr>
                <p:cNvCxnSpPr>
                  <a:cxnSpLocks/>
                </p:cNvCxnSpPr>
                <p:nvPr/>
              </p:nvCxnSpPr>
              <p:spPr>
                <a:xfrm rot="5400000" flipH="1" flipV="1">
                  <a:off x="2999590" y="2363686"/>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9996797-F7EA-BB2C-F936-AC2F04454890}"/>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37" name="Straight Arrow Connector 36">
                <a:extLst>
                  <a:ext uri="{FF2B5EF4-FFF2-40B4-BE49-F238E27FC236}">
                    <a16:creationId xmlns:a16="http://schemas.microsoft.com/office/drawing/2014/main" id="{A972607A-FF02-4EF0-C12B-C696F9804C9B}"/>
                  </a:ext>
                </a:extLst>
              </p:cNvPr>
              <p:cNvCxnSpPr>
                <a:cxnSpLocks/>
              </p:cNvCxnSpPr>
              <p:nvPr/>
            </p:nvCxnSpPr>
            <p:spPr>
              <a:xfrm flipV="1">
                <a:off x="669619" y="3502852"/>
                <a:ext cx="274320"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E7D9FB21-F221-CAC4-4E3D-394776C21FEE}"/>
                </a:ext>
              </a:extLst>
            </p:cNvPr>
            <p:cNvCxnSpPr/>
            <p:nvPr/>
          </p:nvCxnSpPr>
          <p:spPr>
            <a:xfrm flipH="1">
              <a:off x="675203" y="2248996"/>
              <a:ext cx="0" cy="1271016"/>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A21F006F-A92C-E670-F527-0C5D0CC24F18}"/>
              </a:ext>
            </a:extLst>
          </p:cNvPr>
          <p:cNvGrpSpPr/>
          <p:nvPr/>
        </p:nvGrpSpPr>
        <p:grpSpPr>
          <a:xfrm>
            <a:off x="3790286" y="2375192"/>
            <a:ext cx="7347065" cy="1124151"/>
            <a:chOff x="3790286" y="2375192"/>
            <a:chExt cx="7347065" cy="1124151"/>
          </a:xfrm>
          <a:effectLst>
            <a:glow rad="63500">
              <a:srgbClr val="011223">
                <a:alpha val="40000"/>
              </a:srgbClr>
            </a:glow>
          </a:effectLst>
        </p:grpSpPr>
        <p:cxnSp>
          <p:nvCxnSpPr>
            <p:cNvPr id="40" name="Elbow Connector 39">
              <a:extLst>
                <a:ext uri="{FF2B5EF4-FFF2-40B4-BE49-F238E27FC236}">
                  <a16:creationId xmlns:a16="http://schemas.microsoft.com/office/drawing/2014/main" id="{448E6E9A-BDBC-3EEA-859F-8B7D9F22D672}"/>
                </a:ext>
              </a:extLst>
            </p:cNvPr>
            <p:cNvCxnSpPr>
              <a:cxnSpLocks/>
            </p:cNvCxnSpPr>
            <p:nvPr/>
          </p:nvCxnSpPr>
          <p:spPr>
            <a:xfrm rot="16200000" flipH="1">
              <a:off x="3970539" y="2216906"/>
              <a:ext cx="657210" cy="993002"/>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C56071-24CD-28BA-CABB-D79D3DA8C9E1}"/>
                </a:ext>
              </a:extLst>
            </p:cNvPr>
            <p:cNvCxnSpPr/>
            <p:nvPr/>
          </p:nvCxnSpPr>
          <p:spPr>
            <a:xfrm>
              <a:off x="3790286" y="2384802"/>
              <a:ext cx="7334708" cy="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42" name="Elbow Connector 41">
              <a:extLst>
                <a:ext uri="{FF2B5EF4-FFF2-40B4-BE49-F238E27FC236}">
                  <a16:creationId xmlns:a16="http://schemas.microsoft.com/office/drawing/2014/main" id="{7B51BB32-7527-E059-87E6-6067CA497325}"/>
                </a:ext>
              </a:extLst>
            </p:cNvPr>
            <p:cNvCxnSpPr>
              <a:cxnSpLocks/>
            </p:cNvCxnSpPr>
            <p:nvPr/>
          </p:nvCxnSpPr>
          <p:spPr>
            <a:xfrm flipV="1">
              <a:off x="10817058" y="2375192"/>
              <a:ext cx="320293" cy="1124151"/>
            </a:xfrm>
            <a:prstGeom prst="bentConnector2">
              <a:avLst/>
            </a:prstGeom>
            <a:ln w="28575">
              <a:solidFill>
                <a:schemeClr val="tx1">
                  <a:lumMod val="50000"/>
                  <a:lumOff val="50000"/>
                </a:schemeClr>
              </a:solidFill>
              <a:tailEnd type="none"/>
            </a:ln>
          </p:spPr>
          <p:style>
            <a:lnRef idx="1">
              <a:schemeClr val="accent1"/>
            </a:lnRef>
            <a:fillRef idx="0">
              <a:schemeClr val="accent1"/>
            </a:fillRef>
            <a:effectRef idx="0">
              <a:schemeClr val="accent1"/>
            </a:effectRef>
            <a:fontRef idx="minor">
              <a:schemeClr val="tx1"/>
            </a:fontRef>
          </p:style>
        </p:cxnSp>
      </p:grpSp>
      <p:cxnSp>
        <p:nvCxnSpPr>
          <p:cNvPr id="200" name="Straight Arrow Connector 199">
            <a:extLst>
              <a:ext uri="{FF2B5EF4-FFF2-40B4-BE49-F238E27FC236}">
                <a16:creationId xmlns:a16="http://schemas.microsoft.com/office/drawing/2014/main" id="{D0073840-E02A-52B9-F367-4C03ECD922AC}"/>
              </a:ext>
            </a:extLst>
          </p:cNvPr>
          <p:cNvCxnSpPr>
            <a:cxnSpLocks/>
          </p:cNvCxnSpPr>
          <p:nvPr/>
        </p:nvCxnSpPr>
        <p:spPr>
          <a:xfrm>
            <a:off x="8929306" y="3376628"/>
            <a:ext cx="1620072"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3CD8F465-4708-7101-87E2-4AAEE10F4240}"/>
              </a:ext>
            </a:extLst>
          </p:cNvPr>
          <p:cNvCxnSpPr>
            <a:cxnSpLocks/>
          </p:cNvCxnSpPr>
          <p:nvPr/>
        </p:nvCxnSpPr>
        <p:spPr>
          <a:xfrm>
            <a:off x="8861193" y="3967940"/>
            <a:ext cx="29744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70" name="Group 469">
            <a:extLst>
              <a:ext uri="{FF2B5EF4-FFF2-40B4-BE49-F238E27FC236}">
                <a16:creationId xmlns:a16="http://schemas.microsoft.com/office/drawing/2014/main" id="{7515659A-A30C-9C0B-EBAC-AC8F6FC7062D}"/>
              </a:ext>
            </a:extLst>
          </p:cNvPr>
          <p:cNvGrpSpPr/>
          <p:nvPr/>
        </p:nvGrpSpPr>
        <p:grpSpPr>
          <a:xfrm>
            <a:off x="447040" y="2119597"/>
            <a:ext cx="8482266" cy="1848344"/>
            <a:chOff x="447040" y="2119597"/>
            <a:chExt cx="8482266" cy="1848344"/>
          </a:xfrm>
        </p:grpSpPr>
        <p:cxnSp>
          <p:nvCxnSpPr>
            <p:cNvPr id="198" name="Elbow Connector 197">
              <a:extLst>
                <a:ext uri="{FF2B5EF4-FFF2-40B4-BE49-F238E27FC236}">
                  <a16:creationId xmlns:a16="http://schemas.microsoft.com/office/drawing/2014/main" id="{2FF5A0BA-239C-0DE4-7D12-E323633E58EA}"/>
                </a:ext>
              </a:extLst>
            </p:cNvPr>
            <p:cNvCxnSpPr>
              <a:cxnSpLocks/>
            </p:cNvCxnSpPr>
            <p:nvPr/>
          </p:nvCxnSpPr>
          <p:spPr>
            <a:xfrm rot="10800000">
              <a:off x="447086" y="2119598"/>
              <a:ext cx="8482220" cy="1848343"/>
            </a:xfrm>
            <a:prstGeom prst="bentConnector3">
              <a:avLst>
                <a:gd name="adj1" fmla="val -51"/>
              </a:avLst>
            </a:prstGeom>
            <a:ln w="38100">
              <a:solidFill>
                <a:schemeClr val="accent1"/>
              </a:solidFill>
              <a:headEnd type="oval"/>
              <a:tailEnd type="none" w="lg" len="lg"/>
            </a:ln>
            <a:effectLst>
              <a:glow rad="101600">
                <a:srgbClr val="00152A">
                  <a:alpha val="67000"/>
                </a:srgbClr>
              </a:glow>
            </a:effectLst>
          </p:spPr>
          <p:style>
            <a:lnRef idx="1">
              <a:schemeClr val="accent1"/>
            </a:lnRef>
            <a:fillRef idx="0">
              <a:schemeClr val="accent1"/>
            </a:fillRef>
            <a:effectRef idx="0">
              <a:schemeClr val="accent1"/>
            </a:effectRef>
            <a:fontRef idx="minor">
              <a:schemeClr val="tx1"/>
            </a:fontRef>
          </p:style>
        </p:cxnSp>
        <p:cxnSp>
          <p:nvCxnSpPr>
            <p:cNvPr id="199" name="Elbow Connector 198">
              <a:extLst>
                <a:ext uri="{FF2B5EF4-FFF2-40B4-BE49-F238E27FC236}">
                  <a16:creationId xmlns:a16="http://schemas.microsoft.com/office/drawing/2014/main" id="{6DE7245E-F14F-0A55-B565-147B42004D61}"/>
                </a:ext>
              </a:extLst>
            </p:cNvPr>
            <p:cNvCxnSpPr>
              <a:cxnSpLocks/>
            </p:cNvCxnSpPr>
            <p:nvPr/>
          </p:nvCxnSpPr>
          <p:spPr>
            <a:xfrm rot="16200000" flipH="1">
              <a:off x="-147367" y="2714004"/>
              <a:ext cx="1656098" cy="467284"/>
            </a:xfrm>
            <a:prstGeom prst="bentConnector2">
              <a:avLst/>
            </a:prstGeom>
            <a:ln w="38100">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bg1"/>
            </a:solidFill>
            <a:tailEnd type="triangle" w="lg" len="lg"/>
          </a:ln>
          <a:effectLst>
            <a:glow rad="63500">
              <a:srgbClr val="00264A">
                <a:alpha val="92000"/>
              </a:srgbClr>
            </a:glow>
          </a:effectLst>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E4D1DEAE-7AAB-4FA5-9AC7-CEF254DF6C1E}"/>
              </a:ext>
            </a:extLst>
          </p:cNvPr>
          <p:cNvCxnSpPr>
            <a:cxnSpLocks/>
          </p:cNvCxnSpPr>
          <p:nvPr/>
        </p:nvCxnSpPr>
        <p:spPr>
          <a:xfrm>
            <a:off x="7983123" y="4427042"/>
            <a:ext cx="301752" cy="149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452" name="Group 451">
            <a:extLst>
              <a:ext uri="{FF2B5EF4-FFF2-40B4-BE49-F238E27FC236}">
                <a16:creationId xmlns:a16="http://schemas.microsoft.com/office/drawing/2014/main" id="{CE8D07F2-E6FB-F766-E1E1-DAF4102D62A4}"/>
              </a:ext>
            </a:extLst>
          </p:cNvPr>
          <p:cNvGrpSpPr/>
          <p:nvPr/>
        </p:nvGrpSpPr>
        <p:grpSpPr>
          <a:xfrm>
            <a:off x="1780532" y="2760283"/>
            <a:ext cx="5965394" cy="909287"/>
            <a:chOff x="1780532" y="2760283"/>
            <a:chExt cx="5965394" cy="909287"/>
          </a:xfrm>
          <a:effectLst>
            <a:glow rad="63500">
              <a:schemeClr val="accent2">
                <a:satMod val="175000"/>
                <a:alpha val="40000"/>
              </a:schemeClr>
            </a:glow>
          </a:effectLst>
        </p:grpSpPr>
        <p:grpSp>
          <p:nvGrpSpPr>
            <p:cNvPr id="172" name="Group 171">
              <a:extLst>
                <a:ext uri="{FF2B5EF4-FFF2-40B4-BE49-F238E27FC236}">
                  <a16:creationId xmlns:a16="http://schemas.microsoft.com/office/drawing/2014/main" id="{AC1D377E-FE43-1B1D-FCF0-12F1B82B4052}"/>
                </a:ext>
              </a:extLst>
            </p:cNvPr>
            <p:cNvGrpSpPr/>
            <p:nvPr/>
          </p:nvGrpSpPr>
          <p:grpSpPr>
            <a:xfrm>
              <a:off x="1910968" y="2760283"/>
              <a:ext cx="5834958" cy="733940"/>
              <a:chOff x="1910968" y="2760283"/>
              <a:chExt cx="5834958" cy="733940"/>
            </a:xfrm>
          </p:grpSpPr>
          <p:cxnSp>
            <p:nvCxnSpPr>
              <p:cNvPr id="173" name="Elbow Connector 172">
                <a:extLst>
                  <a:ext uri="{FF2B5EF4-FFF2-40B4-BE49-F238E27FC236}">
                    <a16:creationId xmlns:a16="http://schemas.microsoft.com/office/drawing/2014/main" id="{E390CF13-3728-8277-3D3E-B31B8898A532}"/>
                  </a:ext>
                </a:extLst>
              </p:cNvPr>
              <p:cNvCxnSpPr/>
              <p:nvPr/>
            </p:nvCxnSpPr>
            <p:spPr>
              <a:xfrm flipV="1">
                <a:off x="1910968" y="2769647"/>
                <a:ext cx="1658892" cy="436843"/>
              </a:xfrm>
              <a:prstGeom prst="bentConnector4">
                <a:avLst>
                  <a:gd name="adj1" fmla="val 100039"/>
                  <a:gd name="adj2" fmla="val 45344"/>
                </a:avLst>
              </a:prstGeom>
              <a:ln w="28575">
                <a:solidFill>
                  <a:schemeClr val="accent2"/>
                </a:solidFill>
                <a:headEnd type="oval"/>
                <a:tailEnd type="none" w="lg" len="lg"/>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EABE00C5-6753-0E18-2457-6761BCF0A196}"/>
                  </a:ext>
                </a:extLst>
              </p:cNvPr>
              <p:cNvCxnSpPr>
                <a:cxnSpLocks/>
              </p:cNvCxnSpPr>
              <p:nvPr/>
            </p:nvCxnSpPr>
            <p:spPr>
              <a:xfrm>
                <a:off x="3559699" y="2760283"/>
                <a:ext cx="4023360" cy="0"/>
              </a:xfrm>
              <a:prstGeom prst="line">
                <a:avLst/>
              </a:prstGeom>
              <a:ln w="28575">
                <a:solidFill>
                  <a:schemeClr val="accent2"/>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5" name="Elbow Connector 174">
                <a:extLst>
                  <a:ext uri="{FF2B5EF4-FFF2-40B4-BE49-F238E27FC236}">
                    <a16:creationId xmlns:a16="http://schemas.microsoft.com/office/drawing/2014/main" id="{05891022-9DF5-AB96-D32B-08916867D915}"/>
                  </a:ext>
                </a:extLst>
              </p:cNvPr>
              <p:cNvCxnSpPr>
                <a:cxnSpLocks/>
              </p:cNvCxnSpPr>
              <p:nvPr/>
            </p:nvCxnSpPr>
            <p:spPr>
              <a:xfrm rot="16200000" flipH="1">
                <a:off x="7285314" y="3033611"/>
                <a:ext cx="733939" cy="187285"/>
              </a:xfrm>
              <a:prstGeom prst="bentConnector3">
                <a:avLst>
                  <a:gd name="adj1" fmla="val 99835"/>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61" name="Elbow Connector 60">
              <a:extLst>
                <a:ext uri="{FF2B5EF4-FFF2-40B4-BE49-F238E27FC236}">
                  <a16:creationId xmlns:a16="http://schemas.microsoft.com/office/drawing/2014/main" id="{21D1E8F4-B2AF-A8FE-51E7-585FC59C7BAB}"/>
                </a:ext>
              </a:extLst>
            </p:cNvPr>
            <p:cNvCxnSpPr>
              <a:cxnSpLocks/>
            </p:cNvCxnSpPr>
            <p:nvPr/>
          </p:nvCxnSpPr>
          <p:spPr>
            <a:xfrm rot="5400000" flipH="1" flipV="1">
              <a:off x="1616516" y="3375118"/>
              <a:ext cx="458468" cy="130436"/>
            </a:xfrm>
            <a:prstGeom prst="bentConnector3">
              <a:avLst>
                <a:gd name="adj1" fmla="val 3408"/>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35" name="Elbow Connector 434">
            <a:extLst>
              <a:ext uri="{FF2B5EF4-FFF2-40B4-BE49-F238E27FC236}">
                <a16:creationId xmlns:a16="http://schemas.microsoft.com/office/drawing/2014/main" id="{424B80CA-05F9-1646-30DD-53D39995ABBD}"/>
              </a:ext>
            </a:extLst>
          </p:cNvPr>
          <p:cNvCxnSpPr>
            <a:cxnSpLocks/>
          </p:cNvCxnSpPr>
          <p:nvPr/>
        </p:nvCxnSpPr>
        <p:spPr>
          <a:xfrm rot="16200000" flipV="1">
            <a:off x="7177509" y="4577033"/>
            <a:ext cx="1646116" cy="274779"/>
          </a:xfrm>
          <a:prstGeom prst="bentConnector3">
            <a:avLst>
              <a:gd name="adj1" fmla="val 91265"/>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64" name="TextBox 463">
            <a:extLst>
              <a:ext uri="{FF2B5EF4-FFF2-40B4-BE49-F238E27FC236}">
                <a16:creationId xmlns:a16="http://schemas.microsoft.com/office/drawing/2014/main" id="{B4B0E005-1472-EEF2-85AD-0BF4C0C031D8}"/>
              </a:ext>
            </a:extLst>
          </p:cNvPr>
          <p:cNvSpPr txBox="1"/>
          <p:nvPr/>
        </p:nvSpPr>
        <p:spPr>
          <a:xfrm>
            <a:off x="6911242" y="1707711"/>
            <a:ext cx="2339102" cy="400110"/>
          </a:xfrm>
          <a:prstGeom prst="rect">
            <a:avLst/>
          </a:prstGeom>
          <a:noFill/>
        </p:spPr>
        <p:txBody>
          <a:bodyPr wrap="none" rtlCol="0">
            <a:spAutoFit/>
          </a:bodyPr>
          <a:lstStyle/>
          <a:p>
            <a:r>
              <a:rPr lang="en-US" sz="2000" b="1" dirty="0" err="1">
                <a:solidFill>
                  <a:schemeClr val="accent1"/>
                </a:solidFill>
                <a:latin typeface="Courier New" panose="02070309020205020404" pitchFamily="49" charset="0"/>
                <a:cs typeface="Courier New" panose="02070309020205020404" pitchFamily="49" charset="0"/>
              </a:rPr>
              <a:t>alu</a:t>
            </a:r>
            <a:r>
              <a:rPr lang="en-US" sz="2000" b="1" dirty="0">
                <a:solidFill>
                  <a:schemeClr val="accent1"/>
                </a:solidFill>
                <a:latin typeface="Courier New" panose="02070309020205020404" pitchFamily="49" charset="0"/>
                <a:cs typeface="Courier New" panose="02070309020205020404" pitchFamily="49" charset="0"/>
              </a:rPr>
              <a:t> = PC + </a:t>
            </a:r>
            <a:r>
              <a:rPr lang="en-US" sz="2000" b="1" dirty="0" err="1">
                <a:solidFill>
                  <a:schemeClr val="accent1"/>
                </a:solidFill>
                <a:latin typeface="Courier New" panose="02070309020205020404" pitchFamily="49" charset="0"/>
                <a:cs typeface="Courier New" panose="02070309020205020404" pitchFamily="49" charset="0"/>
              </a:rPr>
              <a:t>imm</a:t>
            </a:r>
            <a:endParaRPr lang="en-US" sz="2000" b="1" dirty="0">
              <a:solidFill>
                <a:schemeClr val="accent1"/>
              </a:solidFill>
              <a:latin typeface="Courier New" panose="02070309020205020404" pitchFamily="49" charset="0"/>
              <a:cs typeface="Courier New" panose="02070309020205020404" pitchFamily="49" charset="0"/>
            </a:endParaRPr>
          </a:p>
        </p:txBody>
      </p:sp>
      <p:sp>
        <p:nvSpPr>
          <p:cNvPr id="471" name="TextBox 470">
            <a:extLst>
              <a:ext uri="{FF2B5EF4-FFF2-40B4-BE49-F238E27FC236}">
                <a16:creationId xmlns:a16="http://schemas.microsoft.com/office/drawing/2014/main" id="{4841A0A9-B472-31E7-E3B6-BAC754991D76}"/>
              </a:ext>
            </a:extLst>
          </p:cNvPr>
          <p:cNvSpPr txBox="1"/>
          <p:nvPr/>
        </p:nvSpPr>
        <p:spPr>
          <a:xfrm>
            <a:off x="7024742" y="5842259"/>
            <a:ext cx="944413" cy="466666"/>
          </a:xfrm>
          <a:prstGeom prst="rect">
            <a:avLst/>
          </a:prstGeom>
          <a:noFill/>
        </p:spPr>
        <p:txBody>
          <a:bodyPr wrap="square" rtlCol="0">
            <a:spAutoFit/>
          </a:bodyPr>
          <a:lstStyle/>
          <a:p>
            <a:pPr algn="r">
              <a:lnSpc>
                <a:spcPct val="85000"/>
              </a:lnSpc>
            </a:pPr>
            <a:r>
              <a:rPr lang="en-US" sz="1400" i="1" dirty="0">
                <a:solidFill>
                  <a:schemeClr val="accent3"/>
                </a:solidFill>
                <a:latin typeface="18 VAG Rounded Light   02390" pitchFamily="2" charset="0"/>
              </a:rPr>
              <a:t>“select </a:t>
            </a:r>
            <a:r>
              <a:rPr lang="en-US" sz="1400" b="1" dirty="0" err="1">
                <a:solidFill>
                  <a:schemeClr val="accent3"/>
                </a:solidFill>
                <a:latin typeface="Courier New" panose="02070309020205020404" pitchFamily="49" charset="0"/>
                <a:cs typeface="Courier New" panose="02070309020205020404" pitchFamily="49" charset="0"/>
              </a:rPr>
              <a:t>imm</a:t>
            </a:r>
            <a:r>
              <a:rPr lang="en-US" sz="1400" i="1" dirty="0">
                <a:solidFill>
                  <a:schemeClr val="accent3"/>
                </a:solidFill>
                <a:latin typeface="18 VAG Rounded Light   02390" pitchFamily="2" charset="0"/>
              </a:rPr>
              <a:t>”</a:t>
            </a:r>
          </a:p>
        </p:txBody>
      </p:sp>
      <p:sp>
        <p:nvSpPr>
          <p:cNvPr id="479" name="TextBox 478">
            <a:extLst>
              <a:ext uri="{FF2B5EF4-FFF2-40B4-BE49-F238E27FC236}">
                <a16:creationId xmlns:a16="http://schemas.microsoft.com/office/drawing/2014/main" id="{A190F004-62C4-2545-8880-4B83DA6F236F}"/>
              </a:ext>
            </a:extLst>
          </p:cNvPr>
          <p:cNvSpPr txBox="1"/>
          <p:nvPr/>
        </p:nvSpPr>
        <p:spPr>
          <a:xfrm>
            <a:off x="7994488" y="5842259"/>
            <a:ext cx="944413" cy="466666"/>
          </a:xfrm>
          <a:prstGeom prst="rect">
            <a:avLst/>
          </a:prstGeom>
          <a:noFill/>
        </p:spPr>
        <p:txBody>
          <a:bodyPr wrap="square" rtlCol="0">
            <a:spAutoFit/>
          </a:bodyPr>
          <a:lstStyle/>
          <a:p>
            <a:pPr>
              <a:lnSpc>
                <a:spcPct val="85000"/>
              </a:lnSpc>
            </a:pPr>
            <a:r>
              <a:rPr lang="en-US" sz="1400" i="1" dirty="0">
                <a:solidFill>
                  <a:schemeClr val="accent3"/>
                </a:solidFill>
                <a:latin typeface="18 VAG Rounded Light   02390" pitchFamily="2" charset="0"/>
              </a:rPr>
              <a:t>“select </a:t>
            </a:r>
            <a:r>
              <a:rPr lang="en-US" sz="1400" b="1" dirty="0">
                <a:solidFill>
                  <a:schemeClr val="accent3"/>
                </a:solidFill>
                <a:latin typeface="Courier New" panose="02070309020205020404" pitchFamily="49" charset="0"/>
                <a:cs typeface="Courier New" panose="02070309020205020404" pitchFamily="49" charset="0"/>
              </a:rPr>
              <a:t>PC</a:t>
            </a:r>
            <a:r>
              <a:rPr lang="en-US" sz="1400" i="1" dirty="0">
                <a:solidFill>
                  <a:schemeClr val="accent3"/>
                </a:solidFill>
                <a:latin typeface="18 VAG Rounded Light   02390" pitchFamily="2" charset="0"/>
              </a:rPr>
              <a:t>”</a:t>
            </a:r>
          </a:p>
        </p:txBody>
      </p:sp>
      <p:sp>
        <p:nvSpPr>
          <p:cNvPr id="480" name="TextBox 479">
            <a:extLst>
              <a:ext uri="{FF2B5EF4-FFF2-40B4-BE49-F238E27FC236}">
                <a16:creationId xmlns:a16="http://schemas.microsoft.com/office/drawing/2014/main" id="{35055AE8-7401-41F9-2E65-8C90229B1912}"/>
              </a:ext>
            </a:extLst>
          </p:cNvPr>
          <p:cNvSpPr txBox="1"/>
          <p:nvPr/>
        </p:nvSpPr>
        <p:spPr>
          <a:xfrm>
            <a:off x="8421291" y="5536765"/>
            <a:ext cx="702436"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1"/>
                </a:solidFill>
                <a:latin typeface="18 VAG Rounded Light   02390" pitchFamily="2" charset="0"/>
              </a:rPr>
              <a:t>Add</a:t>
            </a:r>
          </a:p>
        </p:txBody>
      </p: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5FF65934-C540-D4EB-5E26-A7998F695809}"/>
              </a:ext>
            </a:extLst>
          </p:cNvPr>
          <p:cNvSpPr/>
          <p:nvPr/>
        </p:nvSpPr>
        <p:spPr>
          <a:xfrm>
            <a:off x="4095066" y="4684066"/>
            <a:ext cx="734547" cy="615137"/>
          </a:xfrm>
          <a:prstGeom prst="roundRect">
            <a:avLst/>
          </a:prstGeom>
          <a:solidFill>
            <a:srgbClr val="011223"/>
          </a:solid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bg1"/>
                </a:solidFill>
                <a:latin typeface="18 VAG Rounded Light   02390" pitchFamily="2" charset="0"/>
              </a:rPr>
              <a:t>Imm</a:t>
            </a:r>
            <a:r>
              <a:rPr lang="en-US" sz="1400" dirty="0">
                <a:solidFill>
                  <a:schemeClr val="bg1"/>
                </a:solidFill>
                <a:latin typeface="18 VAG Rounded Light   02390" pitchFamily="2" charset="0"/>
              </a:rPr>
              <a:t>. Gen</a:t>
            </a:r>
          </a:p>
        </p:txBody>
      </p:sp>
      <p:sp>
        <p:nvSpPr>
          <p:cNvPr id="14" name="Trapezoid 13">
            <a:extLst>
              <a:ext uri="{FF2B5EF4-FFF2-40B4-BE49-F238E27FC236}">
                <a16:creationId xmlns:a16="http://schemas.microsoft.com/office/drawing/2014/main" id="{1FA82655-74D3-4483-7C00-4AA72A5B4B28}"/>
              </a:ext>
            </a:extLst>
          </p:cNvPr>
          <p:cNvSpPr/>
          <p:nvPr/>
        </p:nvSpPr>
        <p:spPr>
          <a:xfrm rot="5400000">
            <a:off x="7564091" y="4309794"/>
            <a:ext cx="598172" cy="234496"/>
          </a:xfrm>
          <a:prstGeom prst="trapezoid">
            <a:avLst>
              <a:gd name="adj" fmla="val 62818"/>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cxnSp>
        <p:nvCxnSpPr>
          <p:cNvPr id="445" name="Straight Arrow Connector 444">
            <a:extLst>
              <a:ext uri="{FF2B5EF4-FFF2-40B4-BE49-F238E27FC236}">
                <a16:creationId xmlns:a16="http://schemas.microsoft.com/office/drawing/2014/main" id="{2D1A0F8A-F1AA-0736-73BB-5204DAFA85B2}"/>
              </a:ext>
            </a:extLst>
          </p:cNvPr>
          <p:cNvCxnSpPr>
            <a:cxnSpLocks/>
          </p:cNvCxnSpPr>
          <p:nvPr/>
        </p:nvCxnSpPr>
        <p:spPr>
          <a:xfrm flipV="1">
            <a:off x="1043816" y="3915845"/>
            <a:ext cx="0" cy="162163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5391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2560B5A6-68DC-6703-0D14-B4817AD1470C}"/>
              </a:ext>
            </a:extLst>
          </p:cNvPr>
          <p:cNvSpPr/>
          <p:nvPr/>
        </p:nvSpPr>
        <p:spPr>
          <a:xfrm>
            <a:off x="1187777" y="2988297"/>
            <a:ext cx="10443928" cy="2469823"/>
          </a:xfrm>
          <a:custGeom>
            <a:avLst/>
            <a:gdLst>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0 w 10360058"/>
              <a:gd name="connsiteY4"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1046376 w 10360058"/>
              <a:gd name="connsiteY4" fmla="*/ 886119 h 2469823"/>
              <a:gd name="connsiteX5" fmla="*/ 0 w 10360058"/>
              <a:gd name="connsiteY5"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1046376 w 10360058"/>
              <a:gd name="connsiteY4" fmla="*/ 886119 h 2469823"/>
              <a:gd name="connsiteX5" fmla="*/ 0 w 10360058"/>
              <a:gd name="connsiteY5"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1046376 w 10360058"/>
              <a:gd name="connsiteY4" fmla="*/ 886119 h 2469823"/>
              <a:gd name="connsiteX5" fmla="*/ 0 w 10360058"/>
              <a:gd name="connsiteY5"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289196 w 10360058"/>
              <a:gd name="connsiteY4" fmla="*/ 1451728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289196 w 10360058"/>
              <a:gd name="connsiteY4" fmla="*/ 1451728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289196 w 10360058"/>
              <a:gd name="connsiteY4" fmla="*/ 1451728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053526 w 10360058"/>
              <a:gd name="connsiteY4" fmla="*/ 1395167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053526 w 10360058"/>
              <a:gd name="connsiteY4" fmla="*/ 1395167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147794 w 10360058"/>
              <a:gd name="connsiteY4" fmla="*/ 1300899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4147794 w 10360058"/>
              <a:gd name="connsiteY4" fmla="*/ 1300899 h 2469823"/>
              <a:gd name="connsiteX5" fmla="*/ 1046376 w 10360058"/>
              <a:gd name="connsiteY5" fmla="*/ 886119 h 2469823"/>
              <a:gd name="connsiteX6" fmla="*/ 0 w 10360058"/>
              <a:gd name="connsiteY6"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5590095 w 10360058"/>
              <a:gd name="connsiteY4" fmla="*/ 1677971 h 2469823"/>
              <a:gd name="connsiteX5" fmla="*/ 4147794 w 10360058"/>
              <a:gd name="connsiteY5" fmla="*/ 1300899 h 2469823"/>
              <a:gd name="connsiteX6" fmla="*/ 1046376 w 10360058"/>
              <a:gd name="connsiteY6" fmla="*/ 886119 h 2469823"/>
              <a:gd name="connsiteX7" fmla="*/ 0 w 10360058"/>
              <a:gd name="connsiteY7"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325386 w 10360058"/>
              <a:gd name="connsiteY4" fmla="*/ 2130458 h 2469823"/>
              <a:gd name="connsiteX5" fmla="*/ 5590095 w 10360058"/>
              <a:gd name="connsiteY5" fmla="*/ 1677971 h 2469823"/>
              <a:gd name="connsiteX6" fmla="*/ 4147794 w 10360058"/>
              <a:gd name="connsiteY6" fmla="*/ 1300899 h 2469823"/>
              <a:gd name="connsiteX7" fmla="*/ 1046376 w 10360058"/>
              <a:gd name="connsiteY7" fmla="*/ 886119 h 2469823"/>
              <a:gd name="connsiteX8" fmla="*/ 0 w 10360058"/>
              <a:gd name="connsiteY8"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325386 w 10360058"/>
              <a:gd name="connsiteY4" fmla="*/ 2130458 h 2469823"/>
              <a:gd name="connsiteX5" fmla="*/ 5590095 w 10360058"/>
              <a:gd name="connsiteY5" fmla="*/ 1677971 h 2469823"/>
              <a:gd name="connsiteX6" fmla="*/ 4147794 w 10360058"/>
              <a:gd name="connsiteY6" fmla="*/ 1300899 h 2469823"/>
              <a:gd name="connsiteX7" fmla="*/ 1046376 w 10360058"/>
              <a:gd name="connsiteY7" fmla="*/ 886119 h 2469823"/>
              <a:gd name="connsiteX8" fmla="*/ 0 w 10360058"/>
              <a:gd name="connsiteY8"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447934 w 10360058"/>
              <a:gd name="connsiteY4" fmla="*/ 2422689 h 2469823"/>
              <a:gd name="connsiteX5" fmla="*/ 6325386 w 10360058"/>
              <a:gd name="connsiteY5" fmla="*/ 2130458 h 2469823"/>
              <a:gd name="connsiteX6" fmla="*/ 5590095 w 10360058"/>
              <a:gd name="connsiteY6" fmla="*/ 1677971 h 2469823"/>
              <a:gd name="connsiteX7" fmla="*/ 4147794 w 10360058"/>
              <a:gd name="connsiteY7" fmla="*/ 1300899 h 2469823"/>
              <a:gd name="connsiteX8" fmla="*/ 1046376 w 10360058"/>
              <a:gd name="connsiteY8" fmla="*/ 886119 h 2469823"/>
              <a:gd name="connsiteX9" fmla="*/ 0 w 10360058"/>
              <a:gd name="connsiteY9"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325386 w 10360058"/>
              <a:gd name="connsiteY4" fmla="*/ 2130458 h 2469823"/>
              <a:gd name="connsiteX5" fmla="*/ 5590095 w 10360058"/>
              <a:gd name="connsiteY5" fmla="*/ 1677971 h 2469823"/>
              <a:gd name="connsiteX6" fmla="*/ 4147794 w 10360058"/>
              <a:gd name="connsiteY6" fmla="*/ 1300899 h 2469823"/>
              <a:gd name="connsiteX7" fmla="*/ 1046376 w 10360058"/>
              <a:gd name="connsiteY7" fmla="*/ 886119 h 2469823"/>
              <a:gd name="connsiteX8" fmla="*/ 0 w 10360058"/>
              <a:gd name="connsiteY8"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325386 w 10360058"/>
              <a:gd name="connsiteY4" fmla="*/ 2130458 h 2469823"/>
              <a:gd name="connsiteX5" fmla="*/ 5590095 w 10360058"/>
              <a:gd name="connsiteY5" fmla="*/ 1677971 h 2469823"/>
              <a:gd name="connsiteX6" fmla="*/ 4147794 w 10360058"/>
              <a:gd name="connsiteY6" fmla="*/ 1300899 h 2469823"/>
              <a:gd name="connsiteX7" fmla="*/ 1046376 w 10360058"/>
              <a:gd name="connsiteY7" fmla="*/ 886119 h 2469823"/>
              <a:gd name="connsiteX8" fmla="*/ 0 w 10360058"/>
              <a:gd name="connsiteY8" fmla="*/ 0 h 2469823"/>
              <a:gd name="connsiteX0" fmla="*/ 0 w 10360058"/>
              <a:gd name="connsiteY0" fmla="*/ 0 h 2469823"/>
              <a:gd name="connsiteX1" fmla="*/ 3902697 w 10360058"/>
              <a:gd name="connsiteY1" fmla="*/ 9427 h 2469823"/>
              <a:gd name="connsiteX2" fmla="*/ 10360058 w 10360058"/>
              <a:gd name="connsiteY2" fmla="*/ 2460396 h 2469823"/>
              <a:gd name="connsiteX3" fmla="*/ 6447934 w 10360058"/>
              <a:gd name="connsiteY3" fmla="*/ 2469823 h 2469823"/>
              <a:gd name="connsiteX4" fmla="*/ 6419654 w 10360058"/>
              <a:gd name="connsiteY4" fmla="*/ 2271860 h 2469823"/>
              <a:gd name="connsiteX5" fmla="*/ 6325386 w 10360058"/>
              <a:gd name="connsiteY5" fmla="*/ 2130458 h 2469823"/>
              <a:gd name="connsiteX6" fmla="*/ 5590095 w 10360058"/>
              <a:gd name="connsiteY6" fmla="*/ 1677971 h 2469823"/>
              <a:gd name="connsiteX7" fmla="*/ 4147794 w 10360058"/>
              <a:gd name="connsiteY7" fmla="*/ 1300899 h 2469823"/>
              <a:gd name="connsiteX8" fmla="*/ 1046376 w 10360058"/>
              <a:gd name="connsiteY8" fmla="*/ 886119 h 2469823"/>
              <a:gd name="connsiteX9" fmla="*/ 0 w 10360058"/>
              <a:gd name="connsiteY9" fmla="*/ 0 h 2469823"/>
              <a:gd name="connsiteX0" fmla="*/ 0 w 10360058"/>
              <a:gd name="connsiteY0" fmla="*/ 0 h 2469823"/>
              <a:gd name="connsiteX1" fmla="*/ 3902697 w 10360058"/>
              <a:gd name="connsiteY1" fmla="*/ 9427 h 2469823"/>
              <a:gd name="connsiteX2" fmla="*/ 4760536 w 10360058"/>
              <a:gd name="connsiteY2" fmla="*/ 480767 h 2469823"/>
              <a:gd name="connsiteX3" fmla="*/ 10360058 w 10360058"/>
              <a:gd name="connsiteY3" fmla="*/ 2460396 h 2469823"/>
              <a:gd name="connsiteX4" fmla="*/ 6447934 w 10360058"/>
              <a:gd name="connsiteY4" fmla="*/ 2469823 h 2469823"/>
              <a:gd name="connsiteX5" fmla="*/ 6419654 w 10360058"/>
              <a:gd name="connsiteY5" fmla="*/ 2271860 h 2469823"/>
              <a:gd name="connsiteX6" fmla="*/ 6325386 w 10360058"/>
              <a:gd name="connsiteY6" fmla="*/ 2130458 h 2469823"/>
              <a:gd name="connsiteX7" fmla="*/ 5590095 w 10360058"/>
              <a:gd name="connsiteY7" fmla="*/ 1677971 h 2469823"/>
              <a:gd name="connsiteX8" fmla="*/ 4147794 w 10360058"/>
              <a:gd name="connsiteY8" fmla="*/ 1300899 h 2469823"/>
              <a:gd name="connsiteX9" fmla="*/ 1046376 w 10360058"/>
              <a:gd name="connsiteY9" fmla="*/ 886119 h 2469823"/>
              <a:gd name="connsiteX10" fmla="*/ 0 w 10360058"/>
              <a:gd name="connsiteY10" fmla="*/ 0 h 2469823"/>
              <a:gd name="connsiteX0" fmla="*/ 0 w 10360058"/>
              <a:gd name="connsiteY0" fmla="*/ 0 h 2469823"/>
              <a:gd name="connsiteX1" fmla="*/ 3902697 w 10360058"/>
              <a:gd name="connsiteY1" fmla="*/ 9427 h 2469823"/>
              <a:gd name="connsiteX2" fmla="*/ 4760536 w 10360058"/>
              <a:gd name="connsiteY2" fmla="*/ 480767 h 2469823"/>
              <a:gd name="connsiteX3" fmla="*/ 10360058 w 10360058"/>
              <a:gd name="connsiteY3" fmla="*/ 2460396 h 2469823"/>
              <a:gd name="connsiteX4" fmla="*/ 6447934 w 10360058"/>
              <a:gd name="connsiteY4" fmla="*/ 2469823 h 2469823"/>
              <a:gd name="connsiteX5" fmla="*/ 6419654 w 10360058"/>
              <a:gd name="connsiteY5" fmla="*/ 2271860 h 2469823"/>
              <a:gd name="connsiteX6" fmla="*/ 6325386 w 10360058"/>
              <a:gd name="connsiteY6" fmla="*/ 2130458 h 2469823"/>
              <a:gd name="connsiteX7" fmla="*/ 5590095 w 10360058"/>
              <a:gd name="connsiteY7" fmla="*/ 1677971 h 2469823"/>
              <a:gd name="connsiteX8" fmla="*/ 4147794 w 10360058"/>
              <a:gd name="connsiteY8" fmla="*/ 1300899 h 2469823"/>
              <a:gd name="connsiteX9" fmla="*/ 1046376 w 10360058"/>
              <a:gd name="connsiteY9" fmla="*/ 886119 h 2469823"/>
              <a:gd name="connsiteX10" fmla="*/ 0 w 10360058"/>
              <a:gd name="connsiteY10" fmla="*/ 0 h 2469823"/>
              <a:gd name="connsiteX0" fmla="*/ 0 w 10360058"/>
              <a:gd name="connsiteY0" fmla="*/ 0 h 2469823"/>
              <a:gd name="connsiteX1" fmla="*/ 3902697 w 10360058"/>
              <a:gd name="connsiteY1" fmla="*/ 9427 h 2469823"/>
              <a:gd name="connsiteX2" fmla="*/ 6956981 w 10360058"/>
              <a:gd name="connsiteY2" fmla="*/ 725864 h 2469823"/>
              <a:gd name="connsiteX3" fmla="*/ 10360058 w 10360058"/>
              <a:gd name="connsiteY3" fmla="*/ 2460396 h 2469823"/>
              <a:gd name="connsiteX4" fmla="*/ 6447934 w 10360058"/>
              <a:gd name="connsiteY4" fmla="*/ 2469823 h 2469823"/>
              <a:gd name="connsiteX5" fmla="*/ 6419654 w 10360058"/>
              <a:gd name="connsiteY5" fmla="*/ 2271860 h 2469823"/>
              <a:gd name="connsiteX6" fmla="*/ 6325386 w 10360058"/>
              <a:gd name="connsiteY6" fmla="*/ 2130458 h 2469823"/>
              <a:gd name="connsiteX7" fmla="*/ 5590095 w 10360058"/>
              <a:gd name="connsiteY7" fmla="*/ 1677971 h 2469823"/>
              <a:gd name="connsiteX8" fmla="*/ 4147794 w 10360058"/>
              <a:gd name="connsiteY8" fmla="*/ 1300899 h 2469823"/>
              <a:gd name="connsiteX9" fmla="*/ 1046376 w 10360058"/>
              <a:gd name="connsiteY9" fmla="*/ 886119 h 2469823"/>
              <a:gd name="connsiteX10" fmla="*/ 0 w 10360058"/>
              <a:gd name="connsiteY10" fmla="*/ 0 h 2469823"/>
              <a:gd name="connsiteX0" fmla="*/ 0 w 10360058"/>
              <a:gd name="connsiteY0" fmla="*/ 0 h 2469823"/>
              <a:gd name="connsiteX1" fmla="*/ 3902697 w 10360058"/>
              <a:gd name="connsiteY1" fmla="*/ 9427 h 2469823"/>
              <a:gd name="connsiteX2" fmla="*/ 6956981 w 10360058"/>
              <a:gd name="connsiteY2" fmla="*/ 725864 h 2469823"/>
              <a:gd name="connsiteX3" fmla="*/ 10360058 w 10360058"/>
              <a:gd name="connsiteY3" fmla="*/ 2460396 h 2469823"/>
              <a:gd name="connsiteX4" fmla="*/ 6447934 w 10360058"/>
              <a:gd name="connsiteY4" fmla="*/ 2469823 h 2469823"/>
              <a:gd name="connsiteX5" fmla="*/ 6419654 w 10360058"/>
              <a:gd name="connsiteY5" fmla="*/ 2271860 h 2469823"/>
              <a:gd name="connsiteX6" fmla="*/ 6325386 w 10360058"/>
              <a:gd name="connsiteY6" fmla="*/ 2130458 h 2469823"/>
              <a:gd name="connsiteX7" fmla="*/ 5590095 w 10360058"/>
              <a:gd name="connsiteY7" fmla="*/ 1677971 h 2469823"/>
              <a:gd name="connsiteX8" fmla="*/ 4147794 w 10360058"/>
              <a:gd name="connsiteY8" fmla="*/ 1300899 h 2469823"/>
              <a:gd name="connsiteX9" fmla="*/ 1046376 w 10360058"/>
              <a:gd name="connsiteY9" fmla="*/ 886119 h 2469823"/>
              <a:gd name="connsiteX10" fmla="*/ 0 w 10360058"/>
              <a:gd name="connsiteY10" fmla="*/ 0 h 2469823"/>
              <a:gd name="connsiteX0" fmla="*/ 0 w 10478720"/>
              <a:gd name="connsiteY0" fmla="*/ 0 h 2469823"/>
              <a:gd name="connsiteX1" fmla="*/ 3902697 w 10478720"/>
              <a:gd name="connsiteY1" fmla="*/ 9427 h 2469823"/>
              <a:gd name="connsiteX2" fmla="*/ 6956981 w 10478720"/>
              <a:gd name="connsiteY2" fmla="*/ 725864 h 2469823"/>
              <a:gd name="connsiteX3" fmla="*/ 9304256 w 10478720"/>
              <a:gd name="connsiteY3" fmla="*/ 1234911 h 2469823"/>
              <a:gd name="connsiteX4" fmla="*/ 10360058 w 10478720"/>
              <a:gd name="connsiteY4" fmla="*/ 2460396 h 2469823"/>
              <a:gd name="connsiteX5" fmla="*/ 6447934 w 10478720"/>
              <a:gd name="connsiteY5" fmla="*/ 2469823 h 2469823"/>
              <a:gd name="connsiteX6" fmla="*/ 6419654 w 10478720"/>
              <a:gd name="connsiteY6" fmla="*/ 2271860 h 2469823"/>
              <a:gd name="connsiteX7" fmla="*/ 6325386 w 10478720"/>
              <a:gd name="connsiteY7" fmla="*/ 2130458 h 2469823"/>
              <a:gd name="connsiteX8" fmla="*/ 5590095 w 10478720"/>
              <a:gd name="connsiteY8" fmla="*/ 1677971 h 2469823"/>
              <a:gd name="connsiteX9" fmla="*/ 4147794 w 10478720"/>
              <a:gd name="connsiteY9" fmla="*/ 1300899 h 2469823"/>
              <a:gd name="connsiteX10" fmla="*/ 1046376 w 10478720"/>
              <a:gd name="connsiteY10" fmla="*/ 886119 h 2469823"/>
              <a:gd name="connsiteX11" fmla="*/ 0 w 10478720"/>
              <a:gd name="connsiteY11" fmla="*/ 0 h 2469823"/>
              <a:gd name="connsiteX0" fmla="*/ 0 w 10478720"/>
              <a:gd name="connsiteY0" fmla="*/ 0 h 2469823"/>
              <a:gd name="connsiteX1" fmla="*/ 3902697 w 10478720"/>
              <a:gd name="connsiteY1" fmla="*/ 9427 h 2469823"/>
              <a:gd name="connsiteX2" fmla="*/ 6956981 w 10478720"/>
              <a:gd name="connsiteY2" fmla="*/ 725864 h 2469823"/>
              <a:gd name="connsiteX3" fmla="*/ 9304256 w 10478720"/>
              <a:gd name="connsiteY3" fmla="*/ 1234911 h 2469823"/>
              <a:gd name="connsiteX4" fmla="*/ 10360058 w 10478720"/>
              <a:gd name="connsiteY4" fmla="*/ 2460396 h 2469823"/>
              <a:gd name="connsiteX5" fmla="*/ 6447934 w 10478720"/>
              <a:gd name="connsiteY5" fmla="*/ 2469823 h 2469823"/>
              <a:gd name="connsiteX6" fmla="*/ 6419654 w 10478720"/>
              <a:gd name="connsiteY6" fmla="*/ 2271860 h 2469823"/>
              <a:gd name="connsiteX7" fmla="*/ 6325386 w 10478720"/>
              <a:gd name="connsiteY7" fmla="*/ 2130458 h 2469823"/>
              <a:gd name="connsiteX8" fmla="*/ 5590095 w 10478720"/>
              <a:gd name="connsiteY8" fmla="*/ 1677971 h 2469823"/>
              <a:gd name="connsiteX9" fmla="*/ 4147794 w 10478720"/>
              <a:gd name="connsiteY9" fmla="*/ 1300899 h 2469823"/>
              <a:gd name="connsiteX10" fmla="*/ 1046376 w 10478720"/>
              <a:gd name="connsiteY10" fmla="*/ 886119 h 2469823"/>
              <a:gd name="connsiteX11" fmla="*/ 0 w 10478720"/>
              <a:gd name="connsiteY11" fmla="*/ 0 h 2469823"/>
              <a:gd name="connsiteX0" fmla="*/ 0 w 10443928"/>
              <a:gd name="connsiteY0" fmla="*/ 0 h 2469823"/>
              <a:gd name="connsiteX1" fmla="*/ 3902697 w 10443928"/>
              <a:gd name="connsiteY1" fmla="*/ 9427 h 2469823"/>
              <a:gd name="connsiteX2" fmla="*/ 6956981 w 10443928"/>
              <a:gd name="connsiteY2" fmla="*/ 725864 h 2469823"/>
              <a:gd name="connsiteX3" fmla="*/ 9304256 w 10443928"/>
              <a:gd name="connsiteY3" fmla="*/ 1234911 h 2469823"/>
              <a:gd name="connsiteX4" fmla="*/ 10360058 w 10443928"/>
              <a:gd name="connsiteY4" fmla="*/ 2460396 h 2469823"/>
              <a:gd name="connsiteX5" fmla="*/ 6447934 w 10443928"/>
              <a:gd name="connsiteY5" fmla="*/ 2469823 h 2469823"/>
              <a:gd name="connsiteX6" fmla="*/ 6419654 w 10443928"/>
              <a:gd name="connsiteY6" fmla="*/ 2271860 h 2469823"/>
              <a:gd name="connsiteX7" fmla="*/ 6325386 w 10443928"/>
              <a:gd name="connsiteY7" fmla="*/ 2130458 h 2469823"/>
              <a:gd name="connsiteX8" fmla="*/ 5590095 w 10443928"/>
              <a:gd name="connsiteY8" fmla="*/ 1677971 h 2469823"/>
              <a:gd name="connsiteX9" fmla="*/ 4147794 w 10443928"/>
              <a:gd name="connsiteY9" fmla="*/ 1300899 h 2469823"/>
              <a:gd name="connsiteX10" fmla="*/ 1046376 w 10443928"/>
              <a:gd name="connsiteY10" fmla="*/ 886119 h 2469823"/>
              <a:gd name="connsiteX11" fmla="*/ 0 w 10443928"/>
              <a:gd name="connsiteY11" fmla="*/ 0 h 2469823"/>
              <a:gd name="connsiteX0" fmla="*/ 0 w 10443928"/>
              <a:gd name="connsiteY0" fmla="*/ 0 h 2469823"/>
              <a:gd name="connsiteX1" fmla="*/ 3902697 w 10443928"/>
              <a:gd name="connsiteY1" fmla="*/ 9427 h 2469823"/>
              <a:gd name="connsiteX2" fmla="*/ 5637229 w 10443928"/>
              <a:gd name="connsiteY2" fmla="*/ 490194 h 2469823"/>
              <a:gd name="connsiteX3" fmla="*/ 6956981 w 10443928"/>
              <a:gd name="connsiteY3" fmla="*/ 725864 h 2469823"/>
              <a:gd name="connsiteX4" fmla="*/ 9304256 w 10443928"/>
              <a:gd name="connsiteY4" fmla="*/ 1234911 h 2469823"/>
              <a:gd name="connsiteX5" fmla="*/ 10360058 w 10443928"/>
              <a:gd name="connsiteY5" fmla="*/ 2460396 h 2469823"/>
              <a:gd name="connsiteX6" fmla="*/ 6447934 w 10443928"/>
              <a:gd name="connsiteY6" fmla="*/ 2469823 h 2469823"/>
              <a:gd name="connsiteX7" fmla="*/ 6419654 w 10443928"/>
              <a:gd name="connsiteY7" fmla="*/ 2271860 h 2469823"/>
              <a:gd name="connsiteX8" fmla="*/ 6325386 w 10443928"/>
              <a:gd name="connsiteY8" fmla="*/ 2130458 h 2469823"/>
              <a:gd name="connsiteX9" fmla="*/ 5590095 w 10443928"/>
              <a:gd name="connsiteY9" fmla="*/ 1677971 h 2469823"/>
              <a:gd name="connsiteX10" fmla="*/ 4147794 w 10443928"/>
              <a:gd name="connsiteY10" fmla="*/ 1300899 h 2469823"/>
              <a:gd name="connsiteX11" fmla="*/ 1046376 w 10443928"/>
              <a:gd name="connsiteY11" fmla="*/ 886119 h 2469823"/>
              <a:gd name="connsiteX12" fmla="*/ 0 w 10443928"/>
              <a:gd name="connsiteY12" fmla="*/ 0 h 2469823"/>
              <a:gd name="connsiteX0" fmla="*/ 0 w 10443928"/>
              <a:gd name="connsiteY0" fmla="*/ 0 h 2469823"/>
              <a:gd name="connsiteX1" fmla="*/ 3902697 w 10443928"/>
              <a:gd name="connsiteY1" fmla="*/ 9427 h 2469823"/>
              <a:gd name="connsiteX2" fmla="*/ 5637229 w 10443928"/>
              <a:gd name="connsiteY2" fmla="*/ 490194 h 2469823"/>
              <a:gd name="connsiteX3" fmla="*/ 6956981 w 10443928"/>
              <a:gd name="connsiteY3" fmla="*/ 725864 h 2469823"/>
              <a:gd name="connsiteX4" fmla="*/ 9304256 w 10443928"/>
              <a:gd name="connsiteY4" fmla="*/ 1234911 h 2469823"/>
              <a:gd name="connsiteX5" fmla="*/ 10360058 w 10443928"/>
              <a:gd name="connsiteY5" fmla="*/ 2460396 h 2469823"/>
              <a:gd name="connsiteX6" fmla="*/ 6447934 w 10443928"/>
              <a:gd name="connsiteY6" fmla="*/ 2469823 h 2469823"/>
              <a:gd name="connsiteX7" fmla="*/ 6419654 w 10443928"/>
              <a:gd name="connsiteY7" fmla="*/ 2271860 h 2469823"/>
              <a:gd name="connsiteX8" fmla="*/ 6325386 w 10443928"/>
              <a:gd name="connsiteY8" fmla="*/ 2130458 h 2469823"/>
              <a:gd name="connsiteX9" fmla="*/ 5901180 w 10443928"/>
              <a:gd name="connsiteY9" fmla="*/ 1621411 h 2469823"/>
              <a:gd name="connsiteX10" fmla="*/ 4147794 w 10443928"/>
              <a:gd name="connsiteY10" fmla="*/ 1300899 h 2469823"/>
              <a:gd name="connsiteX11" fmla="*/ 1046376 w 10443928"/>
              <a:gd name="connsiteY11" fmla="*/ 886119 h 2469823"/>
              <a:gd name="connsiteX12" fmla="*/ 0 w 10443928"/>
              <a:gd name="connsiteY12" fmla="*/ 0 h 2469823"/>
              <a:gd name="connsiteX0" fmla="*/ 0 w 10443928"/>
              <a:gd name="connsiteY0" fmla="*/ 0 h 2469823"/>
              <a:gd name="connsiteX1" fmla="*/ 3902697 w 10443928"/>
              <a:gd name="connsiteY1" fmla="*/ 9427 h 2469823"/>
              <a:gd name="connsiteX2" fmla="*/ 5637229 w 10443928"/>
              <a:gd name="connsiteY2" fmla="*/ 490194 h 2469823"/>
              <a:gd name="connsiteX3" fmla="*/ 6956981 w 10443928"/>
              <a:gd name="connsiteY3" fmla="*/ 725864 h 2469823"/>
              <a:gd name="connsiteX4" fmla="*/ 9304256 w 10443928"/>
              <a:gd name="connsiteY4" fmla="*/ 1234911 h 2469823"/>
              <a:gd name="connsiteX5" fmla="*/ 10360058 w 10443928"/>
              <a:gd name="connsiteY5" fmla="*/ 2460396 h 2469823"/>
              <a:gd name="connsiteX6" fmla="*/ 6447934 w 10443928"/>
              <a:gd name="connsiteY6" fmla="*/ 2469823 h 2469823"/>
              <a:gd name="connsiteX7" fmla="*/ 6419654 w 10443928"/>
              <a:gd name="connsiteY7" fmla="*/ 2271860 h 2469823"/>
              <a:gd name="connsiteX8" fmla="*/ 6410227 w 10443928"/>
              <a:gd name="connsiteY8" fmla="*/ 2111604 h 2469823"/>
              <a:gd name="connsiteX9" fmla="*/ 5901180 w 10443928"/>
              <a:gd name="connsiteY9" fmla="*/ 1621411 h 2469823"/>
              <a:gd name="connsiteX10" fmla="*/ 4147794 w 10443928"/>
              <a:gd name="connsiteY10" fmla="*/ 1300899 h 2469823"/>
              <a:gd name="connsiteX11" fmla="*/ 1046376 w 10443928"/>
              <a:gd name="connsiteY11" fmla="*/ 886119 h 2469823"/>
              <a:gd name="connsiteX12" fmla="*/ 0 w 10443928"/>
              <a:gd name="connsiteY12" fmla="*/ 0 h 2469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443928" h="2469823">
                <a:moveTo>
                  <a:pt x="0" y="0"/>
                </a:moveTo>
                <a:lnTo>
                  <a:pt x="3902697" y="9427"/>
                </a:lnTo>
                <a:cubicBezTo>
                  <a:pt x="4711831" y="92697"/>
                  <a:pt x="5128182" y="370788"/>
                  <a:pt x="5637229" y="490194"/>
                </a:cubicBezTo>
                <a:cubicBezTo>
                  <a:pt x="6146276" y="609600"/>
                  <a:pt x="6215406" y="603316"/>
                  <a:pt x="6956981" y="725864"/>
                </a:cubicBezTo>
                <a:cubicBezTo>
                  <a:pt x="7832103" y="897117"/>
                  <a:pt x="8444846" y="663018"/>
                  <a:pt x="9304256" y="1234911"/>
                </a:cubicBezTo>
                <a:cubicBezTo>
                  <a:pt x="9296400" y="1241196"/>
                  <a:pt x="10810974" y="2221584"/>
                  <a:pt x="10360058" y="2460396"/>
                </a:cubicBezTo>
                <a:lnTo>
                  <a:pt x="6447934" y="2469823"/>
                </a:lnTo>
                <a:cubicBezTo>
                  <a:pt x="6425938" y="2400693"/>
                  <a:pt x="6441650" y="2340990"/>
                  <a:pt x="6419654" y="2271860"/>
                </a:cubicBezTo>
                <a:lnTo>
                  <a:pt x="6410227" y="2111604"/>
                </a:lnTo>
                <a:cubicBezTo>
                  <a:pt x="6267254" y="1979629"/>
                  <a:pt x="6224834" y="1798949"/>
                  <a:pt x="5901180" y="1621411"/>
                </a:cubicBezTo>
                <a:cubicBezTo>
                  <a:pt x="5577526" y="1443873"/>
                  <a:pt x="4861089" y="1450157"/>
                  <a:pt x="4147794" y="1300899"/>
                </a:cubicBezTo>
                <a:cubicBezTo>
                  <a:pt x="3162693" y="1244337"/>
                  <a:pt x="1715679" y="1159496"/>
                  <a:pt x="1046376" y="886119"/>
                </a:cubicBezTo>
                <a:cubicBezTo>
                  <a:pt x="509048" y="741574"/>
                  <a:pt x="65988" y="408495"/>
                  <a:pt x="0" y="0"/>
                </a:cubicBezTo>
                <a:close/>
              </a:path>
            </a:pathLst>
          </a:custGeom>
          <a:solidFill>
            <a:schemeClr val="tx1">
              <a:lumMod val="50000"/>
              <a:lumOff val="50000"/>
              <a:alpha val="57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 name="Title 1">
            <a:extLst>
              <a:ext uri="{FF2B5EF4-FFF2-40B4-BE49-F238E27FC236}">
                <a16:creationId xmlns:a16="http://schemas.microsoft.com/office/drawing/2014/main" id="{6BFFA865-39B1-8F70-0F56-3447AE3231ED}"/>
              </a:ext>
            </a:extLst>
          </p:cNvPr>
          <p:cNvSpPr>
            <a:spLocks noGrp="1"/>
          </p:cNvSpPr>
          <p:nvPr>
            <p:ph type="title"/>
          </p:nvPr>
        </p:nvSpPr>
        <p:spPr>
          <a:xfrm>
            <a:off x="1104900" y="76199"/>
            <a:ext cx="10848287" cy="768096"/>
          </a:xfrm>
        </p:spPr>
        <p:txBody>
          <a:bodyPr>
            <a:normAutofit/>
          </a:bodyPr>
          <a:lstStyle/>
          <a:p>
            <a:r>
              <a:rPr lang="en-US" dirty="0" err="1"/>
              <a:t>Immediates</a:t>
            </a:r>
            <a:r>
              <a:rPr lang="en-US" dirty="0"/>
              <a:t>: I-Type</a:t>
            </a:r>
          </a:p>
        </p:txBody>
      </p:sp>
      <p:sp>
        <p:nvSpPr>
          <p:cNvPr id="10" name="TextBox 9">
            <a:extLst>
              <a:ext uri="{FF2B5EF4-FFF2-40B4-BE49-F238E27FC236}">
                <a16:creationId xmlns:a16="http://schemas.microsoft.com/office/drawing/2014/main" id="{DB1F6432-52E8-6EDB-9B80-85BF57105B7A}"/>
              </a:ext>
            </a:extLst>
          </p:cNvPr>
          <p:cNvSpPr txBox="1"/>
          <p:nvPr/>
        </p:nvSpPr>
        <p:spPr>
          <a:xfrm>
            <a:off x="185264" y="1146536"/>
            <a:ext cx="2218571" cy="764825"/>
          </a:xfrm>
          <a:prstGeom prst="rect">
            <a:avLst/>
          </a:prstGeom>
          <a:noFill/>
        </p:spPr>
        <p:txBody>
          <a:bodyPr wrap="square" rtlCol="0">
            <a:spAutoFit/>
          </a:bodyPr>
          <a:lstStyle/>
          <a:p>
            <a:pPr>
              <a:lnSpc>
                <a:spcPct val="90000"/>
              </a:lnSpc>
            </a:pPr>
            <a:r>
              <a:rPr lang="en-US" sz="2800" b="1" dirty="0">
                <a:solidFill>
                  <a:schemeClr val="bg1">
                    <a:alpha val="99000"/>
                  </a:schemeClr>
                </a:solidFill>
                <a:latin typeface="18 VAG Rounded Bold   07390" pitchFamily="2" charset="0"/>
              </a:rPr>
              <a:t>Instruction </a:t>
            </a:r>
            <a:r>
              <a:rPr lang="en-US" sz="2000" b="1" dirty="0" err="1">
                <a:solidFill>
                  <a:schemeClr val="bg1"/>
                </a:solidFill>
                <a:latin typeface="Courier New" panose="02070309020205020404" pitchFamily="49" charset="0"/>
                <a:cs typeface="Courier New" panose="02070309020205020404" pitchFamily="49" charset="0"/>
              </a:rPr>
              <a:t>inst</a:t>
            </a:r>
            <a:r>
              <a:rPr lang="en-US" sz="2000" b="1" dirty="0">
                <a:solidFill>
                  <a:schemeClr val="bg1"/>
                </a:solidFill>
                <a:latin typeface="Courier New" panose="02070309020205020404" pitchFamily="49" charset="0"/>
                <a:cs typeface="Courier New" panose="02070309020205020404" pitchFamily="49" charset="0"/>
              </a:rPr>
              <a:t>[31:0]</a:t>
            </a:r>
          </a:p>
        </p:txBody>
      </p:sp>
      <p:graphicFrame>
        <p:nvGraphicFramePr>
          <p:cNvPr id="11" name="Table 10">
            <a:extLst>
              <a:ext uri="{FF2B5EF4-FFF2-40B4-BE49-F238E27FC236}">
                <a16:creationId xmlns:a16="http://schemas.microsoft.com/office/drawing/2014/main" id="{F72C53E8-B85C-675C-F820-A3F34E428157}"/>
              </a:ext>
            </a:extLst>
          </p:cNvPr>
          <p:cNvGraphicFramePr>
            <a:graphicFrameLocks noGrp="1"/>
          </p:cNvGraphicFramePr>
          <p:nvPr/>
        </p:nvGraphicFramePr>
        <p:xfrm>
          <a:off x="1169513" y="1868766"/>
          <a:ext cx="10402884" cy="1125450"/>
        </p:xfrm>
        <a:graphic>
          <a:graphicData uri="http://schemas.openxmlformats.org/drawingml/2006/table">
            <a:tbl>
              <a:tblPr>
                <a:tableStyleId>{5C22544A-7EE6-4342-B048-85BDC9FD1C3A}</a:tableStyleId>
              </a:tblPr>
              <a:tblGrid>
                <a:gridCol w="429768">
                  <a:extLst>
                    <a:ext uri="{9D8B030D-6E8A-4147-A177-3AD203B41FA5}">
                      <a16:colId xmlns:a16="http://schemas.microsoft.com/office/drawing/2014/main" val="4212028958"/>
                    </a:ext>
                  </a:extLst>
                </a:gridCol>
                <a:gridCol w="551076">
                  <a:extLst>
                    <a:ext uri="{9D8B030D-6E8A-4147-A177-3AD203B41FA5}">
                      <a16:colId xmlns:a16="http://schemas.microsoft.com/office/drawing/2014/main" val="2833146680"/>
                    </a:ext>
                  </a:extLst>
                </a:gridCol>
                <a:gridCol w="324898">
                  <a:extLst>
                    <a:ext uri="{9D8B030D-6E8A-4147-A177-3AD203B41FA5}">
                      <a16:colId xmlns:a16="http://schemas.microsoft.com/office/drawing/2014/main" val="631863871"/>
                    </a:ext>
                  </a:extLst>
                </a:gridCol>
                <a:gridCol w="324898">
                  <a:extLst>
                    <a:ext uri="{9D8B030D-6E8A-4147-A177-3AD203B41FA5}">
                      <a16:colId xmlns:a16="http://schemas.microsoft.com/office/drawing/2014/main" val="804285180"/>
                    </a:ext>
                  </a:extLst>
                </a:gridCol>
                <a:gridCol w="649796">
                  <a:extLst>
                    <a:ext uri="{9D8B030D-6E8A-4147-A177-3AD203B41FA5}">
                      <a16:colId xmlns:a16="http://schemas.microsoft.com/office/drawing/2014/main" val="698615685"/>
                    </a:ext>
                  </a:extLst>
                </a:gridCol>
                <a:gridCol w="649796">
                  <a:extLst>
                    <a:ext uri="{9D8B030D-6E8A-4147-A177-3AD203B41FA5}">
                      <a16:colId xmlns:a16="http://schemas.microsoft.com/office/drawing/2014/main" val="4241661055"/>
                    </a:ext>
                  </a:extLst>
                </a:gridCol>
                <a:gridCol w="324898">
                  <a:extLst>
                    <a:ext uri="{9D8B030D-6E8A-4147-A177-3AD203B41FA5}">
                      <a16:colId xmlns:a16="http://schemas.microsoft.com/office/drawing/2014/main" val="3714859180"/>
                    </a:ext>
                  </a:extLst>
                </a:gridCol>
                <a:gridCol w="649796">
                  <a:extLst>
                    <a:ext uri="{9D8B030D-6E8A-4147-A177-3AD203B41FA5}">
                      <a16:colId xmlns:a16="http://schemas.microsoft.com/office/drawing/2014/main" val="4134962500"/>
                    </a:ext>
                  </a:extLst>
                </a:gridCol>
                <a:gridCol w="649796">
                  <a:extLst>
                    <a:ext uri="{9D8B030D-6E8A-4147-A177-3AD203B41FA5}">
                      <a16:colId xmlns:a16="http://schemas.microsoft.com/office/drawing/2014/main" val="2296042161"/>
                    </a:ext>
                  </a:extLst>
                </a:gridCol>
                <a:gridCol w="324898">
                  <a:extLst>
                    <a:ext uri="{9D8B030D-6E8A-4147-A177-3AD203B41FA5}">
                      <a16:colId xmlns:a16="http://schemas.microsoft.com/office/drawing/2014/main" val="2710756154"/>
                    </a:ext>
                  </a:extLst>
                </a:gridCol>
                <a:gridCol w="649796">
                  <a:extLst>
                    <a:ext uri="{9D8B030D-6E8A-4147-A177-3AD203B41FA5}">
                      <a16:colId xmlns:a16="http://schemas.microsoft.com/office/drawing/2014/main" val="2996484032"/>
                    </a:ext>
                  </a:extLst>
                </a:gridCol>
                <a:gridCol w="487347">
                  <a:extLst>
                    <a:ext uri="{9D8B030D-6E8A-4147-A177-3AD203B41FA5}">
                      <a16:colId xmlns:a16="http://schemas.microsoft.com/office/drawing/2014/main" val="2332033055"/>
                    </a:ext>
                  </a:extLst>
                </a:gridCol>
                <a:gridCol w="487347">
                  <a:extLst>
                    <a:ext uri="{9D8B030D-6E8A-4147-A177-3AD203B41FA5}">
                      <a16:colId xmlns:a16="http://schemas.microsoft.com/office/drawing/2014/main" val="2503431466"/>
                    </a:ext>
                  </a:extLst>
                </a:gridCol>
                <a:gridCol w="649796">
                  <a:extLst>
                    <a:ext uri="{9D8B030D-6E8A-4147-A177-3AD203B41FA5}">
                      <a16:colId xmlns:a16="http://schemas.microsoft.com/office/drawing/2014/main" val="436555696"/>
                    </a:ext>
                  </a:extLst>
                </a:gridCol>
                <a:gridCol w="324898">
                  <a:extLst>
                    <a:ext uri="{9D8B030D-6E8A-4147-A177-3AD203B41FA5}">
                      <a16:colId xmlns:a16="http://schemas.microsoft.com/office/drawing/2014/main" val="768043039"/>
                    </a:ext>
                  </a:extLst>
                </a:gridCol>
                <a:gridCol w="649796">
                  <a:extLst>
                    <a:ext uri="{9D8B030D-6E8A-4147-A177-3AD203B41FA5}">
                      <a16:colId xmlns:a16="http://schemas.microsoft.com/office/drawing/2014/main" val="527131670"/>
                    </a:ext>
                  </a:extLst>
                </a:gridCol>
                <a:gridCol w="649796">
                  <a:extLst>
                    <a:ext uri="{9D8B030D-6E8A-4147-A177-3AD203B41FA5}">
                      <a16:colId xmlns:a16="http://schemas.microsoft.com/office/drawing/2014/main" val="1640519534"/>
                    </a:ext>
                  </a:extLst>
                </a:gridCol>
                <a:gridCol w="324898">
                  <a:extLst>
                    <a:ext uri="{9D8B030D-6E8A-4147-A177-3AD203B41FA5}">
                      <a16:colId xmlns:a16="http://schemas.microsoft.com/office/drawing/2014/main" val="2793670967"/>
                    </a:ext>
                  </a:extLst>
                </a:gridCol>
                <a:gridCol w="324898">
                  <a:extLst>
                    <a:ext uri="{9D8B030D-6E8A-4147-A177-3AD203B41FA5}">
                      <a16:colId xmlns:a16="http://schemas.microsoft.com/office/drawing/2014/main" val="2653031101"/>
                    </a:ext>
                  </a:extLst>
                </a:gridCol>
                <a:gridCol w="324898">
                  <a:extLst>
                    <a:ext uri="{9D8B030D-6E8A-4147-A177-3AD203B41FA5}">
                      <a16:colId xmlns:a16="http://schemas.microsoft.com/office/drawing/2014/main" val="2569721618"/>
                    </a:ext>
                  </a:extLst>
                </a:gridCol>
                <a:gridCol w="649794">
                  <a:extLst>
                    <a:ext uri="{9D8B030D-6E8A-4147-A177-3AD203B41FA5}">
                      <a16:colId xmlns:a16="http://schemas.microsoft.com/office/drawing/2014/main" val="1370911114"/>
                    </a:ext>
                  </a:extLst>
                </a:gridCol>
              </a:tblGrid>
              <a:tr h="333922">
                <a:tc>
                  <a:txBody>
                    <a:bodyPr/>
                    <a:lstStyle/>
                    <a:p>
                      <a:pPr algn="l">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19</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15</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14</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12</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7</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6</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313800"/>
                  </a:ext>
                </a:extLst>
              </a:tr>
              <a:tr h="319480">
                <a:tc gridSpan="8">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[11:0]</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[10:0]</a:t>
                      </a:r>
                    </a:p>
                  </a:txBody>
                  <a:tcPr>
                    <a:lnL w="28575" cap="flat" cmpd="sng" algn="ctr">
                      <a:solidFill>
                        <a:schemeClr val="bg1">
                          <a:lumMod val="50000"/>
                        </a:schemeClr>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T w="28575" cap="flat" cmpd="sng" algn="ctr">
                      <a:solidFill>
                        <a:schemeClr val="bg1"/>
                      </a:solidFill>
                      <a:prstDash val="solid"/>
                      <a:round/>
                      <a:headEnd type="none" w="med" len="med"/>
                      <a:tailEnd type="none" w="med" len="med"/>
                    </a:lnT>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dirty="0">
                        <a:solidFill>
                          <a:schemeClr val="accent5"/>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rs1</a:t>
                      </a: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funct3</a:t>
                      </a: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r>
                        <a:rPr lang="en-US" sz="1700" b="1" i="0" strike="noStrike" dirty="0" err="1">
                          <a:solidFill>
                            <a:schemeClr val="tx1">
                              <a:lumMod val="50000"/>
                              <a:lumOff val="50000"/>
                            </a:schemeClr>
                          </a:solidFill>
                          <a:latin typeface="Courier New" panose="02070309020205020404" pitchFamily="49" charset="0"/>
                          <a:cs typeface="Courier New" panose="02070309020205020404" pitchFamily="49" charset="0"/>
                        </a:rPr>
                        <a:t>rd</a:t>
                      </a: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opcode</a:t>
                      </a:r>
                    </a:p>
                  </a:txBody>
                  <a:tcPr>
                    <a:lnL w="28575" cap="flat" cmpd="sng" algn="ctr">
                      <a:solidFill>
                        <a:schemeClr val="bg1">
                          <a:lumMod val="50000"/>
                        </a:schemeClr>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28575" cap="flat" cmpd="sng" algn="ctr">
                      <a:solidFill>
                        <a:schemeClr val="tx1">
                          <a:lumMod val="50000"/>
                          <a:lumOff val="50000"/>
                        </a:schemeClr>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035830993"/>
                  </a:ext>
                </a:extLst>
              </a:tr>
              <a:tr h="319480">
                <a:tc>
                  <a:txBody>
                    <a:bodyPr/>
                    <a:lstStyle/>
                    <a:p>
                      <a:pPr algn="ctr">
                        <a:lnSpc>
                          <a:spcPct val="85000"/>
                        </a:lnSpc>
                      </a:pPr>
                      <a:r>
                        <a:rPr kumimoji="0" lang="en-US" sz="2800" b="1" i="0" u="none" strike="noStrike" kern="1200" cap="none" spc="0" normalizeH="0" baseline="0" noProof="0" dirty="0">
                          <a:ln>
                            <a:noFill/>
                          </a:ln>
                          <a:solidFill>
                            <a:srgbClr val="FEC016"/>
                          </a:solidFill>
                          <a:effectLst/>
                          <a:uLnTx/>
                          <a:uFillTx/>
                          <a:latin typeface="Courier New" panose="02070309020205020404" pitchFamily="49" charset="0"/>
                          <a:ea typeface="+mn-ea"/>
                          <a:cs typeface="Courier New" panose="02070309020205020404" pitchFamily="49" charset="0"/>
                        </a:rPr>
                        <a:t>s</a:t>
                      </a:r>
                      <a:endParaRPr lang="en-US" sz="2800" b="1" i="0" strike="noStrike"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 ....</a:t>
                      </a: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lnL w="28575" cap="flat" cmpd="sng" algn="ctr">
                      <a:solidFill>
                        <a:schemeClr val="bg1">
                          <a:lumMod val="50000"/>
                        </a:schemeClr>
                      </a:solidFill>
                      <a:prstDash val="solid"/>
                      <a:round/>
                      <a:headEnd type="none" w="med" len="med"/>
                      <a:tailEnd type="none" w="med" len="med"/>
                    </a:lnL>
                  </a:tcPr>
                </a:tc>
                <a:tc hMerge="1">
                  <a:txBody>
                    <a:bodyPr/>
                    <a:lstStyle/>
                    <a:p>
                      <a:endParaRPr lang="en-US"/>
                    </a:p>
                  </a:txBody>
                  <a:tcPr/>
                </a:tc>
                <a:tc hMerge="1">
                  <a:txBody>
                    <a:bodyPr/>
                    <a:lstStyle/>
                    <a:p>
                      <a:pPr algn="ctr">
                        <a:lnSpc>
                          <a:spcPct val="85000"/>
                        </a:lnSpc>
                      </a:pPr>
                      <a:endParaRPr lang="en-US" sz="2800" b="1" i="0" dirty="0">
                        <a:solidFill>
                          <a:schemeClr val="accent6"/>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gridSpan="2">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gridSpan="5">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tx1">
                          <a:lumMod val="50000"/>
                          <a:lumOff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12592891"/>
                  </a:ext>
                </a:extLst>
              </a:tr>
            </a:tbl>
          </a:graphicData>
        </a:graphic>
      </p:graphicFrame>
      <p:graphicFrame>
        <p:nvGraphicFramePr>
          <p:cNvPr id="13" name="Table 12">
            <a:extLst>
              <a:ext uri="{FF2B5EF4-FFF2-40B4-BE49-F238E27FC236}">
                <a16:creationId xmlns:a16="http://schemas.microsoft.com/office/drawing/2014/main" id="{3BC7B223-6D5A-F1F4-7BB4-F976219A1069}"/>
              </a:ext>
            </a:extLst>
          </p:cNvPr>
          <p:cNvGraphicFramePr>
            <a:graphicFrameLocks noGrp="1"/>
          </p:cNvGraphicFramePr>
          <p:nvPr/>
        </p:nvGraphicFramePr>
        <p:xfrm>
          <a:off x="1142609" y="5114759"/>
          <a:ext cx="10396734" cy="1125450"/>
        </p:xfrm>
        <a:graphic>
          <a:graphicData uri="http://schemas.openxmlformats.org/drawingml/2006/table">
            <a:tbl>
              <a:tblPr>
                <a:tableStyleId>{5C22544A-7EE6-4342-B048-85BDC9FD1C3A}</a:tableStyleId>
              </a:tblPr>
              <a:tblGrid>
                <a:gridCol w="649796">
                  <a:extLst>
                    <a:ext uri="{9D8B030D-6E8A-4147-A177-3AD203B41FA5}">
                      <a16:colId xmlns:a16="http://schemas.microsoft.com/office/drawing/2014/main" val="1234193345"/>
                    </a:ext>
                  </a:extLst>
                </a:gridCol>
                <a:gridCol w="324898">
                  <a:extLst>
                    <a:ext uri="{9D8B030D-6E8A-4147-A177-3AD203B41FA5}">
                      <a16:colId xmlns:a16="http://schemas.microsoft.com/office/drawing/2014/main" val="980994493"/>
                    </a:ext>
                  </a:extLst>
                </a:gridCol>
                <a:gridCol w="324898">
                  <a:extLst>
                    <a:ext uri="{9D8B030D-6E8A-4147-A177-3AD203B41FA5}">
                      <a16:colId xmlns:a16="http://schemas.microsoft.com/office/drawing/2014/main" val="2263478802"/>
                    </a:ext>
                  </a:extLst>
                </a:gridCol>
                <a:gridCol w="324898">
                  <a:extLst>
                    <a:ext uri="{9D8B030D-6E8A-4147-A177-3AD203B41FA5}">
                      <a16:colId xmlns:a16="http://schemas.microsoft.com/office/drawing/2014/main" val="1706986663"/>
                    </a:ext>
                  </a:extLst>
                </a:gridCol>
                <a:gridCol w="649796">
                  <a:extLst>
                    <a:ext uri="{9D8B030D-6E8A-4147-A177-3AD203B41FA5}">
                      <a16:colId xmlns:a16="http://schemas.microsoft.com/office/drawing/2014/main" val="3137204920"/>
                    </a:ext>
                  </a:extLst>
                </a:gridCol>
                <a:gridCol w="649796">
                  <a:extLst>
                    <a:ext uri="{9D8B030D-6E8A-4147-A177-3AD203B41FA5}">
                      <a16:colId xmlns:a16="http://schemas.microsoft.com/office/drawing/2014/main" val="2664459051"/>
                    </a:ext>
                  </a:extLst>
                </a:gridCol>
                <a:gridCol w="324898">
                  <a:extLst>
                    <a:ext uri="{9D8B030D-6E8A-4147-A177-3AD203B41FA5}">
                      <a16:colId xmlns:a16="http://schemas.microsoft.com/office/drawing/2014/main" val="3204545504"/>
                    </a:ext>
                  </a:extLst>
                </a:gridCol>
                <a:gridCol w="649796">
                  <a:extLst>
                    <a:ext uri="{9D8B030D-6E8A-4147-A177-3AD203B41FA5}">
                      <a16:colId xmlns:a16="http://schemas.microsoft.com/office/drawing/2014/main" val="3785885317"/>
                    </a:ext>
                  </a:extLst>
                </a:gridCol>
                <a:gridCol w="649796">
                  <a:extLst>
                    <a:ext uri="{9D8B030D-6E8A-4147-A177-3AD203B41FA5}">
                      <a16:colId xmlns:a16="http://schemas.microsoft.com/office/drawing/2014/main" val="1754441276"/>
                    </a:ext>
                  </a:extLst>
                </a:gridCol>
                <a:gridCol w="324898">
                  <a:extLst>
                    <a:ext uri="{9D8B030D-6E8A-4147-A177-3AD203B41FA5}">
                      <a16:colId xmlns:a16="http://schemas.microsoft.com/office/drawing/2014/main" val="278709197"/>
                    </a:ext>
                  </a:extLst>
                </a:gridCol>
                <a:gridCol w="649796">
                  <a:extLst>
                    <a:ext uri="{9D8B030D-6E8A-4147-A177-3AD203B41FA5}">
                      <a16:colId xmlns:a16="http://schemas.microsoft.com/office/drawing/2014/main" val="563745743"/>
                    </a:ext>
                  </a:extLst>
                </a:gridCol>
                <a:gridCol w="487347">
                  <a:extLst>
                    <a:ext uri="{9D8B030D-6E8A-4147-A177-3AD203B41FA5}">
                      <a16:colId xmlns:a16="http://schemas.microsoft.com/office/drawing/2014/main" val="2795341024"/>
                    </a:ext>
                  </a:extLst>
                </a:gridCol>
                <a:gridCol w="487347">
                  <a:extLst>
                    <a:ext uri="{9D8B030D-6E8A-4147-A177-3AD203B41FA5}">
                      <a16:colId xmlns:a16="http://schemas.microsoft.com/office/drawing/2014/main" val="3479140522"/>
                    </a:ext>
                  </a:extLst>
                </a:gridCol>
                <a:gridCol w="649796">
                  <a:extLst>
                    <a:ext uri="{9D8B030D-6E8A-4147-A177-3AD203B41FA5}">
                      <a16:colId xmlns:a16="http://schemas.microsoft.com/office/drawing/2014/main" val="562483255"/>
                    </a:ext>
                  </a:extLst>
                </a:gridCol>
                <a:gridCol w="324898">
                  <a:extLst>
                    <a:ext uri="{9D8B030D-6E8A-4147-A177-3AD203B41FA5}">
                      <a16:colId xmlns:a16="http://schemas.microsoft.com/office/drawing/2014/main" val="857135890"/>
                    </a:ext>
                  </a:extLst>
                </a:gridCol>
                <a:gridCol w="649796">
                  <a:extLst>
                    <a:ext uri="{9D8B030D-6E8A-4147-A177-3AD203B41FA5}">
                      <a16:colId xmlns:a16="http://schemas.microsoft.com/office/drawing/2014/main" val="669064248"/>
                    </a:ext>
                  </a:extLst>
                </a:gridCol>
                <a:gridCol w="649796">
                  <a:extLst>
                    <a:ext uri="{9D8B030D-6E8A-4147-A177-3AD203B41FA5}">
                      <a16:colId xmlns:a16="http://schemas.microsoft.com/office/drawing/2014/main" val="1072157940"/>
                    </a:ext>
                  </a:extLst>
                </a:gridCol>
                <a:gridCol w="324898">
                  <a:extLst>
                    <a:ext uri="{9D8B030D-6E8A-4147-A177-3AD203B41FA5}">
                      <a16:colId xmlns:a16="http://schemas.microsoft.com/office/drawing/2014/main" val="4104681057"/>
                    </a:ext>
                  </a:extLst>
                </a:gridCol>
                <a:gridCol w="324898">
                  <a:extLst>
                    <a:ext uri="{9D8B030D-6E8A-4147-A177-3AD203B41FA5}">
                      <a16:colId xmlns:a16="http://schemas.microsoft.com/office/drawing/2014/main" val="1167782694"/>
                    </a:ext>
                  </a:extLst>
                </a:gridCol>
                <a:gridCol w="324898">
                  <a:extLst>
                    <a:ext uri="{9D8B030D-6E8A-4147-A177-3AD203B41FA5}">
                      <a16:colId xmlns:a16="http://schemas.microsoft.com/office/drawing/2014/main" val="1120441159"/>
                    </a:ext>
                  </a:extLst>
                </a:gridCol>
                <a:gridCol w="649794">
                  <a:extLst>
                    <a:ext uri="{9D8B030D-6E8A-4147-A177-3AD203B41FA5}">
                      <a16:colId xmlns:a16="http://schemas.microsoft.com/office/drawing/2014/main" val="817865963"/>
                    </a:ext>
                  </a:extLst>
                </a:gridCol>
              </a:tblGrid>
              <a:tr h="333922">
                <a:tc>
                  <a:txBody>
                    <a:bodyPr/>
                    <a:lstStyle/>
                    <a:p>
                      <a:pPr algn="l">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31</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12</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11</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7184839"/>
                  </a:ext>
                </a:extLst>
              </a:tr>
              <a:tr h="319480">
                <a:tc gridSpan="13">
                  <a:txBody>
                    <a:bodyPr/>
                    <a:lstStyle/>
                    <a:p>
                      <a:pPr algn="ctr">
                        <a:lnSpc>
                          <a:spcPct val="85000"/>
                        </a:lnSpc>
                      </a:pPr>
                      <a:r>
                        <a:rPr lang="en-US" sz="1700" b="1" i="0" strike="noStrike" dirty="0" err="1">
                          <a:solidFill>
                            <a:schemeClr val="accent3"/>
                          </a:solidFill>
                          <a:latin typeface="Courier New" panose="02070309020205020404" pitchFamily="49" charset="0"/>
                          <a:cs typeface="Courier New" panose="02070309020205020404" pitchFamily="49" charset="0"/>
                        </a:rPr>
                        <a:t>imm</a:t>
                      </a:r>
                      <a:r>
                        <a:rPr lang="en-US" sz="1700" b="1" i="0" strike="noStrike" dirty="0">
                          <a:solidFill>
                            <a:schemeClr val="accent3"/>
                          </a:solidFill>
                          <a:latin typeface="Courier New" panose="02070309020205020404" pitchFamily="49" charset="0"/>
                          <a:cs typeface="Courier New" panose="02070309020205020404" pitchFamily="49" charset="0"/>
                        </a:rPr>
                        <a:t>[31:12]</a:t>
                      </a: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dirty="0">
                        <a:solidFill>
                          <a:schemeClr val="accent5"/>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8">
                  <a:txBody>
                    <a:bodyPr/>
                    <a:lstStyle/>
                    <a:p>
                      <a:pPr algn="ctr">
                        <a:lnSpc>
                          <a:spcPct val="85000"/>
                        </a:lnSpc>
                      </a:pPr>
                      <a:r>
                        <a:rPr lang="en-US" sz="1600" b="1" dirty="0" err="1">
                          <a:solidFill>
                            <a:schemeClr val="accent5"/>
                          </a:solidFill>
                          <a:latin typeface="Courier New" panose="02070309020205020404" pitchFamily="49" charset="0"/>
                          <a:cs typeface="Courier New" panose="02070309020205020404" pitchFamily="49" charset="0"/>
                        </a:rPr>
                        <a:t>imm</a:t>
                      </a:r>
                      <a:r>
                        <a:rPr lang="en-US" sz="1600" b="1" dirty="0">
                          <a:solidFill>
                            <a:schemeClr val="accent5"/>
                          </a:solidFill>
                          <a:latin typeface="Courier New" panose="02070309020205020404" pitchFamily="49" charset="0"/>
                          <a:cs typeface="Courier New" panose="02070309020205020404" pitchFamily="49" charset="0"/>
                        </a:rPr>
                        <a:t>[11:0]</a:t>
                      </a: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224863322"/>
                  </a:ext>
                </a:extLst>
              </a:tr>
              <a:tr h="319480">
                <a:tc gridSpan="13">
                  <a:txBody>
                    <a:bodyPr/>
                    <a:lstStyle/>
                    <a:p>
                      <a:pPr algn="ctr">
                        <a:lnSpc>
                          <a:spcPct val="85000"/>
                        </a:lnSpc>
                      </a:pP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endParaRPr lang="en-US" sz="2800" b="1" i="0" strike="noStrike"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dirty="0">
                        <a:solidFill>
                          <a:schemeClr val="accent6"/>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8">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2800" b="1" i="0" strike="noStrike" dirty="0">
                          <a:solidFill>
                            <a:schemeClr val="accent3"/>
                          </a:solidFill>
                          <a:latin typeface="Courier New" panose="02070309020205020404" pitchFamily="49" charset="0"/>
                          <a:cs typeface="Courier New" panose="02070309020205020404" pitchFamily="49" charset="0"/>
                        </a:rPr>
                        <a:t>s</a:t>
                      </a: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 ....</a:t>
                      </a: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 </a:t>
                      </a:r>
                    </a:p>
                  </a:txBody>
                  <a:tcPr>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61282603"/>
                  </a:ext>
                </a:extLst>
              </a:tr>
            </a:tbl>
          </a:graphicData>
        </a:graphic>
      </p:graphicFrame>
      <p:sp>
        <p:nvSpPr>
          <p:cNvPr id="16" name="TextBox 15">
            <a:extLst>
              <a:ext uri="{FF2B5EF4-FFF2-40B4-BE49-F238E27FC236}">
                <a16:creationId xmlns:a16="http://schemas.microsoft.com/office/drawing/2014/main" id="{FED86C77-53E5-D91A-8AC4-09938AC7B66A}"/>
              </a:ext>
            </a:extLst>
          </p:cNvPr>
          <p:cNvSpPr txBox="1"/>
          <p:nvPr/>
        </p:nvSpPr>
        <p:spPr>
          <a:xfrm>
            <a:off x="2809188" y="3117383"/>
            <a:ext cx="3516198" cy="923330"/>
          </a:xfrm>
          <a:prstGeom prst="rect">
            <a:avLst/>
          </a:prstGeom>
          <a:noFill/>
        </p:spPr>
        <p:txBody>
          <a:bodyPr wrap="square" rtlCol="0">
            <a:spAutoFit/>
          </a:bodyPr>
          <a:lstStyle/>
          <a:p>
            <a:r>
              <a:rPr lang="en-US" sz="1800" dirty="0">
                <a:solidFill>
                  <a:schemeClr val="accent2"/>
                </a:solidFill>
                <a:latin typeface="18 VAG Rounded Light   02390" pitchFamily="2" charset="0"/>
                <a:cs typeface="Courier New" panose="02070309020205020404" pitchFamily="49" charset="0"/>
              </a:rPr>
              <a:t>Copy </a:t>
            </a:r>
            <a:r>
              <a:rPr lang="en-US" sz="1800" i="1" dirty="0">
                <a:solidFill>
                  <a:schemeClr val="accent2"/>
                </a:solidFill>
                <a:latin typeface="18 VAG Rounded Light   02390" pitchFamily="2" charset="0"/>
                <a:cs typeface="Courier New" panose="02070309020205020404" pitchFamily="49" charset="0"/>
              </a:rPr>
              <a:t>upper</a:t>
            </a:r>
            <a:r>
              <a:rPr lang="en-US" sz="1800" dirty="0">
                <a:solidFill>
                  <a:schemeClr val="accent2"/>
                </a:solidFill>
                <a:latin typeface="18 VAG Rounded Light   02390" pitchFamily="2" charset="0"/>
                <a:cs typeface="Courier New" panose="02070309020205020404" pitchFamily="49" charset="0"/>
              </a:rPr>
              <a:t> 12 bits of instruction,</a:t>
            </a:r>
            <a:r>
              <a:rPr kumimoji="0" lang="en-US" sz="1800" u="none" strike="noStrike" kern="1200" cap="none" spc="0" normalizeH="0" baseline="0" noProof="0" dirty="0">
                <a:ln>
                  <a:noFill/>
                </a:ln>
                <a:solidFill>
                  <a:schemeClr val="accent2"/>
                </a:solidFill>
                <a:effectLst/>
                <a:uLnTx/>
                <a:uFillTx/>
                <a:latin typeface="18 VAG Rounded Light   02390" pitchFamily="2" charset="0"/>
                <a:cs typeface="Courier New" panose="02070309020205020404" pitchFamily="49" charset="0"/>
              </a:rPr>
              <a:t> </a:t>
            </a:r>
            <a:r>
              <a:rPr kumimoji="0" lang="en-US" sz="1800" b="1"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800" b="1"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[31:20]</a:t>
            </a:r>
            <a:r>
              <a:rPr lang="en-US" sz="1800" dirty="0">
                <a:solidFill>
                  <a:schemeClr val="accent2"/>
                </a:solidFill>
                <a:latin typeface="18 VAG Rounded Light   02390" pitchFamily="2" charset="0"/>
                <a:cs typeface="Courier New" panose="02070309020205020404" pitchFamily="49" charset="0"/>
              </a:rPr>
              <a:t>, to </a:t>
            </a:r>
            <a:r>
              <a:rPr lang="en-US" sz="1800" i="1" dirty="0">
                <a:solidFill>
                  <a:schemeClr val="accent2"/>
                </a:solidFill>
                <a:latin typeface="18 VAG Rounded Light   02390" pitchFamily="2" charset="0"/>
                <a:cs typeface="Courier New" panose="02070309020205020404" pitchFamily="49" charset="0"/>
              </a:rPr>
              <a:t>lower</a:t>
            </a:r>
            <a:r>
              <a:rPr lang="en-US" sz="1800" dirty="0">
                <a:solidFill>
                  <a:schemeClr val="accent2"/>
                </a:solidFill>
                <a:latin typeface="18 VAG Rounded Light   02390" pitchFamily="2" charset="0"/>
                <a:cs typeface="Courier New" panose="02070309020205020404" pitchFamily="49" charset="0"/>
              </a:rPr>
              <a:t> 12 bits of immediate, </a:t>
            </a:r>
            <a:r>
              <a:rPr lang="en-US" sz="1800" b="1" dirty="0" err="1">
                <a:solidFill>
                  <a:schemeClr val="accent5"/>
                </a:solidFill>
                <a:latin typeface="Courier New" panose="02070309020205020404" pitchFamily="49" charset="0"/>
                <a:cs typeface="Courier New" panose="02070309020205020404" pitchFamily="49" charset="0"/>
              </a:rPr>
              <a:t>imm</a:t>
            </a:r>
            <a:r>
              <a:rPr lang="en-US" sz="1800" b="1" dirty="0">
                <a:solidFill>
                  <a:schemeClr val="accent5"/>
                </a:solidFill>
                <a:latin typeface="Courier New" panose="02070309020205020404" pitchFamily="49" charset="0"/>
                <a:cs typeface="Courier New" panose="02070309020205020404" pitchFamily="49" charset="0"/>
              </a:rPr>
              <a:t>[11:0]</a:t>
            </a:r>
            <a:r>
              <a:rPr lang="en-US" sz="1800" dirty="0">
                <a:solidFill>
                  <a:schemeClr val="accent2"/>
                </a:solidFill>
                <a:latin typeface="18 VAG Rounded Light   02390" pitchFamily="2" charset="0"/>
                <a:cs typeface="Courier New" panose="02070309020205020404" pitchFamily="49" charset="0"/>
              </a:rPr>
              <a:t>.</a:t>
            </a:r>
            <a:endParaRPr lang="en-US" sz="1800" b="1" dirty="0">
              <a:solidFill>
                <a:schemeClr val="accent2"/>
              </a:solidFill>
              <a:latin typeface="Courier New" panose="02070309020205020404" pitchFamily="49" charset="0"/>
              <a:cs typeface="Courier New" panose="02070309020205020404" pitchFamily="49" charset="0"/>
            </a:endParaRPr>
          </a:p>
        </p:txBody>
      </p:sp>
      <p:sp>
        <p:nvSpPr>
          <p:cNvPr id="17" name="TextBox 16">
            <a:extLst>
              <a:ext uri="{FF2B5EF4-FFF2-40B4-BE49-F238E27FC236}">
                <a16:creationId xmlns:a16="http://schemas.microsoft.com/office/drawing/2014/main" id="{45A6FCAB-DA71-CF8D-D303-454655B25501}"/>
              </a:ext>
            </a:extLst>
          </p:cNvPr>
          <p:cNvSpPr txBox="1"/>
          <p:nvPr/>
        </p:nvSpPr>
        <p:spPr>
          <a:xfrm>
            <a:off x="99309" y="4268624"/>
            <a:ext cx="2011181" cy="764825"/>
          </a:xfrm>
          <a:prstGeom prst="rect">
            <a:avLst/>
          </a:prstGeom>
          <a:noFill/>
        </p:spPr>
        <p:txBody>
          <a:bodyPr wrap="square" rtlCol="0">
            <a:spAutoFit/>
          </a:bodyPr>
          <a:lstStyle/>
          <a:p>
            <a:pPr>
              <a:lnSpc>
                <a:spcPct val="90000"/>
              </a:lnSpc>
            </a:pPr>
            <a:r>
              <a:rPr lang="en-US" sz="2800" b="1" dirty="0">
                <a:solidFill>
                  <a:schemeClr val="bg1">
                    <a:alpha val="99000"/>
                  </a:schemeClr>
                </a:solidFill>
                <a:latin typeface="18 VAG Rounded Bold   07390" pitchFamily="2" charset="0"/>
              </a:rPr>
              <a:t>Immediate </a:t>
            </a:r>
            <a:r>
              <a:rPr lang="en-US" sz="2000" b="1" dirty="0" err="1">
                <a:solidFill>
                  <a:schemeClr val="bg1"/>
                </a:solidFill>
                <a:latin typeface="Courier New" panose="02070309020205020404" pitchFamily="49" charset="0"/>
                <a:cs typeface="Courier New" panose="02070309020205020404" pitchFamily="49" charset="0"/>
              </a:rPr>
              <a:t>imm</a:t>
            </a:r>
            <a:r>
              <a:rPr lang="en-US" sz="2000" b="1" dirty="0">
                <a:solidFill>
                  <a:schemeClr val="bg1"/>
                </a:solidFill>
                <a:latin typeface="Courier New" panose="02070309020205020404" pitchFamily="49" charset="0"/>
                <a:cs typeface="Courier New" panose="02070309020205020404" pitchFamily="49" charset="0"/>
              </a:rPr>
              <a:t>[31:0]</a:t>
            </a:r>
          </a:p>
        </p:txBody>
      </p:sp>
      <p:sp>
        <p:nvSpPr>
          <p:cNvPr id="18" name="TextBox 17">
            <a:extLst>
              <a:ext uri="{FF2B5EF4-FFF2-40B4-BE49-F238E27FC236}">
                <a16:creationId xmlns:a16="http://schemas.microsoft.com/office/drawing/2014/main" id="{9BA11A81-45E2-5DA6-B92D-7538CE3C7966}"/>
              </a:ext>
            </a:extLst>
          </p:cNvPr>
          <p:cNvSpPr txBox="1"/>
          <p:nvPr/>
        </p:nvSpPr>
        <p:spPr>
          <a:xfrm>
            <a:off x="2192233" y="4395520"/>
            <a:ext cx="4050139" cy="646331"/>
          </a:xfrm>
          <a:prstGeom prst="rect">
            <a:avLst/>
          </a:prstGeom>
          <a:noFill/>
        </p:spPr>
        <p:txBody>
          <a:bodyPr wrap="square" rtlCol="0">
            <a:spAutoFit/>
          </a:bodyPr>
          <a:lstStyle/>
          <a:p>
            <a:r>
              <a:rPr lang="en-US" sz="1800" dirty="0">
                <a:solidFill>
                  <a:schemeClr val="accent2"/>
                </a:solidFill>
                <a:latin typeface="18 VAG Rounded Light   02390" pitchFamily="2" charset="0"/>
                <a:cs typeface="Courier New" panose="02070309020205020404" pitchFamily="49" charset="0"/>
              </a:rPr>
              <a:t>Sign-extend: Copy </a:t>
            </a:r>
            <a:r>
              <a:rPr lang="en-US" sz="1800" b="1" dirty="0" err="1">
                <a:solidFill>
                  <a:schemeClr val="accent3"/>
                </a:solidFill>
                <a:latin typeface="Courier New" panose="02070309020205020404" pitchFamily="49" charset="0"/>
                <a:cs typeface="Courier New" panose="02070309020205020404" pitchFamily="49" charset="0"/>
              </a:rPr>
              <a:t>inst</a:t>
            </a:r>
            <a:r>
              <a:rPr lang="en-US" sz="1800" b="1" dirty="0">
                <a:solidFill>
                  <a:schemeClr val="accent3"/>
                </a:solidFill>
                <a:latin typeface="Courier New" panose="02070309020205020404" pitchFamily="49" charset="0"/>
                <a:cs typeface="Courier New" panose="02070309020205020404" pitchFamily="49" charset="0"/>
              </a:rPr>
              <a:t>[31]</a:t>
            </a:r>
            <a:r>
              <a:rPr lang="en-US" sz="1800" dirty="0">
                <a:solidFill>
                  <a:schemeClr val="accent3"/>
                </a:solidFill>
                <a:latin typeface="18 VAG Rounded Light   02390" pitchFamily="2" charset="0"/>
                <a:cs typeface="Courier New" panose="02070309020205020404" pitchFamily="49" charset="0"/>
              </a:rPr>
              <a:t> </a:t>
            </a:r>
            <a:r>
              <a:rPr lang="en-US" sz="1800" dirty="0">
                <a:solidFill>
                  <a:schemeClr val="accent2"/>
                </a:solidFill>
                <a:latin typeface="18 VAG Rounded Light   02390" pitchFamily="2" charset="0"/>
                <a:cs typeface="Courier New" panose="02070309020205020404" pitchFamily="49" charset="0"/>
              </a:rPr>
              <a:t>to upper 20 bits of immediate, </a:t>
            </a:r>
            <a:r>
              <a:rPr lang="en-US" sz="1800" b="1" dirty="0" err="1">
                <a:solidFill>
                  <a:schemeClr val="accent3"/>
                </a:solidFill>
                <a:latin typeface="Courier New" panose="02070309020205020404" pitchFamily="49" charset="0"/>
                <a:cs typeface="Courier New" panose="02070309020205020404" pitchFamily="49" charset="0"/>
              </a:rPr>
              <a:t>imm</a:t>
            </a:r>
            <a:r>
              <a:rPr lang="en-US" sz="1800" b="1" dirty="0">
                <a:solidFill>
                  <a:schemeClr val="accent3"/>
                </a:solidFill>
                <a:latin typeface="Courier New" panose="02070309020205020404" pitchFamily="49" charset="0"/>
                <a:cs typeface="Courier New" panose="02070309020205020404" pitchFamily="49" charset="0"/>
              </a:rPr>
              <a:t>[31:12]</a:t>
            </a:r>
            <a:r>
              <a:rPr lang="en-US" sz="1800" dirty="0">
                <a:solidFill>
                  <a:schemeClr val="accent2"/>
                </a:solidFill>
                <a:latin typeface="18 VAG Rounded Light   02390" pitchFamily="2" charset="0"/>
                <a:cs typeface="Courier New" panose="02070309020205020404" pitchFamily="49" charset="0"/>
              </a:rPr>
              <a:t>.</a:t>
            </a:r>
            <a:endParaRPr lang="en-US" sz="1800" b="1" dirty="0">
              <a:solidFill>
                <a:schemeClr val="accent2"/>
              </a:solidFill>
              <a:latin typeface="Courier New" panose="02070309020205020404" pitchFamily="49" charset="0"/>
              <a:cs typeface="Courier New" panose="02070309020205020404" pitchFamily="49" charset="0"/>
            </a:endParaRPr>
          </a:p>
        </p:txBody>
      </p:sp>
      <p:sp>
        <p:nvSpPr>
          <p:cNvPr id="49" name="Triangle 48">
            <a:extLst>
              <a:ext uri="{FF2B5EF4-FFF2-40B4-BE49-F238E27FC236}">
                <a16:creationId xmlns:a16="http://schemas.microsoft.com/office/drawing/2014/main" id="{BEBC099A-0F93-5BB7-34DE-B77FC7DD6D9E}"/>
              </a:ext>
            </a:extLst>
          </p:cNvPr>
          <p:cNvSpPr/>
          <p:nvPr/>
        </p:nvSpPr>
        <p:spPr>
          <a:xfrm>
            <a:off x="1164209" y="5030451"/>
            <a:ext cx="6330099" cy="400001"/>
          </a:xfrm>
          <a:prstGeom prst="triangle">
            <a:avLst>
              <a:gd name="adj" fmla="val 15551"/>
            </a:avLst>
          </a:prstGeom>
          <a:solidFill>
            <a:schemeClr val="accent3">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cxnSp>
        <p:nvCxnSpPr>
          <p:cNvPr id="52" name="Curved Connector 51">
            <a:extLst>
              <a:ext uri="{FF2B5EF4-FFF2-40B4-BE49-F238E27FC236}">
                <a16:creationId xmlns:a16="http://schemas.microsoft.com/office/drawing/2014/main" id="{1512D860-A7DE-CA47-62E9-EF6C25AB4612}"/>
              </a:ext>
            </a:extLst>
          </p:cNvPr>
          <p:cNvCxnSpPr>
            <a:cxnSpLocks/>
            <a:endCxn id="49" idx="0"/>
          </p:cNvCxnSpPr>
          <p:nvPr/>
        </p:nvCxnSpPr>
        <p:spPr>
          <a:xfrm rot="16200000" flipH="1">
            <a:off x="737271" y="3619119"/>
            <a:ext cx="2045662" cy="777002"/>
          </a:xfrm>
          <a:prstGeom prst="curvedConnector3">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89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10" grpId="0"/>
      <p:bldP spid="16" grpId="0"/>
      <p:bldP spid="17" grpId="0"/>
      <p:bldP spid="18" grpId="0"/>
      <p:bldP spid="4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A3C056A-244B-C634-9865-B6F76175BEFD}"/>
              </a:ext>
            </a:extLst>
          </p:cNvPr>
          <p:cNvGraphicFramePr>
            <a:graphicFrameLocks noGrp="1"/>
          </p:cNvGraphicFramePr>
          <p:nvPr/>
        </p:nvGraphicFramePr>
        <p:xfrm>
          <a:off x="980634" y="5114759"/>
          <a:ext cx="10558708" cy="1169836"/>
        </p:xfrm>
        <a:graphic>
          <a:graphicData uri="http://schemas.openxmlformats.org/drawingml/2006/table">
            <a:tbl>
              <a:tblPr>
                <a:tableStyleId>{5C22544A-7EE6-4342-B048-85BDC9FD1C3A}</a:tableStyleId>
              </a:tblPr>
              <a:tblGrid>
                <a:gridCol w="659919">
                  <a:extLst>
                    <a:ext uri="{9D8B030D-6E8A-4147-A177-3AD203B41FA5}">
                      <a16:colId xmlns:a16="http://schemas.microsoft.com/office/drawing/2014/main" val="1234193345"/>
                    </a:ext>
                  </a:extLst>
                </a:gridCol>
                <a:gridCol w="329960">
                  <a:extLst>
                    <a:ext uri="{9D8B030D-6E8A-4147-A177-3AD203B41FA5}">
                      <a16:colId xmlns:a16="http://schemas.microsoft.com/office/drawing/2014/main" val="980994493"/>
                    </a:ext>
                  </a:extLst>
                </a:gridCol>
                <a:gridCol w="329960">
                  <a:extLst>
                    <a:ext uri="{9D8B030D-6E8A-4147-A177-3AD203B41FA5}">
                      <a16:colId xmlns:a16="http://schemas.microsoft.com/office/drawing/2014/main" val="2263478802"/>
                    </a:ext>
                  </a:extLst>
                </a:gridCol>
                <a:gridCol w="329960">
                  <a:extLst>
                    <a:ext uri="{9D8B030D-6E8A-4147-A177-3AD203B41FA5}">
                      <a16:colId xmlns:a16="http://schemas.microsoft.com/office/drawing/2014/main" val="1706986663"/>
                    </a:ext>
                  </a:extLst>
                </a:gridCol>
                <a:gridCol w="659919">
                  <a:extLst>
                    <a:ext uri="{9D8B030D-6E8A-4147-A177-3AD203B41FA5}">
                      <a16:colId xmlns:a16="http://schemas.microsoft.com/office/drawing/2014/main" val="3137204920"/>
                    </a:ext>
                  </a:extLst>
                </a:gridCol>
                <a:gridCol w="659919">
                  <a:extLst>
                    <a:ext uri="{9D8B030D-6E8A-4147-A177-3AD203B41FA5}">
                      <a16:colId xmlns:a16="http://schemas.microsoft.com/office/drawing/2014/main" val="2664459051"/>
                    </a:ext>
                  </a:extLst>
                </a:gridCol>
                <a:gridCol w="329960">
                  <a:extLst>
                    <a:ext uri="{9D8B030D-6E8A-4147-A177-3AD203B41FA5}">
                      <a16:colId xmlns:a16="http://schemas.microsoft.com/office/drawing/2014/main" val="3204545504"/>
                    </a:ext>
                  </a:extLst>
                </a:gridCol>
                <a:gridCol w="659919">
                  <a:extLst>
                    <a:ext uri="{9D8B030D-6E8A-4147-A177-3AD203B41FA5}">
                      <a16:colId xmlns:a16="http://schemas.microsoft.com/office/drawing/2014/main" val="3785885317"/>
                    </a:ext>
                  </a:extLst>
                </a:gridCol>
                <a:gridCol w="659919">
                  <a:extLst>
                    <a:ext uri="{9D8B030D-6E8A-4147-A177-3AD203B41FA5}">
                      <a16:colId xmlns:a16="http://schemas.microsoft.com/office/drawing/2014/main" val="1754441276"/>
                    </a:ext>
                  </a:extLst>
                </a:gridCol>
                <a:gridCol w="329960">
                  <a:extLst>
                    <a:ext uri="{9D8B030D-6E8A-4147-A177-3AD203B41FA5}">
                      <a16:colId xmlns:a16="http://schemas.microsoft.com/office/drawing/2014/main" val="278709197"/>
                    </a:ext>
                  </a:extLst>
                </a:gridCol>
                <a:gridCol w="287532">
                  <a:extLst>
                    <a:ext uri="{9D8B030D-6E8A-4147-A177-3AD203B41FA5}">
                      <a16:colId xmlns:a16="http://schemas.microsoft.com/office/drawing/2014/main" val="563745743"/>
                    </a:ext>
                  </a:extLst>
                </a:gridCol>
                <a:gridCol w="288912">
                  <a:extLst>
                    <a:ext uri="{9D8B030D-6E8A-4147-A177-3AD203B41FA5}">
                      <a16:colId xmlns:a16="http://schemas.microsoft.com/office/drawing/2014/main" val="2795341024"/>
                    </a:ext>
                  </a:extLst>
                </a:gridCol>
                <a:gridCol w="1000751">
                  <a:extLst>
                    <a:ext uri="{9D8B030D-6E8A-4147-A177-3AD203B41FA5}">
                      <a16:colId xmlns:a16="http://schemas.microsoft.com/office/drawing/2014/main" val="3479140522"/>
                    </a:ext>
                  </a:extLst>
                </a:gridCol>
                <a:gridCol w="552694">
                  <a:extLst>
                    <a:ext uri="{9D8B030D-6E8A-4147-A177-3AD203B41FA5}">
                      <a16:colId xmlns:a16="http://schemas.microsoft.com/office/drawing/2014/main" val="562483255"/>
                    </a:ext>
                  </a:extLst>
                </a:gridCol>
                <a:gridCol w="509789">
                  <a:extLst>
                    <a:ext uri="{9D8B030D-6E8A-4147-A177-3AD203B41FA5}">
                      <a16:colId xmlns:a16="http://schemas.microsoft.com/office/drawing/2014/main" val="123098747"/>
                    </a:ext>
                  </a:extLst>
                </a:gridCol>
                <a:gridCol w="659919">
                  <a:extLst>
                    <a:ext uri="{9D8B030D-6E8A-4147-A177-3AD203B41FA5}">
                      <a16:colId xmlns:a16="http://schemas.microsoft.com/office/drawing/2014/main" val="669064248"/>
                    </a:ext>
                  </a:extLst>
                </a:gridCol>
                <a:gridCol w="650926">
                  <a:extLst>
                    <a:ext uri="{9D8B030D-6E8A-4147-A177-3AD203B41FA5}">
                      <a16:colId xmlns:a16="http://schemas.microsoft.com/office/drawing/2014/main" val="1072157940"/>
                    </a:ext>
                  </a:extLst>
                </a:gridCol>
                <a:gridCol w="338953">
                  <a:extLst>
                    <a:ext uri="{9D8B030D-6E8A-4147-A177-3AD203B41FA5}">
                      <a16:colId xmlns:a16="http://schemas.microsoft.com/office/drawing/2014/main" val="4104681057"/>
                    </a:ext>
                  </a:extLst>
                </a:gridCol>
                <a:gridCol w="329960">
                  <a:extLst>
                    <a:ext uri="{9D8B030D-6E8A-4147-A177-3AD203B41FA5}">
                      <a16:colId xmlns:a16="http://schemas.microsoft.com/office/drawing/2014/main" val="1167782694"/>
                    </a:ext>
                  </a:extLst>
                </a:gridCol>
                <a:gridCol w="329960">
                  <a:extLst>
                    <a:ext uri="{9D8B030D-6E8A-4147-A177-3AD203B41FA5}">
                      <a16:colId xmlns:a16="http://schemas.microsoft.com/office/drawing/2014/main" val="1120441159"/>
                    </a:ext>
                  </a:extLst>
                </a:gridCol>
                <a:gridCol w="659917">
                  <a:extLst>
                    <a:ext uri="{9D8B030D-6E8A-4147-A177-3AD203B41FA5}">
                      <a16:colId xmlns:a16="http://schemas.microsoft.com/office/drawing/2014/main" val="817865963"/>
                    </a:ext>
                  </a:extLst>
                </a:gridCol>
              </a:tblGrid>
              <a:tr h="333922">
                <a:tc>
                  <a:txBody>
                    <a:bodyPr/>
                    <a:lstStyle/>
                    <a:p>
                      <a:pPr algn="l">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31</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12</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10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7184839"/>
                  </a:ext>
                </a:extLst>
              </a:tr>
              <a:tr h="319480">
                <a:tc gridSpan="13">
                  <a:txBody>
                    <a:bodyPr/>
                    <a:lstStyle/>
                    <a:p>
                      <a:pPr algn="ctr">
                        <a:lnSpc>
                          <a:spcPct val="85000"/>
                        </a:lnSpc>
                      </a:pPr>
                      <a:r>
                        <a:rPr lang="en-US" sz="1700" b="1" i="0" strike="noStrike" dirty="0" err="1">
                          <a:solidFill>
                            <a:schemeClr val="tx1">
                              <a:lumMod val="50000"/>
                              <a:lumOff val="50000"/>
                            </a:schemeClr>
                          </a:solidFill>
                          <a:latin typeface="Courier New" panose="02070309020205020404" pitchFamily="49" charset="0"/>
                          <a:cs typeface="Courier New" panose="02070309020205020404" pitchFamily="49" charset="0"/>
                        </a:rPr>
                        <a:t>imm</a:t>
                      </a: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[31:12]</a:t>
                      </a: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dirty="0">
                        <a:solidFill>
                          <a:schemeClr val="accent5"/>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dirty="0" err="1">
                          <a:solidFill>
                            <a:schemeClr val="tx1">
                              <a:lumMod val="50000"/>
                              <a:lumOff val="50000"/>
                            </a:schemeClr>
                          </a:solidFill>
                          <a:latin typeface="Courier New" panose="02070309020205020404" pitchFamily="49" charset="0"/>
                          <a:cs typeface="Courier New" panose="02070309020205020404" pitchFamily="49" charset="0"/>
                        </a:rPr>
                        <a:t>imm</a:t>
                      </a:r>
                      <a:r>
                        <a:rPr lang="en-US" sz="1800" b="1" dirty="0">
                          <a:solidFill>
                            <a:schemeClr val="tx1">
                              <a:lumMod val="50000"/>
                              <a:lumOff val="50000"/>
                            </a:schemeClr>
                          </a:solidFill>
                          <a:latin typeface="Courier New" panose="02070309020205020404" pitchFamily="49" charset="0"/>
                          <a:cs typeface="Courier New" panose="02070309020205020404" pitchFamily="49" charset="0"/>
                        </a:rPr>
                        <a:t>[10:5]</a:t>
                      </a:r>
                      <a:endParaRPr lang="en-US" sz="20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i="0" strike="noStrike" dirty="0" err="1">
                          <a:solidFill>
                            <a:schemeClr val="accent1"/>
                          </a:solidFill>
                          <a:latin typeface="Courier New" panose="02070309020205020404" pitchFamily="49" charset="0"/>
                          <a:cs typeface="Courier New" panose="02070309020205020404" pitchFamily="49" charset="0"/>
                        </a:rPr>
                        <a:t>imm</a:t>
                      </a:r>
                      <a:r>
                        <a:rPr lang="en-US" sz="1600" b="1" i="0" strike="noStrike" dirty="0">
                          <a:solidFill>
                            <a:schemeClr val="accent1"/>
                          </a:solidFill>
                          <a:latin typeface="Courier New" panose="02070309020205020404" pitchFamily="49" charset="0"/>
                          <a:cs typeface="Courier New" panose="02070309020205020404" pitchFamily="49" charset="0"/>
                        </a:rPr>
                        <a:t>[4:0]</a:t>
                      </a:r>
                      <a:endParaRPr lang="en-US" sz="1800" b="1" i="0" strike="noStrike" dirty="0">
                        <a:solidFill>
                          <a:schemeClr val="accent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224863322"/>
                  </a:ext>
                </a:extLst>
              </a:tr>
              <a:tr h="319480">
                <a:tc gridSpan="13">
                  <a:txBody>
                    <a:bodyPr/>
                    <a:lstStyle/>
                    <a:p>
                      <a:pPr algn="ctr">
                        <a:lnSpc>
                          <a:spcPct val="85000"/>
                        </a:lnSpc>
                      </a:pPr>
                      <a:r>
                        <a:rPr lang="en-US" sz="2800" b="1" i="0" strike="noStrike" dirty="0" err="1">
                          <a:solidFill>
                            <a:schemeClr val="tx1">
                              <a:lumMod val="50000"/>
                              <a:lumOff val="50000"/>
                            </a:schemeClr>
                          </a:solidFill>
                          <a:latin typeface="Courier New" panose="02070309020205020404" pitchFamily="49" charset="0"/>
                          <a:cs typeface="Courier New" panose="02070309020205020404" pitchFamily="49" charset="0"/>
                        </a:rPr>
                        <a:t>ssss</a:t>
                      </a: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 </a:t>
                      </a:r>
                      <a:r>
                        <a:rPr lang="en-US" sz="2800" b="1" i="0" strike="noStrike" dirty="0" err="1">
                          <a:solidFill>
                            <a:schemeClr val="tx1">
                              <a:lumMod val="50000"/>
                              <a:lumOff val="50000"/>
                            </a:schemeClr>
                          </a:solidFill>
                          <a:latin typeface="Courier New" panose="02070309020205020404" pitchFamily="49" charset="0"/>
                          <a:cs typeface="Courier New" panose="02070309020205020404" pitchFamily="49" charset="0"/>
                        </a:rPr>
                        <a:t>ssss</a:t>
                      </a: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 </a:t>
                      </a:r>
                      <a:r>
                        <a:rPr lang="en-US" sz="2800" b="1" i="0" strike="noStrike" dirty="0" err="1">
                          <a:solidFill>
                            <a:schemeClr val="tx1">
                              <a:lumMod val="50000"/>
                              <a:lumOff val="50000"/>
                            </a:schemeClr>
                          </a:solidFill>
                          <a:latin typeface="Courier New" panose="02070309020205020404" pitchFamily="49" charset="0"/>
                          <a:cs typeface="Courier New" panose="02070309020205020404" pitchFamily="49" charset="0"/>
                        </a:rPr>
                        <a:t>ssss</a:t>
                      </a: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 </a:t>
                      </a:r>
                      <a:r>
                        <a:rPr lang="en-US" sz="2800" b="1" i="0" strike="noStrike" dirty="0" err="1">
                          <a:solidFill>
                            <a:schemeClr val="tx1">
                              <a:lumMod val="50000"/>
                              <a:lumOff val="50000"/>
                            </a:schemeClr>
                          </a:solidFill>
                          <a:latin typeface="Courier New" panose="02070309020205020404" pitchFamily="49" charset="0"/>
                          <a:cs typeface="Courier New" panose="02070309020205020404" pitchFamily="49" charset="0"/>
                        </a:rPr>
                        <a:t>ssss</a:t>
                      </a: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 </a:t>
                      </a:r>
                      <a:r>
                        <a:rPr lang="en-US" sz="2800" b="1" i="0" strike="noStrike" dirty="0" err="1">
                          <a:solidFill>
                            <a:schemeClr val="tx1">
                              <a:lumMod val="50000"/>
                              <a:lumOff val="50000"/>
                            </a:schemeClr>
                          </a:solidFill>
                          <a:latin typeface="Courier New" panose="02070309020205020404" pitchFamily="49" charset="0"/>
                          <a:cs typeface="Courier New" panose="02070309020205020404" pitchFamily="49" charset="0"/>
                        </a:rPr>
                        <a:t>ssss</a:t>
                      </a: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dirty="0">
                        <a:solidFill>
                          <a:schemeClr val="accent6"/>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rPr>
                        <a:t>s</a:t>
                      </a:r>
                    </a:p>
                  </a:txBody>
                  <a:tcPr>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a:t>
                      </a: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28575" cap="flat" cmpd="sng" algn="ctr">
                      <a:solidFill>
                        <a:schemeClr val="bg1"/>
                      </a:solidFill>
                      <a:prstDash val="solid"/>
                      <a:round/>
                      <a:headEnd type="none" w="med" len="med"/>
                      <a:tailEnd type="none" w="med" len="med"/>
                    </a:lnL>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a:lnSpc>
                          <a:spcPct val="85000"/>
                        </a:lnSpc>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a:t>
                      </a:r>
                      <a:endParaRPr lang="en-US"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61282603"/>
                  </a:ext>
                </a:extLst>
              </a:tr>
            </a:tbl>
          </a:graphicData>
        </a:graphic>
      </p:graphicFrame>
      <p:sp>
        <p:nvSpPr>
          <p:cNvPr id="2" name="Title 1">
            <a:extLst>
              <a:ext uri="{FF2B5EF4-FFF2-40B4-BE49-F238E27FC236}">
                <a16:creationId xmlns:a16="http://schemas.microsoft.com/office/drawing/2014/main" id="{6BFFA865-39B1-8F70-0F56-3447AE3231ED}"/>
              </a:ext>
            </a:extLst>
          </p:cNvPr>
          <p:cNvSpPr>
            <a:spLocks noGrp="1"/>
          </p:cNvSpPr>
          <p:nvPr>
            <p:ph type="title"/>
          </p:nvPr>
        </p:nvSpPr>
        <p:spPr>
          <a:xfrm>
            <a:off x="1104900" y="76199"/>
            <a:ext cx="10848287" cy="768096"/>
          </a:xfrm>
        </p:spPr>
        <p:txBody>
          <a:bodyPr>
            <a:normAutofit/>
          </a:bodyPr>
          <a:lstStyle/>
          <a:p>
            <a:r>
              <a:rPr lang="en-US" dirty="0" err="1"/>
              <a:t>Immediates</a:t>
            </a:r>
            <a:r>
              <a:rPr lang="en-US" dirty="0"/>
              <a:t>: I-Type, S-Type</a:t>
            </a:r>
          </a:p>
        </p:txBody>
      </p:sp>
      <p:sp>
        <p:nvSpPr>
          <p:cNvPr id="49" name="Triangle 48">
            <a:extLst>
              <a:ext uri="{FF2B5EF4-FFF2-40B4-BE49-F238E27FC236}">
                <a16:creationId xmlns:a16="http://schemas.microsoft.com/office/drawing/2014/main" id="{BEBC099A-0F93-5BB7-34DE-B77FC7DD6D9E}"/>
              </a:ext>
            </a:extLst>
          </p:cNvPr>
          <p:cNvSpPr/>
          <p:nvPr/>
        </p:nvSpPr>
        <p:spPr>
          <a:xfrm>
            <a:off x="1164209" y="4966119"/>
            <a:ext cx="6330099" cy="464333"/>
          </a:xfrm>
          <a:prstGeom prst="triangle">
            <a:avLst>
              <a:gd name="adj" fmla="val 15551"/>
            </a:avLst>
          </a:prstGeom>
          <a:solidFill>
            <a:schemeClr val="tx1">
              <a:lumMod val="50000"/>
              <a:lumOff val="5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6" name="Right Brace 35">
            <a:extLst>
              <a:ext uri="{FF2B5EF4-FFF2-40B4-BE49-F238E27FC236}">
                <a16:creationId xmlns:a16="http://schemas.microsoft.com/office/drawing/2014/main" id="{4062A4E1-0EA8-5EE9-FCD0-6D8132D44AC7}"/>
              </a:ext>
            </a:extLst>
          </p:cNvPr>
          <p:cNvSpPr/>
          <p:nvPr/>
        </p:nvSpPr>
        <p:spPr>
          <a:xfrm rot="16200000">
            <a:off x="10603195" y="4237179"/>
            <a:ext cx="193490" cy="1609344"/>
          </a:xfrm>
          <a:prstGeom prst="rightBrace">
            <a:avLst>
              <a:gd name="adj1" fmla="val 8333"/>
              <a:gd name="adj2" fmla="val 46233"/>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1" name="Group 10">
            <a:extLst>
              <a:ext uri="{FF2B5EF4-FFF2-40B4-BE49-F238E27FC236}">
                <a16:creationId xmlns:a16="http://schemas.microsoft.com/office/drawing/2014/main" id="{9491A69F-C2EC-1971-5ACC-A3EE8FBF6787}"/>
              </a:ext>
            </a:extLst>
          </p:cNvPr>
          <p:cNvGrpSpPr/>
          <p:nvPr/>
        </p:nvGrpSpPr>
        <p:grpSpPr>
          <a:xfrm>
            <a:off x="9864976" y="3982862"/>
            <a:ext cx="2236869" cy="1084670"/>
            <a:chOff x="9864976" y="3982862"/>
            <a:chExt cx="2236869" cy="1084670"/>
          </a:xfrm>
        </p:grpSpPr>
        <p:sp>
          <p:nvSpPr>
            <p:cNvPr id="24" name="Trapezoid 23">
              <a:extLst>
                <a:ext uri="{FF2B5EF4-FFF2-40B4-BE49-F238E27FC236}">
                  <a16:creationId xmlns:a16="http://schemas.microsoft.com/office/drawing/2014/main" id="{868F7D54-33F3-560A-331F-AC323717782F}"/>
                </a:ext>
              </a:extLst>
            </p:cNvPr>
            <p:cNvSpPr>
              <a:spLocks/>
            </p:cNvSpPr>
            <p:nvPr/>
          </p:nvSpPr>
          <p:spPr>
            <a:xfrm flipV="1">
              <a:off x="9864976" y="3982862"/>
              <a:ext cx="1500770" cy="536029"/>
            </a:xfrm>
            <a:prstGeom prst="trapezoid">
              <a:avLst>
                <a:gd name="adj" fmla="val 64487"/>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pPr>
              <a:endParaRPr lang="en-US" sz="1200" dirty="0">
                <a:solidFill>
                  <a:schemeClr val="bg1"/>
                </a:solidFill>
                <a:latin typeface="Courier New" panose="02070309020205020404" pitchFamily="49" charset="0"/>
                <a:cs typeface="Courier New" panose="02070309020205020404" pitchFamily="49" charset="0"/>
              </a:endParaRPr>
            </a:p>
          </p:txBody>
        </p:sp>
        <p:sp>
          <p:nvSpPr>
            <p:cNvPr id="31" name="TextBox 30">
              <a:extLst>
                <a:ext uri="{FF2B5EF4-FFF2-40B4-BE49-F238E27FC236}">
                  <a16:creationId xmlns:a16="http://schemas.microsoft.com/office/drawing/2014/main" id="{46B0A26D-8DFC-C7EC-286D-15C0CE60E8BF}"/>
                </a:ext>
              </a:extLst>
            </p:cNvPr>
            <p:cNvSpPr txBox="1"/>
            <p:nvPr/>
          </p:nvSpPr>
          <p:spPr>
            <a:xfrm>
              <a:off x="11365746" y="4625596"/>
              <a:ext cx="736099" cy="307777"/>
            </a:xfrm>
            <a:prstGeom prst="rect">
              <a:avLst/>
            </a:prstGeom>
            <a:noFill/>
          </p:spPr>
          <p:txBody>
            <a:bodyPr wrap="none" rtlCol="0">
              <a:spAutoFit/>
            </a:bodyPr>
            <a:lstStyle/>
            <a:p>
              <a:pPr algn="r"/>
              <a:r>
                <a:rPr lang="en-US" sz="1400" dirty="0" err="1">
                  <a:solidFill>
                    <a:schemeClr val="accent3"/>
                  </a:solidFill>
                  <a:latin typeface="18 VAG Rounded Light   02390" pitchFamily="2" charset="0"/>
                </a:rPr>
                <a:t>ImmSel</a:t>
              </a:r>
              <a:endParaRPr lang="en-US" sz="1400" dirty="0">
                <a:solidFill>
                  <a:schemeClr val="accent3"/>
                </a:solidFill>
                <a:latin typeface="18 VAG Rounded Light   02390" pitchFamily="2" charset="0"/>
              </a:endParaRPr>
            </a:p>
          </p:txBody>
        </p:sp>
        <p:sp>
          <p:nvSpPr>
            <p:cNvPr id="35" name="TextBox 34">
              <a:extLst>
                <a:ext uri="{FF2B5EF4-FFF2-40B4-BE49-F238E27FC236}">
                  <a16:creationId xmlns:a16="http://schemas.microsoft.com/office/drawing/2014/main" id="{5AB3E236-52A3-AC5B-BE22-FE878F7E74A5}"/>
                </a:ext>
              </a:extLst>
            </p:cNvPr>
            <p:cNvSpPr txBox="1"/>
            <p:nvPr/>
          </p:nvSpPr>
          <p:spPr>
            <a:xfrm>
              <a:off x="10052417" y="4000280"/>
              <a:ext cx="1106393" cy="461665"/>
            </a:xfrm>
            <a:prstGeom prst="rect">
              <a:avLst/>
            </a:prstGeom>
            <a:noFill/>
          </p:spPr>
          <p:txBody>
            <a:bodyPr wrap="none" rtlCol="0">
              <a:spAutoFit/>
            </a:bodyPr>
            <a:lstStyle/>
            <a:p>
              <a:pPr algn="l"/>
              <a:r>
                <a:rPr lang="en-US" sz="2400" dirty="0">
                  <a:solidFill>
                    <a:schemeClr val="bg1"/>
                  </a:solidFill>
                  <a:latin typeface="Courier New" panose="02070309020205020404" pitchFamily="49" charset="0"/>
                  <a:cs typeface="Courier New" panose="02070309020205020404" pitchFamily="49" charset="0"/>
                </a:rPr>
                <a:t>I   S</a:t>
              </a:r>
            </a:p>
          </p:txBody>
        </p:sp>
        <p:cxnSp>
          <p:nvCxnSpPr>
            <p:cNvPr id="53" name="Straight Connector 52">
              <a:extLst>
                <a:ext uri="{FF2B5EF4-FFF2-40B4-BE49-F238E27FC236}">
                  <a16:creationId xmlns:a16="http://schemas.microsoft.com/office/drawing/2014/main" id="{09B684C3-B5B9-3067-3E1D-0115A2A56D7D}"/>
                </a:ext>
              </a:extLst>
            </p:cNvPr>
            <p:cNvCxnSpPr>
              <a:cxnSpLocks/>
            </p:cNvCxnSpPr>
            <p:nvPr/>
          </p:nvCxnSpPr>
          <p:spPr>
            <a:xfrm flipH="1">
              <a:off x="10543642" y="4624055"/>
              <a:ext cx="177104" cy="220848"/>
            </a:xfrm>
            <a:prstGeom prst="line">
              <a:avLst/>
            </a:prstGeom>
            <a:ln w="381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ACDCB6D-B8D9-08E0-8126-FB415B3F1A8C}"/>
                </a:ext>
              </a:extLst>
            </p:cNvPr>
            <p:cNvSpPr txBox="1"/>
            <p:nvPr/>
          </p:nvSpPr>
          <p:spPr>
            <a:xfrm>
              <a:off x="10692398" y="4543224"/>
              <a:ext cx="349776" cy="461665"/>
            </a:xfrm>
            <a:prstGeom prst="rect">
              <a:avLst/>
            </a:prstGeom>
            <a:noFill/>
          </p:spPr>
          <p:txBody>
            <a:bodyPr wrap="none" rtlCol="0">
              <a:spAutoFit/>
            </a:bodyPr>
            <a:lstStyle/>
            <a:p>
              <a:pPr algn="l"/>
              <a:r>
                <a:rPr lang="en-US" sz="2400" dirty="0">
                  <a:solidFill>
                    <a:schemeClr val="bg1"/>
                  </a:solidFill>
                  <a:latin typeface="18 VAG Rounded Light   02390" pitchFamily="2" charset="0"/>
                </a:rPr>
                <a:t>5</a:t>
              </a:r>
            </a:p>
          </p:txBody>
        </p:sp>
        <p:cxnSp>
          <p:nvCxnSpPr>
            <p:cNvPr id="60" name="Elbow Connector 59">
              <a:extLst>
                <a:ext uri="{FF2B5EF4-FFF2-40B4-BE49-F238E27FC236}">
                  <a16:creationId xmlns:a16="http://schemas.microsoft.com/office/drawing/2014/main" id="{9F84FC1D-A418-30D0-B9E2-042DF3A23553}"/>
                </a:ext>
              </a:extLst>
            </p:cNvPr>
            <p:cNvCxnSpPr>
              <a:cxnSpLocks/>
              <a:stCxn id="31" idx="0"/>
              <a:endCxn id="24" idx="3"/>
            </p:cNvCxnSpPr>
            <p:nvPr/>
          </p:nvCxnSpPr>
          <p:spPr>
            <a:xfrm rot="16200000" flipV="1">
              <a:off x="11275994" y="4167793"/>
              <a:ext cx="374720" cy="540885"/>
            </a:xfrm>
            <a:prstGeom prst="bentConnector2">
              <a:avLst/>
            </a:prstGeom>
            <a:ln w="12700">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5A5E93BA-E1F8-17A6-0042-128FC8ADF750}"/>
                </a:ext>
              </a:extLst>
            </p:cNvPr>
            <p:cNvCxnSpPr>
              <a:cxnSpLocks/>
            </p:cNvCxnSpPr>
            <p:nvPr/>
          </p:nvCxnSpPr>
          <p:spPr>
            <a:xfrm flipH="1">
              <a:off x="10632194" y="4518892"/>
              <a:ext cx="0" cy="54864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0" name="Right Brace 29">
            <a:extLst>
              <a:ext uri="{FF2B5EF4-FFF2-40B4-BE49-F238E27FC236}">
                <a16:creationId xmlns:a16="http://schemas.microsoft.com/office/drawing/2014/main" id="{7CD39328-6723-B027-E918-9D086E2A62E0}"/>
              </a:ext>
            </a:extLst>
          </p:cNvPr>
          <p:cNvSpPr/>
          <p:nvPr/>
        </p:nvSpPr>
        <p:spPr>
          <a:xfrm rot="5400000">
            <a:off x="4101736" y="2103865"/>
            <a:ext cx="193490" cy="1609344"/>
          </a:xfrm>
          <a:prstGeom prst="rightBrace">
            <a:avLst>
              <a:gd name="adj1" fmla="val 8333"/>
              <a:gd name="adj2" fmla="val 50050"/>
            </a:avLst>
          </a:prstGeom>
          <a:ln w="28575">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ight Brace 33">
            <a:extLst>
              <a:ext uri="{FF2B5EF4-FFF2-40B4-BE49-F238E27FC236}">
                <a16:creationId xmlns:a16="http://schemas.microsoft.com/office/drawing/2014/main" id="{318A66BC-27BE-1706-8013-2663872DE4CC}"/>
              </a:ext>
            </a:extLst>
          </p:cNvPr>
          <p:cNvSpPr/>
          <p:nvPr/>
        </p:nvSpPr>
        <p:spPr>
          <a:xfrm rot="5400000">
            <a:off x="8356878" y="2103865"/>
            <a:ext cx="193490" cy="1609344"/>
          </a:xfrm>
          <a:prstGeom prst="rightBrace">
            <a:avLst>
              <a:gd name="adj1" fmla="val 8333"/>
              <a:gd name="adj2" fmla="val 50640"/>
            </a:avLst>
          </a:prstGeom>
          <a:ln w="28575">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10" name="Group 9">
            <a:extLst>
              <a:ext uri="{FF2B5EF4-FFF2-40B4-BE49-F238E27FC236}">
                <a16:creationId xmlns:a16="http://schemas.microsoft.com/office/drawing/2014/main" id="{4D305130-0AAE-DA10-186F-E904E6AF8F7F}"/>
              </a:ext>
            </a:extLst>
          </p:cNvPr>
          <p:cNvGrpSpPr/>
          <p:nvPr/>
        </p:nvGrpSpPr>
        <p:grpSpPr>
          <a:xfrm>
            <a:off x="4198482" y="2906367"/>
            <a:ext cx="7232091" cy="1093911"/>
            <a:chOff x="4198482" y="2906367"/>
            <a:chExt cx="7232091" cy="1093911"/>
          </a:xfrm>
        </p:grpSpPr>
        <p:sp>
          <p:nvSpPr>
            <p:cNvPr id="46" name="TextBox 45">
              <a:extLst>
                <a:ext uri="{FF2B5EF4-FFF2-40B4-BE49-F238E27FC236}">
                  <a16:creationId xmlns:a16="http://schemas.microsoft.com/office/drawing/2014/main" id="{C02B50AA-91A2-423B-3D94-1FE2374F7C73}"/>
                </a:ext>
              </a:extLst>
            </p:cNvPr>
            <p:cNvSpPr txBox="1"/>
            <p:nvPr/>
          </p:nvSpPr>
          <p:spPr>
            <a:xfrm>
              <a:off x="11080797" y="3246490"/>
              <a:ext cx="349776" cy="461665"/>
            </a:xfrm>
            <a:prstGeom prst="rect">
              <a:avLst/>
            </a:prstGeom>
            <a:noFill/>
          </p:spPr>
          <p:txBody>
            <a:bodyPr wrap="none" rtlCol="0">
              <a:spAutoFit/>
            </a:bodyPr>
            <a:lstStyle/>
            <a:p>
              <a:pPr algn="l"/>
              <a:r>
                <a:rPr lang="en-US" sz="2400" dirty="0">
                  <a:solidFill>
                    <a:schemeClr val="accent1"/>
                  </a:solidFill>
                  <a:latin typeface="18 VAG Rounded Light   02390" pitchFamily="2" charset="0"/>
                </a:rPr>
                <a:t>5</a:t>
              </a:r>
            </a:p>
          </p:txBody>
        </p:sp>
        <p:cxnSp>
          <p:nvCxnSpPr>
            <p:cNvPr id="48" name="Elbow Connector 47">
              <a:extLst>
                <a:ext uri="{FF2B5EF4-FFF2-40B4-BE49-F238E27FC236}">
                  <a16:creationId xmlns:a16="http://schemas.microsoft.com/office/drawing/2014/main" id="{4DE0AA22-8B12-E36E-A291-654FA6A03A69}"/>
                </a:ext>
              </a:extLst>
            </p:cNvPr>
            <p:cNvCxnSpPr>
              <a:cxnSpLocks/>
            </p:cNvCxnSpPr>
            <p:nvPr/>
          </p:nvCxnSpPr>
          <p:spPr>
            <a:xfrm rot="16200000" flipH="1">
              <a:off x="6677372" y="427477"/>
              <a:ext cx="1093911" cy="6051691"/>
            </a:xfrm>
            <a:prstGeom prst="bentConnector3">
              <a:avLst>
                <a:gd name="adj1" fmla="val 35059"/>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26AB2835-D7B7-8917-0559-781B33834773}"/>
                </a:ext>
              </a:extLst>
            </p:cNvPr>
            <p:cNvCxnSpPr>
              <a:cxnSpLocks/>
            </p:cNvCxnSpPr>
            <p:nvPr/>
          </p:nvCxnSpPr>
          <p:spPr>
            <a:xfrm rot="16200000" flipH="1">
              <a:off x="9183034" y="2180296"/>
              <a:ext cx="1074987" cy="2549942"/>
            </a:xfrm>
            <a:prstGeom prst="bentConnector3">
              <a:avLst>
                <a:gd name="adj1" fmla="val 13169"/>
              </a:avLst>
            </a:prstGeom>
            <a:ln w="28575">
              <a:solidFill>
                <a:schemeClr val="accent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0C4DA7B-ED3E-3C40-6A38-F82744EF1689}"/>
                </a:ext>
              </a:extLst>
            </p:cNvPr>
            <p:cNvCxnSpPr>
              <a:cxnSpLocks/>
            </p:cNvCxnSpPr>
            <p:nvPr/>
          </p:nvCxnSpPr>
          <p:spPr>
            <a:xfrm flipH="1">
              <a:off x="10188996" y="3395089"/>
              <a:ext cx="177104" cy="220848"/>
            </a:xfrm>
            <a:prstGeom prst="line">
              <a:avLst/>
            </a:prstGeom>
            <a:ln w="381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38C6828-B91D-A853-079D-E78238E10A49}"/>
                </a:ext>
              </a:extLst>
            </p:cNvPr>
            <p:cNvSpPr txBox="1"/>
            <p:nvPr/>
          </p:nvSpPr>
          <p:spPr>
            <a:xfrm>
              <a:off x="9895268" y="3246490"/>
              <a:ext cx="349776" cy="461665"/>
            </a:xfrm>
            <a:prstGeom prst="rect">
              <a:avLst/>
            </a:prstGeom>
            <a:noFill/>
          </p:spPr>
          <p:txBody>
            <a:bodyPr wrap="none" rtlCol="0">
              <a:spAutoFit/>
            </a:bodyPr>
            <a:lstStyle/>
            <a:p>
              <a:pPr algn="l"/>
              <a:r>
                <a:rPr lang="en-US" sz="2400" dirty="0">
                  <a:solidFill>
                    <a:schemeClr val="accent1"/>
                  </a:solidFill>
                  <a:latin typeface="18 VAG Rounded Light   02390" pitchFamily="2" charset="0"/>
                </a:rPr>
                <a:t>5</a:t>
              </a:r>
            </a:p>
          </p:txBody>
        </p:sp>
        <p:cxnSp>
          <p:nvCxnSpPr>
            <p:cNvPr id="44" name="Straight Connector 43">
              <a:extLst>
                <a:ext uri="{FF2B5EF4-FFF2-40B4-BE49-F238E27FC236}">
                  <a16:creationId xmlns:a16="http://schemas.microsoft.com/office/drawing/2014/main" id="{E6B5393B-800C-38D7-624F-739EB5FA54CC}"/>
                </a:ext>
              </a:extLst>
            </p:cNvPr>
            <p:cNvCxnSpPr>
              <a:cxnSpLocks/>
            </p:cNvCxnSpPr>
            <p:nvPr/>
          </p:nvCxnSpPr>
          <p:spPr>
            <a:xfrm flipH="1">
              <a:off x="10914966" y="3395089"/>
              <a:ext cx="177104" cy="220848"/>
            </a:xfrm>
            <a:prstGeom prst="line">
              <a:avLst/>
            </a:prstGeom>
            <a:ln w="381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74" name="TextBox 173">
            <a:extLst>
              <a:ext uri="{FF2B5EF4-FFF2-40B4-BE49-F238E27FC236}">
                <a16:creationId xmlns:a16="http://schemas.microsoft.com/office/drawing/2014/main" id="{A9B8E30E-467B-F79A-3805-DB44A55C03CA}"/>
              </a:ext>
            </a:extLst>
          </p:cNvPr>
          <p:cNvSpPr txBox="1"/>
          <p:nvPr/>
        </p:nvSpPr>
        <p:spPr>
          <a:xfrm>
            <a:off x="1388068" y="6284595"/>
            <a:ext cx="3925243" cy="377026"/>
          </a:xfrm>
          <a:prstGeom prst="rect">
            <a:avLst/>
          </a:prstGeom>
          <a:noFill/>
        </p:spPr>
        <p:txBody>
          <a:bodyPr wrap="square" rtlCol="0">
            <a:spAutoFit/>
          </a:bodyPr>
          <a:lstStyle/>
          <a:p>
            <a:pPr>
              <a:lnSpc>
                <a:spcPct val="90000"/>
              </a:lnSpc>
            </a:pPr>
            <a:r>
              <a:rPr lang="en-US" sz="2000" b="1" dirty="0">
                <a:solidFill>
                  <a:schemeClr val="bg1"/>
                </a:solidFill>
                <a:latin typeface="18 VAG Rounded Bold   07390" pitchFamily="2" charset="0"/>
                <a:cs typeface="Courier New" panose="02070309020205020404" pitchFamily="49" charset="0"/>
              </a:rPr>
              <a:t>Immediate </a:t>
            </a:r>
            <a:r>
              <a:rPr lang="en-US" sz="2000" b="1" dirty="0" err="1">
                <a:solidFill>
                  <a:schemeClr val="bg1"/>
                </a:solidFill>
                <a:latin typeface="Courier New" panose="02070309020205020404" pitchFamily="49" charset="0"/>
                <a:cs typeface="Courier New" panose="02070309020205020404" pitchFamily="49" charset="0"/>
              </a:rPr>
              <a:t>imm</a:t>
            </a:r>
            <a:r>
              <a:rPr lang="en-US" sz="2000" b="1" dirty="0">
                <a:solidFill>
                  <a:schemeClr val="bg1"/>
                </a:solidFill>
                <a:latin typeface="Courier New" panose="02070309020205020404" pitchFamily="49" charset="0"/>
                <a:cs typeface="Courier New" panose="02070309020205020404" pitchFamily="49" charset="0"/>
              </a:rPr>
              <a:t>[31:0]</a:t>
            </a:r>
          </a:p>
        </p:txBody>
      </p:sp>
      <p:sp>
        <p:nvSpPr>
          <p:cNvPr id="175" name="TextBox 174">
            <a:extLst>
              <a:ext uri="{FF2B5EF4-FFF2-40B4-BE49-F238E27FC236}">
                <a16:creationId xmlns:a16="http://schemas.microsoft.com/office/drawing/2014/main" id="{BB8F067C-27FF-6520-2B7C-4DA644B86278}"/>
              </a:ext>
            </a:extLst>
          </p:cNvPr>
          <p:cNvSpPr txBox="1"/>
          <p:nvPr/>
        </p:nvSpPr>
        <p:spPr>
          <a:xfrm>
            <a:off x="126237" y="976809"/>
            <a:ext cx="3925243" cy="377026"/>
          </a:xfrm>
          <a:prstGeom prst="rect">
            <a:avLst/>
          </a:prstGeom>
          <a:noFill/>
        </p:spPr>
        <p:txBody>
          <a:bodyPr wrap="square" rtlCol="0">
            <a:spAutoFit/>
          </a:bodyPr>
          <a:lstStyle/>
          <a:p>
            <a:pPr>
              <a:lnSpc>
                <a:spcPct val="90000"/>
              </a:lnSpc>
            </a:pPr>
            <a:r>
              <a:rPr lang="en-US" sz="2000" b="1" dirty="0">
                <a:solidFill>
                  <a:schemeClr val="bg1"/>
                </a:solidFill>
                <a:latin typeface="18 VAG Rounded Bold   07390" pitchFamily="2" charset="0"/>
                <a:cs typeface="Courier New" panose="02070309020205020404" pitchFamily="49" charset="0"/>
              </a:rPr>
              <a:t>Instruction </a:t>
            </a:r>
            <a:r>
              <a:rPr lang="en-US" sz="2000" b="1" dirty="0" err="1">
                <a:solidFill>
                  <a:schemeClr val="bg1"/>
                </a:solidFill>
                <a:latin typeface="Courier New" panose="02070309020205020404" pitchFamily="49" charset="0"/>
                <a:cs typeface="Courier New" panose="02070309020205020404" pitchFamily="49" charset="0"/>
              </a:rPr>
              <a:t>inst</a:t>
            </a:r>
            <a:r>
              <a:rPr lang="en-US" sz="2000" b="1" dirty="0">
                <a:solidFill>
                  <a:schemeClr val="bg1"/>
                </a:solidFill>
                <a:latin typeface="Courier New" panose="02070309020205020404" pitchFamily="49" charset="0"/>
                <a:cs typeface="Courier New" panose="02070309020205020404" pitchFamily="49" charset="0"/>
              </a:rPr>
              <a:t>[31:0]</a:t>
            </a:r>
          </a:p>
        </p:txBody>
      </p:sp>
      <p:graphicFrame>
        <p:nvGraphicFramePr>
          <p:cNvPr id="176" name="Table 175">
            <a:extLst>
              <a:ext uri="{FF2B5EF4-FFF2-40B4-BE49-F238E27FC236}">
                <a16:creationId xmlns:a16="http://schemas.microsoft.com/office/drawing/2014/main" id="{ECED26F1-FC42-C975-0241-B0984FDA620F}"/>
              </a:ext>
            </a:extLst>
          </p:cNvPr>
          <p:cNvGraphicFramePr>
            <a:graphicFrameLocks noGrp="1"/>
          </p:cNvGraphicFramePr>
          <p:nvPr/>
        </p:nvGraphicFramePr>
        <p:xfrm>
          <a:off x="980634" y="1253162"/>
          <a:ext cx="10523475" cy="1606102"/>
        </p:xfrm>
        <a:graphic>
          <a:graphicData uri="http://schemas.openxmlformats.org/drawingml/2006/table">
            <a:tbl>
              <a:tblPr>
                <a:tableStyleId>{5C22544A-7EE6-4342-B048-85BDC9FD1C3A}</a:tableStyleId>
              </a:tblPr>
              <a:tblGrid>
                <a:gridCol w="429768">
                  <a:extLst>
                    <a:ext uri="{9D8B030D-6E8A-4147-A177-3AD203B41FA5}">
                      <a16:colId xmlns:a16="http://schemas.microsoft.com/office/drawing/2014/main" val="4212028958"/>
                    </a:ext>
                  </a:extLst>
                </a:gridCol>
                <a:gridCol w="551076">
                  <a:extLst>
                    <a:ext uri="{9D8B030D-6E8A-4147-A177-3AD203B41FA5}">
                      <a16:colId xmlns:a16="http://schemas.microsoft.com/office/drawing/2014/main" val="2833146680"/>
                    </a:ext>
                  </a:extLst>
                </a:gridCol>
                <a:gridCol w="324898">
                  <a:extLst>
                    <a:ext uri="{9D8B030D-6E8A-4147-A177-3AD203B41FA5}">
                      <a16:colId xmlns:a16="http://schemas.microsoft.com/office/drawing/2014/main" val="631863871"/>
                    </a:ext>
                  </a:extLst>
                </a:gridCol>
                <a:gridCol w="324898">
                  <a:extLst>
                    <a:ext uri="{9D8B030D-6E8A-4147-A177-3AD203B41FA5}">
                      <a16:colId xmlns:a16="http://schemas.microsoft.com/office/drawing/2014/main" val="804285180"/>
                    </a:ext>
                  </a:extLst>
                </a:gridCol>
                <a:gridCol w="770387">
                  <a:extLst>
                    <a:ext uri="{9D8B030D-6E8A-4147-A177-3AD203B41FA5}">
                      <a16:colId xmlns:a16="http://schemas.microsoft.com/office/drawing/2014/main" val="698615685"/>
                    </a:ext>
                  </a:extLst>
                </a:gridCol>
                <a:gridCol w="649796">
                  <a:extLst>
                    <a:ext uri="{9D8B030D-6E8A-4147-A177-3AD203B41FA5}">
                      <a16:colId xmlns:a16="http://schemas.microsoft.com/office/drawing/2014/main" val="4241661055"/>
                    </a:ext>
                  </a:extLst>
                </a:gridCol>
                <a:gridCol w="324898">
                  <a:extLst>
                    <a:ext uri="{9D8B030D-6E8A-4147-A177-3AD203B41FA5}">
                      <a16:colId xmlns:a16="http://schemas.microsoft.com/office/drawing/2014/main" val="3714859180"/>
                    </a:ext>
                  </a:extLst>
                </a:gridCol>
                <a:gridCol w="649796">
                  <a:extLst>
                    <a:ext uri="{9D8B030D-6E8A-4147-A177-3AD203B41FA5}">
                      <a16:colId xmlns:a16="http://schemas.microsoft.com/office/drawing/2014/main" val="4134962500"/>
                    </a:ext>
                  </a:extLst>
                </a:gridCol>
                <a:gridCol w="649796">
                  <a:extLst>
                    <a:ext uri="{9D8B030D-6E8A-4147-A177-3AD203B41FA5}">
                      <a16:colId xmlns:a16="http://schemas.microsoft.com/office/drawing/2014/main" val="2296042161"/>
                    </a:ext>
                  </a:extLst>
                </a:gridCol>
                <a:gridCol w="324898">
                  <a:extLst>
                    <a:ext uri="{9D8B030D-6E8A-4147-A177-3AD203B41FA5}">
                      <a16:colId xmlns:a16="http://schemas.microsoft.com/office/drawing/2014/main" val="2710756154"/>
                    </a:ext>
                  </a:extLst>
                </a:gridCol>
                <a:gridCol w="649796">
                  <a:extLst>
                    <a:ext uri="{9D8B030D-6E8A-4147-A177-3AD203B41FA5}">
                      <a16:colId xmlns:a16="http://schemas.microsoft.com/office/drawing/2014/main" val="2996484032"/>
                    </a:ext>
                  </a:extLst>
                </a:gridCol>
                <a:gridCol w="487347">
                  <a:extLst>
                    <a:ext uri="{9D8B030D-6E8A-4147-A177-3AD203B41FA5}">
                      <a16:colId xmlns:a16="http://schemas.microsoft.com/office/drawing/2014/main" val="2332033055"/>
                    </a:ext>
                  </a:extLst>
                </a:gridCol>
                <a:gridCol w="487347">
                  <a:extLst>
                    <a:ext uri="{9D8B030D-6E8A-4147-A177-3AD203B41FA5}">
                      <a16:colId xmlns:a16="http://schemas.microsoft.com/office/drawing/2014/main" val="2503431466"/>
                    </a:ext>
                  </a:extLst>
                </a:gridCol>
                <a:gridCol w="649796">
                  <a:extLst>
                    <a:ext uri="{9D8B030D-6E8A-4147-A177-3AD203B41FA5}">
                      <a16:colId xmlns:a16="http://schemas.microsoft.com/office/drawing/2014/main" val="436555696"/>
                    </a:ext>
                  </a:extLst>
                </a:gridCol>
                <a:gridCol w="324898">
                  <a:extLst>
                    <a:ext uri="{9D8B030D-6E8A-4147-A177-3AD203B41FA5}">
                      <a16:colId xmlns:a16="http://schemas.microsoft.com/office/drawing/2014/main" val="768043039"/>
                    </a:ext>
                  </a:extLst>
                </a:gridCol>
                <a:gridCol w="649796">
                  <a:extLst>
                    <a:ext uri="{9D8B030D-6E8A-4147-A177-3AD203B41FA5}">
                      <a16:colId xmlns:a16="http://schemas.microsoft.com/office/drawing/2014/main" val="527131670"/>
                    </a:ext>
                  </a:extLst>
                </a:gridCol>
                <a:gridCol w="649796">
                  <a:extLst>
                    <a:ext uri="{9D8B030D-6E8A-4147-A177-3AD203B41FA5}">
                      <a16:colId xmlns:a16="http://schemas.microsoft.com/office/drawing/2014/main" val="1640519534"/>
                    </a:ext>
                  </a:extLst>
                </a:gridCol>
                <a:gridCol w="324898">
                  <a:extLst>
                    <a:ext uri="{9D8B030D-6E8A-4147-A177-3AD203B41FA5}">
                      <a16:colId xmlns:a16="http://schemas.microsoft.com/office/drawing/2014/main" val="2793670967"/>
                    </a:ext>
                  </a:extLst>
                </a:gridCol>
                <a:gridCol w="324898">
                  <a:extLst>
                    <a:ext uri="{9D8B030D-6E8A-4147-A177-3AD203B41FA5}">
                      <a16:colId xmlns:a16="http://schemas.microsoft.com/office/drawing/2014/main" val="2653031101"/>
                    </a:ext>
                  </a:extLst>
                </a:gridCol>
                <a:gridCol w="324898">
                  <a:extLst>
                    <a:ext uri="{9D8B030D-6E8A-4147-A177-3AD203B41FA5}">
                      <a16:colId xmlns:a16="http://schemas.microsoft.com/office/drawing/2014/main" val="2569721618"/>
                    </a:ext>
                  </a:extLst>
                </a:gridCol>
                <a:gridCol w="649794">
                  <a:extLst>
                    <a:ext uri="{9D8B030D-6E8A-4147-A177-3AD203B41FA5}">
                      <a16:colId xmlns:a16="http://schemas.microsoft.com/office/drawing/2014/main" val="1370911114"/>
                    </a:ext>
                  </a:extLst>
                </a:gridCol>
              </a:tblGrid>
              <a:tr h="307670">
                <a:tc>
                  <a:txBody>
                    <a:bodyPr/>
                    <a:lstStyle/>
                    <a:p>
                      <a:pPr algn="l">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19</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12</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7</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6</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313800"/>
                  </a:ext>
                </a:extLst>
              </a:tr>
              <a:tr h="296109">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[11|10:5]</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[10:0]</a:t>
                      </a:r>
                    </a:p>
                  </a:txBody>
                  <a:tcPr>
                    <a:lnL w="28575" cap="flat" cmpd="sng" algn="ctr">
                      <a:solidFill>
                        <a:schemeClr val="bg1">
                          <a:lumMod val="50000"/>
                        </a:schemeClr>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T w="28575" cap="flat" cmpd="sng" algn="ctr">
                      <a:solidFill>
                        <a:schemeClr val="bg1"/>
                      </a:solidFill>
                      <a:prstDash val="solid"/>
                      <a:round/>
                      <a:headEnd type="none" w="med" len="med"/>
                      <a:tailEnd type="none" w="med" len="med"/>
                    </a:lnT>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dirty="0" err="1">
                          <a:solidFill>
                            <a:schemeClr val="accent1"/>
                          </a:solidFill>
                          <a:latin typeface="Courier New" panose="02070309020205020404" pitchFamily="49" charset="0"/>
                          <a:cs typeface="Courier New" panose="02070309020205020404" pitchFamily="49" charset="0"/>
                        </a:rPr>
                        <a:t>imm</a:t>
                      </a:r>
                      <a:r>
                        <a:rPr lang="en-US" sz="1700" b="1" i="0" dirty="0">
                          <a:solidFill>
                            <a:schemeClr val="accent1"/>
                          </a:solidFill>
                          <a:latin typeface="Courier New" panose="02070309020205020404" pitchFamily="49" charset="0"/>
                          <a:cs typeface="Courier New" panose="02070309020205020404" pitchFamily="49" charset="0"/>
                        </a:rPr>
                        <a:t>[4:0]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funct3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r>
                        <a:rPr lang="en-US" sz="1700" b="1" i="0" strike="noStrike" dirty="0" err="1">
                          <a:solidFill>
                            <a:schemeClr val="tx1">
                              <a:lumMod val="50000"/>
                              <a:lumOff val="50000"/>
                            </a:schemeClr>
                          </a:solidFill>
                          <a:latin typeface="Courier New" panose="02070309020205020404" pitchFamily="49" charset="0"/>
                          <a:cs typeface="Courier New" panose="02070309020205020404" pitchFamily="49" charset="0"/>
                        </a:rPr>
                        <a:t>rd</a:t>
                      </a: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I-OPCODE</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035830993"/>
                  </a:ext>
                </a:extLst>
              </a:tr>
              <a:tr h="296109">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[11|10:5]</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[10:0]</a:t>
                      </a: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dirty="0">
                          <a:solidFill>
                            <a:schemeClr val="tx1">
                              <a:lumMod val="50000"/>
                              <a:lumOff val="50000"/>
                            </a:schemeClr>
                          </a:solidFill>
                          <a:latin typeface="Courier New" panose="02070309020205020404" pitchFamily="49" charset="0"/>
                          <a:cs typeface="Courier New" panose="02070309020205020404" pitchFamily="49" charset="0"/>
                        </a:rPr>
                        <a:t>rs2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funct3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r>
                        <a:rPr lang="en-US" sz="1700" b="1" i="0" strike="noStrike" dirty="0" err="1">
                          <a:solidFill>
                            <a:schemeClr val="accent1"/>
                          </a:solidFill>
                          <a:latin typeface="Courier New" panose="02070309020205020404" pitchFamily="49" charset="0"/>
                          <a:cs typeface="Courier New" panose="02070309020205020404" pitchFamily="49" charset="0"/>
                        </a:rPr>
                        <a:t>imm</a:t>
                      </a:r>
                      <a:r>
                        <a:rPr lang="en-US" sz="1700" b="1" i="0" strike="noStrike" dirty="0">
                          <a:solidFill>
                            <a:schemeClr val="accent1"/>
                          </a:solidFill>
                          <a:latin typeface="Courier New" panose="02070309020205020404" pitchFamily="49" charset="0"/>
                          <a:cs typeface="Courier New" panose="02070309020205020404" pitchFamily="49" charset="0"/>
                        </a:rPr>
                        <a:t>[4:0]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S-OPCODE</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396715159"/>
                  </a:ext>
                </a:extLst>
              </a:tr>
              <a:tr h="134643">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endParaRPr lang="en-US" sz="900" b="1" i="0" dirty="0">
                        <a:solidFill>
                          <a:schemeClr val="accent5"/>
                        </a:solidFill>
                        <a:latin typeface="Courier New" panose="02070309020205020404" pitchFamily="49" charset="0"/>
                        <a:cs typeface="Courier New" panose="02070309020205020404" pitchFamily="49" charset="0"/>
                      </a:endParaRPr>
                    </a:p>
                  </a:txBody>
                  <a:tcPr>
                    <a:lnL w="28575"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85000"/>
                        </a:lnSpc>
                      </a:pPr>
                      <a:endParaRPr lang="en-US" sz="900" b="1" i="0"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algn="ctr">
                        <a:lnSpc>
                          <a:spcPct val="85000"/>
                        </a:lnSpc>
                      </a:pPr>
                      <a:endParaRPr lang="en-US" sz="9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2">
                  <a:txBody>
                    <a:bodyPr/>
                    <a:lstStyle/>
                    <a:p>
                      <a:pPr algn="ctr">
                        <a:lnSpc>
                          <a:spcPct val="85000"/>
                        </a:lnSpc>
                      </a:pPr>
                      <a:endParaRPr lang="en-US" sz="9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3">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endParaRPr lang="en-US" sz="900" b="1" i="0" strike="noStrike" dirty="0">
                        <a:solidFill>
                          <a:schemeClr val="accent5"/>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5">
                  <a:txBody>
                    <a:bodyPr/>
                    <a:lstStyle/>
                    <a:p>
                      <a:pPr algn="ctr">
                        <a:lnSpc>
                          <a:spcPct val="85000"/>
                        </a:lnSpc>
                      </a:pPr>
                      <a:endParaRPr lang="en-US" sz="9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78526701"/>
                  </a:ext>
                </a:extLst>
              </a:tr>
              <a:tr h="433192">
                <a:tc>
                  <a:txBody>
                    <a:bodyPr/>
                    <a:lstStyle/>
                    <a:p>
                      <a:pPr algn="ctr">
                        <a:lnSpc>
                          <a:spcPct val="35000"/>
                        </a:lnSpc>
                      </a:pPr>
                      <a:r>
                        <a:rPr kumimoji="0" lang="en-US" sz="2800" b="1" i="0" u="none" strike="noStrike" kern="1200" cap="none" spc="0" normalizeH="0" baseline="0" noProof="0" dirty="0">
                          <a:ln>
                            <a:noFill/>
                          </a:ln>
                          <a:solidFill>
                            <a:srgbClr val="FEC016"/>
                          </a:solidFill>
                          <a:effectLst/>
                          <a:uLnTx/>
                          <a:uFillTx/>
                          <a:latin typeface="Courier New" panose="02070309020205020404" pitchFamily="49" charset="0"/>
                          <a:ea typeface="+mn-ea"/>
                          <a:cs typeface="Courier New" panose="02070309020205020404" pitchFamily="49" charset="0"/>
                        </a:rPr>
                        <a:t>s</a:t>
                      </a:r>
                      <a:endParaRPr lang="en-US" sz="2800" b="1" i="0" strike="noStrike" dirty="0">
                        <a:solidFill>
                          <a:schemeClr val="bg1"/>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377" rtl="0" eaLnBrk="1" fontAlgn="auto" latinLnBrk="0" hangingPunct="1">
                        <a:lnSpc>
                          <a:spcPct val="35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p>
                  </a:txBody>
                  <a:tcPr anchor="b">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35000"/>
                        </a:lnSpc>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endParaRPr lang="en-US" sz="2800" b="1" i="0" dirty="0">
                        <a:solidFill>
                          <a:schemeClr val="accent6"/>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2">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3">
                  <a:txBody>
                    <a:bodyPr/>
                    <a:lstStyle/>
                    <a:p>
                      <a:pPr marL="0" marR="0" lvl="0" indent="0" algn="ctr" defTabSz="914377" rtl="0" eaLnBrk="1" fontAlgn="auto" latinLnBrk="0" hangingPunct="1">
                        <a:lnSpc>
                          <a:spcPct val="35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5">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0966370"/>
                  </a:ext>
                </a:extLst>
              </a:tr>
            </a:tbl>
          </a:graphicData>
        </a:graphic>
      </p:graphicFrame>
      <p:sp>
        <p:nvSpPr>
          <p:cNvPr id="177" name="TextBox 176">
            <a:extLst>
              <a:ext uri="{FF2B5EF4-FFF2-40B4-BE49-F238E27FC236}">
                <a16:creationId xmlns:a16="http://schemas.microsoft.com/office/drawing/2014/main" id="{4BE1CFC0-56A2-FF7F-1A0F-9711FFF09110}"/>
              </a:ext>
            </a:extLst>
          </p:cNvPr>
          <p:cNvSpPr txBox="1"/>
          <p:nvPr/>
        </p:nvSpPr>
        <p:spPr>
          <a:xfrm>
            <a:off x="186525" y="1519893"/>
            <a:ext cx="830677" cy="400110"/>
          </a:xfrm>
          <a:prstGeom prst="rect">
            <a:avLst/>
          </a:prstGeom>
          <a:noFill/>
        </p:spPr>
        <p:txBody>
          <a:bodyPr wrap="none" rtlCol="0">
            <a:spAutoFit/>
          </a:bodyPr>
          <a:lstStyle/>
          <a:p>
            <a:pPr algn="r"/>
            <a:r>
              <a:rPr lang="en-US" sz="2000" dirty="0">
                <a:solidFill>
                  <a:schemeClr val="accent2"/>
                </a:solidFill>
                <a:latin typeface="18 VAG Rounded Light   02390" pitchFamily="2" charset="0"/>
              </a:rPr>
              <a:t>I-Type</a:t>
            </a:r>
          </a:p>
        </p:txBody>
      </p:sp>
      <p:sp>
        <p:nvSpPr>
          <p:cNvPr id="178" name="TextBox 177">
            <a:extLst>
              <a:ext uri="{FF2B5EF4-FFF2-40B4-BE49-F238E27FC236}">
                <a16:creationId xmlns:a16="http://schemas.microsoft.com/office/drawing/2014/main" id="{ED4A7DA2-8920-E573-6E89-816BE8AE3F8C}"/>
              </a:ext>
            </a:extLst>
          </p:cNvPr>
          <p:cNvSpPr txBox="1"/>
          <p:nvPr/>
        </p:nvSpPr>
        <p:spPr>
          <a:xfrm>
            <a:off x="126237" y="1844662"/>
            <a:ext cx="901208" cy="400110"/>
          </a:xfrm>
          <a:prstGeom prst="rect">
            <a:avLst/>
          </a:prstGeom>
          <a:noFill/>
        </p:spPr>
        <p:txBody>
          <a:bodyPr wrap="none" rtlCol="0">
            <a:spAutoFit/>
          </a:bodyPr>
          <a:lstStyle/>
          <a:p>
            <a:pPr algn="r"/>
            <a:r>
              <a:rPr lang="en-US" sz="2000" dirty="0">
                <a:solidFill>
                  <a:schemeClr val="accent2"/>
                </a:solidFill>
                <a:latin typeface="18 VAG Rounded Light   02390" pitchFamily="2" charset="0"/>
              </a:rPr>
              <a:t>S-Type</a:t>
            </a:r>
          </a:p>
        </p:txBody>
      </p:sp>
      <p:grpSp>
        <p:nvGrpSpPr>
          <p:cNvPr id="26" name="Group 25">
            <a:extLst>
              <a:ext uri="{FF2B5EF4-FFF2-40B4-BE49-F238E27FC236}">
                <a16:creationId xmlns:a16="http://schemas.microsoft.com/office/drawing/2014/main" id="{40B62312-BDAB-16BF-F42A-144451023AE6}"/>
              </a:ext>
            </a:extLst>
          </p:cNvPr>
          <p:cNvGrpSpPr/>
          <p:nvPr/>
        </p:nvGrpSpPr>
        <p:grpSpPr>
          <a:xfrm>
            <a:off x="1429124" y="2811792"/>
            <a:ext cx="8396654" cy="2316767"/>
            <a:chOff x="1429124" y="2811792"/>
            <a:chExt cx="8396654" cy="2316767"/>
          </a:xfrm>
        </p:grpSpPr>
        <p:sp>
          <p:nvSpPr>
            <p:cNvPr id="27" name="Right Brace 26">
              <a:extLst>
                <a:ext uri="{FF2B5EF4-FFF2-40B4-BE49-F238E27FC236}">
                  <a16:creationId xmlns:a16="http://schemas.microsoft.com/office/drawing/2014/main" id="{82AEDAC5-9A25-B531-4E86-72657B1048B5}"/>
                </a:ext>
              </a:extLst>
            </p:cNvPr>
            <p:cNvSpPr/>
            <p:nvPr/>
          </p:nvSpPr>
          <p:spPr>
            <a:xfrm rot="5400000">
              <a:off x="2315337" y="1925579"/>
              <a:ext cx="149139" cy="1921566"/>
            </a:xfrm>
            <a:prstGeom prst="rightBrace">
              <a:avLst>
                <a:gd name="adj1" fmla="val 8333"/>
                <a:gd name="adj2" fmla="val 49637"/>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ight Brace 27">
              <a:extLst>
                <a:ext uri="{FF2B5EF4-FFF2-40B4-BE49-F238E27FC236}">
                  <a16:creationId xmlns:a16="http://schemas.microsoft.com/office/drawing/2014/main" id="{0CF14142-D74A-54B7-2B70-DD4B64711922}"/>
                </a:ext>
              </a:extLst>
            </p:cNvPr>
            <p:cNvSpPr/>
            <p:nvPr/>
          </p:nvSpPr>
          <p:spPr>
            <a:xfrm rot="16200000">
              <a:off x="8891763" y="4194544"/>
              <a:ext cx="162441" cy="1705589"/>
            </a:xfrm>
            <a:prstGeom prst="rightBrace">
              <a:avLst>
                <a:gd name="adj1" fmla="val 8333"/>
                <a:gd name="adj2" fmla="val 50448"/>
              </a:avLst>
            </a:prstGeom>
            <a:ln w="28575">
              <a:solidFill>
                <a:schemeClr val="accent5"/>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E91BDA38-745C-FCF4-DF64-5F33862F094A}"/>
                </a:ext>
              </a:extLst>
            </p:cNvPr>
            <p:cNvCxnSpPr>
              <a:cxnSpLocks/>
            </p:cNvCxnSpPr>
            <p:nvPr/>
          </p:nvCxnSpPr>
          <p:spPr>
            <a:xfrm flipH="1">
              <a:off x="4072328" y="3519432"/>
              <a:ext cx="177104" cy="220848"/>
            </a:xfrm>
            <a:prstGeom prst="line">
              <a:avLst/>
            </a:prstGeom>
            <a:ln w="3810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7C5222A-BD19-1818-300D-29C69A391BB8}"/>
                </a:ext>
              </a:extLst>
            </p:cNvPr>
            <p:cNvSpPr txBox="1"/>
            <p:nvPr/>
          </p:nvSpPr>
          <p:spPr>
            <a:xfrm>
              <a:off x="3836772" y="3225348"/>
              <a:ext cx="349776" cy="461665"/>
            </a:xfrm>
            <a:prstGeom prst="rect">
              <a:avLst/>
            </a:prstGeom>
            <a:noFill/>
          </p:spPr>
          <p:txBody>
            <a:bodyPr wrap="none" rtlCol="0">
              <a:spAutoFit/>
            </a:bodyPr>
            <a:lstStyle/>
            <a:p>
              <a:pPr algn="l"/>
              <a:r>
                <a:rPr lang="en-US" sz="2400" dirty="0">
                  <a:solidFill>
                    <a:schemeClr val="bg1"/>
                  </a:solidFill>
                  <a:latin typeface="18 VAG Rounded Light   02390" pitchFamily="2" charset="0"/>
                </a:rPr>
                <a:t>6</a:t>
              </a:r>
            </a:p>
          </p:txBody>
        </p:sp>
        <p:cxnSp>
          <p:nvCxnSpPr>
            <p:cNvPr id="37" name="Elbow Connector 36">
              <a:extLst>
                <a:ext uri="{FF2B5EF4-FFF2-40B4-BE49-F238E27FC236}">
                  <a16:creationId xmlns:a16="http://schemas.microsoft.com/office/drawing/2014/main" id="{1C347B21-455A-8A31-E81A-93ADA6B20080}"/>
                </a:ext>
              </a:extLst>
            </p:cNvPr>
            <p:cNvCxnSpPr>
              <a:cxnSpLocks/>
            </p:cNvCxnSpPr>
            <p:nvPr/>
          </p:nvCxnSpPr>
          <p:spPr>
            <a:xfrm rot="16200000" flipH="1">
              <a:off x="4672294" y="672550"/>
              <a:ext cx="2040632" cy="6582434"/>
            </a:xfrm>
            <a:prstGeom prst="bentConnector3">
              <a:avLst>
                <a:gd name="adj1" fmla="val 32574"/>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FCA0B733-4DEA-4355-F0C5-460A0D56F69E}"/>
              </a:ext>
            </a:extLst>
          </p:cNvPr>
          <p:cNvGrpSpPr/>
          <p:nvPr/>
        </p:nvGrpSpPr>
        <p:grpSpPr>
          <a:xfrm>
            <a:off x="1175197" y="3043962"/>
            <a:ext cx="6856441" cy="2070797"/>
            <a:chOff x="1175197" y="3043962"/>
            <a:chExt cx="6856441" cy="2070797"/>
          </a:xfrm>
        </p:grpSpPr>
        <p:sp>
          <p:nvSpPr>
            <p:cNvPr id="39" name="TextBox 38">
              <a:extLst>
                <a:ext uri="{FF2B5EF4-FFF2-40B4-BE49-F238E27FC236}">
                  <a16:creationId xmlns:a16="http://schemas.microsoft.com/office/drawing/2014/main" id="{B1B5457C-8F4E-4658-BE01-370F8434A815}"/>
                </a:ext>
              </a:extLst>
            </p:cNvPr>
            <p:cNvSpPr txBox="1"/>
            <p:nvPr/>
          </p:nvSpPr>
          <p:spPr>
            <a:xfrm>
              <a:off x="2633844" y="3955898"/>
              <a:ext cx="3989196" cy="369332"/>
            </a:xfrm>
            <a:prstGeom prst="rect">
              <a:avLst/>
            </a:prstGeom>
            <a:noFill/>
          </p:spPr>
          <p:txBody>
            <a:bodyPr wrap="square" rtlCol="0">
              <a:spAutoFit/>
            </a:bodyPr>
            <a:lstStyle/>
            <a:p>
              <a:pPr algn="ctr"/>
              <a:r>
                <a:rPr lang="en-US" sz="1800" dirty="0">
                  <a:solidFill>
                    <a:schemeClr val="bg1"/>
                  </a:solidFill>
                  <a:latin typeface="18 VAG Rounded Light   02390" pitchFamily="2" charset="0"/>
                  <a:cs typeface="Courier New" panose="02070309020205020404" pitchFamily="49" charset="0"/>
                </a:rPr>
                <a:t>Wire </a:t>
              </a:r>
              <a:r>
                <a:rPr lang="en-US" sz="1800" b="1" dirty="0" err="1">
                  <a:solidFill>
                    <a:schemeClr val="bg1"/>
                  </a:solidFill>
                  <a:latin typeface="Courier New" panose="02070309020205020404" pitchFamily="49" charset="0"/>
                  <a:cs typeface="Courier New" panose="02070309020205020404" pitchFamily="49" charset="0"/>
                </a:rPr>
                <a:t>inst</a:t>
              </a:r>
              <a:r>
                <a:rPr lang="en-US" sz="1800" b="1" dirty="0">
                  <a:solidFill>
                    <a:schemeClr val="bg1"/>
                  </a:solidFill>
                  <a:latin typeface="Courier New" panose="02070309020205020404" pitchFamily="49" charset="0"/>
                  <a:cs typeface="Courier New" panose="02070309020205020404" pitchFamily="49" charset="0"/>
                </a:rPr>
                <a:t>[31]</a:t>
              </a:r>
              <a:r>
                <a:rPr lang="en-US" sz="1800" dirty="0">
                  <a:solidFill>
                    <a:schemeClr val="bg1"/>
                  </a:solidFill>
                  <a:latin typeface="18 VAG Rounded Light   02390" pitchFamily="2" charset="0"/>
                  <a:cs typeface="Courier New" panose="02070309020205020404" pitchFamily="49" charset="0"/>
                </a:rPr>
                <a:t>directly to </a:t>
              </a:r>
              <a:r>
                <a:rPr lang="en-US" sz="1800" b="1" dirty="0" err="1">
                  <a:solidFill>
                    <a:schemeClr val="accent5"/>
                  </a:solidFill>
                  <a:latin typeface="Courier New" panose="02070309020205020404" pitchFamily="49" charset="0"/>
                  <a:cs typeface="Courier New" panose="02070309020205020404" pitchFamily="49" charset="0"/>
                </a:rPr>
                <a:t>imm</a:t>
              </a:r>
              <a:r>
                <a:rPr lang="en-US" sz="1800" b="1" dirty="0">
                  <a:solidFill>
                    <a:schemeClr val="accent5"/>
                  </a:solidFill>
                  <a:latin typeface="Courier New" panose="02070309020205020404" pitchFamily="49" charset="0"/>
                  <a:cs typeface="Courier New" panose="02070309020205020404" pitchFamily="49" charset="0"/>
                </a:rPr>
                <a:t>[11]</a:t>
              </a:r>
              <a:endParaRPr lang="en-US" sz="1800" b="1" dirty="0">
                <a:solidFill>
                  <a:schemeClr val="bg1"/>
                </a:solidFill>
                <a:latin typeface="Courier New" panose="02070309020205020404" pitchFamily="49" charset="0"/>
                <a:cs typeface="Courier New" panose="02070309020205020404" pitchFamily="49" charset="0"/>
              </a:endParaRPr>
            </a:p>
          </p:txBody>
        </p:sp>
        <p:cxnSp>
          <p:nvCxnSpPr>
            <p:cNvPr id="40" name="Elbow Connector 39">
              <a:extLst>
                <a:ext uri="{FF2B5EF4-FFF2-40B4-BE49-F238E27FC236}">
                  <a16:creationId xmlns:a16="http://schemas.microsoft.com/office/drawing/2014/main" id="{F50BE933-FBA6-4665-290B-E36AECAC8183}"/>
                </a:ext>
              </a:extLst>
            </p:cNvPr>
            <p:cNvCxnSpPr>
              <a:cxnSpLocks/>
              <a:endCxn id="39" idx="1"/>
            </p:cNvCxnSpPr>
            <p:nvPr/>
          </p:nvCxnSpPr>
          <p:spPr>
            <a:xfrm>
              <a:off x="2135280" y="3741310"/>
              <a:ext cx="498564" cy="399254"/>
            </a:xfrm>
            <a:prstGeom prst="bentConnector3">
              <a:avLst>
                <a:gd name="adj1" fmla="val 50000"/>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BC6E2303-0D6E-F124-CC06-2C16C62E3C71}"/>
                </a:ext>
              </a:extLst>
            </p:cNvPr>
            <p:cNvCxnSpPr>
              <a:cxnSpLocks/>
            </p:cNvCxnSpPr>
            <p:nvPr/>
          </p:nvCxnSpPr>
          <p:spPr>
            <a:xfrm>
              <a:off x="6553834" y="4147055"/>
              <a:ext cx="1220832" cy="833037"/>
            </a:xfrm>
            <a:prstGeom prst="bentConnector2">
              <a:avLst/>
            </a:prstGeom>
            <a:ln w="28575">
              <a:solidFill>
                <a:schemeClr val="accent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3" name="Elbow Connector 42">
              <a:extLst>
                <a:ext uri="{FF2B5EF4-FFF2-40B4-BE49-F238E27FC236}">
                  <a16:creationId xmlns:a16="http://schemas.microsoft.com/office/drawing/2014/main" id="{8A318ECE-C22D-CC44-A07B-E6BFB734ABA6}"/>
                </a:ext>
              </a:extLst>
            </p:cNvPr>
            <p:cNvCxnSpPr>
              <a:cxnSpLocks/>
            </p:cNvCxnSpPr>
            <p:nvPr/>
          </p:nvCxnSpPr>
          <p:spPr>
            <a:xfrm rot="16200000" flipH="1">
              <a:off x="1122400" y="3096759"/>
              <a:ext cx="1068014" cy="962420"/>
            </a:xfrm>
            <a:prstGeom prst="bentConnector3">
              <a:avLst>
                <a:gd name="adj1" fmla="val 8143"/>
              </a:avLst>
            </a:prstGeom>
            <a:ln w="28575">
              <a:solidFill>
                <a:schemeClr val="accent2"/>
              </a:solidFill>
              <a:headEnd type="oval" w="lg" len="lg"/>
              <a:tailEnd type="none" w="lg" len="lg"/>
            </a:ln>
          </p:spPr>
          <p:style>
            <a:lnRef idx="1">
              <a:schemeClr val="accent1"/>
            </a:lnRef>
            <a:fillRef idx="0">
              <a:schemeClr val="accent1"/>
            </a:fillRef>
            <a:effectRef idx="0">
              <a:schemeClr val="accent1"/>
            </a:effectRef>
            <a:fontRef idx="minor">
              <a:schemeClr val="tx1"/>
            </a:fontRef>
          </p:style>
        </p:cxnSp>
        <p:sp>
          <p:nvSpPr>
            <p:cNvPr id="47" name="Right Brace 46">
              <a:extLst>
                <a:ext uri="{FF2B5EF4-FFF2-40B4-BE49-F238E27FC236}">
                  <a16:creationId xmlns:a16="http://schemas.microsoft.com/office/drawing/2014/main" id="{1FD7F00E-A373-6287-0066-D73901FE7FA1}"/>
                </a:ext>
              </a:extLst>
            </p:cNvPr>
            <p:cNvSpPr/>
            <p:nvPr/>
          </p:nvSpPr>
          <p:spPr>
            <a:xfrm rot="16200000">
              <a:off x="7657471" y="4740593"/>
              <a:ext cx="205201" cy="543132"/>
            </a:xfrm>
            <a:prstGeom prst="rightBrace">
              <a:avLst>
                <a:gd name="adj1" fmla="val 8333"/>
                <a:gd name="adj2" fmla="val 51673"/>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320F7A29-80F4-1BFB-903E-EE10A76A9CF9}"/>
              </a:ext>
            </a:extLst>
          </p:cNvPr>
          <p:cNvGrpSpPr/>
          <p:nvPr/>
        </p:nvGrpSpPr>
        <p:grpSpPr>
          <a:xfrm>
            <a:off x="147819" y="2906369"/>
            <a:ext cx="7346489" cy="2524083"/>
            <a:chOff x="147819" y="2906369"/>
            <a:chExt cx="7346489" cy="2524083"/>
          </a:xfrm>
        </p:grpSpPr>
        <p:sp>
          <p:nvSpPr>
            <p:cNvPr id="51" name="Triangle 50">
              <a:extLst>
                <a:ext uri="{FF2B5EF4-FFF2-40B4-BE49-F238E27FC236}">
                  <a16:creationId xmlns:a16="http://schemas.microsoft.com/office/drawing/2014/main" id="{F4BEEC58-120A-972C-83BB-90E297B0FF17}"/>
                </a:ext>
              </a:extLst>
            </p:cNvPr>
            <p:cNvSpPr/>
            <p:nvPr/>
          </p:nvSpPr>
          <p:spPr>
            <a:xfrm>
              <a:off x="1164209" y="4966119"/>
              <a:ext cx="6330099" cy="464333"/>
            </a:xfrm>
            <a:prstGeom prst="triangle">
              <a:avLst>
                <a:gd name="adj" fmla="val 15551"/>
              </a:avLst>
            </a:prstGeom>
            <a:solidFill>
              <a:schemeClr val="accent3">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cxnSp>
          <p:nvCxnSpPr>
            <p:cNvPr id="52" name="Elbow Connector 51">
              <a:extLst>
                <a:ext uri="{FF2B5EF4-FFF2-40B4-BE49-F238E27FC236}">
                  <a16:creationId xmlns:a16="http://schemas.microsoft.com/office/drawing/2014/main" id="{B484D96D-D37E-B132-39CC-216415E60C25}"/>
                </a:ext>
              </a:extLst>
            </p:cNvPr>
            <p:cNvCxnSpPr>
              <a:cxnSpLocks/>
              <a:endCxn id="51" idx="0"/>
            </p:cNvCxnSpPr>
            <p:nvPr/>
          </p:nvCxnSpPr>
          <p:spPr>
            <a:xfrm rot="16200000" flipH="1">
              <a:off x="992168" y="3809684"/>
              <a:ext cx="825554" cy="1487315"/>
            </a:xfrm>
            <a:prstGeom prst="bentConnector3">
              <a:avLst>
                <a:gd name="adj1" fmla="val 50000"/>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0402A4F-E2EB-1337-B11F-FCE26BDF4924}"/>
                </a:ext>
              </a:extLst>
            </p:cNvPr>
            <p:cNvSpPr txBox="1"/>
            <p:nvPr/>
          </p:nvSpPr>
          <p:spPr>
            <a:xfrm>
              <a:off x="147819" y="3227395"/>
              <a:ext cx="1794007" cy="923330"/>
            </a:xfrm>
            <a:prstGeom prst="rect">
              <a:avLst/>
            </a:prstGeom>
            <a:noFill/>
          </p:spPr>
          <p:txBody>
            <a:bodyPr wrap="square" rtlCol="0">
              <a:spAutoFit/>
            </a:bodyPr>
            <a:lstStyle/>
            <a:p>
              <a:r>
                <a:rPr lang="en-US" sz="1800" dirty="0">
                  <a:solidFill>
                    <a:schemeClr val="bg1"/>
                  </a:solidFill>
                  <a:latin typeface="18 VAG Rounded Light   02390" pitchFamily="2" charset="0"/>
                  <a:cs typeface="Courier New" panose="02070309020205020404" pitchFamily="49" charset="0"/>
                </a:rPr>
                <a:t>Sign-extend </a:t>
              </a:r>
              <a:r>
                <a:rPr lang="en-US" sz="1800" b="1" dirty="0" err="1">
                  <a:solidFill>
                    <a:schemeClr val="bg1"/>
                  </a:solidFill>
                  <a:latin typeface="Courier New" panose="02070309020205020404" pitchFamily="49" charset="0"/>
                  <a:cs typeface="Courier New" panose="02070309020205020404" pitchFamily="49" charset="0"/>
                </a:rPr>
                <a:t>inst</a:t>
              </a:r>
              <a:r>
                <a:rPr lang="en-US" sz="1800" b="1" dirty="0">
                  <a:solidFill>
                    <a:schemeClr val="bg1"/>
                  </a:solidFill>
                  <a:latin typeface="Courier New" panose="02070309020205020404" pitchFamily="49" charset="0"/>
                  <a:cs typeface="Courier New" panose="02070309020205020404" pitchFamily="49" charset="0"/>
                </a:rPr>
                <a:t>[31]</a:t>
              </a:r>
              <a:r>
                <a:rPr lang="en-US" sz="1800" dirty="0">
                  <a:solidFill>
                    <a:schemeClr val="bg1"/>
                  </a:solidFill>
                  <a:latin typeface="18 VAG Rounded Light   02390" pitchFamily="2" charset="0"/>
                  <a:cs typeface="Courier New" panose="02070309020205020404" pitchFamily="49" charset="0"/>
                </a:rPr>
                <a:t> to </a:t>
              </a:r>
              <a:r>
                <a:rPr lang="en-US" sz="1800" b="1" dirty="0" err="1">
                  <a:solidFill>
                    <a:schemeClr val="accent3"/>
                  </a:solidFill>
                  <a:latin typeface="Courier New" panose="02070309020205020404" pitchFamily="49" charset="0"/>
                  <a:cs typeface="Courier New" panose="02070309020205020404" pitchFamily="49" charset="0"/>
                </a:rPr>
                <a:t>imm</a:t>
              </a:r>
              <a:r>
                <a:rPr lang="en-US" sz="1800" b="1" dirty="0">
                  <a:solidFill>
                    <a:schemeClr val="accent3"/>
                  </a:solidFill>
                  <a:latin typeface="Courier New" panose="02070309020205020404" pitchFamily="49" charset="0"/>
                  <a:cs typeface="Courier New" panose="02070309020205020404" pitchFamily="49" charset="0"/>
                </a:rPr>
                <a:t>[31:12]</a:t>
              </a:r>
              <a:r>
                <a:rPr lang="en-US" sz="1800" dirty="0">
                  <a:solidFill>
                    <a:schemeClr val="bg1"/>
                  </a:solidFill>
                  <a:latin typeface="18 VAG Rounded Light   02390" pitchFamily="2" charset="0"/>
                  <a:cs typeface="Courier New" panose="02070309020205020404" pitchFamily="49" charset="0"/>
                </a:rPr>
                <a:t>.</a:t>
              </a:r>
              <a:endParaRPr lang="en-US" sz="1800" b="1" dirty="0">
                <a:solidFill>
                  <a:schemeClr val="bg1"/>
                </a:solidFill>
                <a:latin typeface="Courier New" panose="02070309020205020404" pitchFamily="49" charset="0"/>
                <a:cs typeface="Courier New" panose="02070309020205020404" pitchFamily="49" charset="0"/>
              </a:endParaRPr>
            </a:p>
          </p:txBody>
        </p:sp>
        <p:cxnSp>
          <p:nvCxnSpPr>
            <p:cNvPr id="56" name="Elbow Connector 55">
              <a:extLst>
                <a:ext uri="{FF2B5EF4-FFF2-40B4-BE49-F238E27FC236}">
                  <a16:creationId xmlns:a16="http://schemas.microsoft.com/office/drawing/2014/main" id="{64A1465F-86C2-7EBA-8D97-C9BAE66ABA4D}"/>
                </a:ext>
              </a:extLst>
            </p:cNvPr>
            <p:cNvCxnSpPr>
              <a:cxnSpLocks/>
            </p:cNvCxnSpPr>
            <p:nvPr/>
          </p:nvCxnSpPr>
          <p:spPr>
            <a:xfrm rot="5400000">
              <a:off x="751615" y="2816042"/>
              <a:ext cx="340498" cy="521151"/>
            </a:xfrm>
            <a:prstGeom prst="bentConnector3">
              <a:avLst>
                <a:gd name="adj1" fmla="val 50000"/>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6830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A3C056A-244B-C634-9865-B6F76175BEFD}"/>
              </a:ext>
            </a:extLst>
          </p:cNvPr>
          <p:cNvGraphicFramePr>
            <a:graphicFrameLocks noGrp="1"/>
          </p:cNvGraphicFramePr>
          <p:nvPr/>
        </p:nvGraphicFramePr>
        <p:xfrm>
          <a:off x="980634" y="5114759"/>
          <a:ext cx="10558708" cy="1169836"/>
        </p:xfrm>
        <a:graphic>
          <a:graphicData uri="http://schemas.openxmlformats.org/drawingml/2006/table">
            <a:tbl>
              <a:tblPr>
                <a:tableStyleId>{5C22544A-7EE6-4342-B048-85BDC9FD1C3A}</a:tableStyleId>
              </a:tblPr>
              <a:tblGrid>
                <a:gridCol w="659919">
                  <a:extLst>
                    <a:ext uri="{9D8B030D-6E8A-4147-A177-3AD203B41FA5}">
                      <a16:colId xmlns:a16="http://schemas.microsoft.com/office/drawing/2014/main" val="1234193345"/>
                    </a:ext>
                  </a:extLst>
                </a:gridCol>
                <a:gridCol w="329960">
                  <a:extLst>
                    <a:ext uri="{9D8B030D-6E8A-4147-A177-3AD203B41FA5}">
                      <a16:colId xmlns:a16="http://schemas.microsoft.com/office/drawing/2014/main" val="980994493"/>
                    </a:ext>
                  </a:extLst>
                </a:gridCol>
                <a:gridCol w="329960">
                  <a:extLst>
                    <a:ext uri="{9D8B030D-6E8A-4147-A177-3AD203B41FA5}">
                      <a16:colId xmlns:a16="http://schemas.microsoft.com/office/drawing/2014/main" val="2263478802"/>
                    </a:ext>
                  </a:extLst>
                </a:gridCol>
                <a:gridCol w="329960">
                  <a:extLst>
                    <a:ext uri="{9D8B030D-6E8A-4147-A177-3AD203B41FA5}">
                      <a16:colId xmlns:a16="http://schemas.microsoft.com/office/drawing/2014/main" val="1706986663"/>
                    </a:ext>
                  </a:extLst>
                </a:gridCol>
                <a:gridCol w="659919">
                  <a:extLst>
                    <a:ext uri="{9D8B030D-6E8A-4147-A177-3AD203B41FA5}">
                      <a16:colId xmlns:a16="http://schemas.microsoft.com/office/drawing/2014/main" val="3137204920"/>
                    </a:ext>
                  </a:extLst>
                </a:gridCol>
                <a:gridCol w="659919">
                  <a:extLst>
                    <a:ext uri="{9D8B030D-6E8A-4147-A177-3AD203B41FA5}">
                      <a16:colId xmlns:a16="http://schemas.microsoft.com/office/drawing/2014/main" val="2664459051"/>
                    </a:ext>
                  </a:extLst>
                </a:gridCol>
                <a:gridCol w="329960">
                  <a:extLst>
                    <a:ext uri="{9D8B030D-6E8A-4147-A177-3AD203B41FA5}">
                      <a16:colId xmlns:a16="http://schemas.microsoft.com/office/drawing/2014/main" val="3204545504"/>
                    </a:ext>
                  </a:extLst>
                </a:gridCol>
                <a:gridCol w="659919">
                  <a:extLst>
                    <a:ext uri="{9D8B030D-6E8A-4147-A177-3AD203B41FA5}">
                      <a16:colId xmlns:a16="http://schemas.microsoft.com/office/drawing/2014/main" val="3785885317"/>
                    </a:ext>
                  </a:extLst>
                </a:gridCol>
                <a:gridCol w="659919">
                  <a:extLst>
                    <a:ext uri="{9D8B030D-6E8A-4147-A177-3AD203B41FA5}">
                      <a16:colId xmlns:a16="http://schemas.microsoft.com/office/drawing/2014/main" val="1754441276"/>
                    </a:ext>
                  </a:extLst>
                </a:gridCol>
                <a:gridCol w="329960">
                  <a:extLst>
                    <a:ext uri="{9D8B030D-6E8A-4147-A177-3AD203B41FA5}">
                      <a16:colId xmlns:a16="http://schemas.microsoft.com/office/drawing/2014/main" val="278709197"/>
                    </a:ext>
                  </a:extLst>
                </a:gridCol>
                <a:gridCol w="287532">
                  <a:extLst>
                    <a:ext uri="{9D8B030D-6E8A-4147-A177-3AD203B41FA5}">
                      <a16:colId xmlns:a16="http://schemas.microsoft.com/office/drawing/2014/main" val="563745743"/>
                    </a:ext>
                  </a:extLst>
                </a:gridCol>
                <a:gridCol w="288912">
                  <a:extLst>
                    <a:ext uri="{9D8B030D-6E8A-4147-A177-3AD203B41FA5}">
                      <a16:colId xmlns:a16="http://schemas.microsoft.com/office/drawing/2014/main" val="2795341024"/>
                    </a:ext>
                  </a:extLst>
                </a:gridCol>
                <a:gridCol w="1000751">
                  <a:extLst>
                    <a:ext uri="{9D8B030D-6E8A-4147-A177-3AD203B41FA5}">
                      <a16:colId xmlns:a16="http://schemas.microsoft.com/office/drawing/2014/main" val="3479140522"/>
                    </a:ext>
                  </a:extLst>
                </a:gridCol>
                <a:gridCol w="552694">
                  <a:extLst>
                    <a:ext uri="{9D8B030D-6E8A-4147-A177-3AD203B41FA5}">
                      <a16:colId xmlns:a16="http://schemas.microsoft.com/office/drawing/2014/main" val="562483255"/>
                    </a:ext>
                  </a:extLst>
                </a:gridCol>
                <a:gridCol w="509789">
                  <a:extLst>
                    <a:ext uri="{9D8B030D-6E8A-4147-A177-3AD203B41FA5}">
                      <a16:colId xmlns:a16="http://schemas.microsoft.com/office/drawing/2014/main" val="123098747"/>
                    </a:ext>
                  </a:extLst>
                </a:gridCol>
                <a:gridCol w="659919">
                  <a:extLst>
                    <a:ext uri="{9D8B030D-6E8A-4147-A177-3AD203B41FA5}">
                      <a16:colId xmlns:a16="http://schemas.microsoft.com/office/drawing/2014/main" val="669064248"/>
                    </a:ext>
                  </a:extLst>
                </a:gridCol>
                <a:gridCol w="650926">
                  <a:extLst>
                    <a:ext uri="{9D8B030D-6E8A-4147-A177-3AD203B41FA5}">
                      <a16:colId xmlns:a16="http://schemas.microsoft.com/office/drawing/2014/main" val="1072157940"/>
                    </a:ext>
                  </a:extLst>
                </a:gridCol>
                <a:gridCol w="338953">
                  <a:extLst>
                    <a:ext uri="{9D8B030D-6E8A-4147-A177-3AD203B41FA5}">
                      <a16:colId xmlns:a16="http://schemas.microsoft.com/office/drawing/2014/main" val="4104681057"/>
                    </a:ext>
                  </a:extLst>
                </a:gridCol>
                <a:gridCol w="329960">
                  <a:extLst>
                    <a:ext uri="{9D8B030D-6E8A-4147-A177-3AD203B41FA5}">
                      <a16:colId xmlns:a16="http://schemas.microsoft.com/office/drawing/2014/main" val="1167782694"/>
                    </a:ext>
                  </a:extLst>
                </a:gridCol>
                <a:gridCol w="636695">
                  <a:extLst>
                    <a:ext uri="{9D8B030D-6E8A-4147-A177-3AD203B41FA5}">
                      <a16:colId xmlns:a16="http://schemas.microsoft.com/office/drawing/2014/main" val="1120441159"/>
                    </a:ext>
                  </a:extLst>
                </a:gridCol>
                <a:gridCol w="353182">
                  <a:extLst>
                    <a:ext uri="{9D8B030D-6E8A-4147-A177-3AD203B41FA5}">
                      <a16:colId xmlns:a16="http://schemas.microsoft.com/office/drawing/2014/main" val="817865963"/>
                    </a:ext>
                  </a:extLst>
                </a:gridCol>
              </a:tblGrid>
              <a:tr h="333922">
                <a:tc>
                  <a:txBody>
                    <a:bodyPr/>
                    <a:lstStyle/>
                    <a:p>
                      <a:pPr algn="l">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31</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a:solidFill>
                            <a:schemeClr val="bg1"/>
                          </a:solidFill>
                          <a:latin typeface="Courier New" panose="02070309020205020404" pitchFamily="49" charset="0"/>
                          <a:cs typeface="Courier New" panose="02070309020205020404" pitchFamily="49" charset="0"/>
                        </a:rPr>
                        <a:t>12</a:t>
                      </a: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10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7184839"/>
                  </a:ext>
                </a:extLst>
              </a:tr>
              <a:tr h="319480">
                <a:tc gridSpan="13">
                  <a:txBody>
                    <a:bodyPr/>
                    <a:lstStyle/>
                    <a:p>
                      <a:pPr algn="ctr">
                        <a:lnSpc>
                          <a:spcPct val="85000"/>
                        </a:lnSpc>
                      </a:pPr>
                      <a:r>
                        <a:rPr lang="en-US" sz="1700" b="1" i="0" strike="noStrike" dirty="0" err="1">
                          <a:solidFill>
                            <a:schemeClr val="accent3"/>
                          </a:solidFill>
                          <a:latin typeface="Courier New" panose="02070309020205020404" pitchFamily="49" charset="0"/>
                          <a:cs typeface="Courier New" panose="02070309020205020404" pitchFamily="49" charset="0"/>
                        </a:rPr>
                        <a:t>imm</a:t>
                      </a:r>
                      <a:r>
                        <a:rPr lang="en-US" sz="1700" b="1" i="0" strike="noStrike" dirty="0">
                          <a:solidFill>
                            <a:schemeClr val="accent3"/>
                          </a:solidFill>
                          <a:latin typeface="Courier New" panose="02070309020205020404" pitchFamily="49" charset="0"/>
                          <a:cs typeface="Courier New" panose="02070309020205020404" pitchFamily="49" charset="0"/>
                        </a:rPr>
                        <a:t>[31:12]</a:t>
                      </a: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dirty="0">
                        <a:solidFill>
                          <a:schemeClr val="accent5"/>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800" b="1" dirty="0" err="1">
                          <a:solidFill>
                            <a:schemeClr val="accent5"/>
                          </a:solidFill>
                          <a:latin typeface="Courier New" panose="02070309020205020404" pitchFamily="49" charset="0"/>
                          <a:cs typeface="Courier New" panose="02070309020205020404" pitchFamily="49" charset="0"/>
                        </a:rPr>
                        <a:t>imm</a:t>
                      </a:r>
                      <a:r>
                        <a:rPr lang="en-US" sz="1800" b="1" dirty="0">
                          <a:solidFill>
                            <a:schemeClr val="accent5"/>
                          </a:solidFill>
                          <a:latin typeface="Courier New" panose="02070309020205020404" pitchFamily="49" charset="0"/>
                          <a:cs typeface="Courier New" panose="02070309020205020404" pitchFamily="49" charset="0"/>
                        </a:rPr>
                        <a:t>[10:5]</a:t>
                      </a:r>
                      <a:endParaRPr lang="en-US" sz="20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tc hMerge="1">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600" b="1" i="0" strike="noStrike" dirty="0" err="1">
                          <a:solidFill>
                            <a:schemeClr val="accent1"/>
                          </a:solidFill>
                          <a:latin typeface="Courier New" panose="02070309020205020404" pitchFamily="49" charset="0"/>
                          <a:cs typeface="Courier New" panose="02070309020205020404" pitchFamily="49" charset="0"/>
                        </a:rPr>
                        <a:t>imm</a:t>
                      </a:r>
                      <a:r>
                        <a:rPr lang="en-US" sz="1600" b="1" i="0" strike="noStrike" dirty="0">
                          <a:solidFill>
                            <a:schemeClr val="accent1"/>
                          </a:solidFill>
                          <a:latin typeface="Courier New" panose="02070309020205020404" pitchFamily="49" charset="0"/>
                          <a:cs typeface="Courier New" panose="02070309020205020404" pitchFamily="49" charset="0"/>
                        </a:rPr>
                        <a:t>[4:0]</a:t>
                      </a:r>
                      <a:endParaRPr lang="en-US" sz="1800" b="1" i="0" strike="noStrike" dirty="0">
                        <a:solidFill>
                          <a:schemeClr val="accent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224863322"/>
                  </a:ext>
                </a:extLst>
              </a:tr>
              <a:tr h="319480">
                <a:tc gridSpan="13">
                  <a:txBody>
                    <a:bodyPr/>
                    <a:lstStyle/>
                    <a:p>
                      <a:pPr algn="ctr">
                        <a:lnSpc>
                          <a:spcPct val="85000"/>
                        </a:lnSpc>
                      </a:pP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r>
                        <a:rPr lang="en-US" sz="2800" b="1" i="0" strike="noStrike" dirty="0">
                          <a:solidFill>
                            <a:schemeClr val="accent3"/>
                          </a:solidFill>
                          <a:latin typeface="Courier New" panose="02070309020205020404" pitchFamily="49" charset="0"/>
                          <a:cs typeface="Courier New" panose="02070309020205020404" pitchFamily="49" charset="0"/>
                        </a:rPr>
                        <a:t> </a:t>
                      </a:r>
                      <a:r>
                        <a:rPr lang="en-US" sz="2800" b="1" i="0" strike="noStrike" dirty="0" err="1">
                          <a:solidFill>
                            <a:schemeClr val="accent3"/>
                          </a:solidFill>
                          <a:latin typeface="Courier New" panose="02070309020205020404" pitchFamily="49" charset="0"/>
                          <a:cs typeface="Courier New" panose="02070309020205020404" pitchFamily="49" charset="0"/>
                        </a:rPr>
                        <a:t>ssss</a:t>
                      </a:r>
                      <a:endParaRPr lang="en-US" sz="2800" b="1" i="0" strike="noStrike" dirty="0">
                        <a:solidFill>
                          <a:schemeClr val="bg1"/>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dirty="0">
                        <a:solidFill>
                          <a:schemeClr val="accent6"/>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2800" b="1" i="0" strike="noStrike" dirty="0">
                          <a:solidFill>
                            <a:schemeClr val="accent6"/>
                          </a:solidFill>
                          <a:latin typeface="Courier New" panose="02070309020205020404" pitchFamily="49" charset="0"/>
                          <a:cs typeface="Courier New" panose="02070309020205020404" pitchFamily="49" charset="0"/>
                        </a:rPr>
                        <a:t>.</a:t>
                      </a:r>
                    </a:p>
                  </a:txBody>
                  <a:tcPr>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2800" b="1" i="0" strike="noStrike" dirty="0">
                          <a:solidFill>
                            <a:schemeClr val="bg1"/>
                          </a:solidFill>
                          <a:latin typeface="Courier New" panose="02070309020205020404" pitchFamily="49" charset="0"/>
                          <a:cs typeface="Courier New" panose="02070309020205020404" pitchFamily="49"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28575" cap="flat" cmpd="sng" algn="ctr">
                      <a:solidFill>
                        <a:schemeClr val="bg1"/>
                      </a:solidFill>
                      <a:prstDash val="solid"/>
                      <a:round/>
                      <a:headEnd type="none" w="med" len="med"/>
                      <a:tailEnd type="none" w="med" len="med"/>
                    </a:lnL>
                  </a:tcPr>
                </a:tc>
                <a:tc hMerge="1">
                  <a:txBody>
                    <a:bodyPr/>
                    <a:lstStyle/>
                    <a:p>
                      <a:pPr algn="ctr">
                        <a:lnSpc>
                          <a:spcPct val="8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28575" cap="flat" cmpd="sng" algn="ctr">
                      <a:solidFill>
                        <a:schemeClr val="bg1"/>
                      </a:solidFill>
                      <a:prstDash val="solid"/>
                      <a:round/>
                      <a:headEnd type="none" w="med" len="med"/>
                      <a:tailEnd type="none" w="med" len="med"/>
                    </a:lnL>
                    <a:lnR w="28575" cap="flat" cmpd="sng" algn="ctr">
                      <a:solidFill>
                        <a:schemeClr val="bg1">
                          <a:lumMod val="50000"/>
                        </a:schemeClr>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4"/>
                          </a:solidFill>
                          <a:effectLst/>
                          <a:uLnTx/>
                          <a:uFillTx/>
                          <a:latin typeface="Courier New" panose="02070309020205020404" pitchFamily="49" charset="0"/>
                          <a:ea typeface="+mn-ea"/>
                          <a:cs typeface="Courier New" panose="02070309020205020404" pitchFamily="49" charset="0"/>
                        </a:rPr>
                        <a:t>.</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282603"/>
                  </a:ext>
                </a:extLst>
              </a:tr>
            </a:tbl>
          </a:graphicData>
        </a:graphic>
      </p:graphicFrame>
      <p:sp>
        <p:nvSpPr>
          <p:cNvPr id="2" name="Title 1">
            <a:extLst>
              <a:ext uri="{FF2B5EF4-FFF2-40B4-BE49-F238E27FC236}">
                <a16:creationId xmlns:a16="http://schemas.microsoft.com/office/drawing/2014/main" id="{6BFFA865-39B1-8F70-0F56-3447AE3231ED}"/>
              </a:ext>
            </a:extLst>
          </p:cNvPr>
          <p:cNvSpPr>
            <a:spLocks noGrp="1"/>
          </p:cNvSpPr>
          <p:nvPr>
            <p:ph type="title"/>
          </p:nvPr>
        </p:nvSpPr>
        <p:spPr>
          <a:xfrm>
            <a:off x="1104900" y="76199"/>
            <a:ext cx="10848287" cy="768096"/>
          </a:xfrm>
        </p:spPr>
        <p:txBody>
          <a:bodyPr>
            <a:normAutofit/>
          </a:bodyPr>
          <a:lstStyle/>
          <a:p>
            <a:r>
              <a:rPr lang="en-US" dirty="0" err="1"/>
              <a:t>Immediates</a:t>
            </a:r>
            <a:r>
              <a:rPr lang="en-US" dirty="0"/>
              <a:t>: I-Type, S-Type, B-Type</a:t>
            </a:r>
          </a:p>
        </p:txBody>
      </p:sp>
      <p:graphicFrame>
        <p:nvGraphicFramePr>
          <p:cNvPr id="11" name="Table 10">
            <a:extLst>
              <a:ext uri="{FF2B5EF4-FFF2-40B4-BE49-F238E27FC236}">
                <a16:creationId xmlns:a16="http://schemas.microsoft.com/office/drawing/2014/main" id="{F72C53E8-B85C-675C-F820-A3F34E428157}"/>
              </a:ext>
            </a:extLst>
          </p:cNvPr>
          <p:cNvGraphicFramePr>
            <a:graphicFrameLocks noGrp="1"/>
          </p:cNvGraphicFramePr>
          <p:nvPr/>
        </p:nvGraphicFramePr>
        <p:xfrm>
          <a:off x="980634" y="1253162"/>
          <a:ext cx="10523475" cy="1714306"/>
        </p:xfrm>
        <a:graphic>
          <a:graphicData uri="http://schemas.openxmlformats.org/drawingml/2006/table">
            <a:tbl>
              <a:tblPr>
                <a:tableStyleId>{5C22544A-7EE6-4342-B048-85BDC9FD1C3A}</a:tableStyleId>
              </a:tblPr>
              <a:tblGrid>
                <a:gridCol w="429768">
                  <a:extLst>
                    <a:ext uri="{9D8B030D-6E8A-4147-A177-3AD203B41FA5}">
                      <a16:colId xmlns:a16="http://schemas.microsoft.com/office/drawing/2014/main" val="4212028958"/>
                    </a:ext>
                  </a:extLst>
                </a:gridCol>
                <a:gridCol w="551076">
                  <a:extLst>
                    <a:ext uri="{9D8B030D-6E8A-4147-A177-3AD203B41FA5}">
                      <a16:colId xmlns:a16="http://schemas.microsoft.com/office/drawing/2014/main" val="2833146680"/>
                    </a:ext>
                  </a:extLst>
                </a:gridCol>
                <a:gridCol w="324898">
                  <a:extLst>
                    <a:ext uri="{9D8B030D-6E8A-4147-A177-3AD203B41FA5}">
                      <a16:colId xmlns:a16="http://schemas.microsoft.com/office/drawing/2014/main" val="631863871"/>
                    </a:ext>
                  </a:extLst>
                </a:gridCol>
                <a:gridCol w="324898">
                  <a:extLst>
                    <a:ext uri="{9D8B030D-6E8A-4147-A177-3AD203B41FA5}">
                      <a16:colId xmlns:a16="http://schemas.microsoft.com/office/drawing/2014/main" val="804285180"/>
                    </a:ext>
                  </a:extLst>
                </a:gridCol>
                <a:gridCol w="770387">
                  <a:extLst>
                    <a:ext uri="{9D8B030D-6E8A-4147-A177-3AD203B41FA5}">
                      <a16:colId xmlns:a16="http://schemas.microsoft.com/office/drawing/2014/main" val="698615685"/>
                    </a:ext>
                  </a:extLst>
                </a:gridCol>
                <a:gridCol w="649796">
                  <a:extLst>
                    <a:ext uri="{9D8B030D-6E8A-4147-A177-3AD203B41FA5}">
                      <a16:colId xmlns:a16="http://schemas.microsoft.com/office/drawing/2014/main" val="4241661055"/>
                    </a:ext>
                  </a:extLst>
                </a:gridCol>
                <a:gridCol w="324898">
                  <a:extLst>
                    <a:ext uri="{9D8B030D-6E8A-4147-A177-3AD203B41FA5}">
                      <a16:colId xmlns:a16="http://schemas.microsoft.com/office/drawing/2014/main" val="3714859180"/>
                    </a:ext>
                  </a:extLst>
                </a:gridCol>
                <a:gridCol w="649796">
                  <a:extLst>
                    <a:ext uri="{9D8B030D-6E8A-4147-A177-3AD203B41FA5}">
                      <a16:colId xmlns:a16="http://schemas.microsoft.com/office/drawing/2014/main" val="4134962500"/>
                    </a:ext>
                  </a:extLst>
                </a:gridCol>
                <a:gridCol w="649796">
                  <a:extLst>
                    <a:ext uri="{9D8B030D-6E8A-4147-A177-3AD203B41FA5}">
                      <a16:colId xmlns:a16="http://schemas.microsoft.com/office/drawing/2014/main" val="2296042161"/>
                    </a:ext>
                  </a:extLst>
                </a:gridCol>
                <a:gridCol w="324898">
                  <a:extLst>
                    <a:ext uri="{9D8B030D-6E8A-4147-A177-3AD203B41FA5}">
                      <a16:colId xmlns:a16="http://schemas.microsoft.com/office/drawing/2014/main" val="2710756154"/>
                    </a:ext>
                  </a:extLst>
                </a:gridCol>
                <a:gridCol w="649796">
                  <a:extLst>
                    <a:ext uri="{9D8B030D-6E8A-4147-A177-3AD203B41FA5}">
                      <a16:colId xmlns:a16="http://schemas.microsoft.com/office/drawing/2014/main" val="2996484032"/>
                    </a:ext>
                  </a:extLst>
                </a:gridCol>
                <a:gridCol w="487347">
                  <a:extLst>
                    <a:ext uri="{9D8B030D-6E8A-4147-A177-3AD203B41FA5}">
                      <a16:colId xmlns:a16="http://schemas.microsoft.com/office/drawing/2014/main" val="2332033055"/>
                    </a:ext>
                  </a:extLst>
                </a:gridCol>
                <a:gridCol w="487347">
                  <a:extLst>
                    <a:ext uri="{9D8B030D-6E8A-4147-A177-3AD203B41FA5}">
                      <a16:colId xmlns:a16="http://schemas.microsoft.com/office/drawing/2014/main" val="2503431466"/>
                    </a:ext>
                  </a:extLst>
                </a:gridCol>
                <a:gridCol w="649796">
                  <a:extLst>
                    <a:ext uri="{9D8B030D-6E8A-4147-A177-3AD203B41FA5}">
                      <a16:colId xmlns:a16="http://schemas.microsoft.com/office/drawing/2014/main" val="436555696"/>
                    </a:ext>
                  </a:extLst>
                </a:gridCol>
                <a:gridCol w="324898">
                  <a:extLst>
                    <a:ext uri="{9D8B030D-6E8A-4147-A177-3AD203B41FA5}">
                      <a16:colId xmlns:a16="http://schemas.microsoft.com/office/drawing/2014/main" val="768043039"/>
                    </a:ext>
                  </a:extLst>
                </a:gridCol>
                <a:gridCol w="649796">
                  <a:extLst>
                    <a:ext uri="{9D8B030D-6E8A-4147-A177-3AD203B41FA5}">
                      <a16:colId xmlns:a16="http://schemas.microsoft.com/office/drawing/2014/main" val="527131670"/>
                    </a:ext>
                  </a:extLst>
                </a:gridCol>
                <a:gridCol w="649796">
                  <a:extLst>
                    <a:ext uri="{9D8B030D-6E8A-4147-A177-3AD203B41FA5}">
                      <a16:colId xmlns:a16="http://schemas.microsoft.com/office/drawing/2014/main" val="1640519534"/>
                    </a:ext>
                  </a:extLst>
                </a:gridCol>
                <a:gridCol w="324898">
                  <a:extLst>
                    <a:ext uri="{9D8B030D-6E8A-4147-A177-3AD203B41FA5}">
                      <a16:colId xmlns:a16="http://schemas.microsoft.com/office/drawing/2014/main" val="2793670967"/>
                    </a:ext>
                  </a:extLst>
                </a:gridCol>
                <a:gridCol w="324898">
                  <a:extLst>
                    <a:ext uri="{9D8B030D-6E8A-4147-A177-3AD203B41FA5}">
                      <a16:colId xmlns:a16="http://schemas.microsoft.com/office/drawing/2014/main" val="2653031101"/>
                    </a:ext>
                  </a:extLst>
                </a:gridCol>
                <a:gridCol w="324898">
                  <a:extLst>
                    <a:ext uri="{9D8B030D-6E8A-4147-A177-3AD203B41FA5}">
                      <a16:colId xmlns:a16="http://schemas.microsoft.com/office/drawing/2014/main" val="2569721618"/>
                    </a:ext>
                  </a:extLst>
                </a:gridCol>
                <a:gridCol w="649794">
                  <a:extLst>
                    <a:ext uri="{9D8B030D-6E8A-4147-A177-3AD203B41FA5}">
                      <a16:colId xmlns:a16="http://schemas.microsoft.com/office/drawing/2014/main" val="1370911114"/>
                    </a:ext>
                  </a:extLst>
                </a:gridCol>
              </a:tblGrid>
              <a:tr h="307670">
                <a:tc>
                  <a:txBody>
                    <a:bodyPr/>
                    <a:lstStyle/>
                    <a:p>
                      <a:pPr algn="l">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30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bg1"/>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bg1"/>
                          </a:solidFill>
                          <a:latin typeface="Courier New" panose="02070309020205020404" pitchFamily="49" charset="0"/>
                          <a:cs typeface="Courier New" panose="02070309020205020404" pitchFamily="49" charset="0"/>
                        </a:rPr>
                        <a:t>20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19</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15</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14</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12</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11</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7</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6</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90000"/>
                        </a:lnSpc>
                      </a:pPr>
                      <a:endPar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lnSpc>
                          <a:spcPct val="90000"/>
                        </a:lnSpc>
                      </a:pPr>
                      <a:r>
                        <a:rPr lang="en-US" sz="1600" b="0" i="0" strike="noStrike" dirty="0">
                          <a:solidFill>
                            <a:schemeClr val="tx1">
                              <a:lumMod val="50000"/>
                              <a:lumOff val="50000"/>
                            </a:schemeClr>
                          </a:solidFill>
                          <a:latin typeface="Courier New" panose="02070309020205020404" pitchFamily="49" charset="0"/>
                          <a:cs typeface="Courier New" panose="02070309020205020404" pitchFamily="49" charset="0"/>
                        </a:rPr>
                        <a:t>0</a:t>
                      </a:r>
                    </a:p>
                  </a:txBody>
                  <a:tcPr anchor="b">
                    <a:lnL w="12700" cmpd="sng">
                      <a:noFill/>
                    </a:lnL>
                    <a:lnR w="12700" cmpd="sng">
                      <a:noFill/>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313800"/>
                  </a:ext>
                </a:extLst>
              </a:tr>
              <a:tr h="296109">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[11:5]</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[10:0]</a:t>
                      </a:r>
                    </a:p>
                  </a:txBody>
                  <a:tcPr>
                    <a:lnL w="28575" cap="flat" cmpd="sng" algn="ctr">
                      <a:solidFill>
                        <a:schemeClr val="bg1">
                          <a:lumMod val="50000"/>
                        </a:schemeClr>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lnT w="28575" cap="flat" cmpd="sng" algn="ctr">
                      <a:solidFill>
                        <a:schemeClr val="bg1"/>
                      </a:solidFill>
                      <a:prstDash val="solid"/>
                      <a:round/>
                      <a:headEnd type="none" w="med" len="med"/>
                      <a:tailEnd type="none" w="med" len="med"/>
                    </a:lnT>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dirty="0" err="1">
                          <a:solidFill>
                            <a:schemeClr val="accent1"/>
                          </a:solidFill>
                          <a:latin typeface="Courier New" panose="02070309020205020404" pitchFamily="49" charset="0"/>
                          <a:cs typeface="Courier New" panose="02070309020205020404" pitchFamily="49" charset="0"/>
                        </a:rPr>
                        <a:t>imm</a:t>
                      </a:r>
                      <a:r>
                        <a:rPr lang="en-US" sz="1700" b="1" i="0" dirty="0">
                          <a:solidFill>
                            <a:schemeClr val="accent1"/>
                          </a:solidFill>
                          <a:latin typeface="Courier New" panose="02070309020205020404" pitchFamily="49" charset="0"/>
                          <a:cs typeface="Courier New" panose="02070309020205020404" pitchFamily="49" charset="0"/>
                        </a:rPr>
                        <a:t>[4:0]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funct3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r>
                        <a:rPr lang="en-US" sz="1700" b="1" i="0" strike="noStrike" dirty="0" err="1">
                          <a:solidFill>
                            <a:schemeClr val="tx1">
                              <a:lumMod val="50000"/>
                              <a:lumOff val="50000"/>
                            </a:schemeClr>
                          </a:solidFill>
                          <a:latin typeface="Courier New" panose="02070309020205020404" pitchFamily="49" charset="0"/>
                          <a:cs typeface="Courier New" panose="02070309020205020404" pitchFamily="49" charset="0"/>
                        </a:rPr>
                        <a:t>rd</a:t>
                      </a: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I-OPCODE</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4035830993"/>
                  </a:ext>
                </a:extLst>
              </a:tr>
              <a:tr h="296109">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a:t>
                      </a:r>
                      <a:r>
                        <a:rPr lang="en-US" sz="1700" b="1" i="0" strike="noStrike" dirty="0">
                          <a:solidFill>
                            <a:schemeClr val="accent6"/>
                          </a:solidFill>
                          <a:latin typeface="Courier New" panose="02070309020205020404" pitchFamily="49" charset="0"/>
                          <a:cs typeface="Courier New" panose="02070309020205020404" pitchFamily="49" charset="0"/>
                        </a:rPr>
                        <a:t>11</a:t>
                      </a:r>
                      <a:r>
                        <a:rPr lang="en-US" sz="1700" b="1" i="0" strike="noStrike" dirty="0">
                          <a:solidFill>
                            <a:schemeClr val="accent5"/>
                          </a:solidFill>
                          <a:latin typeface="Courier New" panose="02070309020205020404" pitchFamily="49" charset="0"/>
                          <a:cs typeface="Courier New" panose="02070309020205020404" pitchFamily="49" charset="0"/>
                        </a:rPr>
                        <a:t>|10:5]</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strike="noStrike" dirty="0" err="1">
                          <a:solidFill>
                            <a:schemeClr val="accent5"/>
                          </a:solidFill>
                          <a:latin typeface="Courier New" panose="02070309020205020404" pitchFamily="49" charset="0"/>
                          <a:cs typeface="Courier New" panose="02070309020205020404" pitchFamily="49" charset="0"/>
                        </a:rPr>
                        <a:t>imm</a:t>
                      </a:r>
                      <a:r>
                        <a:rPr lang="en-US" sz="1700" b="1" i="0" strike="noStrike" dirty="0">
                          <a:solidFill>
                            <a:schemeClr val="accent5"/>
                          </a:solidFill>
                          <a:latin typeface="Courier New" panose="02070309020205020404" pitchFamily="49" charset="0"/>
                          <a:cs typeface="Courier New" panose="02070309020205020404" pitchFamily="49" charset="0"/>
                        </a:rPr>
                        <a:t>[10:0]</a:t>
                      </a:r>
                    </a:p>
                  </a:txBody>
                  <a:tcPr>
                    <a:lnL w="28575" cap="flat" cmpd="sng" algn="ctr">
                      <a:solidFill>
                        <a:schemeClr val="bg1">
                          <a:lumMod val="50000"/>
                        </a:schemeClr>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lumMod val="50000"/>
                        </a:schemeClr>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dirty="0">
                          <a:solidFill>
                            <a:schemeClr val="tx1">
                              <a:lumMod val="50000"/>
                              <a:lumOff val="50000"/>
                            </a:schemeClr>
                          </a:solidFill>
                          <a:latin typeface="Courier New" panose="02070309020205020404" pitchFamily="49" charset="0"/>
                          <a:cs typeface="Courier New" panose="02070309020205020404" pitchFamily="49" charset="0"/>
                        </a:rPr>
                        <a:t>rs2</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3">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rs1</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2">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funct3</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algn="ctr">
                        <a:lnSpc>
                          <a:spcPct val="85000"/>
                        </a:lnSpc>
                      </a:pPr>
                      <a:r>
                        <a:rPr lang="en-US" sz="1700" b="1" i="0" strike="noStrike" dirty="0" err="1">
                          <a:solidFill>
                            <a:schemeClr val="accent1"/>
                          </a:solidFill>
                          <a:latin typeface="Courier New" panose="02070309020205020404" pitchFamily="49" charset="0"/>
                          <a:cs typeface="Courier New" panose="02070309020205020404" pitchFamily="49" charset="0"/>
                        </a:rPr>
                        <a:t>imm</a:t>
                      </a:r>
                      <a:r>
                        <a:rPr lang="en-US" sz="1700" b="1" i="0" strike="noStrike" dirty="0">
                          <a:solidFill>
                            <a:schemeClr val="accent1"/>
                          </a:solidFill>
                          <a:latin typeface="Courier New" panose="02070309020205020404" pitchFamily="49" charset="0"/>
                          <a:cs typeface="Courier New" panose="02070309020205020404" pitchFamily="49" charset="0"/>
                        </a:rPr>
                        <a:t>[4:0]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S-OPCODE</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tc hMerge="1">
                  <a:txBody>
                    <a:bodyPr/>
                    <a:lstStyle/>
                    <a:p>
                      <a:endParaRPr lang="en-US" b="1" i="0" dirty="0">
                        <a:solidFill>
                          <a:schemeClr val="bg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396715159"/>
                  </a:ext>
                </a:extLst>
              </a:tr>
              <a:tr h="296109">
                <a:tc gridSpan="5">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dirty="0" err="1">
                          <a:solidFill>
                            <a:schemeClr val="accent5"/>
                          </a:solidFill>
                          <a:latin typeface="Courier New" panose="02070309020205020404" pitchFamily="49" charset="0"/>
                          <a:cs typeface="Courier New" panose="02070309020205020404" pitchFamily="49" charset="0"/>
                        </a:rPr>
                        <a:t>imm</a:t>
                      </a:r>
                      <a:r>
                        <a:rPr lang="en-US" sz="1700" b="1" i="0" dirty="0">
                          <a:solidFill>
                            <a:schemeClr val="accent5"/>
                          </a:solidFill>
                          <a:latin typeface="Courier New" panose="02070309020205020404" pitchFamily="49" charset="0"/>
                          <a:cs typeface="Courier New" panose="02070309020205020404" pitchFamily="49" charset="0"/>
                        </a:rPr>
                        <a:t>[12|10:5]</a:t>
                      </a:r>
                    </a:p>
                  </a:txBody>
                  <a:tcP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85000"/>
                        </a:lnSpc>
                      </a:pPr>
                      <a:endParaRPr lang="en-US" sz="1700" b="1" i="0"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gridSpan="3">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gridSpan="2">
                  <a:txBody>
                    <a:bodyPr/>
                    <a:lstStyle/>
                    <a:p>
                      <a:pPr algn="ctr">
                        <a:lnSpc>
                          <a:spcPct val="85000"/>
                        </a:lnSpc>
                      </a:pPr>
                      <a:endPar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gridSpan="3">
                  <a:txBody>
                    <a:bodyPr/>
                    <a:lstStyle/>
                    <a:p>
                      <a:pPr marL="0" marR="0" lvl="0" indent="0" algn="ctr" defTabSz="914377" rtl="0" eaLnBrk="1" fontAlgn="auto" latinLnBrk="0" hangingPunct="1">
                        <a:lnSpc>
                          <a:spcPct val="85000"/>
                        </a:lnSpc>
                        <a:spcBef>
                          <a:spcPts val="0"/>
                        </a:spcBef>
                        <a:spcAft>
                          <a:spcPts val="0"/>
                        </a:spcAft>
                        <a:buClrTx/>
                        <a:buSzTx/>
                        <a:buFontTx/>
                        <a:buNone/>
                        <a:tabLst/>
                        <a:defRPr/>
                      </a:pPr>
                      <a:r>
                        <a:rPr lang="en-US" sz="1700" b="1" i="0" dirty="0" err="1">
                          <a:solidFill>
                            <a:schemeClr val="accent5"/>
                          </a:solidFill>
                          <a:latin typeface="Courier New" panose="02070309020205020404" pitchFamily="49" charset="0"/>
                          <a:cs typeface="Courier New" panose="02070309020205020404" pitchFamily="49" charset="0"/>
                        </a:rPr>
                        <a:t>imm</a:t>
                      </a:r>
                      <a:r>
                        <a:rPr lang="en-US" sz="1700" b="1" i="0" dirty="0">
                          <a:solidFill>
                            <a:schemeClr val="accent5"/>
                          </a:solidFill>
                          <a:latin typeface="Courier New" panose="02070309020205020404" pitchFamily="49" charset="0"/>
                          <a:cs typeface="Courier New" panose="02070309020205020404" pitchFamily="49" charset="0"/>
                        </a:rPr>
                        <a:t>[4:1|</a:t>
                      </a:r>
                      <a:r>
                        <a:rPr lang="en-US" sz="1700" b="1" i="0" dirty="0">
                          <a:solidFill>
                            <a:schemeClr val="accent6"/>
                          </a:solidFill>
                          <a:latin typeface="Courier New" panose="02070309020205020404" pitchFamily="49" charset="0"/>
                          <a:cs typeface="Courier New" panose="02070309020205020404" pitchFamily="49" charset="0"/>
                        </a:rPr>
                        <a:t>11</a:t>
                      </a:r>
                      <a:r>
                        <a:rPr lang="en-US" sz="1700" b="1" i="0" dirty="0">
                          <a:solidFill>
                            <a:schemeClr val="accent5"/>
                          </a:solidFill>
                          <a:latin typeface="Courier New" panose="02070309020205020404" pitchFamily="49" charset="0"/>
                          <a:cs typeface="Courier New" panose="02070309020205020404" pitchFamily="49" charset="0"/>
                        </a:rPr>
                        <a:t>]</a:t>
                      </a:r>
                      <a:endParaRPr lang="en-US" sz="1700" b="1" i="0" strike="noStrike" dirty="0">
                        <a:solidFill>
                          <a:schemeClr val="accent5"/>
                        </a:solidFill>
                        <a:latin typeface="Courier New" panose="02070309020205020404" pitchFamily="49" charset="0"/>
                        <a:cs typeface="Courier New" panose="020703090202050204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5">
                  <a:txBody>
                    <a:bodyPr/>
                    <a:lstStyle/>
                    <a:p>
                      <a:pPr algn="ctr">
                        <a:lnSpc>
                          <a:spcPct val="85000"/>
                        </a:lnSpc>
                      </a:pPr>
                      <a:r>
                        <a:rPr lang="en-US" sz="1700" b="1" i="0" strike="noStrike" dirty="0">
                          <a:solidFill>
                            <a:schemeClr val="tx1">
                              <a:lumMod val="50000"/>
                              <a:lumOff val="50000"/>
                            </a:schemeClr>
                          </a:solidFill>
                          <a:latin typeface="Courier New" panose="02070309020205020404" pitchFamily="49" charset="0"/>
                          <a:cs typeface="Courier New" panose="02070309020205020404" pitchFamily="49" charset="0"/>
                        </a:rPr>
                        <a:t>B-OPCODE</a:t>
                      </a:r>
                    </a:p>
                  </a:txBody>
                  <a:tcP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pattFill prst="dkUpDiag">
                      <a:fgClr>
                        <a:schemeClr val="tx1">
                          <a:lumMod val="75000"/>
                          <a:lumOff val="25000"/>
                        </a:schemeClr>
                      </a:fgClr>
                      <a:bgClr>
                        <a:srgbClr val="011223"/>
                      </a:bgClr>
                    </a:patt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78526701"/>
                  </a:ext>
                </a:extLst>
              </a:tr>
              <a:tr h="433192">
                <a:tc>
                  <a:txBody>
                    <a:bodyPr/>
                    <a:lstStyle/>
                    <a:p>
                      <a:pPr algn="ctr">
                        <a:lnSpc>
                          <a:spcPct val="35000"/>
                        </a:lnSpc>
                      </a:pPr>
                      <a:r>
                        <a:rPr kumimoji="0" lang="en-US" sz="2800" b="1" i="0" u="none" strike="noStrike" kern="1200" cap="none" spc="0" normalizeH="0" baseline="0" noProof="0" dirty="0">
                          <a:ln>
                            <a:noFill/>
                          </a:ln>
                          <a:solidFill>
                            <a:srgbClr val="FEC016"/>
                          </a:solidFill>
                          <a:effectLst/>
                          <a:uLnTx/>
                          <a:uFillTx/>
                          <a:latin typeface="Courier New" panose="02070309020205020404" pitchFamily="49" charset="0"/>
                          <a:ea typeface="+mn-ea"/>
                          <a:cs typeface="Courier New" panose="02070309020205020404" pitchFamily="49" charset="0"/>
                        </a:rPr>
                        <a:t>s</a:t>
                      </a:r>
                      <a:endParaRPr lang="en-US" sz="2800" b="1" i="0" strike="noStrike" dirty="0">
                        <a:solidFill>
                          <a:schemeClr val="bg1"/>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377" rtl="0" eaLnBrk="1" fontAlgn="auto" latinLnBrk="0" hangingPunct="1">
                        <a:lnSpc>
                          <a:spcPct val="35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p>
                  </a:txBody>
                  <a:tcPr anchor="b">
                    <a:lnL w="127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ctr">
                        <a:lnSpc>
                          <a:spcPct val="35000"/>
                        </a:lnSpc>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endParaRPr lang="en-US" sz="2800" b="1" i="0" dirty="0">
                        <a:solidFill>
                          <a:schemeClr val="accent6"/>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3">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2">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gridSpan="3">
                  <a:txBody>
                    <a:bodyPr/>
                    <a:lstStyle/>
                    <a:p>
                      <a:pPr marL="0" marR="0" lvl="0" indent="0" algn="ctr" defTabSz="914377" rtl="0" eaLnBrk="1" fontAlgn="auto" latinLnBrk="0" hangingPunct="1">
                        <a:lnSpc>
                          <a:spcPct val="35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gridSpan="5">
                  <a:txBody>
                    <a:bodyPr/>
                    <a:lstStyle/>
                    <a:p>
                      <a:pPr algn="ctr">
                        <a:lnSpc>
                          <a:spcPct val="35000"/>
                        </a:lnSpc>
                      </a:pPr>
                      <a:endParaRPr lang="en-US" sz="2800" b="1" i="0" strike="noStrike" dirty="0">
                        <a:solidFill>
                          <a:schemeClr val="tx1">
                            <a:lumMod val="50000"/>
                            <a:lumOff val="50000"/>
                          </a:schemeClr>
                        </a:solidFill>
                        <a:latin typeface="Courier New" panose="02070309020205020404" pitchFamily="49" charset="0"/>
                        <a:cs typeface="Courier New" panose="02070309020205020404" pitchFamily="49" charset="0"/>
                      </a:endParaRPr>
                    </a:p>
                  </a:txBody>
                  <a:tcPr anchor="b">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50966370"/>
                  </a:ext>
                </a:extLst>
              </a:tr>
            </a:tbl>
          </a:graphicData>
        </a:graphic>
      </p:graphicFrame>
      <p:sp>
        <p:nvSpPr>
          <p:cNvPr id="20" name="TextBox 19">
            <a:extLst>
              <a:ext uri="{FF2B5EF4-FFF2-40B4-BE49-F238E27FC236}">
                <a16:creationId xmlns:a16="http://schemas.microsoft.com/office/drawing/2014/main" id="{4F45530E-3643-1A25-60A4-6F448563C55C}"/>
              </a:ext>
            </a:extLst>
          </p:cNvPr>
          <p:cNvSpPr txBox="1"/>
          <p:nvPr/>
        </p:nvSpPr>
        <p:spPr>
          <a:xfrm>
            <a:off x="186525" y="1519893"/>
            <a:ext cx="830677" cy="400110"/>
          </a:xfrm>
          <a:prstGeom prst="rect">
            <a:avLst/>
          </a:prstGeom>
          <a:noFill/>
        </p:spPr>
        <p:txBody>
          <a:bodyPr wrap="none" rtlCol="0">
            <a:spAutoFit/>
          </a:bodyPr>
          <a:lstStyle/>
          <a:p>
            <a:pPr algn="r"/>
            <a:r>
              <a:rPr lang="en-US" sz="2000" dirty="0">
                <a:solidFill>
                  <a:schemeClr val="accent2"/>
                </a:solidFill>
                <a:latin typeface="18 VAG Rounded Light   02390" pitchFamily="2" charset="0"/>
              </a:rPr>
              <a:t>I-Type</a:t>
            </a:r>
          </a:p>
        </p:txBody>
      </p:sp>
      <p:sp>
        <p:nvSpPr>
          <p:cNvPr id="21" name="TextBox 20">
            <a:extLst>
              <a:ext uri="{FF2B5EF4-FFF2-40B4-BE49-F238E27FC236}">
                <a16:creationId xmlns:a16="http://schemas.microsoft.com/office/drawing/2014/main" id="{CF296DF6-FC24-FBFD-04BE-6EF37BB5AA7A}"/>
              </a:ext>
            </a:extLst>
          </p:cNvPr>
          <p:cNvSpPr txBox="1"/>
          <p:nvPr/>
        </p:nvSpPr>
        <p:spPr>
          <a:xfrm>
            <a:off x="126237" y="1844662"/>
            <a:ext cx="901208" cy="400110"/>
          </a:xfrm>
          <a:prstGeom prst="rect">
            <a:avLst/>
          </a:prstGeom>
          <a:noFill/>
        </p:spPr>
        <p:txBody>
          <a:bodyPr wrap="none" rtlCol="0">
            <a:spAutoFit/>
          </a:bodyPr>
          <a:lstStyle/>
          <a:p>
            <a:pPr algn="r"/>
            <a:r>
              <a:rPr lang="en-US" sz="2000" dirty="0">
                <a:solidFill>
                  <a:schemeClr val="accent2"/>
                </a:solidFill>
                <a:latin typeface="18 VAG Rounded Light   02390" pitchFamily="2" charset="0"/>
              </a:rPr>
              <a:t>S-Type</a:t>
            </a:r>
          </a:p>
        </p:txBody>
      </p:sp>
      <p:sp>
        <p:nvSpPr>
          <p:cNvPr id="62" name="Right Brace 61">
            <a:extLst>
              <a:ext uri="{FF2B5EF4-FFF2-40B4-BE49-F238E27FC236}">
                <a16:creationId xmlns:a16="http://schemas.microsoft.com/office/drawing/2014/main" id="{2B17013E-173F-50B8-FD0C-0FB269C2567B}"/>
              </a:ext>
            </a:extLst>
          </p:cNvPr>
          <p:cNvSpPr/>
          <p:nvPr/>
        </p:nvSpPr>
        <p:spPr>
          <a:xfrm rot="16200000">
            <a:off x="7657471" y="4740593"/>
            <a:ext cx="205201" cy="543132"/>
          </a:xfrm>
          <a:prstGeom prst="rightBrace">
            <a:avLst>
              <a:gd name="adj1" fmla="val 8333"/>
              <a:gd name="adj2" fmla="val 51673"/>
            </a:avLst>
          </a:prstGeom>
          <a:ln w="285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F615C9FD-60FD-7728-297F-0B159347E38C}"/>
              </a:ext>
            </a:extLst>
          </p:cNvPr>
          <p:cNvSpPr txBox="1"/>
          <p:nvPr/>
        </p:nvSpPr>
        <p:spPr>
          <a:xfrm>
            <a:off x="74940" y="2169431"/>
            <a:ext cx="915636" cy="400110"/>
          </a:xfrm>
          <a:prstGeom prst="rect">
            <a:avLst/>
          </a:prstGeom>
          <a:noFill/>
        </p:spPr>
        <p:txBody>
          <a:bodyPr wrap="none" rtlCol="0">
            <a:spAutoFit/>
          </a:bodyPr>
          <a:lstStyle/>
          <a:p>
            <a:pPr algn="r"/>
            <a:r>
              <a:rPr lang="en-US" sz="2000" dirty="0">
                <a:solidFill>
                  <a:schemeClr val="accent2"/>
                </a:solidFill>
                <a:latin typeface="18 VAG Rounded Light   02390" pitchFamily="2" charset="0"/>
              </a:rPr>
              <a:t>B-Type</a:t>
            </a:r>
          </a:p>
        </p:txBody>
      </p:sp>
      <p:sp>
        <p:nvSpPr>
          <p:cNvPr id="12" name="TextBox 11">
            <a:extLst>
              <a:ext uri="{FF2B5EF4-FFF2-40B4-BE49-F238E27FC236}">
                <a16:creationId xmlns:a16="http://schemas.microsoft.com/office/drawing/2014/main" id="{4F0415C6-45AC-1799-E5AF-10A695AD036E}"/>
              </a:ext>
            </a:extLst>
          </p:cNvPr>
          <p:cNvSpPr txBox="1"/>
          <p:nvPr/>
        </p:nvSpPr>
        <p:spPr>
          <a:xfrm>
            <a:off x="532758" y="3228085"/>
            <a:ext cx="2745979" cy="646331"/>
          </a:xfrm>
          <a:prstGeom prst="rect">
            <a:avLst/>
          </a:prstGeom>
          <a:noFill/>
        </p:spPr>
        <p:txBody>
          <a:bodyPr wrap="square" rtlCol="0">
            <a:spAutoFit/>
          </a:bodyPr>
          <a:lstStyle/>
          <a:p>
            <a:pPr marL="0" lvl="3" defTabSz="914377">
              <a:lnSpc>
                <a:spcPct val="90000"/>
              </a:lnSpc>
              <a:spcBef>
                <a:spcPts val="500"/>
              </a:spcBef>
              <a:buSzPct val="90000"/>
            </a:pPr>
            <a:r>
              <a:rPr lang="en-US" sz="2000" b="1" dirty="0" err="1">
                <a:solidFill>
                  <a:schemeClr val="bg1"/>
                </a:solidFill>
                <a:latin typeface="Courier New" panose="02070309020205020404" pitchFamily="49" charset="0"/>
                <a:cs typeface="Courier New" panose="02070309020205020404" pitchFamily="49" charset="0"/>
              </a:rPr>
              <a:t>inst</a:t>
            </a:r>
            <a:r>
              <a:rPr lang="en-US" sz="2000" b="1" dirty="0">
                <a:solidFill>
                  <a:schemeClr val="bg1"/>
                </a:solidFill>
                <a:latin typeface="Courier New" panose="02070309020205020404" pitchFamily="49" charset="0"/>
                <a:cs typeface="Courier New" panose="02070309020205020404" pitchFamily="49" charset="0"/>
              </a:rPr>
              <a:t>[31]</a:t>
            </a:r>
            <a:r>
              <a:rPr lang="en-US" sz="2000" dirty="0">
                <a:solidFill>
                  <a:schemeClr val="accent2"/>
                </a:solidFill>
                <a:latin typeface="18 VAG Rounded Light   02390" pitchFamily="2" charset="0"/>
              </a:rPr>
              <a:t> is always the sign bit.</a:t>
            </a:r>
          </a:p>
        </p:txBody>
      </p:sp>
      <p:sp>
        <p:nvSpPr>
          <p:cNvPr id="13" name="Left Brace 12">
            <a:extLst>
              <a:ext uri="{FF2B5EF4-FFF2-40B4-BE49-F238E27FC236}">
                <a16:creationId xmlns:a16="http://schemas.microsoft.com/office/drawing/2014/main" id="{BD7A72F0-79C4-DF73-2BC5-BFD431B97467}"/>
              </a:ext>
            </a:extLst>
          </p:cNvPr>
          <p:cNvSpPr/>
          <p:nvPr/>
        </p:nvSpPr>
        <p:spPr>
          <a:xfrm rot="16200000">
            <a:off x="1073056" y="2953695"/>
            <a:ext cx="191824" cy="206298"/>
          </a:xfrm>
          <a:prstGeom prst="leftBrace">
            <a:avLst/>
          </a:prstGeom>
          <a:ln w="28575">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8986DB34-6115-0202-2F99-E9B9B0AFE9A2}"/>
              </a:ext>
            </a:extLst>
          </p:cNvPr>
          <p:cNvSpPr txBox="1"/>
          <p:nvPr/>
        </p:nvSpPr>
        <p:spPr>
          <a:xfrm>
            <a:off x="6096000" y="3894493"/>
            <a:ext cx="2274982" cy="1059264"/>
          </a:xfrm>
          <a:prstGeom prst="rect">
            <a:avLst/>
          </a:prstGeom>
          <a:noFill/>
        </p:spPr>
        <p:txBody>
          <a:bodyPr wrap="none" rtlCol="0">
            <a:spAutoFit/>
          </a:bodyPr>
          <a:lstStyle/>
          <a:p>
            <a:pPr marL="0" marR="0" lvl="3" algn="l" defTabSz="914377" rtl="0" eaLnBrk="1" fontAlgn="auto" latinLnBrk="0" hangingPunct="1">
              <a:lnSpc>
                <a:spcPct val="90000"/>
              </a:lnSpc>
              <a:spcBef>
                <a:spcPts val="500"/>
              </a:spcBef>
              <a:spcAft>
                <a:spcPts val="0"/>
              </a:spcAft>
              <a:buClrTx/>
              <a:buSzPct val="90000"/>
              <a:tabLst/>
              <a:defRPr/>
            </a:pPr>
            <a:r>
              <a:rPr kumimoji="0" lang="en-US" sz="2000" b="0" i="0" u="none" strike="noStrike" kern="1200" cap="none" spc="0" normalizeH="0" baseline="0" noProof="0" dirty="0">
                <a:ln>
                  <a:noFill/>
                </a:ln>
                <a:solidFill>
                  <a:schemeClr val="accent6"/>
                </a:solidFill>
                <a:effectLst/>
                <a:uLnTx/>
                <a:uFillTx/>
                <a:latin typeface="18 VAG Rounded Light   02390" pitchFamily="2" charset="0"/>
                <a:ea typeface="+mn-ea"/>
                <a:cs typeface="+mn-cs"/>
              </a:rPr>
              <a:t>MUX for </a:t>
            </a:r>
            <a:r>
              <a:rPr kumimoji="0" lang="en-US" sz="2000" b="1" u="none" strike="noStrike" kern="1200" cap="none" spc="0" normalizeH="0" baseline="0" noProof="0" dirty="0" err="1">
                <a:ln>
                  <a:noFill/>
                </a:ln>
                <a:solidFill>
                  <a:schemeClr val="accent6"/>
                </a:solidFill>
                <a:effectLst/>
                <a:uLnTx/>
                <a:uFillTx/>
                <a:latin typeface="Courier New" panose="02070309020205020404" pitchFamily="49" charset="0"/>
                <a:cs typeface="Courier New" panose="02070309020205020404" pitchFamily="49" charset="0"/>
              </a:rPr>
              <a:t>imm</a:t>
            </a:r>
            <a:r>
              <a:rPr kumimoji="0" lang="en-US" sz="2000" b="1" u="none" strike="noStrike" kern="1200" cap="none" spc="0" normalizeH="0" baseline="0" noProof="0" dirty="0">
                <a:ln>
                  <a:noFill/>
                </a:ln>
                <a:solidFill>
                  <a:schemeClr val="accent6"/>
                </a:solidFill>
                <a:effectLst/>
                <a:uLnTx/>
                <a:uFillTx/>
                <a:latin typeface="Courier New" panose="02070309020205020404" pitchFamily="49" charset="0"/>
                <a:cs typeface="Courier New" panose="02070309020205020404" pitchFamily="49" charset="0"/>
              </a:rPr>
              <a:t>[11]</a:t>
            </a:r>
            <a:r>
              <a:rPr kumimoji="0" lang="en-US" sz="2000" b="0" i="0" u="none" strike="noStrike" kern="1200" cap="none" spc="0" normalizeH="0" baseline="0" noProof="0" dirty="0">
                <a:ln>
                  <a:noFill/>
                </a:ln>
                <a:solidFill>
                  <a:schemeClr val="accent6"/>
                </a:solidFill>
                <a:effectLst/>
                <a:uLnTx/>
                <a:uFillTx/>
                <a:latin typeface="18 VAG Rounded Light   02390" pitchFamily="2" charset="0"/>
                <a:ea typeface="+mn-ea"/>
                <a:cs typeface="+mn-cs"/>
              </a:rPr>
              <a:t>:</a:t>
            </a:r>
          </a:p>
          <a:p>
            <a:pPr marL="285750" marR="0" lvl="3" indent="-285750" algn="l" defTabSz="914377" rtl="0" eaLnBrk="1" fontAlgn="auto" latinLnBrk="0" hangingPunct="1">
              <a:lnSpc>
                <a:spcPct val="90000"/>
              </a:lnSpc>
              <a:spcBef>
                <a:spcPts val="500"/>
              </a:spcBef>
              <a:spcAft>
                <a:spcPts val="0"/>
              </a:spcAft>
              <a:buClrTx/>
              <a:buSzPct val="90000"/>
              <a:buFont typeface=".Hiragino Kaku Gothic Interface W3"/>
              <a:buChar char="▫"/>
              <a:tabLst/>
              <a:defRPr/>
            </a:pPr>
            <a:r>
              <a:rPr kumimoji="0" lang="en-US" sz="2000" b="0" i="0" u="none" strike="noStrike" kern="1200" cap="none" spc="0" normalizeH="0" baseline="0" noProof="0" dirty="0">
                <a:ln>
                  <a:noFill/>
                </a:ln>
                <a:solidFill>
                  <a:srgbClr val="C6DAC3"/>
                </a:solidFill>
                <a:effectLst/>
                <a:uLnTx/>
                <a:uFillTx/>
                <a:latin typeface="18 VAG Rounded Light   02390" pitchFamily="2" charset="0"/>
                <a:ea typeface="+mn-ea"/>
                <a:cs typeface="+mn-cs"/>
              </a:rPr>
              <a:t>I, S:</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a:t>
            </a:r>
            <a:r>
              <a:rPr kumimoji="0" lang="en-US" sz="20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inst</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[31]</a:t>
            </a:r>
            <a:endParaRPr kumimoji="0" lang="en-US" sz="2000" b="1" i="0" u="none" strike="noStrike" kern="1200" cap="none" spc="0" normalizeH="0" baseline="0" noProof="0" dirty="0">
              <a:ln>
                <a:noFill/>
              </a:ln>
              <a:solidFill>
                <a:srgbClr val="C6DAC3"/>
              </a:solidFill>
              <a:effectLst/>
              <a:uLnTx/>
              <a:uFillTx/>
              <a:latin typeface="18 VAG Rounded Light   02390" pitchFamily="2" charset="0"/>
              <a:ea typeface="+mn-ea"/>
              <a:cs typeface="Courier New" panose="02070309020205020404" pitchFamily="49" charset="0"/>
            </a:endParaRPr>
          </a:p>
          <a:p>
            <a:pPr marL="285750" marR="0" lvl="3" indent="-285750" algn="l" defTabSz="914377" rtl="0" eaLnBrk="1" fontAlgn="auto" latinLnBrk="0" hangingPunct="1">
              <a:lnSpc>
                <a:spcPct val="90000"/>
              </a:lnSpc>
              <a:spcBef>
                <a:spcPts val="500"/>
              </a:spcBef>
              <a:spcAft>
                <a:spcPts val="0"/>
              </a:spcAft>
              <a:buClrTx/>
              <a:buSzPct val="90000"/>
              <a:buFont typeface=".Hiragino Kaku Gothic Interface W3"/>
              <a:buChar char="▫"/>
              <a:tabLst/>
              <a:defRPr/>
            </a:pPr>
            <a:r>
              <a:rPr kumimoji="0" lang="en-US" sz="2000" b="0" i="0" u="none" strike="noStrike" kern="1200" cap="none" spc="0" normalizeH="0" baseline="0" noProof="0" dirty="0">
                <a:ln>
                  <a:noFill/>
                </a:ln>
                <a:solidFill>
                  <a:srgbClr val="C6DAC3"/>
                </a:solidFill>
                <a:effectLst/>
                <a:uLnTx/>
                <a:uFillTx/>
                <a:latin typeface="18 VAG Rounded Light   02390" pitchFamily="2" charset="0"/>
                <a:ea typeface="+mn-ea"/>
                <a:cs typeface="+mn-cs"/>
              </a:rPr>
              <a:t>B:  </a:t>
            </a:r>
            <a:r>
              <a:rPr kumimoji="0" lang="en-US" sz="20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inst</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r>
              <a:rPr lang="en-US" sz="2000" b="1" dirty="0">
                <a:solidFill>
                  <a:srgbClr val="FFFFFF"/>
                </a:solidFill>
                <a:latin typeface="Courier New" panose="02070309020205020404" pitchFamily="49" charset="0"/>
                <a:cs typeface="Courier New" panose="02070309020205020404" pitchFamily="49" charset="0"/>
              </a:rPr>
              <a:t>7</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a:t>
            </a:r>
            <a:endParaRPr lang="en-US" sz="2400" dirty="0">
              <a:solidFill>
                <a:schemeClr val="accent1"/>
              </a:solidFill>
              <a:latin typeface="18 VAG Rounded Light   02390" pitchFamily="2" charset="0"/>
            </a:endParaRPr>
          </a:p>
        </p:txBody>
      </p:sp>
      <p:sp>
        <p:nvSpPr>
          <p:cNvPr id="18" name="TextBox 17">
            <a:extLst>
              <a:ext uri="{FF2B5EF4-FFF2-40B4-BE49-F238E27FC236}">
                <a16:creationId xmlns:a16="http://schemas.microsoft.com/office/drawing/2014/main" id="{223A04D6-DBDF-9353-5D1A-0F066E3EB1C5}"/>
              </a:ext>
            </a:extLst>
          </p:cNvPr>
          <p:cNvSpPr txBox="1"/>
          <p:nvPr/>
        </p:nvSpPr>
        <p:spPr>
          <a:xfrm>
            <a:off x="9410708" y="3625188"/>
            <a:ext cx="2781292" cy="1328569"/>
          </a:xfrm>
          <a:prstGeom prst="rect">
            <a:avLst/>
          </a:prstGeom>
          <a:noFill/>
        </p:spPr>
        <p:txBody>
          <a:bodyPr wrap="square" rtlCol="0">
            <a:spAutoFit/>
          </a:bodyPr>
          <a:lstStyle/>
          <a:p>
            <a:pPr marL="0" marR="0" lvl="3" algn="l" defTabSz="914377" rtl="0" eaLnBrk="1" fontAlgn="auto" latinLnBrk="0" hangingPunct="1">
              <a:lnSpc>
                <a:spcPct val="90000"/>
              </a:lnSpc>
              <a:spcBef>
                <a:spcPts val="500"/>
              </a:spcBef>
              <a:spcAft>
                <a:spcPts val="0"/>
              </a:spcAft>
              <a:buClrTx/>
              <a:buSzPct val="90000"/>
              <a:tabLst/>
              <a:defRPr/>
            </a:pPr>
            <a:r>
              <a:rPr kumimoji="0" lang="en-US" sz="2000" b="0" i="0" u="none" strike="noStrike" kern="1200" cap="none" spc="0" normalizeH="0" baseline="0" noProof="0" dirty="0">
                <a:ln>
                  <a:noFill/>
                </a:ln>
                <a:solidFill>
                  <a:schemeClr val="accent4"/>
                </a:solidFill>
                <a:effectLst/>
                <a:uLnTx/>
                <a:uFillTx/>
                <a:latin typeface="18 VAG Rounded Light   02390" pitchFamily="2" charset="0"/>
                <a:ea typeface="+mn-ea"/>
                <a:cs typeface="+mn-cs"/>
              </a:rPr>
              <a:t>MUX for </a:t>
            </a:r>
            <a:r>
              <a:rPr kumimoji="0" lang="en-US" sz="2000" b="1" u="none" strike="noStrike" kern="1200" cap="none" spc="0" normalizeH="0" baseline="0" noProof="0" dirty="0" err="1">
                <a:ln>
                  <a:noFill/>
                </a:ln>
                <a:solidFill>
                  <a:schemeClr val="accent4"/>
                </a:solidFill>
                <a:effectLst/>
                <a:uLnTx/>
                <a:uFillTx/>
                <a:latin typeface="Courier New" panose="02070309020205020404" pitchFamily="49" charset="0"/>
                <a:cs typeface="Courier New" panose="02070309020205020404" pitchFamily="49" charset="0"/>
              </a:rPr>
              <a:t>imm</a:t>
            </a:r>
            <a:r>
              <a:rPr kumimoji="0" lang="en-US" sz="2000" b="1" u="none" strike="noStrike" kern="1200" cap="none" spc="0" normalizeH="0" baseline="0" noProof="0" dirty="0">
                <a:ln>
                  <a:noFill/>
                </a:ln>
                <a:solidFill>
                  <a:schemeClr val="accent4"/>
                </a:solidFill>
                <a:effectLst/>
                <a:uLnTx/>
                <a:uFillTx/>
                <a:latin typeface="Courier New" panose="02070309020205020404" pitchFamily="49" charset="0"/>
                <a:cs typeface="Courier New" panose="02070309020205020404" pitchFamily="49" charset="0"/>
              </a:rPr>
              <a:t>[0]</a:t>
            </a:r>
            <a:r>
              <a:rPr kumimoji="0" lang="en-US" sz="2000" b="0" i="0" u="none" strike="noStrike" kern="1200" cap="none" spc="0" normalizeH="0" baseline="0" noProof="0" dirty="0">
                <a:ln>
                  <a:noFill/>
                </a:ln>
                <a:solidFill>
                  <a:schemeClr val="accent4"/>
                </a:solidFill>
                <a:effectLst/>
                <a:uLnTx/>
                <a:uFillTx/>
                <a:latin typeface="18 VAG Rounded Light   02390" pitchFamily="2" charset="0"/>
                <a:ea typeface="+mn-ea"/>
                <a:cs typeface="+mn-cs"/>
              </a:rPr>
              <a:t>:</a:t>
            </a:r>
          </a:p>
          <a:p>
            <a:pPr marL="285750" marR="0" lvl="3" indent="-285750" algn="l" defTabSz="914377" rtl="0" eaLnBrk="1" fontAlgn="auto" latinLnBrk="0" hangingPunct="1">
              <a:lnSpc>
                <a:spcPct val="90000"/>
              </a:lnSpc>
              <a:spcBef>
                <a:spcPts val="500"/>
              </a:spcBef>
              <a:spcAft>
                <a:spcPts val="0"/>
              </a:spcAft>
              <a:buClrTx/>
              <a:buSzPct val="90000"/>
              <a:buFont typeface=".Hiragino Kaku Gothic Interface W3"/>
              <a:buChar char="▫"/>
              <a:tabLst/>
              <a:defRPr/>
            </a:pPr>
            <a:r>
              <a:rPr kumimoji="0" lang="en-US" sz="2000" b="0" i="0" u="none" strike="noStrike" kern="1200" cap="none" spc="0" normalizeH="0" baseline="0" noProof="0" dirty="0">
                <a:ln>
                  <a:noFill/>
                </a:ln>
                <a:solidFill>
                  <a:srgbClr val="C6DAC3"/>
                </a:solidFill>
                <a:effectLst/>
                <a:uLnTx/>
                <a:uFillTx/>
                <a:latin typeface="18 VAG Rounded Light   02390" pitchFamily="2" charset="0"/>
                <a:ea typeface="+mn-ea"/>
                <a:cs typeface="+mn-cs"/>
              </a:rPr>
              <a:t>S:</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 </a:t>
            </a:r>
            <a:r>
              <a:rPr kumimoji="0" lang="en-US" sz="2000" b="1" i="0" u="none" strike="noStrike" kern="1200" cap="none" spc="0" normalizeH="0" baseline="0" noProof="0" dirty="0" err="1">
                <a:ln>
                  <a:noFill/>
                </a:ln>
                <a:solidFill>
                  <a:srgbClr val="FFFFFF"/>
                </a:solidFill>
                <a:effectLst/>
                <a:uLnTx/>
                <a:uFillTx/>
                <a:latin typeface="Courier New" panose="02070309020205020404" pitchFamily="49" charset="0"/>
                <a:ea typeface="+mn-ea"/>
                <a:cs typeface="Courier New" panose="02070309020205020404" pitchFamily="49" charset="0"/>
              </a:rPr>
              <a:t>inst</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[7]</a:t>
            </a:r>
            <a:endParaRPr kumimoji="0" lang="en-US" sz="2000" b="1" i="0" u="none" strike="noStrike" kern="1200" cap="none" spc="0" normalizeH="0" baseline="0" noProof="0" dirty="0">
              <a:ln>
                <a:noFill/>
              </a:ln>
              <a:solidFill>
                <a:srgbClr val="C6DAC3"/>
              </a:solidFill>
              <a:effectLst/>
              <a:uLnTx/>
              <a:uFillTx/>
              <a:latin typeface="18 VAG Rounded Light   02390" pitchFamily="2" charset="0"/>
              <a:ea typeface="+mn-ea"/>
              <a:cs typeface="Courier New" panose="02070309020205020404" pitchFamily="49" charset="0"/>
            </a:endParaRPr>
          </a:p>
          <a:p>
            <a:pPr marL="285750" marR="0" lvl="3" indent="-285750" algn="l" defTabSz="914377" rtl="0" eaLnBrk="1" fontAlgn="auto" latinLnBrk="0" hangingPunct="1">
              <a:lnSpc>
                <a:spcPct val="90000"/>
              </a:lnSpc>
              <a:spcBef>
                <a:spcPts val="500"/>
              </a:spcBef>
              <a:spcAft>
                <a:spcPts val="0"/>
              </a:spcAft>
              <a:buClrTx/>
              <a:buSzPct val="90000"/>
              <a:buFont typeface=".Hiragino Kaku Gothic Interface W3"/>
              <a:buChar char="▫"/>
              <a:tabLst/>
              <a:defRPr/>
            </a:pPr>
            <a:r>
              <a:rPr kumimoji="0" lang="en-US" sz="2000" b="0" i="0" u="none" strike="noStrike" kern="1200" cap="none" spc="0" normalizeH="0" baseline="0" noProof="0" dirty="0">
                <a:ln>
                  <a:noFill/>
                </a:ln>
                <a:solidFill>
                  <a:srgbClr val="C6DAC3"/>
                </a:solidFill>
                <a:effectLst/>
                <a:uLnTx/>
                <a:uFillTx/>
                <a:latin typeface="18 VAG Rounded Light   02390" pitchFamily="2" charset="0"/>
                <a:ea typeface="+mn-ea"/>
                <a:cs typeface="+mn-cs"/>
              </a:rPr>
              <a:t>B:  </a:t>
            </a:r>
            <a:r>
              <a:rPr kumimoji="0" lang="en-US" sz="2000" b="1" i="0" u="none" strike="noStrike" kern="1200" cap="none" spc="0" normalizeH="0" baseline="0" noProof="0" dirty="0">
                <a:ln>
                  <a:noFill/>
                </a:ln>
                <a:solidFill>
                  <a:srgbClr val="FFFFFF"/>
                </a:solidFill>
                <a:effectLst/>
                <a:uLnTx/>
                <a:uFillTx/>
                <a:latin typeface="Courier New" panose="02070309020205020404" pitchFamily="49" charset="0"/>
                <a:ea typeface="+mn-ea"/>
                <a:cs typeface="Courier New" panose="02070309020205020404" pitchFamily="49" charset="0"/>
              </a:rPr>
              <a:t>0 </a:t>
            </a:r>
            <a:r>
              <a:rPr kumimoji="0" lang="en-US" sz="2000" u="none" strike="noStrike" kern="1200" cap="none" spc="0" normalizeH="0" baseline="0" noProof="0" dirty="0">
                <a:ln>
                  <a:noFill/>
                </a:ln>
                <a:solidFill>
                  <a:schemeClr val="accent2"/>
                </a:solidFill>
                <a:effectLst/>
                <a:uLnTx/>
                <a:uFillTx/>
                <a:latin typeface="18 VAG Rounded Light   02390" pitchFamily="2" charset="0"/>
                <a:cs typeface="Courier New" panose="02070309020205020404" pitchFamily="49" charset="0"/>
              </a:rPr>
              <a:t>(implicit 0;</a:t>
            </a:r>
            <a:br>
              <a:rPr kumimoji="0" lang="en-US" sz="2000" u="none" strike="noStrike" kern="1200" cap="none" spc="0" normalizeH="0" baseline="0" noProof="0" dirty="0">
                <a:ln>
                  <a:noFill/>
                </a:ln>
                <a:solidFill>
                  <a:schemeClr val="accent2"/>
                </a:solidFill>
                <a:effectLst/>
                <a:uLnTx/>
                <a:uFillTx/>
                <a:latin typeface="18 VAG Rounded Light   02390" pitchFamily="2" charset="0"/>
                <a:cs typeface="Courier New" panose="02070309020205020404" pitchFamily="49" charset="0"/>
              </a:rPr>
            </a:br>
            <a:r>
              <a:rPr kumimoji="0" lang="en-US" sz="2000" u="none" strike="noStrike" kern="1200" cap="none" spc="0" normalizeH="0" baseline="0" noProof="0" dirty="0">
                <a:ln>
                  <a:noFill/>
                </a:ln>
                <a:solidFill>
                  <a:schemeClr val="accent2"/>
                </a:solidFill>
                <a:effectLst/>
                <a:uLnTx/>
                <a:uFillTx/>
                <a:latin typeface="18 VAG Rounded Light   02390" pitchFamily="2" charset="0"/>
                <a:cs typeface="Courier New" panose="02070309020205020404" pitchFamily="49" charset="0"/>
              </a:rPr>
              <a:t>half-words </a:t>
            </a:r>
            <a:r>
              <a:rPr kumimoji="0" lang="en-US" sz="2000" u="none" strike="noStrike" kern="1200" cap="none" spc="0" normalizeH="0" baseline="0" noProof="0" dirty="0">
                <a:ln>
                  <a:noFill/>
                </a:ln>
                <a:solidFill>
                  <a:schemeClr val="accent2"/>
                </a:solidFill>
                <a:effectLst/>
                <a:uLnTx/>
                <a:uFillTx/>
                <a:latin typeface="18 VAG Rounded Light   02390" pitchFamily="2" charset="0"/>
                <a:cs typeface="Courier New" panose="02070309020205020404" pitchFamily="49" charset="0"/>
                <a:sym typeface="Wingdings" pitchFamily="2" charset="2"/>
              </a:rPr>
              <a:t> bytes)</a:t>
            </a:r>
            <a:endParaRPr lang="en-US" sz="2400" dirty="0">
              <a:solidFill>
                <a:schemeClr val="accent2"/>
              </a:solidFill>
              <a:latin typeface="18 VAG Rounded Light   02390" pitchFamily="2" charset="0"/>
            </a:endParaRPr>
          </a:p>
        </p:txBody>
      </p:sp>
      <p:sp>
        <p:nvSpPr>
          <p:cNvPr id="27" name="Right Brace 26">
            <a:extLst>
              <a:ext uri="{FF2B5EF4-FFF2-40B4-BE49-F238E27FC236}">
                <a16:creationId xmlns:a16="http://schemas.microsoft.com/office/drawing/2014/main" id="{36D2A16E-6A96-CB79-3598-8F35DBA82341}"/>
              </a:ext>
            </a:extLst>
          </p:cNvPr>
          <p:cNvSpPr/>
          <p:nvPr/>
        </p:nvSpPr>
        <p:spPr>
          <a:xfrm rot="16200000">
            <a:off x="11314351" y="4807879"/>
            <a:ext cx="205201" cy="408560"/>
          </a:xfrm>
          <a:prstGeom prst="rightBrace">
            <a:avLst>
              <a:gd name="adj1" fmla="val 8333"/>
              <a:gd name="adj2" fmla="val 51673"/>
            </a:avLst>
          </a:prstGeom>
          <a:ln w="28575">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Rectangle 27">
            <a:extLst>
              <a:ext uri="{FF2B5EF4-FFF2-40B4-BE49-F238E27FC236}">
                <a16:creationId xmlns:a16="http://schemas.microsoft.com/office/drawing/2014/main" id="{66B6224D-C58E-28FC-1204-043788C7A9C7}"/>
              </a:ext>
            </a:extLst>
          </p:cNvPr>
          <p:cNvSpPr/>
          <p:nvPr/>
        </p:nvSpPr>
        <p:spPr>
          <a:xfrm>
            <a:off x="980634" y="2542768"/>
            <a:ext cx="398386" cy="391390"/>
          </a:xfrm>
          <a:prstGeom prst="rect">
            <a:avLst/>
          </a:prstGeom>
          <a:noFill/>
          <a:ln w="3810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29" name="Rectangle 28">
            <a:extLst>
              <a:ext uri="{FF2B5EF4-FFF2-40B4-BE49-F238E27FC236}">
                <a16:creationId xmlns:a16="http://schemas.microsoft.com/office/drawing/2014/main" id="{1BBBA4F5-4F7F-0545-1A9E-DD458C8D6208}"/>
              </a:ext>
            </a:extLst>
          </p:cNvPr>
          <p:cNvSpPr/>
          <p:nvPr/>
        </p:nvSpPr>
        <p:spPr>
          <a:xfrm>
            <a:off x="8702877" y="2542768"/>
            <a:ext cx="398386" cy="391390"/>
          </a:xfrm>
          <a:prstGeom prst="rect">
            <a:avLst/>
          </a:prstGeom>
          <a:noFill/>
          <a:ln w="3810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3" name="Rectangle 32">
            <a:extLst>
              <a:ext uri="{FF2B5EF4-FFF2-40B4-BE49-F238E27FC236}">
                <a16:creationId xmlns:a16="http://schemas.microsoft.com/office/drawing/2014/main" id="{A1A3AD44-E980-ACEB-87EA-DE0238729C16}"/>
              </a:ext>
            </a:extLst>
          </p:cNvPr>
          <p:cNvSpPr/>
          <p:nvPr/>
        </p:nvSpPr>
        <p:spPr>
          <a:xfrm>
            <a:off x="8766546" y="2579382"/>
            <a:ext cx="284857" cy="343201"/>
          </a:xfrm>
          <a:prstGeom prst="rect">
            <a:avLst/>
          </a:prstGeom>
          <a:noFill/>
          <a:ln w="381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51" name="TextBox 50">
            <a:extLst>
              <a:ext uri="{FF2B5EF4-FFF2-40B4-BE49-F238E27FC236}">
                <a16:creationId xmlns:a16="http://schemas.microsoft.com/office/drawing/2014/main" id="{30D63973-D502-0946-0DFB-BA79EF8CB593}"/>
              </a:ext>
            </a:extLst>
          </p:cNvPr>
          <p:cNvSpPr txBox="1"/>
          <p:nvPr/>
        </p:nvSpPr>
        <p:spPr>
          <a:xfrm>
            <a:off x="1388068" y="6284595"/>
            <a:ext cx="3925243" cy="377026"/>
          </a:xfrm>
          <a:prstGeom prst="rect">
            <a:avLst/>
          </a:prstGeom>
          <a:noFill/>
        </p:spPr>
        <p:txBody>
          <a:bodyPr wrap="square" rtlCol="0">
            <a:spAutoFit/>
          </a:bodyPr>
          <a:lstStyle/>
          <a:p>
            <a:pPr>
              <a:lnSpc>
                <a:spcPct val="90000"/>
              </a:lnSpc>
            </a:pPr>
            <a:r>
              <a:rPr lang="en-US" sz="2000" b="1" dirty="0">
                <a:solidFill>
                  <a:schemeClr val="bg1"/>
                </a:solidFill>
                <a:latin typeface="18 VAG Rounded Bold   07390" pitchFamily="2" charset="0"/>
                <a:cs typeface="Courier New" panose="02070309020205020404" pitchFamily="49" charset="0"/>
              </a:rPr>
              <a:t>Immediate </a:t>
            </a:r>
            <a:r>
              <a:rPr lang="en-US" sz="2000" b="1" dirty="0" err="1">
                <a:solidFill>
                  <a:schemeClr val="bg1"/>
                </a:solidFill>
                <a:latin typeface="Courier New" panose="02070309020205020404" pitchFamily="49" charset="0"/>
                <a:cs typeface="Courier New" panose="02070309020205020404" pitchFamily="49" charset="0"/>
              </a:rPr>
              <a:t>imm</a:t>
            </a:r>
            <a:r>
              <a:rPr lang="en-US" sz="2000" b="1" dirty="0">
                <a:solidFill>
                  <a:schemeClr val="bg1"/>
                </a:solidFill>
                <a:latin typeface="Courier New" panose="02070309020205020404" pitchFamily="49" charset="0"/>
                <a:cs typeface="Courier New" panose="02070309020205020404" pitchFamily="49" charset="0"/>
              </a:rPr>
              <a:t>[31:0]</a:t>
            </a:r>
          </a:p>
        </p:txBody>
      </p:sp>
      <p:sp>
        <p:nvSpPr>
          <p:cNvPr id="52" name="TextBox 51">
            <a:extLst>
              <a:ext uri="{FF2B5EF4-FFF2-40B4-BE49-F238E27FC236}">
                <a16:creationId xmlns:a16="http://schemas.microsoft.com/office/drawing/2014/main" id="{D3BE2BE8-F10F-5BCC-8996-966494FBCEAD}"/>
              </a:ext>
            </a:extLst>
          </p:cNvPr>
          <p:cNvSpPr txBox="1"/>
          <p:nvPr/>
        </p:nvSpPr>
        <p:spPr>
          <a:xfrm>
            <a:off x="126237" y="976809"/>
            <a:ext cx="3925243" cy="377026"/>
          </a:xfrm>
          <a:prstGeom prst="rect">
            <a:avLst/>
          </a:prstGeom>
          <a:noFill/>
        </p:spPr>
        <p:txBody>
          <a:bodyPr wrap="square" rtlCol="0">
            <a:spAutoFit/>
          </a:bodyPr>
          <a:lstStyle/>
          <a:p>
            <a:pPr>
              <a:lnSpc>
                <a:spcPct val="90000"/>
              </a:lnSpc>
            </a:pPr>
            <a:r>
              <a:rPr lang="en-US" sz="2000" b="1" dirty="0">
                <a:solidFill>
                  <a:schemeClr val="bg1"/>
                </a:solidFill>
                <a:latin typeface="18 VAG Rounded Bold   07390" pitchFamily="2" charset="0"/>
                <a:cs typeface="Courier New" panose="02070309020205020404" pitchFamily="49" charset="0"/>
              </a:rPr>
              <a:t>Instruction </a:t>
            </a:r>
            <a:r>
              <a:rPr lang="en-US" sz="2000" b="1" dirty="0" err="1">
                <a:solidFill>
                  <a:schemeClr val="bg1"/>
                </a:solidFill>
                <a:latin typeface="Courier New" panose="02070309020205020404" pitchFamily="49" charset="0"/>
                <a:cs typeface="Courier New" panose="02070309020205020404" pitchFamily="49" charset="0"/>
              </a:rPr>
              <a:t>inst</a:t>
            </a:r>
            <a:r>
              <a:rPr lang="en-US" sz="2000" b="1" dirty="0">
                <a:solidFill>
                  <a:schemeClr val="bg1"/>
                </a:solidFill>
                <a:latin typeface="Courier New" panose="02070309020205020404" pitchFamily="49" charset="0"/>
                <a:cs typeface="Courier New" panose="02070309020205020404" pitchFamily="49" charset="0"/>
              </a:rPr>
              <a:t>[31:0]</a:t>
            </a:r>
          </a:p>
        </p:txBody>
      </p:sp>
      <p:sp>
        <p:nvSpPr>
          <p:cNvPr id="10" name="TextBox 9">
            <a:extLst>
              <a:ext uri="{FF2B5EF4-FFF2-40B4-BE49-F238E27FC236}">
                <a16:creationId xmlns:a16="http://schemas.microsoft.com/office/drawing/2014/main" id="{B82ABD5C-D778-31B9-9C8E-473E225F9FF8}"/>
              </a:ext>
            </a:extLst>
          </p:cNvPr>
          <p:cNvSpPr txBox="1"/>
          <p:nvPr/>
        </p:nvSpPr>
        <p:spPr>
          <a:xfrm>
            <a:off x="532758" y="3894493"/>
            <a:ext cx="2912969" cy="646331"/>
          </a:xfrm>
          <a:prstGeom prst="rect">
            <a:avLst/>
          </a:prstGeom>
          <a:noFill/>
        </p:spPr>
        <p:txBody>
          <a:bodyPr wrap="square" rtlCol="0">
            <a:spAutoFit/>
          </a:bodyPr>
          <a:lstStyle/>
          <a:p>
            <a:r>
              <a:rPr lang="en-US" sz="1800" dirty="0">
                <a:solidFill>
                  <a:schemeClr val="bg1"/>
                </a:solidFill>
                <a:latin typeface="18 VAG Rounded Light   02390" pitchFamily="2" charset="0"/>
                <a:cs typeface="Courier New" panose="02070309020205020404" pitchFamily="49" charset="0"/>
              </a:rPr>
              <a:t>Sign-extend </a:t>
            </a:r>
            <a:r>
              <a:rPr lang="en-US" sz="1800" b="1" dirty="0" err="1">
                <a:solidFill>
                  <a:schemeClr val="bg1"/>
                </a:solidFill>
                <a:latin typeface="Courier New" panose="02070309020205020404" pitchFamily="49" charset="0"/>
                <a:cs typeface="Courier New" panose="02070309020205020404" pitchFamily="49" charset="0"/>
              </a:rPr>
              <a:t>inst</a:t>
            </a:r>
            <a:r>
              <a:rPr lang="en-US" sz="1800" b="1" dirty="0">
                <a:solidFill>
                  <a:schemeClr val="bg1"/>
                </a:solidFill>
                <a:latin typeface="Courier New" panose="02070309020205020404" pitchFamily="49" charset="0"/>
                <a:cs typeface="Courier New" panose="02070309020205020404" pitchFamily="49" charset="0"/>
              </a:rPr>
              <a:t>[31]</a:t>
            </a:r>
            <a:r>
              <a:rPr lang="en-US" sz="1800" dirty="0">
                <a:solidFill>
                  <a:schemeClr val="bg1"/>
                </a:solidFill>
                <a:latin typeface="18 VAG Rounded Light   02390" pitchFamily="2" charset="0"/>
                <a:cs typeface="Courier New" panose="02070309020205020404" pitchFamily="49" charset="0"/>
              </a:rPr>
              <a:t> to </a:t>
            </a:r>
            <a:r>
              <a:rPr lang="en-US" sz="1800" b="1" dirty="0" err="1">
                <a:solidFill>
                  <a:schemeClr val="accent3"/>
                </a:solidFill>
                <a:latin typeface="Courier New" panose="02070309020205020404" pitchFamily="49" charset="0"/>
                <a:cs typeface="Courier New" panose="02070309020205020404" pitchFamily="49" charset="0"/>
              </a:rPr>
              <a:t>imm</a:t>
            </a:r>
            <a:r>
              <a:rPr lang="en-US" sz="1800" b="1" dirty="0">
                <a:solidFill>
                  <a:schemeClr val="accent3"/>
                </a:solidFill>
                <a:latin typeface="Courier New" panose="02070309020205020404" pitchFamily="49" charset="0"/>
                <a:cs typeface="Courier New" panose="02070309020205020404" pitchFamily="49" charset="0"/>
              </a:rPr>
              <a:t>[31:12]</a:t>
            </a:r>
            <a:r>
              <a:rPr lang="en-US" sz="1800" dirty="0">
                <a:solidFill>
                  <a:schemeClr val="bg1"/>
                </a:solidFill>
                <a:latin typeface="18 VAG Rounded Light   02390" pitchFamily="2" charset="0"/>
                <a:cs typeface="Courier New" panose="02070309020205020404" pitchFamily="49" charset="0"/>
              </a:rPr>
              <a:t>.</a:t>
            </a:r>
            <a:endParaRPr lang="en-US" sz="1800" b="1" dirty="0">
              <a:solidFill>
                <a:schemeClr val="bg1"/>
              </a:solidFill>
              <a:latin typeface="Courier New" panose="02070309020205020404" pitchFamily="49" charset="0"/>
              <a:cs typeface="Courier New" panose="02070309020205020404" pitchFamily="49" charset="0"/>
            </a:endParaRPr>
          </a:p>
        </p:txBody>
      </p:sp>
      <p:sp>
        <p:nvSpPr>
          <p:cNvPr id="15" name="Triangle 14">
            <a:extLst>
              <a:ext uri="{FF2B5EF4-FFF2-40B4-BE49-F238E27FC236}">
                <a16:creationId xmlns:a16="http://schemas.microsoft.com/office/drawing/2014/main" id="{27938524-80E7-0A9D-7D37-B2037DFA544E}"/>
              </a:ext>
            </a:extLst>
          </p:cNvPr>
          <p:cNvSpPr/>
          <p:nvPr/>
        </p:nvSpPr>
        <p:spPr>
          <a:xfrm>
            <a:off x="1164209" y="4966119"/>
            <a:ext cx="6330099" cy="464333"/>
          </a:xfrm>
          <a:prstGeom prst="triangle">
            <a:avLst>
              <a:gd name="adj" fmla="val 15551"/>
            </a:avLst>
          </a:prstGeom>
          <a:solidFill>
            <a:schemeClr val="accent3">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cxnSp>
        <p:nvCxnSpPr>
          <p:cNvPr id="16" name="Elbow Connector 15">
            <a:extLst>
              <a:ext uri="{FF2B5EF4-FFF2-40B4-BE49-F238E27FC236}">
                <a16:creationId xmlns:a16="http://schemas.microsoft.com/office/drawing/2014/main" id="{6F74AC03-1049-7A8E-B037-8347A5E090F4}"/>
              </a:ext>
            </a:extLst>
          </p:cNvPr>
          <p:cNvCxnSpPr>
            <a:cxnSpLocks/>
            <a:stCxn id="10" idx="2"/>
          </p:cNvCxnSpPr>
          <p:nvPr/>
        </p:nvCxnSpPr>
        <p:spPr>
          <a:xfrm rot="16200000" flipH="1">
            <a:off x="1856275" y="4673792"/>
            <a:ext cx="425294" cy="159358"/>
          </a:xfrm>
          <a:prstGeom prst="bentConnector3">
            <a:avLst>
              <a:gd name="adj1" fmla="val 50000"/>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989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12" grpId="0"/>
      <p:bldP spid="13" grpId="0" animBg="1"/>
      <p:bldP spid="14" grpId="0"/>
      <p:bldP spid="18" grpId="0"/>
      <p:bldP spid="27" grpId="0" animBg="1"/>
      <p:bldP spid="28" grpId="0" animBg="1"/>
      <p:bldP spid="29" grpId="0" animBg="1"/>
      <p:bldP spid="33" grpId="0" animBg="1"/>
      <p:bldP spid="5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Elbow Connector 47">
            <a:extLst>
              <a:ext uri="{FF2B5EF4-FFF2-40B4-BE49-F238E27FC236}">
                <a16:creationId xmlns:a16="http://schemas.microsoft.com/office/drawing/2014/main" id="{4D67F4C3-EE0B-0AB6-C888-18BABDC42D15}"/>
              </a:ext>
            </a:extLst>
          </p:cNvPr>
          <p:cNvCxnSpPr>
            <a:cxnSpLocks/>
          </p:cNvCxnSpPr>
          <p:nvPr/>
        </p:nvCxnSpPr>
        <p:spPr>
          <a:xfrm rot="5400000" flipH="1" flipV="1">
            <a:off x="3006389" y="2371414"/>
            <a:ext cx="477525" cy="270723"/>
          </a:xfrm>
          <a:prstGeom prst="bentConnector3">
            <a:avLst>
              <a:gd name="adj1" fmla="val -2954"/>
            </a:avLst>
          </a:prstGeom>
          <a:ln w="28575">
            <a:solidFill>
              <a:schemeClr val="tx1">
                <a:lumMod val="50000"/>
                <a:lumOff val="50000"/>
              </a:schemeClr>
            </a:solidFill>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20B0524C-B3D6-FA0D-AA74-AEEC706BF9C3}"/>
              </a:ext>
            </a:extLst>
          </p:cNvPr>
          <p:cNvGrpSpPr/>
          <p:nvPr/>
        </p:nvGrpSpPr>
        <p:grpSpPr>
          <a:xfrm>
            <a:off x="669619" y="2248996"/>
            <a:ext cx="2712208" cy="1271016"/>
            <a:chOff x="669619" y="2248996"/>
            <a:chExt cx="2712208" cy="1271016"/>
          </a:xfrm>
        </p:grpSpPr>
        <p:grpSp>
          <p:nvGrpSpPr>
            <p:cNvPr id="25" name="Group 24">
              <a:extLst>
                <a:ext uri="{FF2B5EF4-FFF2-40B4-BE49-F238E27FC236}">
                  <a16:creationId xmlns:a16="http://schemas.microsoft.com/office/drawing/2014/main" id="{29D4ABCB-6D72-088C-EB33-ED8335AEC873}"/>
                </a:ext>
              </a:extLst>
            </p:cNvPr>
            <p:cNvGrpSpPr/>
            <p:nvPr/>
          </p:nvGrpSpPr>
          <p:grpSpPr>
            <a:xfrm>
              <a:off x="669619" y="2260284"/>
              <a:ext cx="2712208" cy="1242570"/>
              <a:chOff x="669619" y="2260284"/>
              <a:chExt cx="2712208" cy="1242570"/>
            </a:xfrm>
          </p:grpSpPr>
          <p:cxnSp>
            <p:nvCxnSpPr>
              <p:cNvPr id="39" name="Straight Connector 38">
                <a:extLst>
                  <a:ext uri="{FF2B5EF4-FFF2-40B4-BE49-F238E27FC236}">
                    <a16:creationId xmlns:a16="http://schemas.microsoft.com/office/drawing/2014/main" id="{C7AFEF1A-E253-1F7D-ACD5-B188F341E97B}"/>
                  </a:ext>
                </a:extLst>
              </p:cNvPr>
              <p:cNvCxnSpPr>
                <a:cxnSpLocks/>
              </p:cNvCxnSpPr>
              <p:nvPr/>
            </p:nvCxnSpPr>
            <p:spPr>
              <a:xfrm flipV="1">
                <a:off x="675203" y="2260284"/>
                <a:ext cx="2706624" cy="1985"/>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7D95047-B73D-2607-2946-9E98AFB3468E}"/>
                  </a:ext>
                </a:extLst>
              </p:cNvPr>
              <p:cNvCxnSpPr>
                <a:cxnSpLocks/>
              </p:cNvCxnSpPr>
              <p:nvPr/>
            </p:nvCxnSpPr>
            <p:spPr>
              <a:xfrm flipV="1">
                <a:off x="669619" y="3502852"/>
                <a:ext cx="274320" cy="2"/>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28" name="Straight Connector 27">
              <a:extLst>
                <a:ext uri="{FF2B5EF4-FFF2-40B4-BE49-F238E27FC236}">
                  <a16:creationId xmlns:a16="http://schemas.microsoft.com/office/drawing/2014/main" id="{C49B0D19-D590-586B-8A00-1EBB61A1D5A5}"/>
                </a:ext>
              </a:extLst>
            </p:cNvPr>
            <p:cNvCxnSpPr/>
            <p:nvPr/>
          </p:nvCxnSpPr>
          <p:spPr>
            <a:xfrm flipH="1">
              <a:off x="675203" y="2248996"/>
              <a:ext cx="0" cy="1271016"/>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grpSp>
      <p:sp>
        <p:nvSpPr>
          <p:cNvPr id="35" name="Rounded Rectangle 34">
            <a:extLst>
              <a:ext uri="{FF2B5EF4-FFF2-40B4-BE49-F238E27FC236}">
                <a16:creationId xmlns:a16="http://schemas.microsoft.com/office/drawing/2014/main" id="{0F34E2EF-E6E4-480A-85BB-220BE1C28AFF}"/>
              </a:ext>
            </a:extLst>
          </p:cNvPr>
          <p:cNvSpPr/>
          <p:nvPr/>
        </p:nvSpPr>
        <p:spPr>
          <a:xfrm>
            <a:off x="4095066" y="4684066"/>
            <a:ext cx="734547" cy="615137"/>
          </a:xfrm>
          <a:prstGeom prst="roundRect">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bg1"/>
                </a:solidFill>
                <a:latin typeface="18 VAG Rounded Light   02390" pitchFamily="2" charset="0"/>
              </a:rPr>
              <a:t>Imm</a:t>
            </a:r>
            <a:r>
              <a:rPr lang="en-US" sz="1400" dirty="0">
                <a:solidFill>
                  <a:schemeClr val="bg1"/>
                </a:solidFill>
                <a:latin typeface="18 VAG Rounded Light   02390" pitchFamily="2" charset="0"/>
              </a:rPr>
              <a:t>. Gen</a:t>
            </a:r>
          </a:p>
        </p:txBody>
      </p:sp>
      <p:cxnSp>
        <p:nvCxnSpPr>
          <p:cNvPr id="476" name="Straight Arrow Connector 475">
            <a:extLst>
              <a:ext uri="{FF2B5EF4-FFF2-40B4-BE49-F238E27FC236}">
                <a16:creationId xmlns:a16="http://schemas.microsoft.com/office/drawing/2014/main" id="{542881D0-E006-5FD1-06B4-BF7FDE875101}"/>
              </a:ext>
            </a:extLst>
          </p:cNvPr>
          <p:cNvCxnSpPr>
            <a:cxnSpLocks/>
          </p:cNvCxnSpPr>
          <p:nvPr/>
        </p:nvCxnSpPr>
        <p:spPr>
          <a:xfrm>
            <a:off x="6985475" y="4381734"/>
            <a:ext cx="0" cy="1184173"/>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B1CA216-A44B-94A2-491B-0FE076CC9699}"/>
              </a:ext>
            </a:extLst>
          </p:cNvPr>
          <p:cNvCxnSpPr>
            <a:cxnSpLocks/>
          </p:cNvCxnSpPr>
          <p:nvPr/>
        </p:nvCxnSpPr>
        <p:spPr>
          <a:xfrm>
            <a:off x="7198463" y="4391981"/>
            <a:ext cx="0" cy="1173926"/>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E4D1DEAE-7AAB-4FA5-9AC7-CEF254DF6C1E}"/>
              </a:ext>
            </a:extLst>
          </p:cNvPr>
          <p:cNvCxnSpPr>
            <a:cxnSpLocks/>
          </p:cNvCxnSpPr>
          <p:nvPr/>
        </p:nvCxnSpPr>
        <p:spPr>
          <a:xfrm>
            <a:off x="7983123" y="4427042"/>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lstStyle/>
          <a:p>
            <a:pPr>
              <a:tabLst>
                <a:tab pos="10280650" algn="r"/>
              </a:tabLst>
            </a:pPr>
            <a:r>
              <a:rPr lang="en-US" dirty="0"/>
              <a:t>Block Updates Needed for </a:t>
            </a:r>
            <a:r>
              <a:rPr lang="en-US" dirty="0">
                <a:solidFill>
                  <a:schemeClr val="bg2"/>
                </a:solidFill>
                <a:latin typeface="Courier New" panose="02070309020205020404" pitchFamily="49" charset="0"/>
                <a:cs typeface="Courier New" panose="02070309020205020404" pitchFamily="49" charset="0"/>
              </a:rPr>
              <a:t>JAL</a:t>
            </a:r>
          </a:p>
        </p:txBody>
      </p:sp>
      <p:sp>
        <p:nvSpPr>
          <p:cNvPr id="184" name="Line 86">
            <a:extLst>
              <a:ext uri="{FF2B5EF4-FFF2-40B4-BE49-F238E27FC236}">
                <a16:creationId xmlns:a16="http://schemas.microsoft.com/office/drawing/2014/main" id="{06A984C2-C1BE-5F6D-FBBD-BEB503CEC828}"/>
              </a:ext>
            </a:extLst>
          </p:cNvPr>
          <p:cNvSpPr>
            <a:spLocks noChangeShapeType="1"/>
          </p:cNvSpPr>
          <p:nvPr/>
        </p:nvSpPr>
        <p:spPr bwMode="auto">
          <a:xfrm>
            <a:off x="3802643" y="2384802"/>
            <a:ext cx="7082471" cy="11296"/>
          </a:xfrm>
          <a:prstGeom prst="line">
            <a:avLst/>
          </a:prstGeom>
          <a:noFill/>
          <a:ln w="28575" cap="rnd">
            <a:solidFill>
              <a:schemeClr val="bg1"/>
            </a:solidFill>
            <a:round/>
            <a:headEnd/>
            <a:tailEnd/>
          </a:ln>
        </p:spPr>
        <p:txBody>
          <a:bodyPr wrap="none" anchor="ctr">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1125" b="0" i="0" u="none" strike="noStrike" kern="0" cap="none" spc="0" normalizeH="0" baseline="0" noProof="0">
              <a:ln>
                <a:noFill/>
              </a:ln>
              <a:solidFill>
                <a:schemeClr val="bg1"/>
              </a:solidFill>
              <a:effectLst/>
              <a:uLnTx/>
              <a:uFillTx/>
              <a:latin typeface="VAG Rundschrift D Light"/>
              <a:ea typeface="ＭＳ Ｐゴシック" pitchFamily="-1" charset="-128"/>
            </a:endParaRP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r>
              <a:rPr lang="en-US" sz="1400" i="1" dirty="0" err="1">
                <a:solidFill>
                  <a:schemeClr val="tx1">
                    <a:lumMod val="50000"/>
                    <a:lumOff val="50000"/>
                  </a:schemeClr>
                </a:solidFill>
                <a:latin typeface="18 VAG Rounded Light   02390" pitchFamily="2" charset="0"/>
              </a:rPr>
              <a:t>inst</a:t>
            </a:r>
            <a:endParaRPr lang="en-US" sz="1400" i="1" dirty="0">
              <a:solidFill>
                <a:schemeClr val="tx1">
                  <a:lumMod val="50000"/>
                  <a:lumOff val="50000"/>
                </a:schemeClr>
              </a:solidFill>
              <a:latin typeface="18 VAG Rounded Light   02390" pitchFamily="2" charset="0"/>
            </a:endParaRPr>
          </a:p>
          <a:p>
            <a:endParaRPr lang="en-US" sz="1600" dirty="0">
              <a:solidFill>
                <a:schemeClr val="tx1">
                  <a:lumMod val="50000"/>
                  <a:lumOff val="50000"/>
                </a:schemeClr>
              </a:solidFill>
              <a:latin typeface="18 VAG Rounded Light   02390" pitchFamily="2" charset="0"/>
            </a:endParaRPr>
          </a:p>
          <a:p>
            <a:r>
              <a:rPr lang="en-US" sz="1600" b="1" dirty="0">
                <a:solidFill>
                  <a:schemeClr val="tx1">
                    <a:lumMod val="50000"/>
                    <a:lumOff val="50000"/>
                  </a:schemeClr>
                </a:solidFill>
                <a:latin typeface="Courier New" panose="02070309020205020404" pitchFamily="49" charset="0"/>
                <a:cs typeface="Courier New" panose="02070309020205020404" pitchFamily="49" charset="0"/>
              </a:rPr>
              <a:t>IMEM</a:t>
            </a:r>
          </a:p>
        </p:txBody>
      </p:sp>
      <p:sp>
        <p:nvSpPr>
          <p:cNvPr id="320" name="Rounded Rectangle 319">
            <a:extLst>
              <a:ext uri="{FF2B5EF4-FFF2-40B4-BE49-F238E27FC236}">
                <a16:creationId xmlns:a16="http://schemas.microsoft.com/office/drawing/2014/main" id="{4FDE1979-E809-7A50-A64F-A7DC871340D6}"/>
              </a:ext>
            </a:extLst>
          </p:cNvPr>
          <p:cNvSpPr/>
          <p:nvPr/>
        </p:nvSpPr>
        <p:spPr>
          <a:xfrm>
            <a:off x="6623312" y="3477823"/>
            <a:ext cx="723547" cy="890604"/>
          </a:xfrm>
          <a:prstGeom prst="round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dirty="0">
                <a:solidFill>
                  <a:schemeClr val="tx1">
                    <a:lumMod val="50000"/>
                    <a:lumOff val="50000"/>
                  </a:schemeClr>
                </a:solidFill>
                <a:latin typeface="18 VAG Rounded Light   02390" pitchFamily="2" charset="0"/>
              </a:rPr>
              <a:t>Branch Comp.</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tx1">
                    <a:lumMod val="50000"/>
                    <a:lumOff val="50000"/>
                  </a:schemeClr>
                </a:solidFill>
                <a:latin typeface="18 VAG Rounded Light   02390" pitchFamily="2" charset="0"/>
              </a:rPr>
              <a:t>add</a:t>
            </a:r>
          </a:p>
        </p:txBody>
      </p:sp>
      <p:sp>
        <p:nvSpPr>
          <p:cNvPr id="329" name="Isosceles Triangle 59">
            <a:extLst>
              <a:ext uri="{FF2B5EF4-FFF2-40B4-BE49-F238E27FC236}">
                <a16:creationId xmlns:a16="http://schemas.microsoft.com/office/drawing/2014/main" id="{4BB69EA9-5AFD-ECF3-6FBC-565768226B64}"/>
              </a:ext>
            </a:extLst>
          </p:cNvPr>
          <p:cNvSpPr/>
          <p:nvPr/>
        </p:nvSpPr>
        <p:spPr>
          <a:xfrm>
            <a:off x="9886099" y="4540637"/>
            <a:ext cx="182880"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tx1">
                  <a:lumMod val="50000"/>
                  <a:lumOff val="50000"/>
                </a:schemeClr>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tx1">
                    <a:lumMod val="50000"/>
                    <a:lumOff val="50000"/>
                  </a:schemeClr>
                </a:solidFill>
                <a:effectLst/>
                <a:uLnTx/>
                <a:uFillTx/>
                <a:latin typeface="18 VAG Rounded Light   02390" pitchFamily="2" charset="0"/>
              </a:endParaRPr>
            </a:p>
          </p:txBody>
        </p:sp>
      </p:gr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accent5"/>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29E1759E-8C1A-B8F6-C0AE-84288FE3023D}"/>
              </a:ext>
            </a:extLst>
          </p:cNvPr>
          <p:cNvCxnSpPr>
            <a:cxnSpLocks/>
          </p:cNvCxnSpPr>
          <p:nvPr/>
        </p:nvCxnSpPr>
        <p:spPr>
          <a:xfrm flipV="1">
            <a:off x="6246033" y="3676635"/>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9" name="Elbow Connector 398">
            <a:extLst>
              <a:ext uri="{FF2B5EF4-FFF2-40B4-BE49-F238E27FC236}">
                <a16:creationId xmlns:a16="http://schemas.microsoft.com/office/drawing/2014/main" id="{81177FA1-F44B-D412-678F-D0996FE371E5}"/>
              </a:ext>
            </a:extLst>
          </p:cNvPr>
          <p:cNvCxnSpPr>
            <a:cxnSpLocks/>
          </p:cNvCxnSpPr>
          <p:nvPr/>
        </p:nvCxnSpPr>
        <p:spPr>
          <a:xfrm rot="16200000" flipH="1">
            <a:off x="7031628" y="3034682"/>
            <a:ext cx="94632" cy="1367664"/>
          </a:xfrm>
          <a:prstGeom prst="bentConnector4">
            <a:avLst>
              <a:gd name="adj1" fmla="val -456294"/>
              <a:gd name="adj2" fmla="val 76963"/>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349656" y="301100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sp>
        <p:nvSpPr>
          <p:cNvPr id="309" name="Rectangle 308">
            <a:extLst>
              <a:ext uri="{FF2B5EF4-FFF2-40B4-BE49-F238E27FC236}">
                <a16:creationId xmlns:a16="http://schemas.microsoft.com/office/drawing/2014/main" id="{6BC64DA7-A1B1-1E33-61B5-D83764BAC155}"/>
              </a:ext>
            </a:extLst>
          </p:cNvPr>
          <p:cNvSpPr/>
          <p:nvPr/>
        </p:nvSpPr>
        <p:spPr>
          <a:xfrm>
            <a:off x="9120628" y="3586419"/>
            <a:ext cx="1021734" cy="1127284"/>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tx1">
                    <a:lumMod val="50000"/>
                    <a:lumOff val="50000"/>
                  </a:schemeClr>
                </a:solidFill>
                <a:latin typeface="18 VAG Rounded Light   02390" pitchFamily="2" charset="0"/>
              </a:rPr>
              <a:t>	</a:t>
            </a:r>
            <a:r>
              <a:rPr lang="en-US" sz="1400" i="1" dirty="0" err="1">
                <a:solidFill>
                  <a:schemeClr val="tx1">
                    <a:lumMod val="50000"/>
                    <a:lumOff val="50000"/>
                  </a:schemeClr>
                </a:solidFill>
                <a:latin typeface="18 VAG Rounded Light   02390" pitchFamily="2" charset="0"/>
              </a:rPr>
              <a:t>dataR</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err="1">
                <a:solidFill>
                  <a:schemeClr val="tx1">
                    <a:lumMod val="50000"/>
                    <a:lumOff val="50000"/>
                  </a:schemeClr>
                </a:solidFill>
                <a:latin typeface="18 VAG Rounded Light   02390" pitchFamily="2" charset="0"/>
              </a:rPr>
              <a:t>addr</a:t>
            </a:r>
            <a:endParaRPr lang="en-US" sz="1400" i="1" dirty="0">
              <a:solidFill>
                <a:schemeClr val="tx1">
                  <a:lumMod val="50000"/>
                  <a:lumOff val="50000"/>
                </a:schemeClr>
              </a:solidFill>
              <a:latin typeface="18 VAG Rounded Light   02390" pitchFamily="2" charset="0"/>
            </a:endParaRPr>
          </a:p>
          <a:p>
            <a:pPr algn="r">
              <a:spcBef>
                <a:spcPts val="400"/>
              </a:spcBef>
              <a:tabLst>
                <a:tab pos="1249363" algn="r"/>
              </a:tabLst>
            </a:pPr>
            <a:r>
              <a:rPr lang="en-US" sz="1600" b="1" dirty="0">
                <a:solidFill>
                  <a:schemeClr val="tx1">
                    <a:lumMod val="50000"/>
                    <a:lumOff val="50000"/>
                  </a:schemeClr>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tx1">
                    <a:lumMod val="50000"/>
                    <a:lumOff val="50000"/>
                  </a:schemeClr>
                </a:solidFill>
                <a:latin typeface="18 VAG ROUNDED LIGHT   02390" pitchFamily="2" charset="0"/>
                <a:cs typeface="Courier New" panose="02070309020205020404" pitchFamily="49" charset="0"/>
              </a:rPr>
              <a:t>dataW</a:t>
            </a:r>
            <a:r>
              <a:rPr lang="en-US" sz="1600" i="1" dirty="0">
                <a:solidFill>
                  <a:schemeClr val="tx1">
                    <a:lumMod val="50000"/>
                    <a:lumOff val="50000"/>
                  </a:schemeClr>
                </a:solidFill>
                <a:latin typeface="18 VAG ROUNDED LIGHT   02390" pitchFamily="2" charset="0"/>
                <a:cs typeface="Courier New" panose="02070309020205020404" pitchFamily="49" charset="0"/>
              </a:rPr>
              <a:t> </a:t>
            </a:r>
            <a:endParaRPr lang="en-US" sz="1200" i="1" dirty="0">
              <a:solidFill>
                <a:schemeClr val="tx1">
                  <a:lumMod val="50000"/>
                  <a:lumOff val="50000"/>
                </a:schemeClr>
              </a:solidFill>
              <a:latin typeface="18 VAG ROUNDED LIGHT   02390" pitchFamily="2" charset="0"/>
              <a:cs typeface="Courier New" panose="02070309020205020404" pitchFamily="49" charset="0"/>
            </a:endParaRPr>
          </a:p>
        </p:txBody>
      </p:sp>
      <p:cxnSp>
        <p:nvCxnSpPr>
          <p:cNvPr id="427" name="Straight Arrow Connector 426">
            <a:extLst>
              <a:ext uri="{FF2B5EF4-FFF2-40B4-BE49-F238E27FC236}">
                <a16:creationId xmlns:a16="http://schemas.microsoft.com/office/drawing/2014/main" id="{67A46396-A71B-E5C3-E2EC-583B4A603C90}"/>
              </a:ext>
            </a:extLst>
          </p:cNvPr>
          <p:cNvCxnSpPr>
            <a:cxnSpLocks/>
          </p:cNvCxnSpPr>
          <p:nvPr/>
        </p:nvCxnSpPr>
        <p:spPr>
          <a:xfrm>
            <a:off x="7983123" y="3661650"/>
            <a:ext cx="301752" cy="149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5" name="Straight Arrow Connector 444">
            <a:extLst>
              <a:ext uri="{FF2B5EF4-FFF2-40B4-BE49-F238E27FC236}">
                <a16:creationId xmlns:a16="http://schemas.microsoft.com/office/drawing/2014/main" id="{2D1A0F8A-F1AA-0736-73BB-5204DAFA85B2}"/>
              </a:ext>
            </a:extLst>
          </p:cNvPr>
          <p:cNvCxnSpPr>
            <a:cxnSpLocks/>
          </p:cNvCxnSpPr>
          <p:nvPr/>
        </p:nvCxnSpPr>
        <p:spPr>
          <a:xfrm flipV="1">
            <a:off x="1043816" y="3915845"/>
            <a:ext cx="0" cy="162163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9" name="Straight Arrow Connector 448">
            <a:extLst>
              <a:ext uri="{FF2B5EF4-FFF2-40B4-BE49-F238E27FC236}">
                <a16:creationId xmlns:a16="http://schemas.microsoft.com/office/drawing/2014/main" id="{98CA2B2E-5BEF-6E19-FC37-311D08B845B0}"/>
              </a:ext>
            </a:extLst>
          </p:cNvPr>
          <p:cNvCxnSpPr>
            <a:cxnSpLocks/>
          </p:cNvCxnSpPr>
          <p:nvPr/>
        </p:nvCxnSpPr>
        <p:spPr>
          <a:xfrm flipV="1">
            <a:off x="9596488" y="4736341"/>
            <a:ext cx="0" cy="801140"/>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61" name="TextBox 460">
            <a:extLst>
              <a:ext uri="{FF2B5EF4-FFF2-40B4-BE49-F238E27FC236}">
                <a16:creationId xmlns:a16="http://schemas.microsoft.com/office/drawing/2014/main" id="{FE738B2C-2C36-2578-E323-38E7D6FA3739}"/>
              </a:ext>
            </a:extLst>
          </p:cNvPr>
          <p:cNvSpPr txBox="1"/>
          <p:nvPr/>
        </p:nvSpPr>
        <p:spPr>
          <a:xfrm>
            <a:off x="9813943" y="4842550"/>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62" name="Straight Connector 461">
            <a:extLst>
              <a:ext uri="{FF2B5EF4-FFF2-40B4-BE49-F238E27FC236}">
                <a16:creationId xmlns:a16="http://schemas.microsoft.com/office/drawing/2014/main" id="{C60DDE42-432D-6CCE-975F-C92E5D285C26}"/>
              </a:ext>
            </a:extLst>
          </p:cNvPr>
          <p:cNvCxnSpPr>
            <a:cxnSpLocks/>
            <a:stCxn id="461" idx="0"/>
          </p:cNvCxnSpPr>
          <p:nvPr/>
        </p:nvCxnSpPr>
        <p:spPr>
          <a:xfrm flipV="1">
            <a:off x="9984823" y="4713414"/>
            <a:ext cx="0" cy="129136"/>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7F68ECD-ACAD-374E-B7B5-00E15FD21DCB}"/>
              </a:ext>
            </a:extLst>
          </p:cNvPr>
          <p:cNvSpPr txBox="1"/>
          <p:nvPr/>
        </p:nvSpPr>
        <p:spPr>
          <a:xfrm>
            <a:off x="8489762" y="3245823"/>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tx1">
                  <a:lumMod val="50000"/>
                  <a:lumOff val="50000"/>
                </a:schemeClr>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5" name="Elbow Connector 434">
            <a:extLst>
              <a:ext uri="{FF2B5EF4-FFF2-40B4-BE49-F238E27FC236}">
                <a16:creationId xmlns:a16="http://schemas.microsoft.com/office/drawing/2014/main" id="{424B80CA-05F9-1646-30DD-53D39995ABBD}"/>
              </a:ext>
            </a:extLst>
          </p:cNvPr>
          <p:cNvCxnSpPr>
            <a:cxnSpLocks/>
          </p:cNvCxnSpPr>
          <p:nvPr/>
        </p:nvCxnSpPr>
        <p:spPr>
          <a:xfrm rot="16200000" flipV="1">
            <a:off x="7177509" y="4577033"/>
            <a:ext cx="1646116" cy="274779"/>
          </a:xfrm>
          <a:prstGeom prst="bentConnector3">
            <a:avLst>
              <a:gd name="adj1" fmla="val 91265"/>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D38A11AD-8791-608A-0552-C121A94FF645}"/>
              </a:ext>
            </a:extLst>
          </p:cNvPr>
          <p:cNvCxnSpPr>
            <a:cxnSpLocks/>
          </p:cNvCxnSpPr>
          <p:nvPr/>
        </p:nvCxnSpPr>
        <p:spPr>
          <a:xfrm flipV="1">
            <a:off x="6768025" y="4402393"/>
            <a:ext cx="0" cy="1135088"/>
          </a:xfrm>
          <a:prstGeom prst="straightConnector1">
            <a:avLst/>
          </a:prstGeom>
          <a:ln w="127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C66CA67-38E7-34E8-E7FC-AAD1AEB58582}"/>
              </a:ext>
            </a:extLst>
          </p:cNvPr>
          <p:cNvGrpSpPr/>
          <p:nvPr/>
        </p:nvGrpSpPr>
        <p:grpSpPr>
          <a:xfrm>
            <a:off x="6261052" y="4187510"/>
            <a:ext cx="2859576" cy="605832"/>
            <a:chOff x="6261052" y="4187510"/>
            <a:chExt cx="2859576" cy="605832"/>
          </a:xfrm>
        </p:grpSpPr>
        <p:cxnSp>
          <p:nvCxnSpPr>
            <p:cNvPr id="420" name="Elbow Connector 419">
              <a:extLst>
                <a:ext uri="{FF2B5EF4-FFF2-40B4-BE49-F238E27FC236}">
                  <a16:creationId xmlns:a16="http://schemas.microsoft.com/office/drawing/2014/main" id="{DE0A5376-D330-42E2-FB65-5A8544619591}"/>
                </a:ext>
              </a:extLst>
            </p:cNvPr>
            <p:cNvCxnSpPr/>
            <p:nvPr/>
          </p:nvCxnSpPr>
          <p:spPr>
            <a:xfrm>
              <a:off x="6389559" y="4187510"/>
              <a:ext cx="2501519" cy="605832"/>
            </a:xfrm>
            <a:prstGeom prst="bentConnector3">
              <a:avLst>
                <a:gd name="adj1" fmla="val -363"/>
              </a:avLst>
            </a:prstGeom>
            <a:ln w="28575">
              <a:solidFill>
                <a:schemeClr val="tx1">
                  <a:lumMod val="50000"/>
                  <a:lumOff val="50000"/>
                </a:schemeClr>
              </a:solidFill>
              <a:headEnd type="oval"/>
              <a:tailEnd type="none" w="lg" len="lg"/>
            </a:ln>
            <a:effectLst>
              <a:glow rad="88900">
                <a:srgbClr val="011223">
                  <a:alpha val="90000"/>
                </a:srgbClr>
              </a:glow>
            </a:effectLst>
          </p:spPr>
          <p:style>
            <a:lnRef idx="1">
              <a:schemeClr val="accent1"/>
            </a:lnRef>
            <a:fillRef idx="0">
              <a:schemeClr val="accent1"/>
            </a:fillRef>
            <a:effectRef idx="0">
              <a:schemeClr val="accent1"/>
            </a:effectRef>
            <a:fontRef idx="minor">
              <a:schemeClr val="tx1"/>
            </a:fontRef>
          </p:style>
        </p:cxnSp>
        <p:cxnSp>
          <p:nvCxnSpPr>
            <p:cNvPr id="421" name="Elbow Connector 420">
              <a:extLst>
                <a:ext uri="{FF2B5EF4-FFF2-40B4-BE49-F238E27FC236}">
                  <a16:creationId xmlns:a16="http://schemas.microsoft.com/office/drawing/2014/main" id="{356B3A68-0F26-F67A-1004-D091F831F6EB}"/>
                </a:ext>
              </a:extLst>
            </p:cNvPr>
            <p:cNvCxnSpPr>
              <a:cxnSpLocks/>
            </p:cNvCxnSpPr>
            <p:nvPr/>
          </p:nvCxnSpPr>
          <p:spPr>
            <a:xfrm rot="5400000" flipH="1" flipV="1">
              <a:off x="8879358" y="4552072"/>
              <a:ext cx="252992" cy="229548"/>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4" name="Elbow Connector 423">
              <a:extLst>
                <a:ext uri="{FF2B5EF4-FFF2-40B4-BE49-F238E27FC236}">
                  <a16:creationId xmlns:a16="http://schemas.microsoft.com/office/drawing/2014/main" id="{8C12DBEE-9119-E687-12AE-4F54DD2F9145}"/>
                </a:ext>
              </a:extLst>
            </p:cNvPr>
            <p:cNvCxnSpPr>
              <a:cxnSpLocks/>
            </p:cNvCxnSpPr>
            <p:nvPr/>
          </p:nvCxnSpPr>
          <p:spPr>
            <a:xfrm rot="5400000" flipH="1" flipV="1">
              <a:off x="7322511" y="4361210"/>
              <a:ext cx="518548" cy="328277"/>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296AC102-0DC9-9CA8-A46D-84AEF8599F88}"/>
                </a:ext>
              </a:extLst>
            </p:cNvPr>
            <p:cNvCxnSpPr/>
            <p:nvPr/>
          </p:nvCxnSpPr>
          <p:spPr>
            <a:xfrm flipV="1">
              <a:off x="6261052" y="4187510"/>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22" name="TextBox 421">
            <a:extLst>
              <a:ext uri="{FF2B5EF4-FFF2-40B4-BE49-F238E27FC236}">
                <a16:creationId xmlns:a16="http://schemas.microsoft.com/office/drawing/2014/main" id="{C2019ECA-1D43-2798-7640-624AE67C748A}"/>
              </a:ext>
            </a:extLst>
          </p:cNvPr>
          <p:cNvSpPr txBox="1"/>
          <p:nvPr/>
        </p:nvSpPr>
        <p:spPr>
          <a:xfrm>
            <a:off x="6156892" y="4747081"/>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tx1">
                  <a:lumMod val="50000"/>
                  <a:lumOff val="50000"/>
                </a:schemeClr>
              </a:solidFill>
              <a:latin typeface="18 VAG Rounded Light   02390" pitchFamily="2" charset="0"/>
            </a:endParaRPr>
          </a:p>
        </p:txBody>
      </p: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cxnSp>
        <p:nvCxnSpPr>
          <p:cNvPr id="19" name="Straight Arrow Connector 18">
            <a:extLst>
              <a:ext uri="{FF2B5EF4-FFF2-40B4-BE49-F238E27FC236}">
                <a16:creationId xmlns:a16="http://schemas.microsoft.com/office/drawing/2014/main" id="{537A331C-250D-4072-F6B6-25839190A52F}"/>
              </a:ext>
            </a:extLst>
          </p:cNvPr>
          <p:cNvCxnSpPr>
            <a:cxnSpLocks/>
          </p:cNvCxnSpPr>
          <p:nvPr/>
        </p:nvCxnSpPr>
        <p:spPr>
          <a:xfrm flipV="1">
            <a:off x="1170363" y="3643964"/>
            <a:ext cx="27432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tx1">
                  <a:lumMod val="50000"/>
                  <a:lumOff val="50000"/>
                </a:schemeClr>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tx1">
                  <a:lumMod val="50000"/>
                  <a:lumOff val="50000"/>
                </a:schemeClr>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74264EDC-6D20-221A-1FA0-C23197F903B2}"/>
              </a:ext>
            </a:extLst>
          </p:cNvPr>
          <p:cNvCxnSpPr>
            <a:cxnSpLocks/>
            <a:stCxn id="20" idx="0"/>
          </p:cNvCxnSpPr>
          <p:nvPr/>
        </p:nvCxnSpPr>
        <p:spPr>
          <a:xfrm rot="5400000" flipH="1" flipV="1">
            <a:off x="1830481" y="3046480"/>
            <a:ext cx="703576" cy="542602"/>
          </a:xfrm>
          <a:prstGeom prst="bentConnector3">
            <a:avLst>
              <a:gd name="adj1" fmla="val 10054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tx1">
                  <a:lumMod val="50000"/>
                  <a:lumOff val="50000"/>
                </a:schemeClr>
              </a:solidFill>
              <a:latin typeface="18 VAG Rounded Light   02390" pitchFamily="2" charset="0"/>
            </a:endParaRPr>
          </a:p>
        </p:txBody>
      </p:sp>
      <p:cxnSp>
        <p:nvCxnSpPr>
          <p:cNvPr id="477" name="Straight Arrow Connector 476">
            <a:extLst>
              <a:ext uri="{FF2B5EF4-FFF2-40B4-BE49-F238E27FC236}">
                <a16:creationId xmlns:a16="http://schemas.microsoft.com/office/drawing/2014/main" id="{D784A5C8-32E2-3AA1-3DDB-295CDDAE88B9}"/>
              </a:ext>
            </a:extLst>
          </p:cNvPr>
          <p:cNvCxnSpPr>
            <a:cxnSpLocks/>
          </p:cNvCxnSpPr>
          <p:nvPr/>
        </p:nvCxnSpPr>
        <p:spPr>
          <a:xfrm flipV="1">
            <a:off x="10142760" y="3707112"/>
            <a:ext cx="403456" cy="7631"/>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479" name="TextBox 478">
            <a:extLst>
              <a:ext uri="{FF2B5EF4-FFF2-40B4-BE49-F238E27FC236}">
                <a16:creationId xmlns:a16="http://schemas.microsoft.com/office/drawing/2014/main" id="{2DED7013-C5E9-CBB1-99CD-9964AAD09670}"/>
              </a:ext>
            </a:extLst>
          </p:cNvPr>
          <p:cNvSpPr txBox="1"/>
          <p:nvPr/>
        </p:nvSpPr>
        <p:spPr>
          <a:xfrm>
            <a:off x="10063299" y="2866316"/>
            <a:ext cx="524503" cy="261610"/>
          </a:xfrm>
          <a:prstGeom prst="rect">
            <a:avLst/>
          </a:prstGeom>
          <a:noFill/>
        </p:spPr>
        <p:txBody>
          <a:bodyPr wrap="none" rtlCol="0">
            <a:spAutoFit/>
          </a:bodyPr>
          <a:lstStyle/>
          <a:p>
            <a:r>
              <a:rPr kumimoji="0" lang="en-US" sz="1100" b="1" i="0" u="none" strike="noStrike" kern="1200" cap="none" spc="0" normalizeH="0" baseline="0" noProof="0" dirty="0">
                <a:ln>
                  <a:noFill/>
                </a:ln>
                <a:solidFill>
                  <a:schemeClr val="accent4"/>
                </a:solidFill>
                <a:effectLst/>
                <a:uLnTx/>
                <a:uFillTx/>
                <a:latin typeface="Courier New" panose="02070309020205020404" pitchFamily="49" charset="0"/>
                <a:ea typeface="+mn-ea"/>
                <a:cs typeface="Courier New" panose="02070309020205020404" pitchFamily="49" charset="0"/>
              </a:rPr>
              <a:t>pc+4</a:t>
            </a:r>
            <a:endParaRPr lang="en-US" sz="2000" b="1" dirty="0">
              <a:solidFill>
                <a:schemeClr val="accent4"/>
              </a:solidFill>
              <a:latin typeface="18 VAG Rounded Light   02390" pitchFamily="2" charset="0"/>
            </a:endParaRPr>
          </a:p>
        </p:txBody>
      </p:sp>
      <p:sp>
        <p:nvSpPr>
          <p:cNvPr id="132" name="TextBox 131">
            <a:extLst>
              <a:ext uri="{FF2B5EF4-FFF2-40B4-BE49-F238E27FC236}">
                <a16:creationId xmlns:a16="http://schemas.microsoft.com/office/drawing/2014/main" id="{7E10B256-ADFC-8E2C-6C6F-6E4DBEC36AB1}"/>
              </a:ext>
            </a:extLst>
          </p:cNvPr>
          <p:cNvSpPr txBox="1"/>
          <p:nvPr/>
        </p:nvSpPr>
        <p:spPr>
          <a:xfrm>
            <a:off x="504032" y="3739819"/>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tx1">
                  <a:lumMod val="50000"/>
                  <a:lumOff val="50000"/>
                </a:schemeClr>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3" name="TextBox 152">
            <a:extLst>
              <a:ext uri="{FF2B5EF4-FFF2-40B4-BE49-F238E27FC236}">
                <a16:creationId xmlns:a16="http://schemas.microsoft.com/office/drawing/2014/main" id="{96032983-17AD-87BD-753B-0DAA16E5B7AD}"/>
              </a:ext>
            </a:extLst>
          </p:cNvPr>
          <p:cNvSpPr txBox="1"/>
          <p:nvPr/>
        </p:nvSpPr>
        <p:spPr>
          <a:xfrm>
            <a:off x="588740" y="5560628"/>
            <a:ext cx="660758" cy="722890"/>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PCSel</a:t>
            </a:r>
            <a:endParaRPr lang="en-US" sz="1600" dirty="0">
              <a:solidFill>
                <a:schemeClr val="tx1">
                  <a:lumMod val="50000"/>
                  <a:lumOff val="50000"/>
                </a:schemeClr>
              </a:solidFill>
              <a:latin typeface="18 VAG Rounded Light   02390" pitchFamily="2" charset="0"/>
            </a:endParaRPr>
          </a:p>
          <a:p>
            <a:pPr algn="ctr">
              <a:lnSpc>
                <a:spcPct val="85000"/>
              </a:lnSpc>
            </a:pPr>
            <a:br>
              <a:rPr lang="en-US" sz="1600" dirty="0">
                <a:solidFill>
                  <a:schemeClr val="tx1">
                    <a:lumMod val="50000"/>
                    <a:lumOff val="50000"/>
                  </a:schemeClr>
                </a:solidFill>
                <a:latin typeface="18 VAG Rounded Light   02390" pitchFamily="2" charset="0"/>
              </a:rPr>
            </a:br>
            <a:endParaRPr lang="en-US" sz="1600" dirty="0">
              <a:solidFill>
                <a:schemeClr val="tx1">
                  <a:lumMod val="50000"/>
                  <a:lumOff val="50000"/>
                </a:schemeClr>
              </a:solidFill>
              <a:latin typeface="18 VAG Rounded Light   02390" pitchFamily="2" charset="0"/>
            </a:endParaRPr>
          </a:p>
        </p:txBody>
      </p:sp>
      <p:sp>
        <p:nvSpPr>
          <p:cNvPr id="155" name="TextBox 154">
            <a:extLst>
              <a:ext uri="{FF2B5EF4-FFF2-40B4-BE49-F238E27FC236}">
                <a16:creationId xmlns:a16="http://schemas.microsoft.com/office/drawing/2014/main" id="{805FC406-05B2-8242-650C-D6E9D3BC10DC}"/>
              </a:ext>
            </a:extLst>
          </p:cNvPr>
          <p:cNvSpPr txBox="1"/>
          <p:nvPr/>
        </p:nvSpPr>
        <p:spPr>
          <a:xfrm>
            <a:off x="4062897" y="5552119"/>
            <a:ext cx="817853" cy="51360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dirty="0">
                <a:solidFill>
                  <a:schemeClr val="accent5"/>
                </a:solidFill>
                <a:latin typeface="18 VAG Rounded Light   02390" pitchFamily="2" charset="0"/>
              </a:rPr>
              <a:t>J</a:t>
            </a: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304314"/>
          </a:xfrm>
          <a:prstGeom prst="rect">
            <a:avLst/>
          </a:prstGeom>
          <a:noFill/>
        </p:spPr>
        <p:txBody>
          <a:bodyPr wrap="none" rtlCol="0">
            <a:spAutoFit/>
          </a:bodyPr>
          <a:lstStyle/>
          <a:p>
            <a:pPr algn="ctr">
              <a:lnSpc>
                <a:spcPct val="85000"/>
              </a:lnSpc>
            </a:pPr>
            <a:r>
              <a:rPr lang="en-US" sz="1600" dirty="0" err="1">
                <a:solidFill>
                  <a:schemeClr val="tx1">
                    <a:lumMod val="50000"/>
                    <a:lumOff val="50000"/>
                  </a:schemeClr>
                </a:solidFill>
                <a:latin typeface="18 VAG Rounded Light   02390" pitchFamily="2" charset="0"/>
              </a:rPr>
              <a:t>RegWEn</a:t>
            </a:r>
            <a:endParaRPr lang="en-US" sz="1600" dirty="0">
              <a:solidFill>
                <a:schemeClr val="tx1">
                  <a:lumMod val="50000"/>
                  <a:lumOff val="50000"/>
                </a:schemeClr>
              </a:solidFill>
              <a:latin typeface="18 VAG Rounded Light   02390" pitchFamily="2" charset="0"/>
            </a:endParaRPr>
          </a:p>
        </p:txBody>
      </p:sp>
      <p:sp>
        <p:nvSpPr>
          <p:cNvPr id="157" name="TextBox 156">
            <a:extLst>
              <a:ext uri="{FF2B5EF4-FFF2-40B4-BE49-F238E27FC236}">
                <a16:creationId xmlns:a16="http://schemas.microsoft.com/office/drawing/2014/main" id="{2668EA19-1D16-2435-39BE-AEF3AA44FFE9}"/>
              </a:ext>
            </a:extLst>
          </p:cNvPr>
          <p:cNvSpPr txBox="1"/>
          <p:nvPr/>
        </p:nvSpPr>
        <p:spPr>
          <a:xfrm>
            <a:off x="6409181" y="5555777"/>
            <a:ext cx="5020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BrUn</a:t>
            </a:r>
            <a:endParaRPr lang="en-US" sz="1200" dirty="0">
              <a:solidFill>
                <a:schemeClr val="tx1">
                  <a:lumMod val="50000"/>
                  <a:lumOff val="50000"/>
                </a:schemeClr>
              </a:solidFill>
              <a:latin typeface="18 VAG Rounded Light   02390" pitchFamily="2" charset="0"/>
            </a:endParaRPr>
          </a:p>
        </p:txBody>
      </p:sp>
      <p:sp>
        <p:nvSpPr>
          <p:cNvPr id="159" name="TextBox 158">
            <a:extLst>
              <a:ext uri="{FF2B5EF4-FFF2-40B4-BE49-F238E27FC236}">
                <a16:creationId xmlns:a16="http://schemas.microsoft.com/office/drawing/2014/main" id="{2CC95B9F-5DF4-D7FA-AEA7-3A8533F0CD4C}"/>
              </a:ext>
            </a:extLst>
          </p:cNvPr>
          <p:cNvSpPr txBox="1"/>
          <p:nvPr/>
        </p:nvSpPr>
        <p:spPr>
          <a:xfrm>
            <a:off x="6690773" y="5779625"/>
            <a:ext cx="556563" cy="256224"/>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Courier New" panose="02070309020205020404" pitchFamily="49" charset="0"/>
                <a:cs typeface="Courier New" panose="02070309020205020404" pitchFamily="49" charset="0"/>
              </a:rPr>
              <a:t>BrEq</a:t>
            </a: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60" name="TextBox 159">
            <a:extLst>
              <a:ext uri="{FF2B5EF4-FFF2-40B4-BE49-F238E27FC236}">
                <a16:creationId xmlns:a16="http://schemas.microsoft.com/office/drawing/2014/main" id="{FD1E69A0-9944-8D40-E6A1-E6D049015EEA}"/>
              </a:ext>
            </a:extLst>
          </p:cNvPr>
          <p:cNvSpPr txBox="1"/>
          <p:nvPr/>
        </p:nvSpPr>
        <p:spPr>
          <a:xfrm>
            <a:off x="6954558" y="5545178"/>
            <a:ext cx="556563" cy="413190"/>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Courier New" panose="02070309020205020404" pitchFamily="49" charset="0"/>
                <a:cs typeface="Courier New" panose="02070309020205020404" pitchFamily="49" charset="0"/>
              </a:rPr>
              <a:t>BrLT</a:t>
            </a: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a:p>
            <a:pPr algn="ctr">
              <a:lnSpc>
                <a:spcPct val="85000"/>
              </a:lnSpc>
            </a:pPr>
            <a:endParaRPr lang="en-US" sz="1200"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BSel</a:t>
            </a:r>
            <a:endParaRPr lang="en-US" sz="1200" dirty="0">
              <a:solidFill>
                <a:schemeClr val="tx1">
                  <a:lumMod val="50000"/>
                  <a:lumOff val="50000"/>
                </a:schemeClr>
              </a:solidFill>
              <a:latin typeface="18 VAG Rounded Light   02390" pitchFamily="2" charset="0"/>
            </a:endParaRPr>
          </a:p>
        </p:txBody>
      </p:sp>
      <p:sp>
        <p:nvSpPr>
          <p:cNvPr id="162" name="TextBox 161">
            <a:extLst>
              <a:ext uri="{FF2B5EF4-FFF2-40B4-BE49-F238E27FC236}">
                <a16:creationId xmlns:a16="http://schemas.microsoft.com/office/drawing/2014/main" id="{2000C3DB-EA0F-B383-7B78-CA219CC6DBC8}"/>
              </a:ext>
            </a:extLst>
          </p:cNvPr>
          <p:cNvSpPr txBox="1"/>
          <p:nvPr/>
        </p:nvSpPr>
        <p:spPr>
          <a:xfrm>
            <a:off x="7954131" y="5516420"/>
            <a:ext cx="460382" cy="251351"/>
          </a:xfrm>
          <a:prstGeom prst="rect">
            <a:avLst/>
          </a:prstGeom>
          <a:noFill/>
        </p:spPr>
        <p:txBody>
          <a:bodyPr wrap="none" rtlCol="0">
            <a:spAutoFit/>
          </a:bodyPr>
          <a:lstStyle/>
          <a:p>
            <a:pPr algn="ctr">
              <a:lnSpc>
                <a:spcPct val="85000"/>
              </a:lnSpc>
            </a:pPr>
            <a:r>
              <a:rPr lang="en-US" sz="1200" dirty="0" err="1">
                <a:solidFill>
                  <a:schemeClr val="tx1">
                    <a:lumMod val="50000"/>
                    <a:lumOff val="50000"/>
                  </a:schemeClr>
                </a:solidFill>
                <a:latin typeface="18 VAG Rounded Light   02390" pitchFamily="2" charset="0"/>
              </a:rPr>
              <a:t>ASel</a:t>
            </a:r>
            <a:endParaRPr lang="en-US" sz="1200" dirty="0">
              <a:solidFill>
                <a:schemeClr val="tx1">
                  <a:lumMod val="50000"/>
                  <a:lumOff val="50000"/>
                </a:schemeClr>
              </a:solidFill>
              <a:latin typeface="18 VAG Rounded Light   02390" pitchFamily="2" charset="0"/>
            </a:endParaRPr>
          </a:p>
        </p:txBody>
      </p:sp>
      <p:sp>
        <p:nvSpPr>
          <p:cNvPr id="163" name="TextBox 162">
            <a:extLst>
              <a:ext uri="{FF2B5EF4-FFF2-40B4-BE49-F238E27FC236}">
                <a16:creationId xmlns:a16="http://schemas.microsoft.com/office/drawing/2014/main" id="{0D0C1867-1FFD-F311-31BB-7C2A4E3DB4AD}"/>
              </a:ext>
            </a:extLst>
          </p:cNvPr>
          <p:cNvSpPr txBox="1"/>
          <p:nvPr/>
        </p:nvSpPr>
        <p:spPr>
          <a:xfrm>
            <a:off x="8421291" y="5536765"/>
            <a:ext cx="702436"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ALUSel</a:t>
            </a:r>
            <a:endParaRPr lang="en-US" sz="1400" dirty="0">
              <a:solidFill>
                <a:schemeClr val="tx1">
                  <a:lumMod val="50000"/>
                  <a:lumOff val="50000"/>
                </a:schemeClr>
              </a:solidFill>
              <a:latin typeface="18 VAG Rounded Light   02390" pitchFamily="2" charset="0"/>
            </a:endParaRPr>
          </a:p>
        </p:txBody>
      </p:sp>
      <p:sp>
        <p:nvSpPr>
          <p:cNvPr id="164" name="TextBox 163">
            <a:extLst>
              <a:ext uri="{FF2B5EF4-FFF2-40B4-BE49-F238E27FC236}">
                <a16:creationId xmlns:a16="http://schemas.microsoft.com/office/drawing/2014/main" id="{0574EDEE-392B-DC05-E19A-7C22B2FFABF2}"/>
              </a:ext>
            </a:extLst>
          </p:cNvPr>
          <p:cNvSpPr txBox="1"/>
          <p:nvPr/>
        </p:nvSpPr>
        <p:spPr>
          <a:xfrm>
            <a:off x="9285659" y="5555777"/>
            <a:ext cx="817853" cy="277833"/>
          </a:xfrm>
          <a:prstGeom prst="rect">
            <a:avLst/>
          </a:prstGeom>
          <a:noFill/>
        </p:spPr>
        <p:txBody>
          <a:bodyPr wrap="none" rtlCol="0">
            <a:spAutoFit/>
          </a:bodyPr>
          <a:lstStyle/>
          <a:p>
            <a:pPr algn="ctr">
              <a:lnSpc>
                <a:spcPct val="85000"/>
              </a:lnSpc>
            </a:pPr>
            <a:r>
              <a:rPr lang="en-US" sz="1400" dirty="0" err="1">
                <a:solidFill>
                  <a:schemeClr val="tx1">
                    <a:lumMod val="50000"/>
                    <a:lumOff val="50000"/>
                  </a:schemeClr>
                </a:solidFill>
                <a:latin typeface="18 VAG Rounded Light   02390" pitchFamily="2" charset="0"/>
              </a:rPr>
              <a:t>MemRW</a:t>
            </a:r>
            <a:endParaRPr lang="en-US" sz="1400" dirty="0">
              <a:solidFill>
                <a:schemeClr val="tx1">
                  <a:lumMod val="50000"/>
                  <a:lumOff val="50000"/>
                </a:schemeClr>
              </a:solidFill>
              <a:latin typeface="18 VAG Rounded Light   02390" pitchFamily="2" charset="0"/>
            </a:endParaRPr>
          </a:p>
        </p:txBody>
      </p:sp>
      <p:sp>
        <p:nvSpPr>
          <p:cNvPr id="165" name="TextBox 164">
            <a:extLst>
              <a:ext uri="{FF2B5EF4-FFF2-40B4-BE49-F238E27FC236}">
                <a16:creationId xmlns:a16="http://schemas.microsoft.com/office/drawing/2014/main" id="{FF0F850A-25DC-02DE-3D8E-F4BBFD4155E2}"/>
              </a:ext>
            </a:extLst>
          </p:cNvPr>
          <p:cNvSpPr txBox="1"/>
          <p:nvPr/>
        </p:nvSpPr>
        <p:spPr>
          <a:xfrm>
            <a:off x="10252492" y="5557253"/>
            <a:ext cx="646331" cy="277833"/>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WBSel</a:t>
            </a:r>
            <a:endParaRPr lang="en-US" sz="1400" dirty="0">
              <a:solidFill>
                <a:schemeClr val="accent4"/>
              </a:solidFill>
              <a:latin typeface="18 VAG Rounded Light   02390" pitchFamily="2" charset="0"/>
            </a:endParaRPr>
          </a:p>
        </p:txBody>
      </p:sp>
      <p:cxnSp>
        <p:nvCxnSpPr>
          <p:cNvPr id="166" name="Straight Arrow Connector 165">
            <a:extLst>
              <a:ext uri="{FF2B5EF4-FFF2-40B4-BE49-F238E27FC236}">
                <a16:creationId xmlns:a16="http://schemas.microsoft.com/office/drawing/2014/main" id="{D5574E08-8C14-422C-BD9C-969F4F3B25C2}"/>
              </a:ext>
            </a:extLst>
          </p:cNvPr>
          <p:cNvCxnSpPr>
            <a:cxnSpLocks/>
          </p:cNvCxnSpPr>
          <p:nvPr/>
        </p:nvCxnSpPr>
        <p:spPr>
          <a:xfrm flipV="1">
            <a:off x="10664370" y="3759701"/>
            <a:ext cx="0" cy="17670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grpSp>
        <p:nvGrpSpPr>
          <p:cNvPr id="172" name="Group 171">
            <a:extLst>
              <a:ext uri="{FF2B5EF4-FFF2-40B4-BE49-F238E27FC236}">
                <a16:creationId xmlns:a16="http://schemas.microsoft.com/office/drawing/2014/main" id="{AC1D377E-FE43-1B1D-FCF0-12F1B82B4052}"/>
              </a:ext>
            </a:extLst>
          </p:cNvPr>
          <p:cNvGrpSpPr/>
          <p:nvPr/>
        </p:nvGrpSpPr>
        <p:grpSpPr>
          <a:xfrm>
            <a:off x="1910968" y="2760283"/>
            <a:ext cx="5834958" cy="733940"/>
            <a:chOff x="1910968" y="2760283"/>
            <a:chExt cx="5834958" cy="733940"/>
          </a:xfrm>
        </p:grpSpPr>
        <p:cxnSp>
          <p:nvCxnSpPr>
            <p:cNvPr id="173" name="Elbow Connector 172">
              <a:extLst>
                <a:ext uri="{FF2B5EF4-FFF2-40B4-BE49-F238E27FC236}">
                  <a16:creationId xmlns:a16="http://schemas.microsoft.com/office/drawing/2014/main" id="{E390CF13-3728-8277-3D3E-B31B8898A532}"/>
                </a:ext>
              </a:extLst>
            </p:cNvPr>
            <p:cNvCxnSpPr/>
            <p:nvPr/>
          </p:nvCxnSpPr>
          <p:spPr>
            <a:xfrm flipV="1">
              <a:off x="1910968" y="2769647"/>
              <a:ext cx="1658892" cy="436843"/>
            </a:xfrm>
            <a:prstGeom prst="bentConnector4">
              <a:avLst>
                <a:gd name="adj1" fmla="val 100039"/>
                <a:gd name="adj2" fmla="val 45344"/>
              </a:avLst>
            </a:prstGeom>
            <a:ln w="28575">
              <a:solidFill>
                <a:schemeClr val="tx1">
                  <a:lumMod val="50000"/>
                  <a:lumOff val="50000"/>
                </a:schemeClr>
              </a:solidFill>
              <a:headEnd type="oval"/>
              <a:tailEnd type="none" w="lg" len="lg"/>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EABE00C5-6753-0E18-2457-6761BCF0A196}"/>
                </a:ext>
              </a:extLst>
            </p:cNvPr>
            <p:cNvCxnSpPr>
              <a:cxnSpLocks/>
            </p:cNvCxnSpPr>
            <p:nvPr/>
          </p:nvCxnSpPr>
          <p:spPr>
            <a:xfrm>
              <a:off x="3559699" y="2760283"/>
              <a:ext cx="4023360" cy="0"/>
            </a:xfrm>
            <a:prstGeom prst="line">
              <a:avLst/>
            </a:prstGeom>
            <a:ln w="28575">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5" name="Elbow Connector 174">
              <a:extLst>
                <a:ext uri="{FF2B5EF4-FFF2-40B4-BE49-F238E27FC236}">
                  <a16:creationId xmlns:a16="http://schemas.microsoft.com/office/drawing/2014/main" id="{05891022-9DF5-AB96-D32B-08916867D915}"/>
                </a:ext>
              </a:extLst>
            </p:cNvPr>
            <p:cNvCxnSpPr>
              <a:cxnSpLocks/>
            </p:cNvCxnSpPr>
            <p:nvPr/>
          </p:nvCxnSpPr>
          <p:spPr>
            <a:xfrm rot="16200000" flipH="1">
              <a:off x="7285314" y="3033611"/>
              <a:ext cx="733939" cy="187285"/>
            </a:xfrm>
            <a:prstGeom prst="bentConnector3">
              <a:avLst>
                <a:gd name="adj1" fmla="val 99835"/>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tx1">
                    <a:lumMod val="50000"/>
                    <a:lumOff val="50000"/>
                  </a:schemeClr>
                </a:solidFill>
                <a:latin typeface="18 VAG Rounded Light   02390" pitchFamily="2" charset="0"/>
              </a:rPr>
              <a:t>rd</a:t>
            </a:r>
            <a:endParaRPr lang="en-US" sz="1400" i="1" dirty="0">
              <a:solidFill>
                <a:schemeClr val="tx1">
                  <a:lumMod val="50000"/>
                  <a:lumOff val="50000"/>
                </a:schemeClr>
              </a:solidFill>
              <a:latin typeface="18 VAG Rounded Light   02390" pitchFamily="2" charset="0"/>
            </a:endParaRPr>
          </a:p>
          <a:p>
            <a:pPr>
              <a:spcBef>
                <a:spcPts val="400"/>
              </a:spcBef>
              <a:tabLst>
                <a:tab pos="1249363" algn="r"/>
              </a:tabLst>
            </a:pPr>
            <a:r>
              <a:rPr lang="en-US" sz="1400" i="1" dirty="0">
                <a:solidFill>
                  <a:schemeClr val="tx1">
                    <a:lumMod val="50000"/>
                    <a:lumOff val="50000"/>
                  </a:schemeClr>
                </a:solidFill>
                <a:latin typeface="18 VAG Rounded Light   02390" pitchFamily="2" charset="0"/>
              </a:rPr>
              <a:t>rs1	rdata1</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rs2	</a:t>
            </a:r>
          </a:p>
          <a:p>
            <a:pPr>
              <a:spcBef>
                <a:spcPts val="400"/>
              </a:spcBef>
              <a:tabLst>
                <a:tab pos="1249363" algn="r"/>
              </a:tabLst>
            </a:pPr>
            <a:r>
              <a:rPr lang="en-US" sz="1400" i="1" dirty="0">
                <a:solidFill>
                  <a:schemeClr val="tx1">
                    <a:lumMod val="50000"/>
                    <a:lumOff val="50000"/>
                  </a:schemeClr>
                </a:solidFill>
                <a:latin typeface="18 VAG Rounded Light   02390" pitchFamily="2" charset="0"/>
              </a:rPr>
              <a:t>	rdata2</a:t>
            </a:r>
          </a:p>
          <a:p>
            <a:r>
              <a:rPr lang="en-US" sz="1600" b="1" dirty="0" err="1">
                <a:solidFill>
                  <a:schemeClr val="tx1">
                    <a:lumMod val="50000"/>
                    <a:lumOff val="50000"/>
                  </a:schemeClr>
                </a:solidFill>
                <a:latin typeface="Courier New" panose="02070309020205020404" pitchFamily="49" charset="0"/>
                <a:cs typeface="Courier New" panose="02070309020205020404" pitchFamily="49" charset="0"/>
              </a:rPr>
              <a:t>RegFile</a:t>
            </a:r>
            <a:endParaRPr lang="en-US" sz="1600" b="1" dirty="0">
              <a:solidFill>
                <a:schemeClr val="tx1">
                  <a:lumMod val="50000"/>
                  <a:lumOff val="50000"/>
                </a:schemeClr>
              </a:solidFill>
              <a:latin typeface="Courier New" panose="02070309020205020404" pitchFamily="49" charset="0"/>
              <a:cs typeface="Courier New" panose="02070309020205020404" pitchFamily="49" charset="0"/>
            </a:endParaRPr>
          </a:p>
        </p:txBody>
      </p:sp>
      <p:sp>
        <p:nvSpPr>
          <p:cNvPr id="195" name="TextBox 194">
            <a:extLst>
              <a:ext uri="{FF2B5EF4-FFF2-40B4-BE49-F238E27FC236}">
                <a16:creationId xmlns:a16="http://schemas.microsoft.com/office/drawing/2014/main" id="{CD295204-4CA2-FED3-4ABC-4B0EE63D057A}"/>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tx1">
                    <a:lumMod val="50000"/>
                    <a:lumOff val="50000"/>
                  </a:schemeClr>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tx1">
                  <a:lumMod val="50000"/>
                  <a:lumOff val="50000"/>
                </a:schemeClr>
              </a:solidFill>
              <a:latin typeface="18 VAG Rounded Light   02390" pitchFamily="2" charset="0"/>
            </a:endParaRPr>
          </a:p>
        </p:txBody>
      </p:sp>
      <p:grpSp>
        <p:nvGrpSpPr>
          <p:cNvPr id="197" name="Group 196">
            <a:extLst>
              <a:ext uri="{FF2B5EF4-FFF2-40B4-BE49-F238E27FC236}">
                <a16:creationId xmlns:a16="http://schemas.microsoft.com/office/drawing/2014/main" id="{925026AB-7D2A-D0EF-F142-A77473C9B9DA}"/>
              </a:ext>
            </a:extLst>
          </p:cNvPr>
          <p:cNvGrpSpPr/>
          <p:nvPr/>
        </p:nvGrpSpPr>
        <p:grpSpPr>
          <a:xfrm>
            <a:off x="447040" y="2119597"/>
            <a:ext cx="10102338" cy="1848344"/>
            <a:chOff x="447040" y="2119597"/>
            <a:chExt cx="10102338" cy="1848344"/>
          </a:xfrm>
        </p:grpSpPr>
        <p:cxnSp>
          <p:nvCxnSpPr>
            <p:cNvPr id="198" name="Elbow Connector 197">
              <a:extLst>
                <a:ext uri="{FF2B5EF4-FFF2-40B4-BE49-F238E27FC236}">
                  <a16:creationId xmlns:a16="http://schemas.microsoft.com/office/drawing/2014/main" id="{2FF5A0BA-239C-0DE4-7D12-E323633E58EA}"/>
                </a:ext>
              </a:extLst>
            </p:cNvPr>
            <p:cNvCxnSpPr>
              <a:cxnSpLocks/>
            </p:cNvCxnSpPr>
            <p:nvPr/>
          </p:nvCxnSpPr>
          <p:spPr>
            <a:xfrm rot="10800000">
              <a:off x="447086" y="2119598"/>
              <a:ext cx="8482220" cy="1848343"/>
            </a:xfrm>
            <a:prstGeom prst="bentConnector3">
              <a:avLst>
                <a:gd name="adj1" fmla="val -51"/>
              </a:avLst>
            </a:prstGeom>
            <a:ln w="28575">
              <a:solidFill>
                <a:schemeClr val="tx1">
                  <a:lumMod val="50000"/>
                  <a:lumOff val="50000"/>
                </a:schemeClr>
              </a:solidFill>
              <a:headEnd type="oval"/>
              <a:tailEnd type="none" w="lg" len="lg"/>
            </a:ln>
            <a:effectLst/>
          </p:spPr>
          <p:style>
            <a:lnRef idx="1">
              <a:schemeClr val="accent1"/>
            </a:lnRef>
            <a:fillRef idx="0">
              <a:schemeClr val="accent1"/>
            </a:fillRef>
            <a:effectRef idx="0">
              <a:schemeClr val="accent1"/>
            </a:effectRef>
            <a:fontRef idx="minor">
              <a:schemeClr val="tx1"/>
            </a:fontRef>
          </p:style>
        </p:cxnSp>
        <p:cxnSp>
          <p:nvCxnSpPr>
            <p:cNvPr id="199" name="Elbow Connector 198">
              <a:extLst>
                <a:ext uri="{FF2B5EF4-FFF2-40B4-BE49-F238E27FC236}">
                  <a16:creationId xmlns:a16="http://schemas.microsoft.com/office/drawing/2014/main" id="{6DE7245E-F14F-0A55-B565-147B42004D61}"/>
                </a:ext>
              </a:extLst>
            </p:cNvPr>
            <p:cNvCxnSpPr>
              <a:cxnSpLocks/>
            </p:cNvCxnSpPr>
            <p:nvPr/>
          </p:nvCxnSpPr>
          <p:spPr>
            <a:xfrm rot="16200000" flipH="1">
              <a:off x="-147367" y="2714004"/>
              <a:ext cx="1656098" cy="467284"/>
            </a:xfrm>
            <a:prstGeom prst="bentConnector2">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0" name="Straight Arrow Connector 199">
              <a:extLst>
                <a:ext uri="{FF2B5EF4-FFF2-40B4-BE49-F238E27FC236}">
                  <a16:creationId xmlns:a16="http://schemas.microsoft.com/office/drawing/2014/main" id="{D0073840-E02A-52B9-F367-4C03ECD922AC}"/>
                </a:ext>
              </a:extLst>
            </p:cNvPr>
            <p:cNvCxnSpPr>
              <a:cxnSpLocks/>
            </p:cNvCxnSpPr>
            <p:nvPr/>
          </p:nvCxnSpPr>
          <p:spPr>
            <a:xfrm>
              <a:off x="8929306" y="3376628"/>
              <a:ext cx="1620072" cy="0"/>
            </a:xfrm>
            <a:prstGeom prst="straightConnector1">
              <a:avLst/>
            </a:prstGeom>
            <a:ln w="28575">
              <a:solidFill>
                <a:schemeClr val="tx1">
                  <a:lumMod val="50000"/>
                  <a:lumOff val="50000"/>
                </a:schemeClr>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3CD8F465-4708-7101-87E2-4AAEE10F4240}"/>
                </a:ext>
              </a:extLst>
            </p:cNvPr>
            <p:cNvCxnSpPr>
              <a:cxnSpLocks/>
            </p:cNvCxnSpPr>
            <p:nvPr/>
          </p:nvCxnSpPr>
          <p:spPr>
            <a:xfrm>
              <a:off x="8861193" y="3967940"/>
              <a:ext cx="297442" cy="0"/>
            </a:xfrm>
            <a:prstGeom prst="straightConnector1">
              <a:avLst/>
            </a:prstGeom>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06" name="Trapezoid 205">
            <a:extLst>
              <a:ext uri="{FF2B5EF4-FFF2-40B4-BE49-F238E27FC236}">
                <a16:creationId xmlns:a16="http://schemas.microsoft.com/office/drawing/2014/main" id="{33B91885-5AE4-C6B6-F7D4-2831A6613805}"/>
              </a:ext>
            </a:extLst>
          </p:cNvPr>
          <p:cNvSpPr/>
          <p:nvPr/>
        </p:nvSpPr>
        <p:spPr>
          <a:xfrm rot="5400000">
            <a:off x="7564091" y="3537944"/>
            <a:ext cx="598172" cy="234496"/>
          </a:xfrm>
          <a:prstGeom prst="trapezoid">
            <a:avLst>
              <a:gd name="adj" fmla="val 62818"/>
            </a:avLst>
          </a:prstGeom>
          <a:noFill/>
          <a:ln w="1905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p:txBody>
      </p:sp>
      <p:sp>
        <p:nvSpPr>
          <p:cNvPr id="8" name="Trapezoid 7">
            <a:extLst>
              <a:ext uri="{FF2B5EF4-FFF2-40B4-BE49-F238E27FC236}">
                <a16:creationId xmlns:a16="http://schemas.microsoft.com/office/drawing/2014/main" id="{00F3B1FF-06EF-89A2-F610-57D50B3D3E5A}"/>
              </a:ext>
            </a:extLst>
          </p:cNvPr>
          <p:cNvSpPr/>
          <p:nvPr/>
        </p:nvSpPr>
        <p:spPr>
          <a:xfrm rot="5400000">
            <a:off x="630315" y="3510125"/>
            <a:ext cx="823357" cy="267680"/>
          </a:xfrm>
          <a:prstGeom prst="trapezoid">
            <a:avLst>
              <a:gd name="adj" fmla="val 85591"/>
            </a:avLst>
          </a:pr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sp>
        <p:nvSpPr>
          <p:cNvPr id="319" name="Freeform 318">
            <a:extLst>
              <a:ext uri="{FF2B5EF4-FFF2-40B4-BE49-F238E27FC236}">
                <a16:creationId xmlns:a16="http://schemas.microsoft.com/office/drawing/2014/main" id="{50D48F20-2317-959C-0E0D-67B0974EEDE2}"/>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A</a:t>
            </a:r>
            <a:endParaRPr lang="en-US" sz="1600" dirty="0">
              <a:solidFill>
                <a:schemeClr val="tx1">
                  <a:lumMod val="50000"/>
                  <a:lumOff val="50000"/>
                </a:schemeClr>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tx1">
                    <a:lumMod val="50000"/>
                    <a:lumOff val="50000"/>
                  </a:schemeClr>
                </a:solidFill>
                <a:latin typeface="18 VAG Rounded Light   02390" pitchFamily="2" charset="0"/>
              </a:rPr>
              <a:t>ALU</a:t>
            </a:r>
          </a:p>
          <a:p>
            <a:pPr>
              <a:spcBef>
                <a:spcPts val="600"/>
              </a:spcBef>
              <a:spcAft>
                <a:spcPts val="600"/>
              </a:spcAft>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B</a:t>
            </a:r>
          </a:p>
        </p:txBody>
      </p:sp>
      <p:sp>
        <p:nvSpPr>
          <p:cNvPr id="14" name="Trapezoid 13">
            <a:extLst>
              <a:ext uri="{FF2B5EF4-FFF2-40B4-BE49-F238E27FC236}">
                <a16:creationId xmlns:a16="http://schemas.microsoft.com/office/drawing/2014/main" id="{1FA82655-74D3-4483-7C00-4AA72A5B4B28}"/>
              </a:ext>
            </a:extLst>
          </p:cNvPr>
          <p:cNvSpPr/>
          <p:nvPr/>
        </p:nvSpPr>
        <p:spPr>
          <a:xfrm rot="5400000">
            <a:off x="7564091" y="4309794"/>
            <a:ext cx="598172" cy="234496"/>
          </a:xfrm>
          <a:prstGeom prst="trapezoid">
            <a:avLst>
              <a:gd name="adj" fmla="val 62818"/>
            </a:avLst>
          </a:prstGeom>
          <a:noFill/>
          <a:ln w="1905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tx1">
                    <a:lumMod val="50000"/>
                    <a:lumOff val="50000"/>
                  </a:schemeClr>
                </a:solidFill>
                <a:latin typeface="Courier New" panose="02070309020205020404" pitchFamily="49" charset="0"/>
                <a:cs typeface="Courier New" panose="02070309020205020404" pitchFamily="49" charset="0"/>
              </a:rPr>
              <a:t>1</a:t>
            </a:r>
          </a:p>
        </p:txBody>
      </p:sp>
      <p:grpSp>
        <p:nvGrpSpPr>
          <p:cNvPr id="473" name="Group 472">
            <a:extLst>
              <a:ext uri="{FF2B5EF4-FFF2-40B4-BE49-F238E27FC236}">
                <a16:creationId xmlns:a16="http://schemas.microsoft.com/office/drawing/2014/main" id="{A55CBC4E-3F99-6A1A-ED53-27D7DCB45B96}"/>
              </a:ext>
            </a:extLst>
          </p:cNvPr>
          <p:cNvGrpSpPr/>
          <p:nvPr/>
        </p:nvGrpSpPr>
        <p:grpSpPr>
          <a:xfrm>
            <a:off x="3802643" y="2375192"/>
            <a:ext cx="7334708" cy="1124151"/>
            <a:chOff x="3802643" y="2375192"/>
            <a:chExt cx="7334708" cy="1124151"/>
          </a:xfrm>
          <a:effectLst>
            <a:glow rad="101600">
              <a:srgbClr val="011223">
                <a:alpha val="75938"/>
              </a:srgbClr>
            </a:glow>
          </a:effectLst>
        </p:grpSpPr>
        <p:cxnSp>
          <p:nvCxnSpPr>
            <p:cNvPr id="63" name="Elbow Connector 62">
              <a:extLst>
                <a:ext uri="{FF2B5EF4-FFF2-40B4-BE49-F238E27FC236}">
                  <a16:creationId xmlns:a16="http://schemas.microsoft.com/office/drawing/2014/main" id="{E192C444-756E-E8CF-390A-6E0B4FE752FD}"/>
                </a:ext>
              </a:extLst>
            </p:cNvPr>
            <p:cNvCxnSpPr>
              <a:cxnSpLocks/>
              <a:stCxn id="184" idx="0"/>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59" name="Straight Connector 458">
              <a:extLst>
                <a:ext uri="{FF2B5EF4-FFF2-40B4-BE49-F238E27FC236}">
                  <a16:creationId xmlns:a16="http://schemas.microsoft.com/office/drawing/2014/main" id="{66292F7A-6202-ABC8-7BBE-EE2DB8DD49CA}"/>
                </a:ext>
              </a:extLst>
            </p:cNvPr>
            <p:cNvCxnSpPr>
              <a:cxnSpLocks/>
              <a:stCxn id="184" idx="0"/>
            </p:cNvCxnSpPr>
            <p:nvPr/>
          </p:nvCxnSpPr>
          <p:spPr>
            <a:xfrm>
              <a:off x="3802643" y="2384802"/>
              <a:ext cx="7334708"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468" name="Elbow Connector 467">
              <a:extLst>
                <a:ext uri="{FF2B5EF4-FFF2-40B4-BE49-F238E27FC236}">
                  <a16:creationId xmlns:a16="http://schemas.microsoft.com/office/drawing/2014/main" id="{19745264-D758-7058-338A-8FE0A2DA6216}"/>
                </a:ext>
              </a:extLst>
            </p:cNvPr>
            <p:cNvCxnSpPr>
              <a:cxnSpLocks/>
              <a:stCxn id="23" idx="0"/>
            </p:cNvCxnSpPr>
            <p:nvPr/>
          </p:nvCxnSpPr>
          <p:spPr>
            <a:xfrm flipV="1">
              <a:off x="10817058" y="2375192"/>
              <a:ext cx="320293" cy="1124151"/>
            </a:xfrm>
            <a:prstGeom prst="bentConnector2">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sp>
        <p:nvSpPr>
          <p:cNvPr id="23" name="Trapezoid 22">
            <a:extLst>
              <a:ext uri="{FF2B5EF4-FFF2-40B4-BE49-F238E27FC236}">
                <a16:creationId xmlns:a16="http://schemas.microsoft.com/office/drawing/2014/main" id="{B73EEB42-4A6A-0E09-586D-12B1FD4E1410}"/>
              </a:ext>
            </a:extLst>
          </p:cNvPr>
          <p:cNvSpPr/>
          <p:nvPr/>
        </p:nvSpPr>
        <p:spPr>
          <a:xfrm rot="5400000">
            <a:off x="10337532" y="3361302"/>
            <a:ext cx="682970" cy="276082"/>
          </a:xfrm>
          <a:prstGeom prst="trapezoid">
            <a:avLst>
              <a:gd name="adj" fmla="val 62818"/>
            </a:avLst>
          </a:prstGeom>
          <a:noFill/>
          <a:ln w="19050">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sp>
        <p:nvSpPr>
          <p:cNvPr id="29" name="Trapezoid 28">
            <a:extLst>
              <a:ext uri="{FF2B5EF4-FFF2-40B4-BE49-F238E27FC236}">
                <a16:creationId xmlns:a16="http://schemas.microsoft.com/office/drawing/2014/main" id="{206B5F64-E5AB-A13F-589C-899B7AF61C69}"/>
              </a:ext>
            </a:extLst>
          </p:cNvPr>
          <p:cNvSpPr/>
          <p:nvPr/>
        </p:nvSpPr>
        <p:spPr>
          <a:xfrm rot="5400000">
            <a:off x="10246632" y="3273351"/>
            <a:ext cx="873172" cy="267680"/>
          </a:xfrm>
          <a:prstGeom prst="trapezoid">
            <a:avLst>
              <a:gd name="adj" fmla="val 62818"/>
            </a:avLst>
          </a:prstGeom>
          <a:solidFill>
            <a:srgbClr val="011223"/>
          </a:solidFill>
          <a:ln w="5715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2</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sp>
        <p:nvSpPr>
          <p:cNvPr id="181" name="Down Arrow 180">
            <a:extLst>
              <a:ext uri="{FF2B5EF4-FFF2-40B4-BE49-F238E27FC236}">
                <a16:creationId xmlns:a16="http://schemas.microsoft.com/office/drawing/2014/main" id="{14165230-C955-91A8-A885-C783996D26E7}"/>
              </a:ext>
            </a:extLst>
          </p:cNvPr>
          <p:cNvSpPr/>
          <p:nvPr/>
        </p:nvSpPr>
        <p:spPr>
          <a:xfrm>
            <a:off x="10546216" y="1925880"/>
            <a:ext cx="338898" cy="1030909"/>
          </a:xfrm>
          <a:prstGeom prst="downArrow">
            <a:avLst/>
          </a:prstGeom>
          <a:solidFill>
            <a:schemeClr val="accent4">
              <a:lumMod val="60000"/>
              <a:lumOff val="4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1" name="TextBox 30">
            <a:extLst>
              <a:ext uri="{FF2B5EF4-FFF2-40B4-BE49-F238E27FC236}">
                <a16:creationId xmlns:a16="http://schemas.microsoft.com/office/drawing/2014/main" id="{9DD1E9D4-3C26-F0E3-2E1F-56F9A2225984}"/>
              </a:ext>
            </a:extLst>
          </p:cNvPr>
          <p:cNvSpPr txBox="1"/>
          <p:nvPr/>
        </p:nvSpPr>
        <p:spPr>
          <a:xfrm>
            <a:off x="3102317" y="998158"/>
            <a:ext cx="3109795" cy="881780"/>
          </a:xfrm>
          <a:prstGeom prst="rect">
            <a:avLst/>
          </a:prstGeom>
          <a:noFill/>
        </p:spPr>
        <p:txBody>
          <a:bodyPr wrap="square" rtlCol="0">
            <a:spAutoFit/>
          </a:bodyPr>
          <a:lstStyle/>
          <a:p>
            <a:pPr algn="l">
              <a:lnSpc>
                <a:spcPct val="95000"/>
              </a:lnSpc>
            </a:pPr>
            <a:r>
              <a:rPr lang="en-US" sz="1800" dirty="0">
                <a:solidFill>
                  <a:schemeClr val="accent5"/>
                </a:solidFill>
                <a:latin typeface="18 VAG Rounded Light   02390" pitchFamily="2" charset="0"/>
              </a:rPr>
              <a:t>Immediate Generation Block needs to support J-Types: 20-bit half-words </a:t>
            </a:r>
            <a:r>
              <a:rPr lang="en-US" sz="1800" dirty="0">
                <a:solidFill>
                  <a:schemeClr val="accent5"/>
                </a:solidFill>
                <a:latin typeface="18 VAG Rounded Light   02390" pitchFamily="2" charset="0"/>
                <a:sym typeface="Wingdings" pitchFamily="2" charset="2"/>
              </a:rPr>
              <a:t> byte offset.</a:t>
            </a:r>
            <a:endParaRPr lang="en-US" sz="1800" dirty="0">
              <a:solidFill>
                <a:schemeClr val="accent5"/>
              </a:solidFill>
              <a:latin typeface="18 VAG Rounded Light   02390" pitchFamily="2" charset="0"/>
            </a:endParaRPr>
          </a:p>
        </p:txBody>
      </p:sp>
      <p:sp>
        <p:nvSpPr>
          <p:cNvPr id="32" name="Down Arrow 31">
            <a:extLst>
              <a:ext uri="{FF2B5EF4-FFF2-40B4-BE49-F238E27FC236}">
                <a16:creationId xmlns:a16="http://schemas.microsoft.com/office/drawing/2014/main" id="{C1FFFAF5-29E1-C5D2-0652-AE9C5C86AB32}"/>
              </a:ext>
            </a:extLst>
          </p:cNvPr>
          <p:cNvSpPr/>
          <p:nvPr/>
        </p:nvSpPr>
        <p:spPr>
          <a:xfrm>
            <a:off x="4225740" y="1925880"/>
            <a:ext cx="415708" cy="2601493"/>
          </a:xfrm>
          <a:prstGeom prst="downArrow">
            <a:avLst/>
          </a:prstGeom>
          <a:solidFill>
            <a:schemeClr val="accent5">
              <a:lumMod val="20000"/>
              <a:lumOff val="80000"/>
            </a:schemeClr>
          </a:solid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accent1"/>
              </a:solidFill>
              <a:latin typeface="18 VAG Rounded Light   02390" pitchFamily="2" charset="0"/>
            </a:endParaRPr>
          </a:p>
        </p:txBody>
      </p:sp>
      <p:sp>
        <p:nvSpPr>
          <p:cNvPr id="3" name="TextBox 2">
            <a:extLst>
              <a:ext uri="{FF2B5EF4-FFF2-40B4-BE49-F238E27FC236}">
                <a16:creationId xmlns:a16="http://schemas.microsoft.com/office/drawing/2014/main" id="{BD07C977-362A-4154-5DEC-29671B2B023F}"/>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tx1">
                    <a:lumMod val="50000"/>
                    <a:lumOff val="50000"/>
                  </a:schemeClr>
                </a:solidFill>
                <a:latin typeface="Courier New" panose="02070309020205020404" pitchFamily="49" charset="0"/>
                <a:cs typeface="Courier New" panose="02070309020205020404" pitchFamily="49" charset="0"/>
              </a:rPr>
              <a:t>inst</a:t>
            </a:r>
            <a:r>
              <a:rPr lang="en-US" sz="1100" dirty="0">
                <a:solidFill>
                  <a:schemeClr val="tx1">
                    <a:lumMod val="50000"/>
                    <a:lumOff val="50000"/>
                  </a:schemeClr>
                </a:solidFill>
                <a:latin typeface="Courier New" panose="02070309020205020404" pitchFamily="49" charset="0"/>
                <a:cs typeface="Courier New" panose="02070309020205020404" pitchFamily="49" charset="0"/>
              </a:rPr>
              <a:t>[24:20]</a:t>
            </a:r>
          </a:p>
        </p:txBody>
      </p:sp>
      <p:sp>
        <p:nvSpPr>
          <p:cNvPr id="5" name="TextBox 4">
            <a:extLst>
              <a:ext uri="{FF2B5EF4-FFF2-40B4-BE49-F238E27FC236}">
                <a16:creationId xmlns:a16="http://schemas.microsoft.com/office/drawing/2014/main" id="{26CED03B-DD2A-6CFD-D62B-E3A39B61F399}"/>
              </a:ext>
            </a:extLst>
          </p:cNvPr>
          <p:cNvSpPr txBox="1"/>
          <p:nvPr/>
        </p:nvSpPr>
        <p:spPr>
          <a:xfrm>
            <a:off x="3131237" y="4777354"/>
            <a:ext cx="103425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[31:7]</a:t>
            </a:r>
            <a:endParaRPr lang="en-US" sz="2000" dirty="0">
              <a:solidFill>
                <a:schemeClr val="bg1"/>
              </a:solidFill>
              <a:latin typeface="18 VAG Rounded Light   02390" pitchFamily="2" charset="0"/>
            </a:endParaRPr>
          </a:p>
        </p:txBody>
      </p:sp>
      <p:sp>
        <p:nvSpPr>
          <p:cNvPr id="22" name="TextBox 21">
            <a:extLst>
              <a:ext uri="{FF2B5EF4-FFF2-40B4-BE49-F238E27FC236}">
                <a16:creationId xmlns:a16="http://schemas.microsoft.com/office/drawing/2014/main" id="{EAF16711-0A5F-F4C1-1F21-111F46248A6D}"/>
              </a:ext>
            </a:extLst>
          </p:cNvPr>
          <p:cNvSpPr txBox="1"/>
          <p:nvPr/>
        </p:nvSpPr>
        <p:spPr>
          <a:xfrm>
            <a:off x="9285659" y="997203"/>
            <a:ext cx="2720617" cy="881780"/>
          </a:xfrm>
          <a:prstGeom prst="rect">
            <a:avLst/>
          </a:prstGeom>
          <a:noFill/>
        </p:spPr>
        <p:txBody>
          <a:bodyPr wrap="square" rtlCol="0">
            <a:spAutoFit/>
          </a:bodyPr>
          <a:lstStyle/>
          <a:p>
            <a:pPr algn="l">
              <a:lnSpc>
                <a:spcPct val="95000"/>
              </a:lnSpc>
            </a:pPr>
            <a:r>
              <a:rPr lang="en-US" sz="1800" dirty="0">
                <a:solidFill>
                  <a:schemeClr val="accent4"/>
                </a:solidFill>
                <a:latin typeface="18 VAG Rounded Light   02390" pitchFamily="2" charset="0"/>
              </a:rPr>
              <a:t>To save </a:t>
            </a:r>
            <a:r>
              <a:rPr lang="en-US" sz="1800" b="1" dirty="0" err="1">
                <a:solidFill>
                  <a:schemeClr val="accent4"/>
                </a:solidFill>
                <a:latin typeface="Courier New" panose="02070309020205020404" pitchFamily="49" charset="0"/>
                <a:cs typeface="Courier New" panose="02070309020205020404" pitchFamily="49" charset="0"/>
              </a:rPr>
              <a:t>rd</a:t>
            </a:r>
            <a:r>
              <a:rPr lang="en-US" sz="1800" b="1" dirty="0">
                <a:solidFill>
                  <a:schemeClr val="accent4"/>
                </a:solidFill>
                <a:latin typeface="Courier New" panose="02070309020205020404" pitchFamily="49" charset="0"/>
                <a:cs typeface="Courier New" panose="02070309020205020404" pitchFamily="49" charset="0"/>
              </a:rPr>
              <a:t> = PC + 4</a:t>
            </a:r>
            <a:r>
              <a:rPr lang="en-US" sz="1800" dirty="0">
                <a:solidFill>
                  <a:schemeClr val="accent4"/>
                </a:solidFill>
                <a:latin typeface="18 VAG Rounded Light   02390" pitchFamily="2" charset="0"/>
              </a:rPr>
              <a:t>, </a:t>
            </a:r>
            <a:r>
              <a:rPr lang="en-US" sz="1800" dirty="0" err="1">
                <a:solidFill>
                  <a:schemeClr val="accent4"/>
                </a:solidFill>
                <a:latin typeface="18 VAG Rounded Light   02390" pitchFamily="2" charset="0"/>
              </a:rPr>
              <a:t>WBSel</a:t>
            </a:r>
            <a:r>
              <a:rPr lang="en-US" sz="1800" dirty="0">
                <a:solidFill>
                  <a:schemeClr val="accent4"/>
                </a:solidFill>
                <a:latin typeface="18 VAG Rounded Light   02390" pitchFamily="2" charset="0"/>
              </a:rPr>
              <a:t> now controls</a:t>
            </a:r>
            <a:br>
              <a:rPr lang="en-US" sz="1800" dirty="0">
                <a:solidFill>
                  <a:schemeClr val="accent4"/>
                </a:solidFill>
                <a:latin typeface="18 VAG Rounded Light   02390" pitchFamily="2" charset="0"/>
              </a:rPr>
            </a:br>
            <a:r>
              <a:rPr lang="en-US" sz="1800" dirty="0">
                <a:solidFill>
                  <a:schemeClr val="accent4"/>
                </a:solidFill>
                <a:latin typeface="18 VAG Rounded Light   02390" pitchFamily="2" charset="0"/>
              </a:rPr>
              <a:t>a 3-input MUX.</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tx1">
                <a:lumMod val="50000"/>
                <a:lumOff val="50000"/>
              </a:scheme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tx1">
                    <a:lumMod val="50000"/>
                    <a:lumOff val="50000"/>
                  </a:schemeClr>
                </a:solidFill>
                <a:latin typeface="18 VAG Rounded Light   02390" pitchFamily="2" charset="0"/>
              </a:rPr>
              <a:t>clk</a:t>
            </a:r>
            <a:endParaRPr lang="en-US" sz="1100" dirty="0">
              <a:solidFill>
                <a:schemeClr val="tx1">
                  <a:lumMod val="50000"/>
                  <a:lumOff val="50000"/>
                </a:schemeClr>
              </a:solidFill>
              <a:latin typeface="18 VAG Rounded Light   02390" pitchFamily="2" charset="0"/>
            </a:endParaRPr>
          </a:p>
        </p:txBody>
      </p:sp>
      <p:cxnSp>
        <p:nvCxnSpPr>
          <p:cNvPr id="196" name="Straight Connector 195">
            <a:extLst>
              <a:ext uri="{FF2B5EF4-FFF2-40B4-BE49-F238E27FC236}">
                <a16:creationId xmlns:a16="http://schemas.microsoft.com/office/drawing/2014/main" id="{5B1182A6-0946-CC24-2378-F3DAB18A8640}"/>
              </a:ext>
            </a:extLst>
          </p:cNvPr>
          <p:cNvCxnSpPr/>
          <p:nvPr/>
        </p:nvCxnSpPr>
        <p:spPr>
          <a:xfrm flipV="1">
            <a:off x="6024448" y="4561851"/>
            <a:ext cx="0" cy="118145"/>
          </a:xfrm>
          <a:prstGeom prst="line">
            <a:avLst/>
          </a:prstGeom>
          <a:ln w="19050">
            <a:solidFill>
              <a:schemeClr val="tx1">
                <a:lumMod val="50000"/>
                <a:lumOff val="50000"/>
              </a:schemeClr>
            </a:solidFill>
            <a:tailEnd type="none" w="lg" len="lg"/>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bg1"/>
            </a:solidFill>
            <a:tailEnd type="triangle" w="lg" len="lg"/>
          </a:ln>
          <a:effectLst>
            <a:glow rad="63500">
              <a:srgbClr val="00264A">
                <a:alpha val="92000"/>
              </a:srgbClr>
            </a:glow>
          </a:effectLst>
        </p:spPr>
        <p:style>
          <a:lnRef idx="1">
            <a:schemeClr val="accent1"/>
          </a:lnRef>
          <a:fillRef idx="0">
            <a:schemeClr val="accent1"/>
          </a:fillRef>
          <a:effectRef idx="0">
            <a:schemeClr val="accent1"/>
          </a:effectRef>
          <a:fontRef idx="minor">
            <a:schemeClr val="tx1"/>
          </a:fontRef>
        </p:style>
      </p:cxnSp>
      <p:sp>
        <p:nvSpPr>
          <p:cNvPr id="34" name="Rounded Rectangle 33">
            <a:extLst>
              <a:ext uri="{FF2B5EF4-FFF2-40B4-BE49-F238E27FC236}">
                <a16:creationId xmlns:a16="http://schemas.microsoft.com/office/drawing/2014/main" id="{5FF65934-C540-D4EB-5E26-A7998F695809}"/>
              </a:ext>
            </a:extLst>
          </p:cNvPr>
          <p:cNvSpPr/>
          <p:nvPr/>
        </p:nvSpPr>
        <p:spPr>
          <a:xfrm>
            <a:off x="4095066" y="4684066"/>
            <a:ext cx="734547" cy="615137"/>
          </a:xfrm>
          <a:prstGeom prst="roundRect">
            <a:avLst/>
          </a:prstGeom>
          <a:solidFill>
            <a:srgbClr val="011223"/>
          </a:solidFill>
          <a:ln w="57150">
            <a:solidFill>
              <a:schemeClr val="accent5"/>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b="1" dirty="0" err="1">
                <a:solidFill>
                  <a:schemeClr val="accent5"/>
                </a:solidFill>
                <a:latin typeface="18 VAG Rounded Bold   07390" pitchFamily="2" charset="0"/>
              </a:rPr>
              <a:t>Imm</a:t>
            </a:r>
            <a:r>
              <a:rPr lang="en-US" sz="1400" b="1" dirty="0">
                <a:solidFill>
                  <a:schemeClr val="accent5"/>
                </a:solidFill>
                <a:latin typeface="18 VAG Rounded Bold   07390" pitchFamily="2" charset="0"/>
              </a:rPr>
              <a:t>. Gen</a:t>
            </a:r>
          </a:p>
        </p:txBody>
      </p:sp>
      <p:sp>
        <p:nvSpPr>
          <p:cNvPr id="45" name="TextBox 44">
            <a:extLst>
              <a:ext uri="{FF2B5EF4-FFF2-40B4-BE49-F238E27FC236}">
                <a16:creationId xmlns:a16="http://schemas.microsoft.com/office/drawing/2014/main" id="{6C8247E0-ACB1-6C2B-4B85-323C2F7D9371}"/>
              </a:ext>
            </a:extLst>
          </p:cNvPr>
          <p:cNvSpPr txBox="1"/>
          <p:nvPr/>
        </p:nvSpPr>
        <p:spPr>
          <a:xfrm>
            <a:off x="10252492" y="5557253"/>
            <a:ext cx="646331"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WBSel</a:t>
            </a:r>
            <a:endParaRPr lang="en-US" sz="1400" dirty="0">
              <a:solidFill>
                <a:schemeClr val="accent3"/>
              </a:solidFill>
              <a:latin typeface="18 VAG Rounded Light   02390" pitchFamily="2" charset="0"/>
            </a:endParaRPr>
          </a:p>
          <a:p>
            <a:pPr algn="ctr">
              <a:lnSpc>
                <a:spcPct val="85000"/>
              </a:lnSpc>
            </a:pPr>
            <a:r>
              <a:rPr lang="en-US" sz="1400" dirty="0">
                <a:solidFill>
                  <a:schemeClr val="accent4"/>
                </a:solidFill>
                <a:latin typeface="18 VAG Rounded Light   02390" pitchFamily="2" charset="0"/>
              </a:rPr>
              <a:t>2</a:t>
            </a:r>
          </a:p>
        </p:txBody>
      </p:sp>
      <p:grpSp>
        <p:nvGrpSpPr>
          <p:cNvPr id="58" name="Group 57">
            <a:extLst>
              <a:ext uri="{FF2B5EF4-FFF2-40B4-BE49-F238E27FC236}">
                <a16:creationId xmlns:a16="http://schemas.microsoft.com/office/drawing/2014/main" id="{BD431E82-6BC8-5D38-DAA5-BD10857E8758}"/>
              </a:ext>
            </a:extLst>
          </p:cNvPr>
          <p:cNvGrpSpPr/>
          <p:nvPr/>
        </p:nvGrpSpPr>
        <p:grpSpPr>
          <a:xfrm>
            <a:off x="3102991" y="2260284"/>
            <a:ext cx="7443225" cy="887961"/>
            <a:chOff x="3102991" y="2260284"/>
            <a:chExt cx="7443225" cy="887961"/>
          </a:xfrm>
        </p:grpSpPr>
        <p:grpSp>
          <p:nvGrpSpPr>
            <p:cNvPr id="59" name="Group 58">
              <a:extLst>
                <a:ext uri="{FF2B5EF4-FFF2-40B4-BE49-F238E27FC236}">
                  <a16:creationId xmlns:a16="http://schemas.microsoft.com/office/drawing/2014/main" id="{A4611226-14E0-42B5-B983-05AA71642147}"/>
                </a:ext>
              </a:extLst>
            </p:cNvPr>
            <p:cNvGrpSpPr/>
            <p:nvPr/>
          </p:nvGrpSpPr>
          <p:grpSpPr>
            <a:xfrm>
              <a:off x="3368069" y="2260284"/>
              <a:ext cx="7178147" cy="887961"/>
              <a:chOff x="3368069" y="2260284"/>
              <a:chExt cx="7178147" cy="887961"/>
            </a:xfrm>
          </p:grpSpPr>
          <p:cxnSp>
            <p:nvCxnSpPr>
              <p:cNvPr id="61" name="Elbow Connector 60">
                <a:extLst>
                  <a:ext uri="{FF2B5EF4-FFF2-40B4-BE49-F238E27FC236}">
                    <a16:creationId xmlns:a16="http://schemas.microsoft.com/office/drawing/2014/main" id="{6643B333-0E68-4E7C-03DB-521FB9915196}"/>
                  </a:ext>
                </a:extLst>
              </p:cNvPr>
              <p:cNvCxnSpPr>
                <a:cxnSpLocks/>
              </p:cNvCxnSpPr>
              <p:nvPr/>
            </p:nvCxnSpPr>
            <p:spPr>
              <a:xfrm rot="16200000" flipH="1">
                <a:off x="9863617" y="2465646"/>
                <a:ext cx="887961" cy="477237"/>
              </a:xfrm>
              <a:prstGeom prst="bentConnector3">
                <a:avLst>
                  <a:gd name="adj1" fmla="val 99200"/>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B56D245-A05A-AE01-82CD-A190C011C510}"/>
                  </a:ext>
                </a:extLst>
              </p:cNvPr>
              <p:cNvCxnSpPr>
                <a:cxnSpLocks/>
              </p:cNvCxnSpPr>
              <p:nvPr/>
            </p:nvCxnSpPr>
            <p:spPr>
              <a:xfrm>
                <a:off x="3368069" y="2260284"/>
                <a:ext cx="6711696" cy="0"/>
              </a:xfrm>
              <a:prstGeom prst="line">
                <a:avLst/>
              </a:prstGeom>
              <a:ln w="28575">
                <a:solidFill>
                  <a:schemeClr val="accent4"/>
                </a:solidFill>
                <a:headEnd type="oval"/>
                <a:tailEnd type="none" w="lg" len="lg"/>
              </a:ln>
            </p:spPr>
            <p:style>
              <a:lnRef idx="1">
                <a:schemeClr val="accent1"/>
              </a:lnRef>
              <a:fillRef idx="0">
                <a:schemeClr val="accent1"/>
              </a:fillRef>
              <a:effectRef idx="0">
                <a:schemeClr val="accent1"/>
              </a:effectRef>
              <a:fontRef idx="minor">
                <a:schemeClr val="tx1"/>
              </a:fontRef>
            </p:style>
          </p:cxnSp>
        </p:grpSp>
        <p:cxnSp>
          <p:nvCxnSpPr>
            <p:cNvPr id="60" name="Elbow Connector 59">
              <a:extLst>
                <a:ext uri="{FF2B5EF4-FFF2-40B4-BE49-F238E27FC236}">
                  <a16:creationId xmlns:a16="http://schemas.microsoft.com/office/drawing/2014/main" id="{85015FDA-5498-9D2E-8E10-04A79D1BD87C}"/>
                </a:ext>
              </a:extLst>
            </p:cNvPr>
            <p:cNvCxnSpPr>
              <a:cxnSpLocks/>
            </p:cNvCxnSpPr>
            <p:nvPr/>
          </p:nvCxnSpPr>
          <p:spPr>
            <a:xfrm rot="5400000" flipH="1" flipV="1">
              <a:off x="2999590" y="2363686"/>
              <a:ext cx="477525" cy="270723"/>
            </a:xfrm>
            <a:prstGeom prst="bentConnector3">
              <a:avLst>
                <a:gd name="adj1" fmla="val -2954"/>
              </a:avLst>
            </a:prstGeom>
            <a:ln w="28575">
              <a:solidFill>
                <a:schemeClr val="accent4"/>
              </a:solidFill>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49580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 grpId="0"/>
      <p:bldP spid="29" grpId="0" animBg="1"/>
      <p:bldP spid="181" grpId="0" animBg="1"/>
      <p:bldP spid="22" grpId="0"/>
      <p:bldP spid="4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6" name="Straight Arrow Connector 475">
            <a:extLst>
              <a:ext uri="{FF2B5EF4-FFF2-40B4-BE49-F238E27FC236}">
                <a16:creationId xmlns:a16="http://schemas.microsoft.com/office/drawing/2014/main" id="{542881D0-E006-5FD1-06B4-BF7FDE875101}"/>
              </a:ext>
            </a:extLst>
          </p:cNvPr>
          <p:cNvCxnSpPr>
            <a:cxnSpLocks/>
          </p:cNvCxnSpPr>
          <p:nvPr/>
        </p:nvCxnSpPr>
        <p:spPr>
          <a:xfrm>
            <a:off x="6985475" y="4381734"/>
            <a:ext cx="0" cy="1184173"/>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B1CA216-A44B-94A2-491B-0FE076CC9699}"/>
              </a:ext>
            </a:extLst>
          </p:cNvPr>
          <p:cNvCxnSpPr>
            <a:cxnSpLocks/>
          </p:cNvCxnSpPr>
          <p:nvPr/>
        </p:nvCxnSpPr>
        <p:spPr>
          <a:xfrm>
            <a:off x="7198463" y="4391981"/>
            <a:ext cx="0" cy="1173926"/>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Elbow Connector 8">
            <a:extLst>
              <a:ext uri="{FF2B5EF4-FFF2-40B4-BE49-F238E27FC236}">
                <a16:creationId xmlns:a16="http://schemas.microsoft.com/office/drawing/2014/main" id="{C4CABF1C-C840-9F3E-AB67-F1D6561813BC}"/>
              </a:ext>
            </a:extLst>
          </p:cNvPr>
          <p:cNvCxnSpPr>
            <a:cxnSpLocks/>
          </p:cNvCxnSpPr>
          <p:nvPr/>
        </p:nvCxnSpPr>
        <p:spPr>
          <a:xfrm rot="10800000" flipH="1">
            <a:off x="4808959" y="4530234"/>
            <a:ext cx="2936970" cy="596712"/>
          </a:xfrm>
          <a:prstGeom prst="bentConnector3">
            <a:avLst>
              <a:gd name="adj1" fmla="val 92537"/>
            </a:avLst>
          </a:prstGeom>
          <a:ln w="28575">
            <a:solidFill>
              <a:schemeClr val="bg1"/>
            </a:solidFill>
            <a:tailEnd type="triangle" w="lg" len="lg"/>
          </a:ln>
          <a:effectLst>
            <a:glow rad="63500">
              <a:srgbClr val="00264A">
                <a:alpha val="92000"/>
              </a:srgbClr>
            </a:glow>
          </a:effectLst>
        </p:spPr>
        <p:style>
          <a:lnRef idx="1">
            <a:schemeClr val="accent1"/>
          </a:lnRef>
          <a:fillRef idx="0">
            <a:schemeClr val="accent1"/>
          </a:fillRef>
          <a:effectRef idx="0">
            <a:schemeClr val="accent1"/>
          </a:effectRef>
          <a:fontRef idx="minor">
            <a:schemeClr val="tx1"/>
          </a:fontRef>
        </p:style>
      </p:cxnSp>
      <p:cxnSp>
        <p:nvCxnSpPr>
          <p:cNvPr id="426" name="Straight Arrow Connector 425">
            <a:extLst>
              <a:ext uri="{FF2B5EF4-FFF2-40B4-BE49-F238E27FC236}">
                <a16:creationId xmlns:a16="http://schemas.microsoft.com/office/drawing/2014/main" id="{E4D1DEAE-7AAB-4FA5-9AC7-CEF254DF6C1E}"/>
              </a:ext>
            </a:extLst>
          </p:cNvPr>
          <p:cNvCxnSpPr>
            <a:cxnSpLocks/>
          </p:cNvCxnSpPr>
          <p:nvPr/>
        </p:nvCxnSpPr>
        <p:spPr>
          <a:xfrm>
            <a:off x="7983123" y="4427042"/>
            <a:ext cx="301752" cy="149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63182A8-AAC2-5CFD-2ED1-D6AE1F385463}"/>
              </a:ext>
            </a:extLst>
          </p:cNvPr>
          <p:cNvSpPr>
            <a:spLocks noGrp="1"/>
          </p:cNvSpPr>
          <p:nvPr>
            <p:ph type="title"/>
          </p:nvPr>
        </p:nvSpPr>
        <p:spPr/>
        <p:txBody>
          <a:bodyPr/>
          <a:lstStyle/>
          <a:p>
            <a:pPr>
              <a:tabLst>
                <a:tab pos="10280650" algn="r"/>
              </a:tabLst>
            </a:pPr>
            <a:r>
              <a:rPr lang="en-US" dirty="0"/>
              <a:t>Complete RV32I Datapath!</a:t>
            </a:r>
          </a:p>
        </p:txBody>
      </p:sp>
      <p:sp>
        <p:nvSpPr>
          <p:cNvPr id="307" name="Rectangle 306">
            <a:extLst>
              <a:ext uri="{FF2B5EF4-FFF2-40B4-BE49-F238E27FC236}">
                <a16:creationId xmlns:a16="http://schemas.microsoft.com/office/drawing/2014/main" id="{5E2B3D3E-7682-F6FD-4010-CC6BCDC1F9BA}"/>
              </a:ext>
            </a:extLst>
          </p:cNvPr>
          <p:cNvSpPr/>
          <p:nvPr/>
        </p:nvSpPr>
        <p:spPr>
          <a:xfrm>
            <a:off x="2124990" y="3375224"/>
            <a:ext cx="934483" cy="115215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400" i="1" dirty="0" err="1">
                <a:solidFill>
                  <a:schemeClr val="bg1"/>
                </a:solidFill>
                <a:latin typeface="18 VAG Rounded Light   02390" pitchFamily="2" charset="0"/>
              </a:rPr>
              <a:t>addr</a:t>
            </a:r>
            <a:endParaRPr lang="en-US" sz="1400" i="1" dirty="0">
              <a:solidFill>
                <a:schemeClr val="bg1"/>
              </a:solidFill>
              <a:latin typeface="18 VAG Rounded Light   02390" pitchFamily="2" charset="0"/>
            </a:endParaRPr>
          </a:p>
          <a:p>
            <a:pPr algn="r"/>
            <a:r>
              <a:rPr lang="en-US" sz="1400" i="1" dirty="0" err="1">
                <a:solidFill>
                  <a:schemeClr val="bg1"/>
                </a:solidFill>
                <a:latin typeface="18 VAG Rounded Light   02390" pitchFamily="2" charset="0"/>
              </a:rPr>
              <a:t>inst</a:t>
            </a:r>
            <a:endParaRPr lang="en-US" sz="1400" i="1" dirty="0">
              <a:solidFill>
                <a:schemeClr val="bg1"/>
              </a:solidFill>
              <a:latin typeface="18 VAG Rounded Light   02390" pitchFamily="2" charset="0"/>
            </a:endParaRPr>
          </a:p>
          <a:p>
            <a:endParaRPr lang="en-US" sz="1600" dirty="0">
              <a:solidFill>
                <a:schemeClr val="bg1"/>
              </a:solidFill>
              <a:latin typeface="18 VAG Rounded Light   02390" pitchFamily="2" charset="0"/>
            </a:endParaRPr>
          </a:p>
          <a:p>
            <a:r>
              <a:rPr lang="en-US" sz="1600" b="1" dirty="0">
                <a:solidFill>
                  <a:schemeClr val="bg1"/>
                </a:solidFill>
                <a:latin typeface="Courier New" panose="02070309020205020404" pitchFamily="49" charset="0"/>
                <a:cs typeface="Courier New" panose="02070309020205020404" pitchFamily="49" charset="0"/>
              </a:rPr>
              <a:t>IMEM</a:t>
            </a:r>
          </a:p>
        </p:txBody>
      </p:sp>
      <p:sp>
        <p:nvSpPr>
          <p:cNvPr id="319" name="Freeform 318">
            <a:extLst>
              <a:ext uri="{FF2B5EF4-FFF2-40B4-BE49-F238E27FC236}">
                <a16:creationId xmlns:a16="http://schemas.microsoft.com/office/drawing/2014/main" id="{50D48F20-2317-959C-0E0D-67B0974EEDE2}"/>
              </a:ext>
            </a:extLst>
          </p:cNvPr>
          <p:cNvSpPr>
            <a:spLocks/>
          </p:cNvSpPr>
          <p:nvPr/>
        </p:nvSpPr>
        <p:spPr>
          <a:xfrm>
            <a:off x="8279464" y="3549544"/>
            <a:ext cx="581729" cy="1053232"/>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A</a:t>
            </a:r>
            <a:endParaRPr lang="en-US" sz="1600" dirty="0">
              <a:solidFill>
                <a:schemeClr val="bg1"/>
              </a:solidFill>
              <a:latin typeface="Courier New" panose="02070309020205020404" pitchFamily="49" charset="0"/>
              <a:cs typeface="Courier New" panose="02070309020205020404" pitchFamily="49" charset="0"/>
            </a:endParaRPr>
          </a:p>
          <a:p>
            <a:pPr algn="r">
              <a:spcBef>
                <a:spcPts val="600"/>
              </a:spcBef>
              <a:spcAft>
                <a:spcPts val="600"/>
              </a:spcAft>
            </a:pPr>
            <a:r>
              <a:rPr lang="en-US" sz="1600" dirty="0">
                <a:solidFill>
                  <a:schemeClr val="bg1"/>
                </a:solidFill>
                <a:latin typeface="18 VAG Rounded Light   02390" pitchFamily="2" charset="0"/>
              </a:rPr>
              <a:t>ALU</a:t>
            </a:r>
          </a:p>
          <a:p>
            <a:pPr>
              <a:spcBef>
                <a:spcPts val="600"/>
              </a:spcBef>
              <a:spcAft>
                <a:spcPts val="600"/>
              </a:spcAft>
            </a:pPr>
            <a:r>
              <a:rPr lang="en-US" sz="1200" dirty="0">
                <a:solidFill>
                  <a:schemeClr val="bg1"/>
                </a:solidFill>
                <a:latin typeface="Courier New" panose="02070309020205020404" pitchFamily="49" charset="0"/>
                <a:cs typeface="Courier New" panose="02070309020205020404" pitchFamily="49" charset="0"/>
              </a:rPr>
              <a:t>B</a:t>
            </a:r>
          </a:p>
        </p:txBody>
      </p:sp>
      <p:sp>
        <p:nvSpPr>
          <p:cNvPr id="320" name="Rounded Rectangle 319">
            <a:extLst>
              <a:ext uri="{FF2B5EF4-FFF2-40B4-BE49-F238E27FC236}">
                <a16:creationId xmlns:a16="http://schemas.microsoft.com/office/drawing/2014/main" id="{4FDE1979-E809-7A50-A64F-A7DC871340D6}"/>
              </a:ext>
            </a:extLst>
          </p:cNvPr>
          <p:cNvSpPr/>
          <p:nvPr/>
        </p:nvSpPr>
        <p:spPr>
          <a:xfrm>
            <a:off x="6623312" y="3477823"/>
            <a:ext cx="723547" cy="890604"/>
          </a:xfrm>
          <a:prstGeom prst="round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200" dirty="0">
                <a:solidFill>
                  <a:schemeClr val="bg1"/>
                </a:solidFill>
                <a:latin typeface="18 VAG Rounded Light   02390" pitchFamily="2" charset="0"/>
              </a:rPr>
              <a:t>Branch Comp.</a:t>
            </a:r>
          </a:p>
        </p:txBody>
      </p:sp>
      <p:sp>
        <p:nvSpPr>
          <p:cNvPr id="324" name="Freeform 323">
            <a:extLst>
              <a:ext uri="{FF2B5EF4-FFF2-40B4-BE49-F238E27FC236}">
                <a16:creationId xmlns:a16="http://schemas.microsoft.com/office/drawing/2014/main" id="{C3F319D4-E9C9-BF79-1D0B-B024CF36D456}"/>
              </a:ext>
            </a:extLst>
          </p:cNvPr>
          <p:cNvSpPr>
            <a:spLocks/>
          </p:cNvSpPr>
          <p:nvPr/>
        </p:nvSpPr>
        <p:spPr>
          <a:xfrm>
            <a:off x="2458278" y="2385959"/>
            <a:ext cx="644039" cy="714015"/>
          </a:xfrm>
          <a:custGeom>
            <a:avLst/>
            <a:gdLst>
              <a:gd name="connsiteX0" fmla="*/ 0 w 1793965"/>
              <a:gd name="connsiteY0" fmla="*/ 0 h 4650377"/>
              <a:gd name="connsiteX1" fmla="*/ 0 w 1793965"/>
              <a:gd name="connsiteY1" fmla="*/ 1898469 h 4650377"/>
              <a:gd name="connsiteX2" fmla="*/ 478971 w 1793965"/>
              <a:gd name="connsiteY2" fmla="*/ 2333897 h 4650377"/>
              <a:gd name="connsiteX3" fmla="*/ 0 w 1793965"/>
              <a:gd name="connsiteY3" fmla="*/ 2778034 h 4650377"/>
              <a:gd name="connsiteX4" fmla="*/ 0 w 1793965"/>
              <a:gd name="connsiteY4" fmla="*/ 4650377 h 4650377"/>
              <a:gd name="connsiteX5" fmla="*/ 1793965 w 1793965"/>
              <a:gd name="connsiteY5" fmla="*/ 3666309 h 4650377"/>
              <a:gd name="connsiteX6" fmla="*/ 1793965 w 1793965"/>
              <a:gd name="connsiteY6" fmla="*/ 984069 h 4650377"/>
              <a:gd name="connsiteX7" fmla="*/ 0 w 1793965"/>
              <a:gd name="connsiteY7" fmla="*/ 0 h 465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93965" h="4650377">
                <a:moveTo>
                  <a:pt x="0" y="0"/>
                </a:moveTo>
                <a:lnTo>
                  <a:pt x="0" y="1898469"/>
                </a:lnTo>
                <a:lnTo>
                  <a:pt x="478971" y="2333897"/>
                </a:lnTo>
                <a:lnTo>
                  <a:pt x="0" y="2778034"/>
                </a:lnTo>
                <a:lnTo>
                  <a:pt x="0" y="4650377"/>
                </a:lnTo>
                <a:lnTo>
                  <a:pt x="1793965" y="3666309"/>
                </a:lnTo>
                <a:lnTo>
                  <a:pt x="1793965" y="984069"/>
                </a:lnTo>
                <a:lnTo>
                  <a:pt x="0" y="0"/>
                </a:lnTo>
                <a:close/>
              </a:path>
            </a:pathLst>
          </a:cu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horz" rtlCol="0" anchor="ctr"/>
          <a:lstStyle/>
          <a:p>
            <a:pPr algn="r"/>
            <a:r>
              <a:rPr lang="en-US" sz="1600" dirty="0">
                <a:solidFill>
                  <a:schemeClr val="bg1"/>
                </a:solidFill>
                <a:latin typeface="18 VAG Rounded Light   02390" pitchFamily="2" charset="0"/>
              </a:rPr>
              <a:t>add</a:t>
            </a:r>
          </a:p>
        </p:txBody>
      </p:sp>
      <p:sp>
        <p:nvSpPr>
          <p:cNvPr id="325" name="Rounded Rectangle 324">
            <a:extLst>
              <a:ext uri="{FF2B5EF4-FFF2-40B4-BE49-F238E27FC236}">
                <a16:creationId xmlns:a16="http://schemas.microsoft.com/office/drawing/2014/main" id="{DE938227-1E4D-9C95-BFDC-595B19E389B1}"/>
              </a:ext>
            </a:extLst>
          </p:cNvPr>
          <p:cNvSpPr/>
          <p:nvPr/>
        </p:nvSpPr>
        <p:spPr>
          <a:xfrm>
            <a:off x="4095066" y="4684066"/>
            <a:ext cx="734547" cy="615137"/>
          </a:xfrm>
          <a:prstGeom prst="round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r>
              <a:rPr lang="en-US" sz="1400" dirty="0" err="1">
                <a:solidFill>
                  <a:schemeClr val="bg1"/>
                </a:solidFill>
                <a:latin typeface="18 VAG Rounded Light   02390" pitchFamily="2" charset="0"/>
              </a:rPr>
              <a:t>Imm</a:t>
            </a:r>
            <a:r>
              <a:rPr lang="en-US" sz="1400" dirty="0">
                <a:solidFill>
                  <a:schemeClr val="bg1"/>
                </a:solidFill>
                <a:latin typeface="18 VAG Rounded Light   02390" pitchFamily="2" charset="0"/>
              </a:rPr>
              <a:t>. Gen</a:t>
            </a:r>
          </a:p>
        </p:txBody>
      </p:sp>
      <p:sp>
        <p:nvSpPr>
          <p:cNvPr id="327" name="Isosceles Triangle 59">
            <a:extLst>
              <a:ext uri="{FF2B5EF4-FFF2-40B4-BE49-F238E27FC236}">
                <a16:creationId xmlns:a16="http://schemas.microsoft.com/office/drawing/2014/main" id="{EFECB578-3A21-E891-8D71-0213F089D1C0}"/>
              </a:ext>
            </a:extLst>
          </p:cNvPr>
          <p:cNvSpPr>
            <a:spLocks noChangeAspect="1"/>
          </p:cNvSpPr>
          <p:nvPr/>
        </p:nvSpPr>
        <p:spPr>
          <a:xfrm>
            <a:off x="5943281" y="4428532"/>
            <a:ext cx="182880" cy="142528"/>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sp>
        <p:nvSpPr>
          <p:cNvPr id="329" name="Isosceles Triangle 59">
            <a:extLst>
              <a:ext uri="{FF2B5EF4-FFF2-40B4-BE49-F238E27FC236}">
                <a16:creationId xmlns:a16="http://schemas.microsoft.com/office/drawing/2014/main" id="{4BB69EA9-5AFD-ECF3-6FBC-565768226B64}"/>
              </a:ext>
            </a:extLst>
          </p:cNvPr>
          <p:cNvSpPr/>
          <p:nvPr/>
        </p:nvSpPr>
        <p:spPr>
          <a:xfrm>
            <a:off x="9886099" y="4540637"/>
            <a:ext cx="182880" cy="172777"/>
          </a:xfrm>
          <a:prstGeom prst="triangle">
            <a:avLst/>
          </a:prstGeom>
          <a:noFill/>
          <a:ln w="28575"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nvGrpSpPr>
          <p:cNvPr id="330" name="Group 329">
            <a:extLst>
              <a:ext uri="{FF2B5EF4-FFF2-40B4-BE49-F238E27FC236}">
                <a16:creationId xmlns:a16="http://schemas.microsoft.com/office/drawing/2014/main" id="{B7F7F169-A5F4-56F1-6936-D7E5E795DF1A}"/>
              </a:ext>
            </a:extLst>
          </p:cNvPr>
          <p:cNvGrpSpPr/>
          <p:nvPr/>
        </p:nvGrpSpPr>
        <p:grpSpPr>
          <a:xfrm>
            <a:off x="1430760" y="3270286"/>
            <a:ext cx="349772" cy="747357"/>
            <a:chOff x="959047" y="3126189"/>
            <a:chExt cx="415675" cy="914792"/>
          </a:xfrm>
        </p:grpSpPr>
        <p:sp>
          <p:nvSpPr>
            <p:cNvPr id="331" name="Rectangle 330">
              <a:extLst>
                <a:ext uri="{FF2B5EF4-FFF2-40B4-BE49-F238E27FC236}">
                  <a16:creationId xmlns:a16="http://schemas.microsoft.com/office/drawing/2014/main" id="{A5C8CA32-3065-E6B7-1BD4-077B2DB8399E}"/>
                </a:ext>
              </a:extLst>
            </p:cNvPr>
            <p:cNvSpPr>
              <a:spLocks noChangeArrowheads="1"/>
            </p:cNvSpPr>
            <p:nvPr/>
          </p:nvSpPr>
          <p:spPr bwMode="auto">
            <a:xfrm>
              <a:off x="959047" y="3126189"/>
              <a:ext cx="415675" cy="914792"/>
            </a:xfrm>
            <a:prstGeom prst="rect">
              <a:avLst/>
            </a:prstGeom>
            <a:noFill/>
            <a:ln w="28575">
              <a:solidFill>
                <a:schemeClr val="bg1"/>
              </a:solidFill>
              <a:miter lim="800000"/>
              <a:headEnd/>
              <a:tailEnd/>
            </a:ln>
          </p:spPr>
          <p:txBody>
            <a:bodyPr wrap="none" lIns="68580" tIns="34290" rIns="68580" bIns="34290" anchor="ctr">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600" b="1" u="none" strike="noStrike" kern="1200" cap="none" spc="0" normalizeH="0" baseline="0" noProof="0" dirty="0">
                  <a:ln>
                    <a:noFill/>
                  </a:ln>
                  <a:solidFill>
                    <a:schemeClr val="bg1"/>
                  </a:solidFill>
                  <a:effectLst/>
                  <a:uLnTx/>
                  <a:uFillTx/>
                  <a:latin typeface="Courier New" panose="02070309020205020404" pitchFamily="49" charset="0"/>
                  <a:ea typeface="ＭＳ Ｐゴシック" pitchFamily="-1" charset="-128"/>
                  <a:cs typeface="Courier New" panose="02070309020205020404" pitchFamily="49" charset="0"/>
                </a:rPr>
                <a:t>PC</a:t>
              </a:r>
            </a:p>
          </p:txBody>
        </p:sp>
        <p:sp>
          <p:nvSpPr>
            <p:cNvPr id="332" name="Isosceles Triangle 58">
              <a:extLst>
                <a:ext uri="{FF2B5EF4-FFF2-40B4-BE49-F238E27FC236}">
                  <a16:creationId xmlns:a16="http://schemas.microsoft.com/office/drawing/2014/main" id="{CC9BC0A6-4DFD-877B-775C-BD92FA021900}"/>
                </a:ext>
              </a:extLst>
            </p:cNvPr>
            <p:cNvSpPr/>
            <p:nvPr/>
          </p:nvSpPr>
          <p:spPr>
            <a:xfrm>
              <a:off x="1069894" y="3868203"/>
              <a:ext cx="221693" cy="172777"/>
            </a:xfrm>
            <a:prstGeom prst="triangle">
              <a:avLst/>
            </a:prstGeom>
            <a:noFill/>
            <a:ln w="28575" cap="flat" cmpd="sng" algn="ctr">
              <a:solidFill>
                <a:schemeClr val="bg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2000" u="none" strike="noStrike" kern="0" cap="none" spc="0" normalizeH="0" baseline="0" noProof="0">
                <a:ln>
                  <a:noFill/>
                </a:ln>
                <a:solidFill>
                  <a:schemeClr val="bg1"/>
                </a:solidFill>
                <a:effectLst/>
                <a:uLnTx/>
                <a:uFillTx/>
                <a:latin typeface="18 VAG Rounded Light   02390" pitchFamily="2" charset="0"/>
              </a:endParaRPr>
            </a:p>
          </p:txBody>
        </p:sp>
      </p:grpSp>
      <p:sp>
        <p:nvSpPr>
          <p:cNvPr id="333" name="TextBox 332">
            <a:extLst>
              <a:ext uri="{FF2B5EF4-FFF2-40B4-BE49-F238E27FC236}">
                <a16:creationId xmlns:a16="http://schemas.microsoft.com/office/drawing/2014/main" id="{DBEAFD36-7C4F-3851-69C1-E920A4AC22A7}"/>
              </a:ext>
            </a:extLst>
          </p:cNvPr>
          <p:cNvSpPr txBox="1"/>
          <p:nvPr/>
        </p:nvSpPr>
        <p:spPr>
          <a:xfrm>
            <a:off x="8724261" y="1244622"/>
            <a:ext cx="3375213" cy="1015663"/>
          </a:xfrm>
          <a:prstGeom prst="rect">
            <a:avLst/>
          </a:prstGeom>
          <a:noFill/>
        </p:spPr>
        <p:txBody>
          <a:bodyPr wrap="square" rtlCol="0">
            <a:spAutoFit/>
          </a:bodyPr>
          <a:lstStyle/>
          <a:p>
            <a:pPr algn="r"/>
            <a:r>
              <a:rPr lang="en-US" sz="6000" dirty="0">
                <a:solidFill>
                  <a:schemeClr val="accent1"/>
                </a:solidFill>
                <a:latin typeface="18 VAG Rounded Light   02390" pitchFamily="2" charset="0"/>
              </a:rPr>
              <a:t>🥳🥳🥳</a:t>
            </a:r>
          </a:p>
        </p:txBody>
      </p:sp>
      <p:cxnSp>
        <p:nvCxnSpPr>
          <p:cNvPr id="375" name="Elbow Connector 374">
            <a:extLst>
              <a:ext uri="{FF2B5EF4-FFF2-40B4-BE49-F238E27FC236}">
                <a16:creationId xmlns:a16="http://schemas.microsoft.com/office/drawing/2014/main" id="{8CB4FC43-FB1E-DAD9-6933-1031DF7B151C}"/>
              </a:ext>
            </a:extLst>
          </p:cNvPr>
          <p:cNvCxnSpPr>
            <a:cxnSpLocks/>
          </p:cNvCxnSpPr>
          <p:nvPr/>
        </p:nvCxnSpPr>
        <p:spPr>
          <a:xfrm flipV="1">
            <a:off x="3059473" y="3420761"/>
            <a:ext cx="1734699" cy="530538"/>
          </a:xfrm>
          <a:prstGeom prst="bentConnector3">
            <a:avLst>
              <a:gd name="adj1" fmla="val 17787"/>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6" name="Straight Arrow Connector 375">
            <a:extLst>
              <a:ext uri="{FF2B5EF4-FFF2-40B4-BE49-F238E27FC236}">
                <a16:creationId xmlns:a16="http://schemas.microsoft.com/office/drawing/2014/main" id="{06C5600C-FF32-7B65-A838-616535BD3D13}"/>
              </a:ext>
            </a:extLst>
          </p:cNvPr>
          <p:cNvCxnSpPr/>
          <p:nvPr/>
        </p:nvCxnSpPr>
        <p:spPr>
          <a:xfrm>
            <a:off x="3357586" y="3685070"/>
            <a:ext cx="1452348"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77" name="Straight Arrow Connector 376">
            <a:extLst>
              <a:ext uri="{FF2B5EF4-FFF2-40B4-BE49-F238E27FC236}">
                <a16:creationId xmlns:a16="http://schemas.microsoft.com/office/drawing/2014/main" id="{205D2502-C217-CFAD-90DA-7224BAC69EC5}"/>
              </a:ext>
            </a:extLst>
          </p:cNvPr>
          <p:cNvCxnSpPr/>
          <p:nvPr/>
        </p:nvCxnSpPr>
        <p:spPr>
          <a:xfrm>
            <a:off x="3357586" y="3951299"/>
            <a:ext cx="1452348"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6" name="Straight Arrow Connector 385">
            <a:extLst>
              <a:ext uri="{FF2B5EF4-FFF2-40B4-BE49-F238E27FC236}">
                <a16:creationId xmlns:a16="http://schemas.microsoft.com/office/drawing/2014/main" id="{5795E669-F7FD-51D5-9708-7B3C9BD34CCE}"/>
              </a:ext>
            </a:extLst>
          </p:cNvPr>
          <p:cNvCxnSpPr/>
          <p:nvPr/>
        </p:nvCxnSpPr>
        <p:spPr>
          <a:xfrm>
            <a:off x="3190630" y="3951299"/>
            <a:ext cx="0" cy="1575442"/>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A5D422CF-1692-106D-093A-8F6E171C79D9}"/>
              </a:ext>
            </a:extLst>
          </p:cNvPr>
          <p:cNvCxnSpPr>
            <a:cxnSpLocks/>
          </p:cNvCxnSpPr>
          <p:nvPr/>
        </p:nvCxnSpPr>
        <p:spPr>
          <a:xfrm flipV="1">
            <a:off x="3187909" y="5013221"/>
            <a:ext cx="914400"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29E1759E-8C1A-B8F6-C0AE-84288FE3023D}"/>
              </a:ext>
            </a:extLst>
          </p:cNvPr>
          <p:cNvCxnSpPr>
            <a:cxnSpLocks/>
          </p:cNvCxnSpPr>
          <p:nvPr/>
        </p:nvCxnSpPr>
        <p:spPr>
          <a:xfrm flipV="1">
            <a:off x="6246033" y="3676635"/>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9" name="Elbow Connector 398">
            <a:extLst>
              <a:ext uri="{FF2B5EF4-FFF2-40B4-BE49-F238E27FC236}">
                <a16:creationId xmlns:a16="http://schemas.microsoft.com/office/drawing/2014/main" id="{81177FA1-F44B-D412-678F-D0996FE371E5}"/>
              </a:ext>
            </a:extLst>
          </p:cNvPr>
          <p:cNvCxnSpPr>
            <a:cxnSpLocks/>
          </p:cNvCxnSpPr>
          <p:nvPr/>
        </p:nvCxnSpPr>
        <p:spPr>
          <a:xfrm rot="16200000" flipH="1">
            <a:off x="7031628" y="3034682"/>
            <a:ext cx="94632" cy="1367664"/>
          </a:xfrm>
          <a:prstGeom prst="bentConnector4">
            <a:avLst>
              <a:gd name="adj1" fmla="val -456294"/>
              <a:gd name="adj2" fmla="val 76963"/>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405" name="TextBox 404">
            <a:extLst>
              <a:ext uri="{FF2B5EF4-FFF2-40B4-BE49-F238E27FC236}">
                <a16:creationId xmlns:a16="http://schemas.microsoft.com/office/drawing/2014/main" id="{FEB16DF6-43AA-9A5F-FFF9-30CB1A3DA5D6}"/>
              </a:ext>
            </a:extLst>
          </p:cNvPr>
          <p:cNvSpPr txBox="1"/>
          <p:nvPr/>
        </p:nvSpPr>
        <p:spPr>
          <a:xfrm>
            <a:off x="6349656" y="3011006"/>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R[rs1]</a:t>
            </a:r>
            <a:endParaRPr lang="en-US" sz="2000" dirty="0">
              <a:solidFill>
                <a:schemeClr val="bg1"/>
              </a:solidFill>
              <a:latin typeface="18 VAG Rounded Light   02390" pitchFamily="2" charset="0"/>
            </a:endParaRPr>
          </a:p>
        </p:txBody>
      </p:sp>
      <p:grpSp>
        <p:nvGrpSpPr>
          <p:cNvPr id="466" name="Group 465">
            <a:extLst>
              <a:ext uri="{FF2B5EF4-FFF2-40B4-BE49-F238E27FC236}">
                <a16:creationId xmlns:a16="http://schemas.microsoft.com/office/drawing/2014/main" id="{D9AC5A45-167B-FAFC-8F95-7FB83C097F1E}"/>
              </a:ext>
            </a:extLst>
          </p:cNvPr>
          <p:cNvGrpSpPr/>
          <p:nvPr/>
        </p:nvGrpSpPr>
        <p:grpSpPr>
          <a:xfrm>
            <a:off x="9120628" y="3586419"/>
            <a:ext cx="1021734" cy="1127284"/>
            <a:chOff x="9120628" y="3586419"/>
            <a:chExt cx="1021734" cy="1127284"/>
          </a:xfrm>
        </p:grpSpPr>
        <p:sp>
          <p:nvSpPr>
            <p:cNvPr id="309" name="Rectangle 308">
              <a:extLst>
                <a:ext uri="{FF2B5EF4-FFF2-40B4-BE49-F238E27FC236}">
                  <a16:creationId xmlns:a16="http://schemas.microsoft.com/office/drawing/2014/main" id="{6BC64DA7-A1B1-1E33-61B5-D83764BAC155}"/>
                </a:ext>
              </a:extLst>
            </p:cNvPr>
            <p:cNvSpPr/>
            <p:nvPr/>
          </p:nvSpPr>
          <p:spPr>
            <a:xfrm>
              <a:off x="9120628" y="3586419"/>
              <a:ext cx="1021734" cy="1127284"/>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tabLst>
                  <a:tab pos="1249363" algn="r"/>
                </a:tabLst>
              </a:pPr>
              <a:r>
                <a:rPr lang="en-US" sz="1400" i="1" dirty="0">
                  <a:solidFill>
                    <a:schemeClr val="bg1"/>
                  </a:solidFill>
                  <a:latin typeface="18 VAG Rounded Light   02390" pitchFamily="2" charset="0"/>
                </a:rPr>
                <a:t>	</a:t>
              </a:r>
              <a:r>
                <a:rPr lang="en-US" sz="1400" i="1" dirty="0" err="1">
                  <a:solidFill>
                    <a:schemeClr val="bg1"/>
                  </a:solidFill>
                  <a:latin typeface="18 VAG Rounded Light   02390" pitchFamily="2" charset="0"/>
                </a:rPr>
                <a:t>rdata</a:t>
              </a:r>
              <a:endParaRPr lang="en-US" sz="1400" i="1" dirty="0">
                <a:solidFill>
                  <a:schemeClr val="bg1"/>
                </a:solidFill>
                <a:latin typeface="18 VAG Rounded Light   02390" pitchFamily="2" charset="0"/>
              </a:endParaRPr>
            </a:p>
            <a:p>
              <a:pPr>
                <a:spcBef>
                  <a:spcPts val="400"/>
                </a:spcBef>
                <a:tabLst>
                  <a:tab pos="1249363" algn="r"/>
                </a:tabLst>
              </a:pPr>
              <a:r>
                <a:rPr lang="en-US" sz="1400" i="1" dirty="0" err="1">
                  <a:solidFill>
                    <a:schemeClr val="bg1"/>
                  </a:solidFill>
                  <a:latin typeface="18 VAG Rounded Light   02390" pitchFamily="2" charset="0"/>
                </a:rPr>
                <a:t>addr</a:t>
              </a:r>
              <a:endParaRPr lang="en-US" sz="1400" i="1" dirty="0">
                <a:solidFill>
                  <a:schemeClr val="bg1"/>
                </a:solidFill>
                <a:latin typeface="18 VAG Rounded Light   02390" pitchFamily="2" charset="0"/>
              </a:endParaRPr>
            </a:p>
            <a:p>
              <a:pPr algn="r">
                <a:spcBef>
                  <a:spcPts val="400"/>
                </a:spcBef>
                <a:tabLst>
                  <a:tab pos="1249363" algn="r"/>
                </a:tabLst>
              </a:pPr>
              <a:r>
                <a:rPr lang="en-US" sz="1600" b="1" dirty="0">
                  <a:solidFill>
                    <a:schemeClr val="bg1"/>
                  </a:solidFill>
                  <a:latin typeface="Courier New" panose="02070309020205020404" pitchFamily="49" charset="0"/>
                  <a:cs typeface="Courier New" panose="02070309020205020404" pitchFamily="49" charset="0"/>
                </a:rPr>
                <a:t>DMEM</a:t>
              </a:r>
            </a:p>
            <a:p>
              <a:pPr>
                <a:spcBef>
                  <a:spcPts val="400"/>
                </a:spcBef>
                <a:spcAft>
                  <a:spcPts val="400"/>
                </a:spcAft>
                <a:tabLst>
                  <a:tab pos="1249363" algn="r"/>
                </a:tabLst>
              </a:pPr>
              <a:r>
                <a:rPr lang="en-US" sz="1200" i="1" dirty="0" err="1">
                  <a:solidFill>
                    <a:schemeClr val="bg1"/>
                  </a:solidFill>
                  <a:latin typeface="18 VAG ROUNDED LIGHT   02390" pitchFamily="2" charset="0"/>
                  <a:cs typeface="Courier New" panose="02070309020205020404" pitchFamily="49" charset="0"/>
                </a:rPr>
                <a:t>wdata</a:t>
              </a:r>
              <a:r>
                <a:rPr lang="en-US" sz="1600" i="1" dirty="0">
                  <a:solidFill>
                    <a:schemeClr val="bg1"/>
                  </a:solidFill>
                  <a:latin typeface="18 VAG ROUNDED LIGHT   02390" pitchFamily="2" charset="0"/>
                  <a:cs typeface="Courier New" panose="02070309020205020404" pitchFamily="49" charset="0"/>
                </a:rPr>
                <a:t> </a:t>
              </a:r>
              <a:endParaRPr lang="en-US" sz="1200" i="1" dirty="0">
                <a:solidFill>
                  <a:schemeClr val="bg1"/>
                </a:solidFill>
                <a:latin typeface="18 VAG ROUNDED LIGHT   02390" pitchFamily="2" charset="0"/>
                <a:cs typeface="Courier New" panose="02070309020205020404" pitchFamily="49" charset="0"/>
              </a:endParaRPr>
            </a:p>
          </p:txBody>
        </p:sp>
        <p:sp>
          <p:nvSpPr>
            <p:cNvPr id="419" name="Rectangle 418">
              <a:extLst>
                <a:ext uri="{FF2B5EF4-FFF2-40B4-BE49-F238E27FC236}">
                  <a16:creationId xmlns:a16="http://schemas.microsoft.com/office/drawing/2014/main" id="{A49D0FB0-BFA2-EDA4-4ABE-999F6FEBA857}"/>
                </a:ext>
              </a:extLst>
            </p:cNvPr>
            <p:cNvSpPr/>
            <p:nvPr/>
          </p:nvSpPr>
          <p:spPr>
            <a:xfrm>
              <a:off x="9120628" y="4444602"/>
              <a:ext cx="165031" cy="191496"/>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grpSp>
      <p:cxnSp>
        <p:nvCxnSpPr>
          <p:cNvPr id="427" name="Straight Arrow Connector 426">
            <a:extLst>
              <a:ext uri="{FF2B5EF4-FFF2-40B4-BE49-F238E27FC236}">
                <a16:creationId xmlns:a16="http://schemas.microsoft.com/office/drawing/2014/main" id="{67A46396-A71B-E5C3-E2EC-583B4A603C90}"/>
              </a:ext>
            </a:extLst>
          </p:cNvPr>
          <p:cNvCxnSpPr>
            <a:cxnSpLocks/>
          </p:cNvCxnSpPr>
          <p:nvPr/>
        </p:nvCxnSpPr>
        <p:spPr>
          <a:xfrm>
            <a:off x="7983123" y="3661650"/>
            <a:ext cx="301752" cy="149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5" name="Straight Arrow Connector 444">
            <a:extLst>
              <a:ext uri="{FF2B5EF4-FFF2-40B4-BE49-F238E27FC236}">
                <a16:creationId xmlns:a16="http://schemas.microsoft.com/office/drawing/2014/main" id="{2D1A0F8A-F1AA-0736-73BB-5204DAFA85B2}"/>
              </a:ext>
            </a:extLst>
          </p:cNvPr>
          <p:cNvCxnSpPr>
            <a:cxnSpLocks/>
          </p:cNvCxnSpPr>
          <p:nvPr/>
        </p:nvCxnSpPr>
        <p:spPr>
          <a:xfrm flipV="1">
            <a:off x="1043816" y="3915845"/>
            <a:ext cx="0" cy="162163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9" name="Straight Arrow Connector 448">
            <a:extLst>
              <a:ext uri="{FF2B5EF4-FFF2-40B4-BE49-F238E27FC236}">
                <a16:creationId xmlns:a16="http://schemas.microsoft.com/office/drawing/2014/main" id="{98CA2B2E-5BEF-6E19-FC37-311D08B845B0}"/>
              </a:ext>
            </a:extLst>
          </p:cNvPr>
          <p:cNvCxnSpPr>
            <a:cxnSpLocks/>
          </p:cNvCxnSpPr>
          <p:nvPr/>
        </p:nvCxnSpPr>
        <p:spPr>
          <a:xfrm flipV="1">
            <a:off x="9596488" y="4736341"/>
            <a:ext cx="0" cy="8011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B01F1A18-F34F-006C-C71D-DCC3DF9FCB76}"/>
              </a:ext>
            </a:extLst>
          </p:cNvPr>
          <p:cNvSpPr txBox="1"/>
          <p:nvPr/>
        </p:nvSpPr>
        <p:spPr>
          <a:xfrm>
            <a:off x="1442540" y="4120124"/>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56" name="Straight Connector 455">
            <a:extLst>
              <a:ext uri="{FF2B5EF4-FFF2-40B4-BE49-F238E27FC236}">
                <a16:creationId xmlns:a16="http://schemas.microsoft.com/office/drawing/2014/main" id="{245940B4-83F7-A371-DDED-84DC79891141}"/>
              </a:ext>
            </a:extLst>
          </p:cNvPr>
          <p:cNvCxnSpPr>
            <a:cxnSpLocks/>
            <a:stCxn id="454" idx="0"/>
            <a:endCxn id="332" idx="3"/>
          </p:cNvCxnSpPr>
          <p:nvPr/>
        </p:nvCxnSpPr>
        <p:spPr>
          <a:xfrm flipV="1">
            <a:off x="1613420" y="4017643"/>
            <a:ext cx="3886" cy="102481"/>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57" name="TextBox 456">
            <a:extLst>
              <a:ext uri="{FF2B5EF4-FFF2-40B4-BE49-F238E27FC236}">
                <a16:creationId xmlns:a16="http://schemas.microsoft.com/office/drawing/2014/main" id="{5F1F7DB0-6CD9-15D8-A9C7-594A704DE0B1}"/>
              </a:ext>
            </a:extLst>
          </p:cNvPr>
          <p:cNvSpPr txBox="1"/>
          <p:nvPr/>
        </p:nvSpPr>
        <p:spPr>
          <a:xfrm>
            <a:off x="5853568" y="4679996"/>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58" name="Straight Connector 457">
            <a:extLst>
              <a:ext uri="{FF2B5EF4-FFF2-40B4-BE49-F238E27FC236}">
                <a16:creationId xmlns:a16="http://schemas.microsoft.com/office/drawing/2014/main" id="{624C0249-9BE0-79DE-318D-A6352F8053E6}"/>
              </a:ext>
            </a:extLst>
          </p:cNvPr>
          <p:cNvCxnSpPr>
            <a:stCxn id="457" idx="0"/>
          </p:cNvCxnSpPr>
          <p:nvPr/>
        </p:nvCxnSpPr>
        <p:spPr>
          <a:xfrm flipV="1">
            <a:off x="6024448" y="4561851"/>
            <a:ext cx="0" cy="118145"/>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61" name="TextBox 460">
            <a:extLst>
              <a:ext uri="{FF2B5EF4-FFF2-40B4-BE49-F238E27FC236}">
                <a16:creationId xmlns:a16="http://schemas.microsoft.com/office/drawing/2014/main" id="{FE738B2C-2C36-2578-E323-38E7D6FA3739}"/>
              </a:ext>
            </a:extLst>
          </p:cNvPr>
          <p:cNvSpPr txBox="1"/>
          <p:nvPr/>
        </p:nvSpPr>
        <p:spPr>
          <a:xfrm>
            <a:off x="9813943" y="4842550"/>
            <a:ext cx="341760" cy="261610"/>
          </a:xfrm>
          <a:prstGeom prst="rect">
            <a:avLst/>
          </a:prstGeom>
          <a:noFill/>
        </p:spPr>
        <p:txBody>
          <a:bodyPr wrap="none" rtlCol="0">
            <a:spAutoFit/>
          </a:bodyPr>
          <a:lstStyle/>
          <a:p>
            <a:pPr algn="l"/>
            <a:r>
              <a:rPr lang="en-US" sz="1100" dirty="0" err="1">
                <a:solidFill>
                  <a:schemeClr val="bg1"/>
                </a:solidFill>
                <a:latin typeface="18 VAG Rounded Light   02390" pitchFamily="2" charset="0"/>
              </a:rPr>
              <a:t>clk</a:t>
            </a:r>
            <a:endParaRPr lang="en-US" sz="1100" dirty="0">
              <a:solidFill>
                <a:schemeClr val="bg1"/>
              </a:solidFill>
              <a:latin typeface="18 VAG Rounded Light   02390" pitchFamily="2" charset="0"/>
            </a:endParaRPr>
          </a:p>
        </p:txBody>
      </p:sp>
      <p:cxnSp>
        <p:nvCxnSpPr>
          <p:cNvPr id="462" name="Straight Connector 461">
            <a:extLst>
              <a:ext uri="{FF2B5EF4-FFF2-40B4-BE49-F238E27FC236}">
                <a16:creationId xmlns:a16="http://schemas.microsoft.com/office/drawing/2014/main" id="{C60DDE42-432D-6CCE-975F-C92E5D285C26}"/>
              </a:ext>
            </a:extLst>
          </p:cNvPr>
          <p:cNvCxnSpPr>
            <a:cxnSpLocks/>
            <a:stCxn id="461" idx="0"/>
          </p:cNvCxnSpPr>
          <p:nvPr/>
        </p:nvCxnSpPr>
        <p:spPr>
          <a:xfrm flipV="1">
            <a:off x="9984823" y="4713414"/>
            <a:ext cx="0" cy="129136"/>
          </a:xfrm>
          <a:prstGeom prst="line">
            <a:avLst/>
          </a:prstGeom>
          <a:ln w="19050">
            <a:solidFill>
              <a:schemeClr val="accent6"/>
            </a:solidFill>
            <a:tailEnd type="none" w="lg" len="lg"/>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7F68ECD-ACAD-374E-B7B5-00E15FD21DCB}"/>
              </a:ext>
            </a:extLst>
          </p:cNvPr>
          <p:cNvSpPr txBox="1"/>
          <p:nvPr/>
        </p:nvSpPr>
        <p:spPr>
          <a:xfrm>
            <a:off x="8489762" y="3245823"/>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cxnSp>
        <p:nvCxnSpPr>
          <p:cNvPr id="472" name="Straight Arrow Connector 471">
            <a:extLst>
              <a:ext uri="{FF2B5EF4-FFF2-40B4-BE49-F238E27FC236}">
                <a16:creationId xmlns:a16="http://schemas.microsoft.com/office/drawing/2014/main" id="{908456E4-D4F5-2EA1-FF19-789AA5C3F8DA}"/>
              </a:ext>
            </a:extLst>
          </p:cNvPr>
          <p:cNvCxnSpPr>
            <a:cxnSpLocks/>
          </p:cNvCxnSpPr>
          <p:nvPr/>
        </p:nvCxnSpPr>
        <p:spPr>
          <a:xfrm flipH="1" flipV="1">
            <a:off x="5816885" y="4604793"/>
            <a:ext cx="0" cy="93268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Straight Arrow Connector 474">
            <a:extLst>
              <a:ext uri="{FF2B5EF4-FFF2-40B4-BE49-F238E27FC236}">
                <a16:creationId xmlns:a16="http://schemas.microsoft.com/office/drawing/2014/main" id="{908607ED-5082-B8EB-0CB6-ED344CA1BE73}"/>
              </a:ext>
            </a:extLst>
          </p:cNvPr>
          <p:cNvCxnSpPr>
            <a:cxnSpLocks/>
          </p:cNvCxnSpPr>
          <p:nvPr/>
        </p:nvCxnSpPr>
        <p:spPr>
          <a:xfrm flipV="1">
            <a:off x="4408736" y="5301220"/>
            <a:ext cx="0" cy="23626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5" name="Elbow Connector 434">
            <a:extLst>
              <a:ext uri="{FF2B5EF4-FFF2-40B4-BE49-F238E27FC236}">
                <a16:creationId xmlns:a16="http://schemas.microsoft.com/office/drawing/2014/main" id="{424B80CA-05F9-1646-30DD-53D39995ABBD}"/>
              </a:ext>
            </a:extLst>
          </p:cNvPr>
          <p:cNvCxnSpPr>
            <a:cxnSpLocks/>
          </p:cNvCxnSpPr>
          <p:nvPr/>
        </p:nvCxnSpPr>
        <p:spPr>
          <a:xfrm rot="16200000" flipV="1">
            <a:off x="7177509" y="4577033"/>
            <a:ext cx="1646116" cy="274779"/>
          </a:xfrm>
          <a:prstGeom prst="bentConnector3">
            <a:avLst>
              <a:gd name="adj1" fmla="val 91265"/>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2" name="Straight Arrow Connector 441">
            <a:extLst>
              <a:ext uri="{FF2B5EF4-FFF2-40B4-BE49-F238E27FC236}">
                <a16:creationId xmlns:a16="http://schemas.microsoft.com/office/drawing/2014/main" id="{77D15A79-CBAA-3476-E953-9E88EC542CAD}"/>
              </a:ext>
            </a:extLst>
          </p:cNvPr>
          <p:cNvCxnSpPr>
            <a:cxnSpLocks/>
          </p:cNvCxnSpPr>
          <p:nvPr/>
        </p:nvCxnSpPr>
        <p:spPr>
          <a:xfrm flipV="1">
            <a:off x="7883379" y="4657965"/>
            <a:ext cx="0" cy="879516"/>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30435E35-829A-9B0E-3C1B-8AC96951ACA1}"/>
              </a:ext>
            </a:extLst>
          </p:cNvPr>
          <p:cNvCxnSpPr>
            <a:cxnSpLocks/>
          </p:cNvCxnSpPr>
          <p:nvPr/>
        </p:nvCxnSpPr>
        <p:spPr>
          <a:xfrm flipH="1" flipV="1">
            <a:off x="8608065" y="4473876"/>
            <a:ext cx="0" cy="1063605"/>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69" name="Straight Arrow Connector 468">
            <a:extLst>
              <a:ext uri="{FF2B5EF4-FFF2-40B4-BE49-F238E27FC236}">
                <a16:creationId xmlns:a16="http://schemas.microsoft.com/office/drawing/2014/main" id="{D38A11AD-8791-608A-0552-C121A94FF645}"/>
              </a:ext>
            </a:extLst>
          </p:cNvPr>
          <p:cNvCxnSpPr>
            <a:cxnSpLocks/>
          </p:cNvCxnSpPr>
          <p:nvPr/>
        </p:nvCxnSpPr>
        <p:spPr>
          <a:xfrm flipV="1">
            <a:off x="6768025" y="4402393"/>
            <a:ext cx="0" cy="1135088"/>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EC66CA67-38E7-34E8-E7FC-AAD1AEB58582}"/>
              </a:ext>
            </a:extLst>
          </p:cNvPr>
          <p:cNvGrpSpPr/>
          <p:nvPr/>
        </p:nvGrpSpPr>
        <p:grpSpPr>
          <a:xfrm>
            <a:off x="6261052" y="4187510"/>
            <a:ext cx="2859576" cy="605832"/>
            <a:chOff x="6261052" y="4187510"/>
            <a:chExt cx="2859576" cy="605832"/>
          </a:xfrm>
        </p:grpSpPr>
        <p:cxnSp>
          <p:nvCxnSpPr>
            <p:cNvPr id="420" name="Elbow Connector 419">
              <a:extLst>
                <a:ext uri="{FF2B5EF4-FFF2-40B4-BE49-F238E27FC236}">
                  <a16:creationId xmlns:a16="http://schemas.microsoft.com/office/drawing/2014/main" id="{DE0A5376-D330-42E2-FB65-5A8544619591}"/>
                </a:ext>
              </a:extLst>
            </p:cNvPr>
            <p:cNvCxnSpPr/>
            <p:nvPr/>
          </p:nvCxnSpPr>
          <p:spPr>
            <a:xfrm>
              <a:off x="6389559" y="4187510"/>
              <a:ext cx="2501519" cy="605832"/>
            </a:xfrm>
            <a:prstGeom prst="bentConnector3">
              <a:avLst>
                <a:gd name="adj1" fmla="val -363"/>
              </a:avLst>
            </a:prstGeom>
            <a:ln w="28575">
              <a:solidFill>
                <a:schemeClr val="bg1"/>
              </a:solidFill>
              <a:headEnd type="oval"/>
              <a:tailEnd type="none" w="lg" len="lg"/>
            </a:ln>
            <a:effectLst>
              <a:glow rad="88900">
                <a:srgbClr val="011223">
                  <a:alpha val="90000"/>
                </a:srgbClr>
              </a:glow>
            </a:effectLst>
          </p:spPr>
          <p:style>
            <a:lnRef idx="1">
              <a:schemeClr val="accent1"/>
            </a:lnRef>
            <a:fillRef idx="0">
              <a:schemeClr val="accent1"/>
            </a:fillRef>
            <a:effectRef idx="0">
              <a:schemeClr val="accent1"/>
            </a:effectRef>
            <a:fontRef idx="minor">
              <a:schemeClr val="tx1"/>
            </a:fontRef>
          </p:style>
        </p:cxnSp>
        <p:cxnSp>
          <p:nvCxnSpPr>
            <p:cNvPr id="421" name="Elbow Connector 420">
              <a:extLst>
                <a:ext uri="{FF2B5EF4-FFF2-40B4-BE49-F238E27FC236}">
                  <a16:creationId xmlns:a16="http://schemas.microsoft.com/office/drawing/2014/main" id="{356B3A68-0F26-F67A-1004-D091F831F6EB}"/>
                </a:ext>
              </a:extLst>
            </p:cNvPr>
            <p:cNvCxnSpPr>
              <a:cxnSpLocks/>
              <a:endCxn id="419" idx="1"/>
            </p:cNvCxnSpPr>
            <p:nvPr/>
          </p:nvCxnSpPr>
          <p:spPr>
            <a:xfrm rot="5400000" flipH="1" flipV="1">
              <a:off x="8879358" y="4552072"/>
              <a:ext cx="252992" cy="229548"/>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4" name="Elbow Connector 423">
              <a:extLst>
                <a:ext uri="{FF2B5EF4-FFF2-40B4-BE49-F238E27FC236}">
                  <a16:creationId xmlns:a16="http://schemas.microsoft.com/office/drawing/2014/main" id="{8C12DBEE-9119-E687-12AE-4F54DD2F9145}"/>
                </a:ext>
              </a:extLst>
            </p:cNvPr>
            <p:cNvCxnSpPr>
              <a:cxnSpLocks/>
            </p:cNvCxnSpPr>
            <p:nvPr/>
          </p:nvCxnSpPr>
          <p:spPr>
            <a:xfrm rot="5400000" flipH="1" flipV="1">
              <a:off x="7322511" y="4361210"/>
              <a:ext cx="518548" cy="328277"/>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4" name="Straight Arrow Connector 393">
              <a:extLst>
                <a:ext uri="{FF2B5EF4-FFF2-40B4-BE49-F238E27FC236}">
                  <a16:creationId xmlns:a16="http://schemas.microsoft.com/office/drawing/2014/main" id="{296AC102-0DC9-9CA8-A46D-84AEF8599F88}"/>
                </a:ext>
              </a:extLst>
            </p:cNvPr>
            <p:cNvCxnSpPr/>
            <p:nvPr/>
          </p:nvCxnSpPr>
          <p:spPr>
            <a:xfrm flipV="1">
              <a:off x="6261052" y="4187510"/>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22" name="TextBox 421">
            <a:extLst>
              <a:ext uri="{FF2B5EF4-FFF2-40B4-BE49-F238E27FC236}">
                <a16:creationId xmlns:a16="http://schemas.microsoft.com/office/drawing/2014/main" id="{C2019ECA-1D43-2798-7640-624AE67C748A}"/>
              </a:ext>
            </a:extLst>
          </p:cNvPr>
          <p:cNvSpPr txBox="1"/>
          <p:nvPr/>
        </p:nvSpPr>
        <p:spPr>
          <a:xfrm>
            <a:off x="6156892" y="4747081"/>
            <a:ext cx="694421"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R[rs2]</a:t>
            </a:r>
            <a:endParaRPr lang="en-US" sz="2000" dirty="0">
              <a:solidFill>
                <a:schemeClr val="bg1"/>
              </a:solidFill>
              <a:latin typeface="18 VAG Rounded Light   02390" pitchFamily="2" charset="0"/>
            </a:endParaRPr>
          </a:p>
        </p:txBody>
      </p:sp>
      <p:sp>
        <p:nvSpPr>
          <p:cNvPr id="13" name="TextBox 12">
            <a:extLst>
              <a:ext uri="{FF2B5EF4-FFF2-40B4-BE49-F238E27FC236}">
                <a16:creationId xmlns:a16="http://schemas.microsoft.com/office/drawing/2014/main" id="{EA1D8640-1BD8-BEED-DD26-8BB1044FBB16}"/>
              </a:ext>
            </a:extLst>
          </p:cNvPr>
          <p:cNvSpPr txBox="1"/>
          <p:nvPr/>
        </p:nvSpPr>
        <p:spPr>
          <a:xfrm>
            <a:off x="4789384" y="4884927"/>
            <a:ext cx="949299"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imm</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cxnSp>
        <p:nvCxnSpPr>
          <p:cNvPr id="19" name="Straight Arrow Connector 18">
            <a:extLst>
              <a:ext uri="{FF2B5EF4-FFF2-40B4-BE49-F238E27FC236}">
                <a16:creationId xmlns:a16="http://schemas.microsoft.com/office/drawing/2014/main" id="{537A331C-250D-4072-F6B6-25839190A52F}"/>
              </a:ext>
            </a:extLst>
          </p:cNvPr>
          <p:cNvCxnSpPr>
            <a:cxnSpLocks/>
          </p:cNvCxnSpPr>
          <p:nvPr/>
        </p:nvCxnSpPr>
        <p:spPr>
          <a:xfrm flipV="1">
            <a:off x="1170363" y="3643964"/>
            <a:ext cx="27432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F8A3D43-23D6-8073-FA9C-E13A73CB5D24}"/>
              </a:ext>
            </a:extLst>
          </p:cNvPr>
          <p:cNvSpPr txBox="1"/>
          <p:nvPr/>
        </p:nvSpPr>
        <p:spPr>
          <a:xfrm>
            <a:off x="1733676" y="3669569"/>
            <a:ext cx="35458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a:t>
            </a:r>
            <a:endParaRPr lang="en-US" sz="2000" dirty="0">
              <a:solidFill>
                <a:schemeClr val="bg1"/>
              </a:solidFill>
              <a:latin typeface="18 VAG Rounded Light   02390" pitchFamily="2" charset="0"/>
            </a:endParaRPr>
          </a:p>
        </p:txBody>
      </p:sp>
      <p:cxnSp>
        <p:nvCxnSpPr>
          <p:cNvPr id="21" name="Straight Arrow Connector 20">
            <a:extLst>
              <a:ext uri="{FF2B5EF4-FFF2-40B4-BE49-F238E27FC236}">
                <a16:creationId xmlns:a16="http://schemas.microsoft.com/office/drawing/2014/main" id="{C27B03F4-4F70-EB67-2FC8-0AEE5100B90D}"/>
              </a:ext>
            </a:extLst>
          </p:cNvPr>
          <p:cNvCxnSpPr>
            <a:cxnSpLocks/>
          </p:cNvCxnSpPr>
          <p:nvPr/>
        </p:nvCxnSpPr>
        <p:spPr>
          <a:xfrm flipV="1">
            <a:off x="1772305" y="3654124"/>
            <a:ext cx="365760"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EECC671-A924-2356-B7DC-DE13636CBDA5}"/>
              </a:ext>
            </a:extLst>
          </p:cNvPr>
          <p:cNvSpPr txBox="1"/>
          <p:nvPr/>
        </p:nvSpPr>
        <p:spPr>
          <a:xfrm>
            <a:off x="1968985" y="2379486"/>
            <a:ext cx="354584" cy="261610"/>
          </a:xfrm>
          <a:prstGeom prst="rect">
            <a:avLst/>
          </a:prstGeom>
          <a:noFill/>
        </p:spPr>
        <p:txBody>
          <a:bodyPr wrap="none" rtlCol="0">
            <a:spAutoFit/>
          </a:bodyPr>
          <a:lstStyle/>
          <a:p>
            <a:pPr algn="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+4</a:t>
            </a:r>
            <a:endParaRPr lang="en-US" sz="2000" dirty="0">
              <a:solidFill>
                <a:schemeClr val="bg1"/>
              </a:solidFill>
              <a:latin typeface="18 VAG Rounded Light   02390" pitchFamily="2" charset="0"/>
            </a:endParaRPr>
          </a:p>
        </p:txBody>
      </p:sp>
      <p:cxnSp>
        <p:nvCxnSpPr>
          <p:cNvPr id="27" name="Straight Connector 26">
            <a:extLst>
              <a:ext uri="{FF2B5EF4-FFF2-40B4-BE49-F238E27FC236}">
                <a16:creationId xmlns:a16="http://schemas.microsoft.com/office/drawing/2014/main" id="{ABA7E8C0-8665-164F-DB94-DAE69967F440}"/>
              </a:ext>
            </a:extLst>
          </p:cNvPr>
          <p:cNvCxnSpPr>
            <a:cxnSpLocks/>
          </p:cNvCxnSpPr>
          <p:nvPr/>
        </p:nvCxnSpPr>
        <p:spPr>
          <a:xfrm flipH="1">
            <a:off x="2270690" y="2496757"/>
            <a:ext cx="182880" cy="0"/>
          </a:xfrm>
          <a:prstGeom prst="line">
            <a:avLst/>
          </a:prstGeom>
          <a:ln w="19050">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sp>
        <p:nvSpPr>
          <p:cNvPr id="474" name="TextBox 473">
            <a:extLst>
              <a:ext uri="{FF2B5EF4-FFF2-40B4-BE49-F238E27FC236}">
                <a16:creationId xmlns:a16="http://schemas.microsoft.com/office/drawing/2014/main" id="{EADA092F-D4E9-20EF-B62D-834B9B1CF63B}"/>
              </a:ext>
            </a:extLst>
          </p:cNvPr>
          <p:cNvSpPr txBox="1"/>
          <p:nvPr/>
        </p:nvSpPr>
        <p:spPr>
          <a:xfrm>
            <a:off x="10106672" y="3711143"/>
            <a:ext cx="439544"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mem</a:t>
            </a:r>
            <a:endParaRPr lang="en-US" sz="2000" dirty="0">
              <a:solidFill>
                <a:schemeClr val="bg1"/>
              </a:solidFill>
              <a:latin typeface="18 VAG Rounded Light   02390" pitchFamily="2" charset="0"/>
            </a:endParaRPr>
          </a:p>
        </p:txBody>
      </p:sp>
      <p:cxnSp>
        <p:nvCxnSpPr>
          <p:cNvPr id="477" name="Straight Arrow Connector 476">
            <a:extLst>
              <a:ext uri="{FF2B5EF4-FFF2-40B4-BE49-F238E27FC236}">
                <a16:creationId xmlns:a16="http://schemas.microsoft.com/office/drawing/2014/main" id="{D784A5C8-32E2-3AA1-3DDB-295CDDAE88B9}"/>
              </a:ext>
            </a:extLst>
          </p:cNvPr>
          <p:cNvCxnSpPr>
            <a:cxnSpLocks/>
          </p:cNvCxnSpPr>
          <p:nvPr/>
        </p:nvCxnSpPr>
        <p:spPr>
          <a:xfrm flipV="1">
            <a:off x="10142760" y="3707112"/>
            <a:ext cx="403456" cy="7631"/>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sp>
        <p:nvSpPr>
          <p:cNvPr id="479" name="TextBox 478">
            <a:extLst>
              <a:ext uri="{FF2B5EF4-FFF2-40B4-BE49-F238E27FC236}">
                <a16:creationId xmlns:a16="http://schemas.microsoft.com/office/drawing/2014/main" id="{2DED7013-C5E9-CBB1-99CD-9964AAD09670}"/>
              </a:ext>
            </a:extLst>
          </p:cNvPr>
          <p:cNvSpPr txBox="1"/>
          <p:nvPr/>
        </p:nvSpPr>
        <p:spPr>
          <a:xfrm>
            <a:off x="10063299" y="2866316"/>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bg1"/>
              </a:solidFill>
              <a:latin typeface="18 VAG Rounded Light   02390" pitchFamily="2" charset="0"/>
            </a:endParaRPr>
          </a:p>
        </p:txBody>
      </p:sp>
      <p:sp>
        <p:nvSpPr>
          <p:cNvPr id="132" name="TextBox 131">
            <a:extLst>
              <a:ext uri="{FF2B5EF4-FFF2-40B4-BE49-F238E27FC236}">
                <a16:creationId xmlns:a16="http://schemas.microsoft.com/office/drawing/2014/main" id="{7E10B256-ADFC-8E2C-6C6F-6E4DBEC36AB1}"/>
              </a:ext>
            </a:extLst>
          </p:cNvPr>
          <p:cNvSpPr txBox="1"/>
          <p:nvPr/>
        </p:nvSpPr>
        <p:spPr>
          <a:xfrm>
            <a:off x="504032" y="3739819"/>
            <a:ext cx="439544" cy="261610"/>
          </a:xfrm>
          <a:prstGeom prst="rect">
            <a:avLst/>
          </a:prstGeom>
          <a:noFill/>
        </p:spPr>
        <p:txBody>
          <a:bodyPr wrap="none" rtlCol="0">
            <a:spAutoFit/>
          </a:bodyPr>
          <a:lstStyle/>
          <a:p>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alu</a:t>
            </a:r>
            <a:endParaRPr lang="en-US" sz="2000" dirty="0">
              <a:solidFill>
                <a:schemeClr val="bg1"/>
              </a:solidFill>
              <a:latin typeface="18 VAG Rounded Light   02390" pitchFamily="2" charset="0"/>
            </a:endParaRPr>
          </a:p>
        </p:txBody>
      </p:sp>
      <p:sp>
        <p:nvSpPr>
          <p:cNvPr id="151" name="TextBox 150">
            <a:extLst>
              <a:ext uri="{FF2B5EF4-FFF2-40B4-BE49-F238E27FC236}">
                <a16:creationId xmlns:a16="http://schemas.microsoft.com/office/drawing/2014/main" id="{9E730C79-AAC2-7A21-158E-0E25313D56F3}"/>
              </a:ext>
            </a:extLst>
          </p:cNvPr>
          <p:cNvSpPr txBox="1"/>
          <p:nvPr/>
        </p:nvSpPr>
        <p:spPr>
          <a:xfrm>
            <a:off x="2780297" y="5579638"/>
            <a:ext cx="1034257" cy="242567"/>
          </a:xfrm>
          <a:prstGeom prst="rect">
            <a:avLst/>
          </a:prstGeom>
          <a:noFill/>
        </p:spPr>
        <p:txBody>
          <a:bodyPr wrap="none" rtlCol="0">
            <a:spAutoFit/>
          </a:bodyPr>
          <a:lstStyle/>
          <a:p>
            <a:pPr algn="ctr">
              <a:lnSpc>
                <a:spcPct val="85000"/>
              </a:lnSpc>
            </a:pPr>
            <a:r>
              <a:rPr kumimoji="0" lang="en-US" sz="1100" b="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[31:0]</a:t>
            </a:r>
            <a:endParaRPr lang="en-US" sz="2000" dirty="0">
              <a:solidFill>
                <a:schemeClr val="bg1"/>
              </a:solidFill>
              <a:latin typeface="18 VAG Rounded Light   02390" pitchFamily="2" charset="0"/>
            </a:endParaRPr>
          </a:p>
        </p:txBody>
      </p:sp>
      <p:sp>
        <p:nvSpPr>
          <p:cNvPr id="153" name="TextBox 152">
            <a:extLst>
              <a:ext uri="{FF2B5EF4-FFF2-40B4-BE49-F238E27FC236}">
                <a16:creationId xmlns:a16="http://schemas.microsoft.com/office/drawing/2014/main" id="{96032983-17AD-87BD-753B-0DAA16E5B7AD}"/>
              </a:ext>
            </a:extLst>
          </p:cNvPr>
          <p:cNvSpPr txBox="1"/>
          <p:nvPr/>
        </p:nvSpPr>
        <p:spPr>
          <a:xfrm>
            <a:off x="263118" y="5560628"/>
            <a:ext cx="1681872" cy="487121"/>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PCSel</a:t>
            </a:r>
            <a:endParaRPr lang="en-US" sz="1600" dirty="0">
              <a:solidFill>
                <a:schemeClr val="accent3"/>
              </a:solidFill>
              <a:latin typeface="18 VAG Rounded Light   02390" pitchFamily="2" charset="0"/>
            </a:endParaRPr>
          </a:p>
          <a:p>
            <a:pPr algn="ctr">
              <a:lnSpc>
                <a:spcPct val="85000"/>
              </a:lnSpc>
            </a:pPr>
            <a:r>
              <a:rPr lang="en-US" sz="1400" dirty="0">
                <a:solidFill>
                  <a:schemeClr val="bg1"/>
                </a:solidFill>
                <a:latin typeface="18 VAG Rounded Light   02390" pitchFamily="2" charset="0"/>
              </a:rPr>
              <a:t>taken(1),not taken(0)</a:t>
            </a:r>
          </a:p>
        </p:txBody>
      </p:sp>
      <p:sp>
        <p:nvSpPr>
          <p:cNvPr id="155" name="TextBox 154">
            <a:extLst>
              <a:ext uri="{FF2B5EF4-FFF2-40B4-BE49-F238E27FC236}">
                <a16:creationId xmlns:a16="http://schemas.microsoft.com/office/drawing/2014/main" id="{805FC406-05B2-8242-650C-D6E9D3BC10DC}"/>
              </a:ext>
            </a:extLst>
          </p:cNvPr>
          <p:cNvSpPr txBox="1"/>
          <p:nvPr/>
        </p:nvSpPr>
        <p:spPr>
          <a:xfrm>
            <a:off x="4003587" y="5552119"/>
            <a:ext cx="936475" cy="52014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ImmSel</a:t>
            </a:r>
            <a:endParaRPr lang="en-US" sz="1600" dirty="0">
              <a:solidFill>
                <a:schemeClr val="accent3"/>
              </a:solidFill>
              <a:latin typeface="18 VAG Rounded Light   02390" pitchFamily="2" charset="0"/>
            </a:endParaRPr>
          </a:p>
          <a:p>
            <a:pPr algn="ctr">
              <a:lnSpc>
                <a:spcPct val="85000"/>
              </a:lnSpc>
            </a:pPr>
            <a:r>
              <a:rPr lang="en-US" sz="1600" b="1" dirty="0">
                <a:solidFill>
                  <a:schemeClr val="bg1"/>
                </a:solidFill>
                <a:latin typeface="Courier New" panose="02070309020205020404" pitchFamily="49" charset="0"/>
                <a:cs typeface="Courier New" panose="02070309020205020404" pitchFamily="49" charset="0"/>
              </a:rPr>
              <a:t>I</a:t>
            </a:r>
            <a:r>
              <a:rPr lang="en-US" sz="1600" dirty="0">
                <a:solidFill>
                  <a:schemeClr val="bg1"/>
                </a:solidFill>
                <a:latin typeface="18 VAG Rounded Light   02390" pitchFamily="2" charset="0"/>
              </a:rPr>
              <a:t>,S,B,J,U</a:t>
            </a:r>
          </a:p>
        </p:txBody>
      </p:sp>
      <p:sp>
        <p:nvSpPr>
          <p:cNvPr id="156" name="TextBox 155">
            <a:extLst>
              <a:ext uri="{FF2B5EF4-FFF2-40B4-BE49-F238E27FC236}">
                <a16:creationId xmlns:a16="http://schemas.microsoft.com/office/drawing/2014/main" id="{224C16BB-9DF8-AF11-E4A9-F5900F58BC4D}"/>
              </a:ext>
            </a:extLst>
          </p:cNvPr>
          <p:cNvSpPr txBox="1"/>
          <p:nvPr/>
        </p:nvSpPr>
        <p:spPr>
          <a:xfrm>
            <a:off x="5333604" y="5554208"/>
            <a:ext cx="885179" cy="513602"/>
          </a:xfrm>
          <a:prstGeom prst="rect">
            <a:avLst/>
          </a:prstGeom>
          <a:noFill/>
        </p:spPr>
        <p:txBody>
          <a:bodyPr wrap="none" rtlCol="0">
            <a:spAutoFit/>
          </a:bodyPr>
          <a:lstStyle/>
          <a:p>
            <a:pPr algn="ctr">
              <a:lnSpc>
                <a:spcPct val="85000"/>
              </a:lnSpc>
            </a:pPr>
            <a:r>
              <a:rPr lang="en-US" sz="1600" dirty="0" err="1">
                <a:solidFill>
                  <a:schemeClr val="accent3"/>
                </a:solidFill>
                <a:latin typeface="18 VAG Rounded Light   02390" pitchFamily="2" charset="0"/>
              </a:rPr>
              <a:t>RegWEn</a:t>
            </a:r>
            <a:endParaRPr lang="en-US" sz="1600" dirty="0">
              <a:solidFill>
                <a:schemeClr val="accent3"/>
              </a:solidFill>
              <a:latin typeface="18 VAG Rounded Light   02390" pitchFamily="2" charset="0"/>
            </a:endParaRPr>
          </a:p>
          <a:p>
            <a:pPr algn="ctr">
              <a:lnSpc>
                <a:spcPct val="85000"/>
              </a:lnSpc>
            </a:pPr>
            <a:r>
              <a:rPr lang="en-US" sz="1600" dirty="0">
                <a:solidFill>
                  <a:schemeClr val="bg1"/>
                </a:solidFill>
                <a:latin typeface="18 VAG Rounded Light   02390" pitchFamily="2" charset="0"/>
              </a:rPr>
              <a:t>1,0</a:t>
            </a:r>
          </a:p>
        </p:txBody>
      </p:sp>
      <p:sp>
        <p:nvSpPr>
          <p:cNvPr id="157" name="TextBox 156">
            <a:extLst>
              <a:ext uri="{FF2B5EF4-FFF2-40B4-BE49-F238E27FC236}">
                <a16:creationId xmlns:a16="http://schemas.microsoft.com/office/drawing/2014/main" id="{2668EA19-1D16-2435-39BE-AEF3AA44FFE9}"/>
              </a:ext>
            </a:extLst>
          </p:cNvPr>
          <p:cNvSpPr txBox="1"/>
          <p:nvPr/>
        </p:nvSpPr>
        <p:spPr>
          <a:xfrm>
            <a:off x="6409181" y="5555777"/>
            <a:ext cx="5020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BrUn</a:t>
            </a:r>
            <a:endParaRPr lang="en-US" sz="1200" dirty="0">
              <a:solidFill>
                <a:schemeClr val="accent3"/>
              </a:solidFill>
              <a:latin typeface="18 VAG Rounded Light   02390" pitchFamily="2" charset="0"/>
            </a:endParaRPr>
          </a:p>
          <a:p>
            <a:pPr algn="ctr">
              <a:lnSpc>
                <a:spcPct val="85000"/>
              </a:lnSpc>
            </a:pPr>
            <a:r>
              <a:rPr lang="en-US" sz="1200" dirty="0">
                <a:solidFill>
                  <a:schemeClr val="bg1"/>
                </a:solidFill>
                <a:latin typeface="18 VAG Rounded Light   02390" pitchFamily="2" charset="0"/>
              </a:rPr>
              <a:t>0,1</a:t>
            </a:r>
          </a:p>
        </p:txBody>
      </p:sp>
      <p:sp>
        <p:nvSpPr>
          <p:cNvPr id="159" name="TextBox 158">
            <a:extLst>
              <a:ext uri="{FF2B5EF4-FFF2-40B4-BE49-F238E27FC236}">
                <a16:creationId xmlns:a16="http://schemas.microsoft.com/office/drawing/2014/main" id="{2CC95B9F-5DF4-D7FA-AEA7-3A8533F0CD4C}"/>
              </a:ext>
            </a:extLst>
          </p:cNvPr>
          <p:cNvSpPr txBox="1"/>
          <p:nvPr/>
        </p:nvSpPr>
        <p:spPr>
          <a:xfrm>
            <a:off x="6690773" y="5779625"/>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BrEq</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160" name="TextBox 159">
            <a:extLst>
              <a:ext uri="{FF2B5EF4-FFF2-40B4-BE49-F238E27FC236}">
                <a16:creationId xmlns:a16="http://schemas.microsoft.com/office/drawing/2014/main" id="{FD1E69A0-9944-8D40-E6A1-E6D049015EEA}"/>
              </a:ext>
            </a:extLst>
          </p:cNvPr>
          <p:cNvSpPr txBox="1"/>
          <p:nvPr/>
        </p:nvSpPr>
        <p:spPr>
          <a:xfrm>
            <a:off x="6954558" y="5545178"/>
            <a:ext cx="556563" cy="256224"/>
          </a:xfrm>
          <a:prstGeom prst="rect">
            <a:avLst/>
          </a:prstGeom>
          <a:noFill/>
        </p:spPr>
        <p:txBody>
          <a:bodyPr wrap="none" rtlCol="0">
            <a:spAutoFit/>
          </a:bodyPr>
          <a:lstStyle/>
          <a:p>
            <a:pPr algn="ctr">
              <a:lnSpc>
                <a:spcPct val="85000"/>
              </a:lnSpc>
            </a:pPr>
            <a:r>
              <a:rPr lang="en-US" sz="1200" dirty="0" err="1">
                <a:solidFill>
                  <a:schemeClr val="bg1"/>
                </a:solidFill>
                <a:latin typeface="Courier New" panose="02070309020205020404" pitchFamily="49" charset="0"/>
                <a:cs typeface="Courier New" panose="02070309020205020404" pitchFamily="49" charset="0"/>
              </a:rPr>
              <a:t>BrLT</a:t>
            </a:r>
            <a:endParaRPr lang="en-US" sz="1200" dirty="0">
              <a:solidFill>
                <a:schemeClr val="bg1"/>
              </a:solidFill>
              <a:latin typeface="Courier New" panose="02070309020205020404" pitchFamily="49" charset="0"/>
              <a:cs typeface="Courier New" panose="02070309020205020404" pitchFamily="49" charset="0"/>
            </a:endParaRPr>
          </a:p>
        </p:txBody>
      </p:sp>
      <p:sp>
        <p:nvSpPr>
          <p:cNvPr id="161" name="TextBox 160">
            <a:extLst>
              <a:ext uri="{FF2B5EF4-FFF2-40B4-BE49-F238E27FC236}">
                <a16:creationId xmlns:a16="http://schemas.microsoft.com/office/drawing/2014/main" id="{3632A612-D2B9-ADCD-8A02-64FC0648A297}"/>
              </a:ext>
            </a:extLst>
          </p:cNvPr>
          <p:cNvSpPr txBox="1"/>
          <p:nvPr/>
        </p:nvSpPr>
        <p:spPr>
          <a:xfrm>
            <a:off x="7558332" y="5524627"/>
            <a:ext cx="449161"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BSel</a:t>
            </a:r>
            <a:endParaRPr lang="en-US" sz="1200" dirty="0">
              <a:solidFill>
                <a:schemeClr val="accent3"/>
              </a:solidFill>
              <a:latin typeface="18 VAG Rounded Light   02390" pitchFamily="2" charset="0"/>
            </a:endParaRPr>
          </a:p>
          <a:p>
            <a:pPr algn="ctr">
              <a:lnSpc>
                <a:spcPct val="85000"/>
              </a:lnSpc>
            </a:pPr>
            <a:r>
              <a:rPr lang="en-US" sz="1200" dirty="0">
                <a:solidFill>
                  <a:schemeClr val="bg1"/>
                </a:solidFill>
                <a:latin typeface="18 VAG Rounded Light   02390" pitchFamily="2" charset="0"/>
              </a:rPr>
              <a:t>0,1</a:t>
            </a:r>
          </a:p>
        </p:txBody>
      </p:sp>
      <p:sp>
        <p:nvSpPr>
          <p:cNvPr id="162" name="TextBox 161">
            <a:extLst>
              <a:ext uri="{FF2B5EF4-FFF2-40B4-BE49-F238E27FC236}">
                <a16:creationId xmlns:a16="http://schemas.microsoft.com/office/drawing/2014/main" id="{2000C3DB-EA0F-B383-7B78-CA219CC6DBC8}"/>
              </a:ext>
            </a:extLst>
          </p:cNvPr>
          <p:cNvSpPr txBox="1"/>
          <p:nvPr/>
        </p:nvSpPr>
        <p:spPr>
          <a:xfrm>
            <a:off x="7954131" y="5516420"/>
            <a:ext cx="460382" cy="408317"/>
          </a:xfrm>
          <a:prstGeom prst="rect">
            <a:avLst/>
          </a:prstGeom>
          <a:noFill/>
        </p:spPr>
        <p:txBody>
          <a:bodyPr wrap="none" rtlCol="0">
            <a:spAutoFit/>
          </a:bodyPr>
          <a:lstStyle/>
          <a:p>
            <a:pPr algn="ctr">
              <a:lnSpc>
                <a:spcPct val="85000"/>
              </a:lnSpc>
            </a:pPr>
            <a:r>
              <a:rPr lang="en-US" sz="1200" dirty="0" err="1">
                <a:solidFill>
                  <a:schemeClr val="accent3"/>
                </a:solidFill>
                <a:latin typeface="18 VAG Rounded Light   02390" pitchFamily="2" charset="0"/>
              </a:rPr>
              <a:t>ASel</a:t>
            </a:r>
            <a:endParaRPr lang="en-US" sz="1200" dirty="0">
              <a:solidFill>
                <a:schemeClr val="accent3"/>
              </a:solidFill>
              <a:latin typeface="18 VAG Rounded Light   02390" pitchFamily="2" charset="0"/>
            </a:endParaRPr>
          </a:p>
          <a:p>
            <a:pPr algn="ctr">
              <a:lnSpc>
                <a:spcPct val="85000"/>
              </a:lnSpc>
            </a:pPr>
            <a:r>
              <a:rPr lang="en-US" sz="1200" dirty="0">
                <a:solidFill>
                  <a:schemeClr val="bg1"/>
                </a:solidFill>
                <a:latin typeface="18 VAG Rounded Light   02390" pitchFamily="2" charset="0"/>
              </a:rPr>
              <a:t>0,1</a:t>
            </a:r>
          </a:p>
        </p:txBody>
      </p:sp>
      <p:sp>
        <p:nvSpPr>
          <p:cNvPr id="163" name="TextBox 162">
            <a:extLst>
              <a:ext uri="{FF2B5EF4-FFF2-40B4-BE49-F238E27FC236}">
                <a16:creationId xmlns:a16="http://schemas.microsoft.com/office/drawing/2014/main" id="{0D0C1867-1FFD-F311-31BB-7C2A4E3DB4AD}"/>
              </a:ext>
            </a:extLst>
          </p:cNvPr>
          <p:cNvSpPr txBox="1"/>
          <p:nvPr/>
        </p:nvSpPr>
        <p:spPr>
          <a:xfrm>
            <a:off x="8339539" y="5536765"/>
            <a:ext cx="865942" cy="644087"/>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ALUSel</a:t>
            </a:r>
            <a:endParaRPr lang="en-US" sz="1400" dirty="0">
              <a:solidFill>
                <a:schemeClr val="accent3"/>
              </a:solidFill>
              <a:latin typeface="18 VAG Rounded Light   02390" pitchFamily="2" charset="0"/>
            </a:endParaRPr>
          </a:p>
          <a:p>
            <a:pPr algn="ctr">
              <a:lnSpc>
                <a:spcPct val="85000"/>
              </a:lnSpc>
            </a:pPr>
            <a:r>
              <a:rPr lang="en-US" sz="1400" dirty="0" err="1">
                <a:solidFill>
                  <a:schemeClr val="bg1"/>
                </a:solidFill>
                <a:latin typeface="18 VAG Rounded Light   02390" pitchFamily="2" charset="0"/>
              </a:rPr>
              <a:t>Add,Sub</a:t>
            </a:r>
            <a:r>
              <a:rPr lang="en-US" sz="1400" dirty="0">
                <a:solidFill>
                  <a:schemeClr val="bg1"/>
                </a:solidFill>
                <a:latin typeface="18 VAG Rounded Light   02390" pitchFamily="2" charset="0"/>
              </a:rPr>
              <a:t>,</a:t>
            </a:r>
            <a:br>
              <a:rPr lang="en-US" sz="1400" dirty="0">
                <a:solidFill>
                  <a:schemeClr val="bg1"/>
                </a:solidFill>
                <a:latin typeface="18 VAG Rounded Light   02390" pitchFamily="2" charset="0"/>
              </a:rPr>
            </a:br>
            <a:r>
              <a:rPr lang="en-US" sz="1400" dirty="0">
                <a:solidFill>
                  <a:schemeClr val="bg1"/>
                </a:solidFill>
                <a:latin typeface="18 VAG Rounded Light   02390" pitchFamily="2" charset="0"/>
              </a:rPr>
              <a:t>etc.</a:t>
            </a:r>
          </a:p>
        </p:txBody>
      </p:sp>
      <p:sp>
        <p:nvSpPr>
          <p:cNvPr id="164" name="TextBox 163">
            <a:extLst>
              <a:ext uri="{FF2B5EF4-FFF2-40B4-BE49-F238E27FC236}">
                <a16:creationId xmlns:a16="http://schemas.microsoft.com/office/drawing/2014/main" id="{0574EDEE-392B-DC05-E19A-7C22B2FFABF2}"/>
              </a:ext>
            </a:extLst>
          </p:cNvPr>
          <p:cNvSpPr txBox="1"/>
          <p:nvPr/>
        </p:nvSpPr>
        <p:spPr>
          <a:xfrm>
            <a:off x="9196693" y="5555777"/>
            <a:ext cx="995785"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MemRW</a:t>
            </a:r>
            <a:endParaRPr lang="en-US" sz="1400" dirty="0">
              <a:solidFill>
                <a:schemeClr val="accent3"/>
              </a:solidFill>
              <a:latin typeface="18 VAG Rounded Light   02390" pitchFamily="2" charset="0"/>
            </a:endParaRPr>
          </a:p>
          <a:p>
            <a:pPr algn="ctr">
              <a:lnSpc>
                <a:spcPct val="85000"/>
              </a:lnSpc>
            </a:pPr>
            <a:r>
              <a:rPr lang="en-US" sz="1400" dirty="0" err="1">
                <a:solidFill>
                  <a:schemeClr val="bg1"/>
                </a:solidFill>
                <a:latin typeface="18 VAG Rounded Light   02390" pitchFamily="2" charset="0"/>
              </a:rPr>
              <a:t>Read,Write</a:t>
            </a:r>
            <a:endParaRPr lang="en-US" sz="1400" dirty="0">
              <a:solidFill>
                <a:schemeClr val="bg1"/>
              </a:solidFill>
              <a:latin typeface="18 VAG Rounded Light   02390" pitchFamily="2" charset="0"/>
            </a:endParaRPr>
          </a:p>
        </p:txBody>
      </p:sp>
      <p:sp>
        <p:nvSpPr>
          <p:cNvPr id="165" name="TextBox 164">
            <a:extLst>
              <a:ext uri="{FF2B5EF4-FFF2-40B4-BE49-F238E27FC236}">
                <a16:creationId xmlns:a16="http://schemas.microsoft.com/office/drawing/2014/main" id="{FF0F850A-25DC-02DE-3D8E-F4BBFD4155E2}"/>
              </a:ext>
            </a:extLst>
          </p:cNvPr>
          <p:cNvSpPr txBox="1"/>
          <p:nvPr/>
        </p:nvSpPr>
        <p:spPr>
          <a:xfrm>
            <a:off x="10252492" y="5557253"/>
            <a:ext cx="646331" cy="460960"/>
          </a:xfrm>
          <a:prstGeom prst="rect">
            <a:avLst/>
          </a:prstGeom>
          <a:noFill/>
        </p:spPr>
        <p:txBody>
          <a:bodyPr wrap="none" rtlCol="0">
            <a:spAutoFit/>
          </a:bodyPr>
          <a:lstStyle/>
          <a:p>
            <a:pPr algn="ctr">
              <a:lnSpc>
                <a:spcPct val="85000"/>
              </a:lnSpc>
            </a:pPr>
            <a:r>
              <a:rPr lang="en-US" sz="1400" dirty="0" err="1">
                <a:solidFill>
                  <a:schemeClr val="accent3"/>
                </a:solidFill>
                <a:latin typeface="18 VAG Rounded Light   02390" pitchFamily="2" charset="0"/>
              </a:rPr>
              <a:t>WBSel</a:t>
            </a:r>
            <a:endParaRPr lang="en-US" sz="1400" dirty="0">
              <a:solidFill>
                <a:schemeClr val="accent3"/>
              </a:solidFill>
              <a:latin typeface="18 VAG Rounded Light   02390" pitchFamily="2" charset="0"/>
            </a:endParaRPr>
          </a:p>
          <a:p>
            <a:pPr algn="ctr">
              <a:lnSpc>
                <a:spcPct val="85000"/>
              </a:lnSpc>
            </a:pPr>
            <a:r>
              <a:rPr lang="en-US" sz="1400" dirty="0">
                <a:solidFill>
                  <a:schemeClr val="bg1"/>
                </a:solidFill>
                <a:latin typeface="18 VAG Rounded Light   02390" pitchFamily="2" charset="0"/>
              </a:rPr>
              <a:t>0,1,2</a:t>
            </a:r>
          </a:p>
        </p:txBody>
      </p:sp>
      <p:cxnSp>
        <p:nvCxnSpPr>
          <p:cNvPr id="166" name="Straight Arrow Connector 165">
            <a:extLst>
              <a:ext uri="{FF2B5EF4-FFF2-40B4-BE49-F238E27FC236}">
                <a16:creationId xmlns:a16="http://schemas.microsoft.com/office/drawing/2014/main" id="{D5574E08-8C14-422C-BD9C-969F4F3B25C2}"/>
              </a:ext>
            </a:extLst>
          </p:cNvPr>
          <p:cNvCxnSpPr>
            <a:cxnSpLocks/>
          </p:cNvCxnSpPr>
          <p:nvPr/>
        </p:nvCxnSpPr>
        <p:spPr>
          <a:xfrm flipV="1">
            <a:off x="10664370" y="3759701"/>
            <a:ext cx="0" cy="176704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71" name="Rectangle 170">
            <a:extLst>
              <a:ext uri="{FF2B5EF4-FFF2-40B4-BE49-F238E27FC236}">
                <a16:creationId xmlns:a16="http://schemas.microsoft.com/office/drawing/2014/main" id="{B2E54D0A-9FBB-BD56-7769-DC00BEB2FC6E}"/>
              </a:ext>
            </a:extLst>
          </p:cNvPr>
          <p:cNvSpPr/>
          <p:nvPr/>
        </p:nvSpPr>
        <p:spPr>
          <a:xfrm>
            <a:off x="324172" y="5540557"/>
            <a:ext cx="10627823" cy="74106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r>
              <a:rPr lang="en-US" sz="1600" b="1" dirty="0">
                <a:solidFill>
                  <a:schemeClr val="accent3"/>
                </a:solidFill>
                <a:latin typeface="Courier New" panose="02070309020205020404" pitchFamily="49" charset="0"/>
                <a:cs typeface="Courier New" panose="02070309020205020404" pitchFamily="49" charset="0"/>
              </a:rPr>
              <a:t>Control Logic</a:t>
            </a:r>
          </a:p>
        </p:txBody>
      </p:sp>
      <p:grpSp>
        <p:nvGrpSpPr>
          <p:cNvPr id="172" name="Group 171">
            <a:extLst>
              <a:ext uri="{FF2B5EF4-FFF2-40B4-BE49-F238E27FC236}">
                <a16:creationId xmlns:a16="http://schemas.microsoft.com/office/drawing/2014/main" id="{AC1D377E-FE43-1B1D-FCF0-12F1B82B4052}"/>
              </a:ext>
            </a:extLst>
          </p:cNvPr>
          <p:cNvGrpSpPr/>
          <p:nvPr/>
        </p:nvGrpSpPr>
        <p:grpSpPr>
          <a:xfrm>
            <a:off x="1910968" y="2760283"/>
            <a:ext cx="5834958" cy="733940"/>
            <a:chOff x="1910968" y="2760283"/>
            <a:chExt cx="5834958" cy="733940"/>
          </a:xfrm>
        </p:grpSpPr>
        <p:cxnSp>
          <p:nvCxnSpPr>
            <p:cNvPr id="173" name="Elbow Connector 172">
              <a:extLst>
                <a:ext uri="{FF2B5EF4-FFF2-40B4-BE49-F238E27FC236}">
                  <a16:creationId xmlns:a16="http://schemas.microsoft.com/office/drawing/2014/main" id="{E390CF13-3728-8277-3D3E-B31B8898A532}"/>
                </a:ext>
              </a:extLst>
            </p:cNvPr>
            <p:cNvCxnSpPr/>
            <p:nvPr/>
          </p:nvCxnSpPr>
          <p:spPr>
            <a:xfrm flipV="1">
              <a:off x="1910968" y="2769647"/>
              <a:ext cx="1658892" cy="436843"/>
            </a:xfrm>
            <a:prstGeom prst="bentConnector4">
              <a:avLst>
                <a:gd name="adj1" fmla="val 100039"/>
                <a:gd name="adj2" fmla="val 45344"/>
              </a:avLst>
            </a:prstGeom>
            <a:ln w="28575">
              <a:solidFill>
                <a:schemeClr val="bg1"/>
              </a:solidFill>
              <a:headEnd type="oval"/>
              <a:tailEnd type="none" w="lg" len="lg"/>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EABE00C5-6753-0E18-2457-6761BCF0A196}"/>
                </a:ext>
              </a:extLst>
            </p:cNvPr>
            <p:cNvCxnSpPr>
              <a:cxnSpLocks/>
            </p:cNvCxnSpPr>
            <p:nvPr/>
          </p:nvCxnSpPr>
          <p:spPr>
            <a:xfrm>
              <a:off x="3559699" y="2760283"/>
              <a:ext cx="4023360"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75" name="Elbow Connector 174">
              <a:extLst>
                <a:ext uri="{FF2B5EF4-FFF2-40B4-BE49-F238E27FC236}">
                  <a16:creationId xmlns:a16="http://schemas.microsoft.com/office/drawing/2014/main" id="{05891022-9DF5-AB96-D32B-08916867D915}"/>
                </a:ext>
              </a:extLst>
            </p:cNvPr>
            <p:cNvCxnSpPr>
              <a:cxnSpLocks/>
            </p:cNvCxnSpPr>
            <p:nvPr/>
          </p:nvCxnSpPr>
          <p:spPr>
            <a:xfrm rot="16200000" flipH="1">
              <a:off x="7285314" y="3033611"/>
              <a:ext cx="733939" cy="187285"/>
            </a:xfrm>
            <a:prstGeom prst="bentConnector3">
              <a:avLst>
                <a:gd name="adj1" fmla="val 99835"/>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08" name="Rectangle 307">
            <a:extLst>
              <a:ext uri="{FF2B5EF4-FFF2-40B4-BE49-F238E27FC236}">
                <a16:creationId xmlns:a16="http://schemas.microsoft.com/office/drawing/2014/main" id="{B5F21712-74F9-1B1C-C348-211340BF727D}"/>
              </a:ext>
            </a:extLst>
          </p:cNvPr>
          <p:cNvSpPr/>
          <p:nvPr/>
        </p:nvSpPr>
        <p:spPr>
          <a:xfrm>
            <a:off x="4805939" y="2918076"/>
            <a:ext cx="1440473" cy="1655090"/>
          </a:xfrm>
          <a:prstGeom prst="rect">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rtlCol="0" anchor="b"/>
          <a:lstStyle/>
          <a:p>
            <a:pPr>
              <a:spcBef>
                <a:spcPts val="400"/>
              </a:spcBef>
            </a:pPr>
            <a:r>
              <a:rPr lang="en-US" sz="1400" i="1" dirty="0" err="1">
                <a:solidFill>
                  <a:schemeClr val="bg1"/>
                </a:solidFill>
                <a:latin typeface="18 VAG Rounded Light   02390" pitchFamily="2" charset="0"/>
              </a:rPr>
              <a:t>wdata</a:t>
            </a:r>
            <a:endParaRPr lang="en-US" sz="1400" i="1" dirty="0">
              <a:solidFill>
                <a:schemeClr val="bg1"/>
              </a:solidFill>
              <a:latin typeface="18 VAG Rounded Light   02390" pitchFamily="2" charset="0"/>
            </a:endParaRPr>
          </a:p>
          <a:p>
            <a:pPr>
              <a:spcBef>
                <a:spcPts val="1000"/>
              </a:spcBef>
            </a:pPr>
            <a:r>
              <a:rPr lang="en-US" sz="1400" i="1" dirty="0" err="1">
                <a:solidFill>
                  <a:schemeClr val="bg1"/>
                </a:solidFill>
                <a:latin typeface="18 VAG Rounded Light   02390" pitchFamily="2" charset="0"/>
              </a:rPr>
              <a:t>rd</a:t>
            </a:r>
            <a:endParaRPr lang="en-US" sz="1400" i="1" dirty="0">
              <a:solidFill>
                <a:schemeClr val="bg1"/>
              </a:solidFill>
              <a:latin typeface="18 VAG Rounded Light   02390" pitchFamily="2" charset="0"/>
            </a:endParaRPr>
          </a:p>
          <a:p>
            <a:pPr>
              <a:spcBef>
                <a:spcPts val="400"/>
              </a:spcBef>
              <a:tabLst>
                <a:tab pos="1249363" algn="r"/>
              </a:tabLst>
            </a:pPr>
            <a:r>
              <a:rPr lang="en-US" sz="1400" i="1" dirty="0">
                <a:solidFill>
                  <a:schemeClr val="bg1"/>
                </a:solidFill>
                <a:latin typeface="18 VAG Rounded Light   02390" pitchFamily="2" charset="0"/>
              </a:rPr>
              <a:t>rs1	rdata1</a:t>
            </a:r>
          </a:p>
          <a:p>
            <a:pPr>
              <a:spcBef>
                <a:spcPts val="400"/>
              </a:spcBef>
              <a:tabLst>
                <a:tab pos="1249363" algn="r"/>
              </a:tabLst>
            </a:pPr>
            <a:r>
              <a:rPr lang="en-US" sz="1400" i="1" dirty="0">
                <a:solidFill>
                  <a:schemeClr val="bg1"/>
                </a:solidFill>
                <a:latin typeface="18 VAG Rounded Light   02390" pitchFamily="2" charset="0"/>
              </a:rPr>
              <a:t>rs2	</a:t>
            </a:r>
          </a:p>
          <a:p>
            <a:pPr>
              <a:spcBef>
                <a:spcPts val="400"/>
              </a:spcBef>
              <a:tabLst>
                <a:tab pos="1249363" algn="r"/>
              </a:tabLst>
            </a:pPr>
            <a:r>
              <a:rPr lang="en-US" sz="1400" i="1" dirty="0">
                <a:solidFill>
                  <a:schemeClr val="bg1"/>
                </a:solidFill>
                <a:latin typeface="18 VAG Rounded Light   02390" pitchFamily="2" charset="0"/>
              </a:rPr>
              <a:t>	rdata2</a:t>
            </a:r>
          </a:p>
          <a:p>
            <a:r>
              <a:rPr lang="en-US" sz="1600" b="1" dirty="0" err="1">
                <a:solidFill>
                  <a:schemeClr val="bg1"/>
                </a:solidFill>
                <a:latin typeface="Courier New" panose="02070309020205020404" pitchFamily="49" charset="0"/>
                <a:cs typeface="Courier New" panose="02070309020205020404" pitchFamily="49" charset="0"/>
              </a:rPr>
              <a:t>RegFile</a:t>
            </a:r>
            <a:endParaRPr lang="en-US" sz="1600" b="1" dirty="0">
              <a:solidFill>
                <a:schemeClr val="bg1"/>
              </a:solidFill>
              <a:latin typeface="Courier New" panose="02070309020205020404" pitchFamily="49" charset="0"/>
              <a:cs typeface="Courier New" panose="02070309020205020404" pitchFamily="49" charset="0"/>
            </a:endParaRPr>
          </a:p>
        </p:txBody>
      </p:sp>
      <p:grpSp>
        <p:nvGrpSpPr>
          <p:cNvPr id="11" name="Group 10">
            <a:extLst>
              <a:ext uri="{FF2B5EF4-FFF2-40B4-BE49-F238E27FC236}">
                <a16:creationId xmlns:a16="http://schemas.microsoft.com/office/drawing/2014/main" id="{6BC4876B-D6D3-8030-FF35-F6643B105490}"/>
              </a:ext>
            </a:extLst>
          </p:cNvPr>
          <p:cNvGrpSpPr/>
          <p:nvPr/>
        </p:nvGrpSpPr>
        <p:grpSpPr>
          <a:xfrm>
            <a:off x="1780532" y="2965993"/>
            <a:ext cx="673038" cy="703576"/>
            <a:chOff x="1780532" y="2965993"/>
            <a:chExt cx="673038" cy="703576"/>
          </a:xfrm>
        </p:grpSpPr>
        <p:cxnSp>
          <p:nvCxnSpPr>
            <p:cNvPr id="12" name="Elbow Connector 11">
              <a:extLst>
                <a:ext uri="{FF2B5EF4-FFF2-40B4-BE49-F238E27FC236}">
                  <a16:creationId xmlns:a16="http://schemas.microsoft.com/office/drawing/2014/main" id="{B34B289F-D14B-6D9C-7D92-DB7736516B05}"/>
                </a:ext>
              </a:extLst>
            </p:cNvPr>
            <p:cNvCxnSpPr>
              <a:cxnSpLocks/>
            </p:cNvCxnSpPr>
            <p:nvPr/>
          </p:nvCxnSpPr>
          <p:spPr>
            <a:xfrm rot="5400000" flipH="1" flipV="1">
              <a:off x="1830481" y="3046480"/>
              <a:ext cx="703576" cy="542602"/>
            </a:xfrm>
            <a:prstGeom prst="bentConnector3">
              <a:avLst>
                <a:gd name="adj1" fmla="val 100542"/>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AF6A52-33B8-544D-49F0-F186FF9D2A9B}"/>
                </a:ext>
              </a:extLst>
            </p:cNvPr>
            <p:cNvCxnSpPr>
              <a:cxnSpLocks/>
            </p:cNvCxnSpPr>
            <p:nvPr/>
          </p:nvCxnSpPr>
          <p:spPr>
            <a:xfrm>
              <a:off x="1780532" y="3655540"/>
              <a:ext cx="130436"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9A4206E8-7EF2-2A37-AF67-A9FCAE7E83F9}"/>
              </a:ext>
            </a:extLst>
          </p:cNvPr>
          <p:cNvSpPr txBox="1"/>
          <p:nvPr/>
        </p:nvSpPr>
        <p:spPr>
          <a:xfrm>
            <a:off x="657480" y="2967174"/>
            <a:ext cx="524503" cy="261610"/>
          </a:xfrm>
          <a:prstGeom prst="rect">
            <a:avLst/>
          </a:prstGeom>
          <a:noFill/>
        </p:spPr>
        <p:txBody>
          <a:bodyPr wrap="none" rtlCol="0">
            <a:spAutoFit/>
          </a:bodyPr>
          <a:lstStyle/>
          <a:p>
            <a:r>
              <a:rPr kumimoji="0" lang="en-US" sz="1100" b="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pc+4</a:t>
            </a:r>
            <a:endParaRPr lang="en-US" sz="2000" dirty="0">
              <a:solidFill>
                <a:schemeClr val="bg1"/>
              </a:solidFill>
              <a:latin typeface="18 VAG Rounded Light   02390" pitchFamily="2" charset="0"/>
            </a:endParaRPr>
          </a:p>
        </p:txBody>
      </p:sp>
      <p:grpSp>
        <p:nvGrpSpPr>
          <p:cNvPr id="43" name="Group 42">
            <a:extLst>
              <a:ext uri="{FF2B5EF4-FFF2-40B4-BE49-F238E27FC236}">
                <a16:creationId xmlns:a16="http://schemas.microsoft.com/office/drawing/2014/main" id="{5B90B7D6-9FF0-B135-7347-D39232718601}"/>
              </a:ext>
            </a:extLst>
          </p:cNvPr>
          <p:cNvGrpSpPr/>
          <p:nvPr/>
        </p:nvGrpSpPr>
        <p:grpSpPr>
          <a:xfrm>
            <a:off x="447040" y="2119597"/>
            <a:ext cx="10102338" cy="1848344"/>
            <a:chOff x="447040" y="2119597"/>
            <a:chExt cx="10102338" cy="1848344"/>
          </a:xfrm>
        </p:grpSpPr>
        <p:cxnSp>
          <p:nvCxnSpPr>
            <p:cNvPr id="44" name="Elbow Connector 43">
              <a:extLst>
                <a:ext uri="{FF2B5EF4-FFF2-40B4-BE49-F238E27FC236}">
                  <a16:creationId xmlns:a16="http://schemas.microsoft.com/office/drawing/2014/main" id="{164EF4B3-DB19-0AB9-6096-78801DA667F1}"/>
                </a:ext>
              </a:extLst>
            </p:cNvPr>
            <p:cNvCxnSpPr>
              <a:cxnSpLocks/>
            </p:cNvCxnSpPr>
            <p:nvPr/>
          </p:nvCxnSpPr>
          <p:spPr>
            <a:xfrm rot="10800000">
              <a:off x="447086" y="2119598"/>
              <a:ext cx="8482220" cy="1848343"/>
            </a:xfrm>
            <a:prstGeom prst="bentConnector3">
              <a:avLst>
                <a:gd name="adj1" fmla="val -51"/>
              </a:avLst>
            </a:prstGeom>
            <a:ln w="28575">
              <a:solidFill>
                <a:schemeClr val="bg1"/>
              </a:solidFill>
              <a:headEnd type="oval"/>
              <a:tailEnd type="none" w="lg" len="lg"/>
            </a:ln>
            <a:effectLst>
              <a:glow rad="101600">
                <a:schemeClr val="tx1">
                  <a:alpha val="67000"/>
                </a:schemeClr>
              </a:glow>
            </a:effectLst>
          </p:spPr>
          <p:style>
            <a:lnRef idx="1">
              <a:schemeClr val="accent1"/>
            </a:lnRef>
            <a:fillRef idx="0">
              <a:schemeClr val="accent1"/>
            </a:fillRef>
            <a:effectRef idx="0">
              <a:schemeClr val="accent1"/>
            </a:effectRef>
            <a:fontRef idx="minor">
              <a:schemeClr val="tx1"/>
            </a:fontRef>
          </p:style>
        </p:cxnSp>
        <p:cxnSp>
          <p:nvCxnSpPr>
            <p:cNvPr id="45" name="Elbow Connector 44">
              <a:extLst>
                <a:ext uri="{FF2B5EF4-FFF2-40B4-BE49-F238E27FC236}">
                  <a16:creationId xmlns:a16="http://schemas.microsoft.com/office/drawing/2014/main" id="{31215378-BE00-1194-FD7D-C5B80C2D2904}"/>
                </a:ext>
              </a:extLst>
            </p:cNvPr>
            <p:cNvCxnSpPr>
              <a:cxnSpLocks/>
            </p:cNvCxnSpPr>
            <p:nvPr/>
          </p:nvCxnSpPr>
          <p:spPr>
            <a:xfrm rot="16200000" flipH="1">
              <a:off x="-147367" y="2714004"/>
              <a:ext cx="1656098" cy="467284"/>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FD2CB0B5-5AC1-E9ED-0DFC-9404CA21125F}"/>
                </a:ext>
              </a:extLst>
            </p:cNvPr>
            <p:cNvCxnSpPr>
              <a:cxnSpLocks/>
            </p:cNvCxnSpPr>
            <p:nvPr/>
          </p:nvCxnSpPr>
          <p:spPr>
            <a:xfrm>
              <a:off x="8929306" y="3376628"/>
              <a:ext cx="1620072" cy="0"/>
            </a:xfrm>
            <a:prstGeom prst="straightConnector1">
              <a:avLst/>
            </a:prstGeom>
            <a:ln w="28575">
              <a:solidFill>
                <a:schemeClr val="bg1"/>
              </a:solidFill>
              <a:headEnd type="oval"/>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CCC23BE3-8391-DB9B-6AD3-364964FC8040}"/>
                </a:ext>
              </a:extLst>
            </p:cNvPr>
            <p:cNvCxnSpPr>
              <a:cxnSpLocks/>
            </p:cNvCxnSpPr>
            <p:nvPr/>
          </p:nvCxnSpPr>
          <p:spPr>
            <a:xfrm>
              <a:off x="8861193" y="3967940"/>
              <a:ext cx="297442" cy="0"/>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48" name="Trapezoid 47">
            <a:extLst>
              <a:ext uri="{FF2B5EF4-FFF2-40B4-BE49-F238E27FC236}">
                <a16:creationId xmlns:a16="http://schemas.microsoft.com/office/drawing/2014/main" id="{2CAF6264-AB9C-C973-4D18-8BB389DD1218}"/>
              </a:ext>
            </a:extLst>
          </p:cNvPr>
          <p:cNvSpPr/>
          <p:nvPr/>
        </p:nvSpPr>
        <p:spPr>
          <a:xfrm rot="5400000">
            <a:off x="7564091" y="3537944"/>
            <a:ext cx="598172" cy="234496"/>
          </a:xfrm>
          <a:prstGeom prst="trapezoid">
            <a:avLst>
              <a:gd name="adj" fmla="val 62818"/>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sp>
        <p:nvSpPr>
          <p:cNvPr id="49" name="Trapezoid 48">
            <a:extLst>
              <a:ext uri="{FF2B5EF4-FFF2-40B4-BE49-F238E27FC236}">
                <a16:creationId xmlns:a16="http://schemas.microsoft.com/office/drawing/2014/main" id="{8223C5D6-E1DE-2A4F-B962-D715781CC7B7}"/>
              </a:ext>
            </a:extLst>
          </p:cNvPr>
          <p:cNvSpPr/>
          <p:nvPr/>
        </p:nvSpPr>
        <p:spPr>
          <a:xfrm rot="5400000">
            <a:off x="7564091" y="4309794"/>
            <a:ext cx="598172" cy="234496"/>
          </a:xfrm>
          <a:prstGeom prst="trapezoid">
            <a:avLst>
              <a:gd name="adj" fmla="val 62818"/>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sp>
        <p:nvSpPr>
          <p:cNvPr id="50" name="Trapezoid 49">
            <a:extLst>
              <a:ext uri="{FF2B5EF4-FFF2-40B4-BE49-F238E27FC236}">
                <a16:creationId xmlns:a16="http://schemas.microsoft.com/office/drawing/2014/main" id="{D7F7E561-C14F-156A-DA39-CD79EDA381EE}"/>
              </a:ext>
            </a:extLst>
          </p:cNvPr>
          <p:cNvSpPr/>
          <p:nvPr/>
        </p:nvSpPr>
        <p:spPr>
          <a:xfrm rot="5400000">
            <a:off x="630315" y="3510125"/>
            <a:ext cx="823357" cy="267680"/>
          </a:xfrm>
          <a:prstGeom prst="trapezoid">
            <a:avLst>
              <a:gd name="adj" fmla="val 85591"/>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p:txBody>
      </p:sp>
      <p:cxnSp>
        <p:nvCxnSpPr>
          <p:cNvPr id="31" name="Elbow Connector 30">
            <a:extLst>
              <a:ext uri="{FF2B5EF4-FFF2-40B4-BE49-F238E27FC236}">
                <a16:creationId xmlns:a16="http://schemas.microsoft.com/office/drawing/2014/main" id="{D362B68D-8B89-C1F9-1942-F8FC253B1619}"/>
              </a:ext>
            </a:extLst>
          </p:cNvPr>
          <p:cNvCxnSpPr>
            <a:cxnSpLocks/>
          </p:cNvCxnSpPr>
          <p:nvPr/>
        </p:nvCxnSpPr>
        <p:spPr>
          <a:xfrm rot="16200000" flipH="1">
            <a:off x="9863617" y="2465646"/>
            <a:ext cx="887961" cy="477237"/>
          </a:xfrm>
          <a:prstGeom prst="bentConnector3">
            <a:avLst>
              <a:gd name="adj1" fmla="val 99200"/>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B2D6B9F-90F6-781B-970E-47608CB1DC39}"/>
              </a:ext>
            </a:extLst>
          </p:cNvPr>
          <p:cNvCxnSpPr>
            <a:cxnSpLocks/>
          </p:cNvCxnSpPr>
          <p:nvPr/>
        </p:nvCxnSpPr>
        <p:spPr>
          <a:xfrm>
            <a:off x="3368069" y="2260284"/>
            <a:ext cx="6711696"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BF6B0A7-D8AD-AE6E-E2CF-C5AE4F94D219}"/>
              </a:ext>
            </a:extLst>
          </p:cNvPr>
          <p:cNvSpPr txBox="1"/>
          <p:nvPr/>
        </p:nvSpPr>
        <p:spPr>
          <a:xfrm>
            <a:off x="3302715" y="3211102"/>
            <a:ext cx="1119217" cy="805349"/>
          </a:xfrm>
          <a:prstGeom prst="rect">
            <a:avLst/>
          </a:prstGeom>
          <a:noFill/>
        </p:spPr>
        <p:txBody>
          <a:bodyPr wrap="none" rtlCol="0">
            <a:spAutoFit/>
          </a:bodyPr>
          <a:lstStyle/>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[11:7]</a:t>
            </a:r>
          </a:p>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[19:15]</a:t>
            </a:r>
          </a:p>
          <a:p>
            <a:pPr algn="l">
              <a:spcBef>
                <a:spcPts val="800"/>
              </a:spcBef>
            </a:pPr>
            <a:r>
              <a:rPr lang="en-US" sz="1100" dirty="0" err="1">
                <a:solidFill>
                  <a:schemeClr val="bg1"/>
                </a:solidFill>
                <a:latin typeface="Courier New" panose="02070309020205020404" pitchFamily="49" charset="0"/>
                <a:cs typeface="Courier New" panose="02070309020205020404" pitchFamily="49" charset="0"/>
              </a:rPr>
              <a:t>inst</a:t>
            </a:r>
            <a:r>
              <a:rPr lang="en-US" sz="1100" dirty="0">
                <a:solidFill>
                  <a:schemeClr val="bg1"/>
                </a:solidFill>
                <a:latin typeface="Courier New" panose="02070309020205020404" pitchFamily="49" charset="0"/>
                <a:cs typeface="Courier New" panose="02070309020205020404" pitchFamily="49" charset="0"/>
              </a:rPr>
              <a:t>[24:20]</a:t>
            </a:r>
          </a:p>
        </p:txBody>
      </p:sp>
      <p:grpSp>
        <p:nvGrpSpPr>
          <p:cNvPr id="41" name="Group 40">
            <a:extLst>
              <a:ext uri="{FF2B5EF4-FFF2-40B4-BE49-F238E27FC236}">
                <a16:creationId xmlns:a16="http://schemas.microsoft.com/office/drawing/2014/main" id="{2A6F2458-9AE1-493B-3D54-A2FC353ADD6D}"/>
              </a:ext>
            </a:extLst>
          </p:cNvPr>
          <p:cNvGrpSpPr/>
          <p:nvPr/>
        </p:nvGrpSpPr>
        <p:grpSpPr>
          <a:xfrm>
            <a:off x="669619" y="2248996"/>
            <a:ext cx="2712208" cy="1271016"/>
            <a:chOff x="669619" y="2248996"/>
            <a:chExt cx="2712208" cy="1271016"/>
          </a:xfrm>
        </p:grpSpPr>
        <p:grpSp>
          <p:nvGrpSpPr>
            <p:cNvPr id="42" name="Group 41">
              <a:extLst>
                <a:ext uri="{FF2B5EF4-FFF2-40B4-BE49-F238E27FC236}">
                  <a16:creationId xmlns:a16="http://schemas.microsoft.com/office/drawing/2014/main" id="{AD9348C0-52D8-4B2E-D498-F64A65D8CB47}"/>
                </a:ext>
              </a:extLst>
            </p:cNvPr>
            <p:cNvGrpSpPr/>
            <p:nvPr/>
          </p:nvGrpSpPr>
          <p:grpSpPr>
            <a:xfrm>
              <a:off x="669619" y="2260284"/>
              <a:ext cx="2712208" cy="1242570"/>
              <a:chOff x="669619" y="2260284"/>
              <a:chExt cx="2712208" cy="1242570"/>
            </a:xfrm>
          </p:grpSpPr>
          <p:grpSp>
            <p:nvGrpSpPr>
              <p:cNvPr id="52" name="Group 51">
                <a:extLst>
                  <a:ext uri="{FF2B5EF4-FFF2-40B4-BE49-F238E27FC236}">
                    <a16:creationId xmlns:a16="http://schemas.microsoft.com/office/drawing/2014/main" id="{716CEC7F-96E4-CD5A-A712-DA82E4C2BE74}"/>
                  </a:ext>
                </a:extLst>
              </p:cNvPr>
              <p:cNvGrpSpPr/>
              <p:nvPr/>
            </p:nvGrpSpPr>
            <p:grpSpPr>
              <a:xfrm>
                <a:off x="675203" y="2260284"/>
                <a:ext cx="2706624" cy="477526"/>
                <a:chOff x="675203" y="2260284"/>
                <a:chExt cx="2706624" cy="477526"/>
              </a:xfrm>
            </p:grpSpPr>
            <p:cxnSp>
              <p:nvCxnSpPr>
                <p:cNvPr id="54" name="Elbow Connector 53">
                  <a:extLst>
                    <a:ext uri="{FF2B5EF4-FFF2-40B4-BE49-F238E27FC236}">
                      <a16:creationId xmlns:a16="http://schemas.microsoft.com/office/drawing/2014/main" id="{E858373F-B328-F73E-4A1F-42F9512F49AC}"/>
                    </a:ext>
                  </a:extLst>
                </p:cNvPr>
                <p:cNvCxnSpPr>
                  <a:cxnSpLocks/>
                </p:cNvCxnSpPr>
                <p:nvPr/>
              </p:nvCxnSpPr>
              <p:spPr>
                <a:xfrm rot="5400000" flipH="1" flipV="1">
                  <a:off x="2999590" y="2363686"/>
                  <a:ext cx="477525" cy="270723"/>
                </a:xfrm>
                <a:prstGeom prst="bentConnector3">
                  <a:avLst>
                    <a:gd name="adj1" fmla="val -2954"/>
                  </a:avLst>
                </a:prstGeom>
                <a:ln w="28575">
                  <a:solidFill>
                    <a:schemeClr val="bg1"/>
                  </a:solidFill>
                  <a:tailEnd type="oval"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AC129A7-2064-3A92-390C-42A6FF4A59CE}"/>
                    </a:ext>
                  </a:extLst>
                </p:cNvPr>
                <p:cNvCxnSpPr>
                  <a:cxnSpLocks/>
                </p:cNvCxnSpPr>
                <p:nvPr/>
              </p:nvCxnSpPr>
              <p:spPr>
                <a:xfrm flipV="1">
                  <a:off x="675203" y="2260284"/>
                  <a:ext cx="2706624" cy="1985"/>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cxnSp>
            <p:nvCxnSpPr>
              <p:cNvPr id="53" name="Straight Arrow Connector 52">
                <a:extLst>
                  <a:ext uri="{FF2B5EF4-FFF2-40B4-BE49-F238E27FC236}">
                    <a16:creationId xmlns:a16="http://schemas.microsoft.com/office/drawing/2014/main" id="{BD8F23C2-0155-E262-97B1-A25A3A32A2EE}"/>
                  </a:ext>
                </a:extLst>
              </p:cNvPr>
              <p:cNvCxnSpPr>
                <a:cxnSpLocks/>
              </p:cNvCxnSpPr>
              <p:nvPr/>
            </p:nvCxnSpPr>
            <p:spPr>
              <a:xfrm flipV="1">
                <a:off x="669619" y="3502852"/>
                <a:ext cx="274320" cy="2"/>
              </a:xfrm>
              <a:prstGeom prst="straightConnector1">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grpSp>
        <p:cxnSp>
          <p:nvCxnSpPr>
            <p:cNvPr id="51" name="Straight Connector 50">
              <a:extLst>
                <a:ext uri="{FF2B5EF4-FFF2-40B4-BE49-F238E27FC236}">
                  <a16:creationId xmlns:a16="http://schemas.microsoft.com/office/drawing/2014/main" id="{E245C66E-3C0D-7619-26F1-5D62D24EB76B}"/>
                </a:ext>
              </a:extLst>
            </p:cNvPr>
            <p:cNvCxnSpPr/>
            <p:nvPr/>
          </p:nvCxnSpPr>
          <p:spPr>
            <a:xfrm flipH="1">
              <a:off x="675203" y="2248996"/>
              <a:ext cx="0" cy="1271016"/>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A34CB62F-037B-8B0A-9C85-58DFF2F23DE5}"/>
              </a:ext>
            </a:extLst>
          </p:cNvPr>
          <p:cNvSpPr txBox="1"/>
          <p:nvPr/>
        </p:nvSpPr>
        <p:spPr>
          <a:xfrm>
            <a:off x="3131237" y="4777354"/>
            <a:ext cx="1034257" cy="261610"/>
          </a:xfrm>
          <a:prstGeom prst="rect">
            <a:avLst/>
          </a:prstGeom>
          <a:noFill/>
        </p:spPr>
        <p:txBody>
          <a:bodyPr wrap="none" rtlCol="0">
            <a:spAutoFit/>
          </a:bodyPr>
          <a:lstStyle/>
          <a:p>
            <a:r>
              <a:rPr kumimoji="0" lang="en-US" sz="1100" i="0" u="none" strike="noStrike" kern="1200" cap="none" spc="0" normalizeH="0" baseline="0" noProof="0" dirty="0" err="1">
                <a:ln>
                  <a:noFill/>
                </a:ln>
                <a:solidFill>
                  <a:schemeClr val="bg1"/>
                </a:solidFill>
                <a:effectLst/>
                <a:uLnTx/>
                <a:uFillTx/>
                <a:latin typeface="Courier New" panose="02070309020205020404" pitchFamily="49" charset="0"/>
                <a:ea typeface="+mn-ea"/>
                <a:cs typeface="Courier New" panose="02070309020205020404" pitchFamily="49" charset="0"/>
              </a:rPr>
              <a:t>inst</a:t>
            </a:r>
            <a:r>
              <a:rPr kumimoji="0" lang="en-US" sz="1100" i="0" u="none" strike="noStrike" kern="1200" cap="none" spc="0" normalizeH="0" baseline="0" noProof="0" dirty="0">
                <a:ln>
                  <a:noFill/>
                </a:ln>
                <a:solidFill>
                  <a:schemeClr val="bg1"/>
                </a:solidFill>
                <a:effectLst/>
                <a:uLnTx/>
                <a:uFillTx/>
                <a:latin typeface="Courier New" panose="02070309020205020404" pitchFamily="49" charset="0"/>
                <a:ea typeface="+mn-ea"/>
                <a:cs typeface="Courier New" panose="02070309020205020404" pitchFamily="49" charset="0"/>
              </a:rPr>
              <a:t>[31:7]</a:t>
            </a:r>
            <a:endParaRPr lang="en-US" sz="2000" dirty="0">
              <a:solidFill>
                <a:schemeClr val="bg1"/>
              </a:solidFill>
              <a:latin typeface="18 VAG Rounded Light   02390" pitchFamily="2" charset="0"/>
            </a:endParaRPr>
          </a:p>
        </p:txBody>
      </p:sp>
      <p:grpSp>
        <p:nvGrpSpPr>
          <p:cNvPr id="5" name="Group 4">
            <a:extLst>
              <a:ext uri="{FF2B5EF4-FFF2-40B4-BE49-F238E27FC236}">
                <a16:creationId xmlns:a16="http://schemas.microsoft.com/office/drawing/2014/main" id="{7B1A4A31-19EC-6C55-6EE0-7185AC7B5147}"/>
              </a:ext>
            </a:extLst>
          </p:cNvPr>
          <p:cNvGrpSpPr/>
          <p:nvPr/>
        </p:nvGrpSpPr>
        <p:grpSpPr>
          <a:xfrm>
            <a:off x="3802643" y="2375192"/>
            <a:ext cx="7334708" cy="1031999"/>
            <a:chOff x="3802643" y="2375192"/>
            <a:chExt cx="7334708" cy="1031999"/>
          </a:xfrm>
          <a:effectLst>
            <a:glow rad="101600">
              <a:schemeClr val="tx1">
                <a:alpha val="67000"/>
              </a:schemeClr>
            </a:glow>
          </a:effectLst>
        </p:grpSpPr>
        <p:cxnSp>
          <p:nvCxnSpPr>
            <p:cNvPr id="6" name="Elbow Connector 5">
              <a:extLst>
                <a:ext uri="{FF2B5EF4-FFF2-40B4-BE49-F238E27FC236}">
                  <a16:creationId xmlns:a16="http://schemas.microsoft.com/office/drawing/2014/main" id="{6D5B83A3-BADC-417B-FE87-DD913C171C09}"/>
                </a:ext>
              </a:extLst>
            </p:cNvPr>
            <p:cNvCxnSpPr>
              <a:cxnSpLocks/>
            </p:cNvCxnSpPr>
            <p:nvPr/>
          </p:nvCxnSpPr>
          <p:spPr>
            <a:xfrm rot="16200000" flipH="1">
              <a:off x="3970539" y="2216906"/>
              <a:ext cx="657210" cy="993002"/>
            </a:xfrm>
            <a:prstGeom prst="bentConnector2">
              <a:avLst/>
            </a:prstGeom>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0620344-913F-F878-BC83-67E3F577F34A}"/>
                </a:ext>
              </a:extLst>
            </p:cNvPr>
            <p:cNvCxnSpPr>
              <a:cxnSpLocks/>
            </p:cNvCxnSpPr>
            <p:nvPr/>
          </p:nvCxnSpPr>
          <p:spPr>
            <a:xfrm>
              <a:off x="3802643" y="2384802"/>
              <a:ext cx="7334708" cy="0"/>
            </a:xfrm>
            <a:prstGeom prst="line">
              <a:avLst/>
            </a:prstGeom>
            <a:ln w="28575">
              <a:solidFill>
                <a:schemeClr val="bg1"/>
              </a:solidFill>
              <a:tailEnd type="none" w="lg" len="lg"/>
            </a:ln>
          </p:spPr>
          <p:style>
            <a:lnRef idx="1">
              <a:schemeClr val="accent1"/>
            </a:lnRef>
            <a:fillRef idx="0">
              <a:schemeClr val="accent1"/>
            </a:fillRef>
            <a:effectRef idx="0">
              <a:schemeClr val="accent1"/>
            </a:effectRef>
            <a:fontRef idx="minor">
              <a:schemeClr val="tx1"/>
            </a:fontRef>
          </p:style>
        </p:cxnSp>
        <p:cxnSp>
          <p:nvCxnSpPr>
            <p:cNvPr id="8" name="Elbow Connector 7">
              <a:extLst>
                <a:ext uri="{FF2B5EF4-FFF2-40B4-BE49-F238E27FC236}">
                  <a16:creationId xmlns:a16="http://schemas.microsoft.com/office/drawing/2014/main" id="{1CF901D2-0508-F32F-112A-A509C021DEE9}"/>
                </a:ext>
              </a:extLst>
            </p:cNvPr>
            <p:cNvCxnSpPr>
              <a:cxnSpLocks/>
            </p:cNvCxnSpPr>
            <p:nvPr/>
          </p:nvCxnSpPr>
          <p:spPr>
            <a:xfrm flipV="1">
              <a:off x="10817058" y="2375192"/>
              <a:ext cx="320293" cy="1031999"/>
            </a:xfrm>
            <a:prstGeom prst="bentConnector2">
              <a:avLst/>
            </a:prstGeom>
            <a:ln w="28575">
              <a:solidFill>
                <a:schemeClr val="bg1"/>
              </a:solidFill>
              <a:tailEnd type="none"/>
            </a:ln>
          </p:spPr>
          <p:style>
            <a:lnRef idx="1">
              <a:schemeClr val="accent1"/>
            </a:lnRef>
            <a:fillRef idx="0">
              <a:schemeClr val="accent1"/>
            </a:fillRef>
            <a:effectRef idx="0">
              <a:schemeClr val="accent1"/>
            </a:effectRef>
            <a:fontRef idx="minor">
              <a:schemeClr val="tx1"/>
            </a:fontRef>
          </p:style>
        </p:cxnSp>
      </p:grpSp>
      <p:grpSp>
        <p:nvGrpSpPr>
          <p:cNvPr id="363" name="Group 362">
            <a:extLst>
              <a:ext uri="{FF2B5EF4-FFF2-40B4-BE49-F238E27FC236}">
                <a16:creationId xmlns:a16="http://schemas.microsoft.com/office/drawing/2014/main" id="{9B242F2D-4557-EA17-4F3D-A394493F6954}"/>
              </a:ext>
            </a:extLst>
          </p:cNvPr>
          <p:cNvGrpSpPr/>
          <p:nvPr/>
        </p:nvGrpSpPr>
        <p:grpSpPr>
          <a:xfrm>
            <a:off x="10549378" y="2970605"/>
            <a:ext cx="267680" cy="873172"/>
            <a:chOff x="10468098" y="2970605"/>
            <a:chExt cx="267680" cy="873172"/>
          </a:xfrm>
        </p:grpSpPr>
        <p:sp>
          <p:nvSpPr>
            <p:cNvPr id="360" name="Rectangle 359">
              <a:extLst>
                <a:ext uri="{FF2B5EF4-FFF2-40B4-BE49-F238E27FC236}">
                  <a16:creationId xmlns:a16="http://schemas.microsoft.com/office/drawing/2014/main" id="{AB6EFD13-EE92-D4A5-5683-6017438C2ADD}"/>
                </a:ext>
              </a:extLst>
            </p:cNvPr>
            <p:cNvSpPr/>
            <p:nvPr/>
          </p:nvSpPr>
          <p:spPr>
            <a:xfrm>
              <a:off x="10468098" y="3076083"/>
              <a:ext cx="158767" cy="130407"/>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sp>
          <p:nvSpPr>
            <p:cNvPr id="361" name="Rectangle 360">
              <a:extLst>
                <a:ext uri="{FF2B5EF4-FFF2-40B4-BE49-F238E27FC236}">
                  <a16:creationId xmlns:a16="http://schemas.microsoft.com/office/drawing/2014/main" id="{B1D1C625-0D55-6D9C-183C-50A2A17A6728}"/>
                </a:ext>
              </a:extLst>
            </p:cNvPr>
            <p:cNvSpPr/>
            <p:nvPr/>
          </p:nvSpPr>
          <p:spPr>
            <a:xfrm>
              <a:off x="10468098" y="3321131"/>
              <a:ext cx="158767" cy="130407"/>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sp>
          <p:nvSpPr>
            <p:cNvPr id="362" name="Rectangle 361">
              <a:extLst>
                <a:ext uri="{FF2B5EF4-FFF2-40B4-BE49-F238E27FC236}">
                  <a16:creationId xmlns:a16="http://schemas.microsoft.com/office/drawing/2014/main" id="{92D6F2A1-EC6E-4BB3-14B5-0CD9A2936A57}"/>
                </a:ext>
              </a:extLst>
            </p:cNvPr>
            <p:cNvSpPr/>
            <p:nvPr/>
          </p:nvSpPr>
          <p:spPr>
            <a:xfrm>
              <a:off x="10468098" y="3584336"/>
              <a:ext cx="158767" cy="130407"/>
            </a:xfrm>
            <a:prstGeom prst="rect">
              <a:avLst/>
            </a:prstGeom>
            <a:noFill/>
            <a:ln w="28575">
              <a:no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000" dirty="0">
                <a:solidFill>
                  <a:schemeClr val="bg1"/>
                </a:solidFill>
                <a:latin typeface="18 VAG Rounded Light   02390" pitchFamily="2" charset="0"/>
              </a:endParaRPr>
            </a:p>
          </p:txBody>
        </p:sp>
        <p:sp>
          <p:nvSpPr>
            <p:cNvPr id="323" name="Trapezoid 322">
              <a:extLst>
                <a:ext uri="{FF2B5EF4-FFF2-40B4-BE49-F238E27FC236}">
                  <a16:creationId xmlns:a16="http://schemas.microsoft.com/office/drawing/2014/main" id="{BD5795B8-C502-D39D-23F3-DD015552B9A1}"/>
                </a:ext>
              </a:extLst>
            </p:cNvPr>
            <p:cNvSpPr/>
            <p:nvPr/>
          </p:nvSpPr>
          <p:spPr>
            <a:xfrm rot="5400000">
              <a:off x="10165352" y="3273351"/>
              <a:ext cx="873172" cy="267680"/>
            </a:xfrm>
            <a:prstGeom prst="trapezoid">
              <a:avLst>
                <a:gd name="adj" fmla="val 62818"/>
              </a:avLst>
            </a:prstGeom>
            <a:noFill/>
            <a:ln w="28575">
              <a:solidFill>
                <a:schemeClr val="bg1"/>
              </a:solidFill>
              <a:tailEnd type="triangle" w="lg" len="lg"/>
            </a:ln>
          </p:spPr>
          <p:style>
            <a:lnRef idx="1">
              <a:schemeClr val="accent1"/>
            </a:lnRef>
            <a:fillRef idx="0">
              <a:schemeClr val="accent1"/>
            </a:fillRef>
            <a:effectRef idx="0">
              <a:schemeClr val="accent1"/>
            </a:effectRef>
            <a:fontRef idx="minor">
              <a:schemeClr val="tx1"/>
            </a:fontRef>
          </p:style>
          <p:txBody>
            <a:bodyPr vert="vert270" rtlCol="0" anchor="ctr"/>
            <a:lstStyle/>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2</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1</a:t>
              </a:r>
            </a:p>
            <a:p>
              <a:pPr algn="ctr">
                <a:spcBef>
                  <a:spcPts val="600"/>
                </a:spcBef>
              </a:pPr>
              <a:r>
                <a:rPr lang="en-US" sz="1200" dirty="0">
                  <a:solidFill>
                    <a:schemeClr val="bg1"/>
                  </a:solidFill>
                  <a:latin typeface="Courier New" panose="02070309020205020404" pitchFamily="49" charset="0"/>
                  <a:cs typeface="Courier New" panose="02070309020205020404" pitchFamily="49" charset="0"/>
                </a:rPr>
                <a:t>0</a:t>
              </a:r>
            </a:p>
          </p:txBody>
        </p:sp>
      </p:grpSp>
    </p:spTree>
    <p:extLst>
      <p:ext uri="{BB962C8B-B14F-4D97-AF65-F5344CB8AC3E}">
        <p14:creationId xmlns:p14="http://schemas.microsoft.com/office/powerpoint/2010/main" val="27721545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grpSp>
        <p:nvGrpSpPr>
          <p:cNvPr id="388" name="Google Shape;388;p25"/>
          <p:cNvGrpSpPr/>
          <p:nvPr/>
        </p:nvGrpSpPr>
        <p:grpSpPr>
          <a:xfrm>
            <a:off x="101367" y="1750832"/>
            <a:ext cx="2203965" cy="1081302"/>
            <a:chOff x="76025" y="1313125"/>
            <a:chExt cx="1652974" cy="810977"/>
          </a:xfrm>
        </p:grpSpPr>
        <p:sp>
          <p:nvSpPr>
            <p:cNvPr id="389" name="Google Shape;389;p25"/>
            <p:cNvSpPr txBox="1"/>
            <p:nvPr/>
          </p:nvSpPr>
          <p:spPr>
            <a:xfrm>
              <a:off x="1228899" y="1404825"/>
              <a:ext cx="500100" cy="4002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2400" kern="0">
                  <a:solidFill>
                    <a:srgbClr val="B3E59A"/>
                  </a:solidFill>
                  <a:latin typeface="Inter"/>
                  <a:ea typeface="Inter"/>
                  <a:cs typeface="Inter"/>
                  <a:sym typeface="Inter"/>
                </a:rPr>
                <a:t>9</a:t>
              </a:r>
              <a:endParaRPr sz="2400" kern="0">
                <a:solidFill>
                  <a:srgbClr val="B3E59A"/>
                </a:solidFill>
                <a:latin typeface="Inter"/>
                <a:ea typeface="Inter"/>
                <a:cs typeface="Inter"/>
                <a:sym typeface="Inter"/>
              </a:endParaRPr>
            </a:p>
          </p:txBody>
        </p:sp>
        <p:sp>
          <p:nvSpPr>
            <p:cNvPr id="390" name="Google Shape;390;p25"/>
            <p:cNvSpPr txBox="1"/>
            <p:nvPr/>
          </p:nvSpPr>
          <p:spPr>
            <a:xfrm>
              <a:off x="76025" y="1313125"/>
              <a:ext cx="1139700" cy="7878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1867" kern="0">
                  <a:solidFill>
                    <a:srgbClr val="F2F2F2"/>
                  </a:solidFill>
                  <a:latin typeface="Source Code Pro"/>
                  <a:ea typeface="Source Code Pro"/>
                  <a:cs typeface="Source Code Pro"/>
                  <a:sym typeface="Source Code Pro"/>
                </a:rPr>
                <a:t>inst[30,</a:t>
              </a:r>
              <a:br>
                <a:rPr lang="en" sz="1867" kern="0">
                  <a:solidFill>
                    <a:srgbClr val="F2F2F2"/>
                  </a:solidFill>
                  <a:latin typeface="Source Code Pro"/>
                  <a:ea typeface="Source Code Pro"/>
                  <a:cs typeface="Source Code Pro"/>
                  <a:sym typeface="Source Code Pro"/>
                </a:rPr>
              </a:br>
              <a:r>
                <a:rPr lang="en" sz="1867" kern="0">
                  <a:solidFill>
                    <a:srgbClr val="F2F2F2"/>
                  </a:solidFill>
                  <a:latin typeface="Source Code Pro"/>
                  <a:ea typeface="Source Code Pro"/>
                  <a:cs typeface="Source Code Pro"/>
                  <a:sym typeface="Source Code Pro"/>
                </a:rPr>
                <a:t> 14:12,</a:t>
              </a:r>
              <a:endParaRPr sz="1867" kern="0">
                <a:solidFill>
                  <a:srgbClr val="F2F2F2"/>
                </a:solidFill>
                <a:latin typeface="Source Code Pro"/>
                <a:ea typeface="Source Code Pro"/>
                <a:cs typeface="Source Code Pro"/>
                <a:sym typeface="Source Code Pro"/>
              </a:endParaRPr>
            </a:p>
            <a:p>
              <a:pPr defTabSz="1219170">
                <a:buClr>
                  <a:srgbClr val="000000"/>
                </a:buClr>
              </a:pPr>
              <a:r>
                <a:rPr lang="en" sz="1867" kern="0">
                  <a:solidFill>
                    <a:srgbClr val="F2F2F2"/>
                  </a:solidFill>
                  <a:latin typeface="Source Code Pro"/>
                  <a:ea typeface="Source Code Pro"/>
                  <a:cs typeface="Source Code Pro"/>
                  <a:sym typeface="Source Code Pro"/>
                </a:rPr>
                <a:t> 6:2]</a:t>
              </a:r>
              <a:endParaRPr sz="1867" kern="0">
                <a:solidFill>
                  <a:srgbClr val="9FD1FF"/>
                </a:solidFill>
                <a:latin typeface="Inter"/>
                <a:ea typeface="Inter"/>
                <a:cs typeface="Inter"/>
                <a:sym typeface="Inter"/>
              </a:endParaRPr>
            </a:p>
          </p:txBody>
        </p:sp>
        <p:cxnSp>
          <p:nvCxnSpPr>
            <p:cNvPr id="391" name="Google Shape;391;p25"/>
            <p:cNvCxnSpPr>
              <a:endCxn id="392" idx="0"/>
            </p:cNvCxnSpPr>
            <p:nvPr/>
          </p:nvCxnSpPr>
          <p:spPr>
            <a:xfrm flipH="1">
              <a:off x="1218575" y="1378002"/>
              <a:ext cx="17100" cy="746100"/>
            </a:xfrm>
            <a:prstGeom prst="straightConnector1">
              <a:avLst/>
            </a:prstGeom>
            <a:noFill/>
            <a:ln w="28575" cap="flat" cmpd="sng">
              <a:solidFill>
                <a:schemeClr val="dk1"/>
              </a:solidFill>
              <a:prstDash val="solid"/>
              <a:round/>
              <a:headEnd type="none" w="med" len="med"/>
              <a:tailEnd type="triangle" w="med" len="med"/>
            </a:ln>
          </p:spPr>
        </p:cxnSp>
        <p:cxnSp>
          <p:nvCxnSpPr>
            <p:cNvPr id="393" name="Google Shape;393;p25"/>
            <p:cNvCxnSpPr/>
            <p:nvPr/>
          </p:nvCxnSpPr>
          <p:spPr>
            <a:xfrm rot="10800000" flipH="1">
              <a:off x="1124049" y="1562025"/>
              <a:ext cx="200100" cy="85800"/>
            </a:xfrm>
            <a:prstGeom prst="straightConnector1">
              <a:avLst/>
            </a:prstGeom>
            <a:noFill/>
            <a:ln w="28575" cap="flat" cmpd="sng">
              <a:solidFill>
                <a:schemeClr val="dk1"/>
              </a:solidFill>
              <a:prstDash val="solid"/>
              <a:round/>
              <a:headEnd type="none" w="med" len="med"/>
              <a:tailEnd type="none" w="med" len="med"/>
            </a:ln>
          </p:spPr>
        </p:cxnSp>
      </p:grpSp>
      <p:grpSp>
        <p:nvGrpSpPr>
          <p:cNvPr id="394" name="Google Shape;394;p25"/>
          <p:cNvGrpSpPr/>
          <p:nvPr/>
        </p:nvGrpSpPr>
        <p:grpSpPr>
          <a:xfrm>
            <a:off x="721767" y="2203500"/>
            <a:ext cx="5831712" cy="3549600"/>
            <a:chOff x="541325" y="1652625"/>
            <a:chExt cx="4373784" cy="2662200"/>
          </a:xfrm>
        </p:grpSpPr>
        <p:sp>
          <p:nvSpPr>
            <p:cNvPr id="395" name="Google Shape;395;p25"/>
            <p:cNvSpPr/>
            <p:nvPr/>
          </p:nvSpPr>
          <p:spPr>
            <a:xfrm rot="-5400000">
              <a:off x="1212800" y="2780625"/>
              <a:ext cx="2662200" cy="406200"/>
            </a:xfrm>
            <a:prstGeom prst="trapezoid">
              <a:avLst>
                <a:gd name="adj" fmla="val 44140"/>
              </a:avLst>
            </a:prstGeom>
            <a:noFill/>
            <a:ln w="38100"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2F2F2"/>
                  </a:solidFill>
                  <a:latin typeface="Inter"/>
                  <a:ea typeface="Inter"/>
                  <a:cs typeface="Inter"/>
                  <a:sym typeface="Inter"/>
                </a:rPr>
                <a:t>decoder</a:t>
              </a:r>
              <a:endParaRPr sz="2400" kern="0">
                <a:solidFill>
                  <a:srgbClr val="F2F2F2"/>
                </a:solidFill>
                <a:latin typeface="Inter"/>
                <a:ea typeface="Inter"/>
                <a:cs typeface="Inter"/>
                <a:sym typeface="Inter"/>
              </a:endParaRPr>
            </a:p>
          </p:txBody>
        </p:sp>
        <p:sp>
          <p:nvSpPr>
            <p:cNvPr id="392" name="Google Shape;392;p25"/>
            <p:cNvSpPr/>
            <p:nvPr/>
          </p:nvSpPr>
          <p:spPr>
            <a:xfrm>
              <a:off x="541325" y="2124100"/>
              <a:ext cx="1354500" cy="1840800"/>
            </a:xfrm>
            <a:prstGeom prst="rect">
              <a:avLst/>
            </a:prstGeom>
            <a:no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667" kern="0">
                  <a:solidFill>
                    <a:srgbClr val="F2F2F2"/>
                  </a:solidFill>
                  <a:latin typeface="Inter"/>
                  <a:ea typeface="Inter"/>
                  <a:cs typeface="Inter"/>
                  <a:sym typeface="Inter"/>
                </a:rPr>
                <a:t>ROM</a:t>
              </a:r>
              <a:endParaRPr sz="2667" kern="0">
                <a:solidFill>
                  <a:srgbClr val="F2F2F2"/>
                </a:solidFill>
                <a:latin typeface="Inter"/>
                <a:ea typeface="Inter"/>
                <a:cs typeface="Inter"/>
                <a:sym typeface="Inter"/>
              </a:endParaRPr>
            </a:p>
          </p:txBody>
        </p:sp>
        <p:cxnSp>
          <p:nvCxnSpPr>
            <p:cNvPr id="396" name="Google Shape;396;p25"/>
            <p:cNvCxnSpPr/>
            <p:nvPr/>
          </p:nvCxnSpPr>
          <p:spPr>
            <a:xfrm>
              <a:off x="2764709" y="1885950"/>
              <a:ext cx="602100" cy="0"/>
            </a:xfrm>
            <a:prstGeom prst="straightConnector1">
              <a:avLst/>
            </a:prstGeom>
            <a:noFill/>
            <a:ln w="9525" cap="flat" cmpd="sng">
              <a:solidFill>
                <a:schemeClr val="dk2"/>
              </a:solidFill>
              <a:prstDash val="solid"/>
              <a:round/>
              <a:headEnd type="none" w="med" len="med"/>
              <a:tailEnd type="triangle" w="med" len="med"/>
            </a:ln>
          </p:spPr>
        </p:cxnSp>
        <p:sp>
          <p:nvSpPr>
            <p:cNvPr id="397" name="Google Shape;397;p25"/>
            <p:cNvSpPr txBox="1"/>
            <p:nvPr/>
          </p:nvSpPr>
          <p:spPr>
            <a:xfrm>
              <a:off x="3376409" y="1657275"/>
              <a:ext cx="1538700" cy="2628900"/>
            </a:xfrm>
            <a:prstGeom prst="rect">
              <a:avLst/>
            </a:prstGeom>
            <a:noFill/>
            <a:ln>
              <a:noFill/>
            </a:ln>
          </p:spPr>
          <p:txBody>
            <a:bodyPr spcFirstLastPara="1" wrap="square" lIns="121900" tIns="121900" rIns="121900" bIns="121900" anchor="t" anchorCtr="0">
              <a:noAutofit/>
            </a:bodyPr>
            <a:lstStyle/>
            <a:p>
              <a:pPr defTabSz="1219170">
                <a:buClr>
                  <a:srgbClr val="000000"/>
                </a:buClr>
              </a:pPr>
              <a:r>
                <a:rPr lang="en" sz="2133" kern="0">
                  <a:solidFill>
                    <a:srgbClr val="F2F2F2"/>
                  </a:solidFill>
                  <a:latin typeface="Inter"/>
                  <a:ea typeface="Inter"/>
                  <a:cs typeface="Inter"/>
                  <a:sym typeface="Inter"/>
                </a:rPr>
                <a:t>RegWEn</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ImmSel[2:0]</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BrUn</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BSel</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ASel</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ALUSel[3:0]</a:t>
              </a:r>
              <a:endParaRPr sz="2133" kern="0">
                <a:solidFill>
                  <a:srgbClr val="F2F2F2"/>
                </a:solidFill>
                <a:latin typeface="Inter"/>
                <a:ea typeface="Inter"/>
                <a:cs typeface="Inter"/>
                <a:sym typeface="Inter"/>
              </a:endParaRPr>
            </a:p>
            <a:p>
              <a:pPr defTabSz="1219170">
                <a:spcBef>
                  <a:spcPts val="533"/>
                </a:spcBef>
                <a:buClr>
                  <a:srgbClr val="000000"/>
                </a:buClr>
              </a:pPr>
              <a:r>
                <a:rPr lang="en" sz="2133" kern="0">
                  <a:solidFill>
                    <a:srgbClr val="F2F2F2"/>
                  </a:solidFill>
                  <a:latin typeface="Inter"/>
                  <a:ea typeface="Inter"/>
                  <a:cs typeface="Inter"/>
                  <a:sym typeface="Inter"/>
                </a:rPr>
                <a:t>MemRW</a:t>
              </a:r>
              <a:endParaRPr sz="2133" kern="0">
                <a:solidFill>
                  <a:srgbClr val="F2F2F2"/>
                </a:solidFill>
                <a:latin typeface="Inter"/>
                <a:ea typeface="Inter"/>
                <a:cs typeface="Inter"/>
                <a:sym typeface="Inter"/>
              </a:endParaRPr>
            </a:p>
            <a:p>
              <a:pPr defTabSz="1219170">
                <a:spcBef>
                  <a:spcPts val="533"/>
                </a:spcBef>
                <a:spcAft>
                  <a:spcPts val="533"/>
                </a:spcAft>
                <a:buClr>
                  <a:srgbClr val="000000"/>
                </a:buClr>
              </a:pPr>
              <a:r>
                <a:rPr lang="en" sz="2133" kern="0">
                  <a:solidFill>
                    <a:srgbClr val="F2F2F2"/>
                  </a:solidFill>
                  <a:latin typeface="Inter"/>
                  <a:ea typeface="Inter"/>
                  <a:cs typeface="Inter"/>
                  <a:sym typeface="Inter"/>
                </a:rPr>
                <a:t>WBSel[1:0]</a:t>
              </a:r>
              <a:endParaRPr sz="2133" kern="0">
                <a:solidFill>
                  <a:srgbClr val="F2F2F2"/>
                </a:solidFill>
                <a:latin typeface="Inter"/>
                <a:ea typeface="Inter"/>
                <a:cs typeface="Inter"/>
                <a:sym typeface="Inter"/>
              </a:endParaRPr>
            </a:p>
          </p:txBody>
        </p:sp>
        <p:cxnSp>
          <p:nvCxnSpPr>
            <p:cNvPr id="398" name="Google Shape;398;p25"/>
            <p:cNvCxnSpPr/>
            <p:nvPr/>
          </p:nvCxnSpPr>
          <p:spPr>
            <a:xfrm>
              <a:off x="2764709" y="2177143"/>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399" name="Google Shape;399;p25"/>
            <p:cNvCxnSpPr/>
            <p:nvPr/>
          </p:nvCxnSpPr>
          <p:spPr>
            <a:xfrm>
              <a:off x="2764709" y="2468336"/>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0" name="Google Shape;400;p25"/>
            <p:cNvCxnSpPr/>
            <p:nvPr/>
          </p:nvCxnSpPr>
          <p:spPr>
            <a:xfrm>
              <a:off x="2764709" y="2759529"/>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1" name="Google Shape;401;p25"/>
            <p:cNvCxnSpPr/>
            <p:nvPr/>
          </p:nvCxnSpPr>
          <p:spPr>
            <a:xfrm>
              <a:off x="2764709" y="3050721"/>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2" name="Google Shape;402;p25"/>
            <p:cNvCxnSpPr/>
            <p:nvPr/>
          </p:nvCxnSpPr>
          <p:spPr>
            <a:xfrm>
              <a:off x="2764709" y="3341914"/>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3" name="Google Shape;403;p25"/>
            <p:cNvCxnSpPr/>
            <p:nvPr/>
          </p:nvCxnSpPr>
          <p:spPr>
            <a:xfrm>
              <a:off x="2764709" y="3633107"/>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4" name="Google Shape;404;p25"/>
            <p:cNvCxnSpPr/>
            <p:nvPr/>
          </p:nvCxnSpPr>
          <p:spPr>
            <a:xfrm>
              <a:off x="2764709" y="3924300"/>
              <a:ext cx="602100" cy="0"/>
            </a:xfrm>
            <a:prstGeom prst="straightConnector1">
              <a:avLst/>
            </a:prstGeom>
            <a:noFill/>
            <a:ln w="9525" cap="flat" cmpd="sng">
              <a:solidFill>
                <a:schemeClr val="dk2"/>
              </a:solidFill>
              <a:prstDash val="solid"/>
              <a:round/>
              <a:headEnd type="none" w="med" len="med"/>
              <a:tailEnd type="triangle" w="med" len="med"/>
            </a:ln>
          </p:spPr>
        </p:cxnSp>
        <p:cxnSp>
          <p:nvCxnSpPr>
            <p:cNvPr id="405" name="Google Shape;405;p25"/>
            <p:cNvCxnSpPr>
              <a:cxnSpLocks/>
              <a:stCxn id="392" idx="3"/>
            </p:cNvCxnSpPr>
            <p:nvPr/>
          </p:nvCxnSpPr>
          <p:spPr>
            <a:xfrm>
              <a:off x="1895825" y="3044500"/>
              <a:ext cx="444974" cy="0"/>
            </a:xfrm>
            <a:prstGeom prst="straightConnector1">
              <a:avLst/>
            </a:prstGeom>
            <a:noFill/>
            <a:ln w="28575" cap="flat" cmpd="sng">
              <a:solidFill>
                <a:schemeClr val="dk1"/>
              </a:solidFill>
              <a:prstDash val="solid"/>
              <a:round/>
              <a:headEnd type="none" w="med" len="med"/>
              <a:tailEnd type="triangle" w="med" len="med"/>
            </a:ln>
          </p:spPr>
        </p:cxnSp>
        <p:cxnSp>
          <p:nvCxnSpPr>
            <p:cNvPr id="406" name="Google Shape;406;p25"/>
            <p:cNvCxnSpPr>
              <a:cxnSpLocks/>
            </p:cNvCxnSpPr>
            <p:nvPr/>
          </p:nvCxnSpPr>
          <p:spPr>
            <a:xfrm flipV="1">
              <a:off x="2043605" y="2983725"/>
              <a:ext cx="92470" cy="143671"/>
            </a:xfrm>
            <a:prstGeom prst="straightConnector1">
              <a:avLst/>
            </a:prstGeom>
            <a:noFill/>
            <a:ln w="28575" cap="flat" cmpd="sng">
              <a:solidFill>
                <a:schemeClr val="dk1"/>
              </a:solidFill>
              <a:prstDash val="solid"/>
              <a:round/>
              <a:headEnd type="none" w="med" len="med"/>
              <a:tailEnd type="none" w="med" len="med"/>
            </a:ln>
          </p:spPr>
        </p:cxnSp>
        <p:sp>
          <p:nvSpPr>
            <p:cNvPr id="407" name="Google Shape;407;p25"/>
            <p:cNvSpPr txBox="1"/>
            <p:nvPr/>
          </p:nvSpPr>
          <p:spPr>
            <a:xfrm>
              <a:off x="1870439" y="3104609"/>
              <a:ext cx="500100" cy="4002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2667" kern="0" dirty="0">
                  <a:solidFill>
                    <a:srgbClr val="B3E59A"/>
                  </a:solidFill>
                  <a:latin typeface="Inter"/>
                  <a:ea typeface="Inter"/>
                  <a:cs typeface="Inter"/>
                  <a:sym typeface="Inter"/>
                </a:rPr>
                <a:t>14</a:t>
              </a:r>
              <a:endParaRPr sz="2667" kern="0" dirty="0">
                <a:solidFill>
                  <a:srgbClr val="B3E59A"/>
                </a:solidFill>
                <a:latin typeface="Inter"/>
                <a:ea typeface="Inter"/>
                <a:cs typeface="Inter"/>
                <a:sym typeface="Inter"/>
              </a:endParaRPr>
            </a:p>
          </p:txBody>
        </p:sp>
      </p:grpSp>
      <p:grpSp>
        <p:nvGrpSpPr>
          <p:cNvPr id="408" name="Google Shape;408;p25"/>
          <p:cNvGrpSpPr/>
          <p:nvPr/>
        </p:nvGrpSpPr>
        <p:grpSpPr>
          <a:xfrm>
            <a:off x="6226152" y="2514600"/>
            <a:ext cx="433589" cy="2717800"/>
            <a:chOff x="4669703" y="1657350"/>
            <a:chExt cx="413100" cy="2038350"/>
          </a:xfrm>
        </p:grpSpPr>
        <p:cxnSp>
          <p:nvCxnSpPr>
            <p:cNvPr id="409" name="Google Shape;409;p25"/>
            <p:cNvCxnSpPr/>
            <p:nvPr/>
          </p:nvCxnSpPr>
          <p:spPr>
            <a:xfrm>
              <a:off x="4669703" y="1657350"/>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0" name="Google Shape;410;p25"/>
            <p:cNvCxnSpPr/>
            <p:nvPr/>
          </p:nvCxnSpPr>
          <p:spPr>
            <a:xfrm>
              <a:off x="4669703" y="1948543"/>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1" name="Google Shape;411;p25"/>
            <p:cNvCxnSpPr/>
            <p:nvPr/>
          </p:nvCxnSpPr>
          <p:spPr>
            <a:xfrm>
              <a:off x="4669703" y="2239736"/>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2" name="Google Shape;412;p25"/>
            <p:cNvCxnSpPr/>
            <p:nvPr/>
          </p:nvCxnSpPr>
          <p:spPr>
            <a:xfrm>
              <a:off x="4669703" y="2530929"/>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3" name="Google Shape;413;p25"/>
            <p:cNvCxnSpPr/>
            <p:nvPr/>
          </p:nvCxnSpPr>
          <p:spPr>
            <a:xfrm>
              <a:off x="4669703" y="2822121"/>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4" name="Google Shape;414;p25"/>
            <p:cNvCxnSpPr/>
            <p:nvPr/>
          </p:nvCxnSpPr>
          <p:spPr>
            <a:xfrm>
              <a:off x="4669703" y="3113314"/>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5" name="Google Shape;415;p25"/>
            <p:cNvCxnSpPr/>
            <p:nvPr/>
          </p:nvCxnSpPr>
          <p:spPr>
            <a:xfrm>
              <a:off x="4669703" y="3404507"/>
              <a:ext cx="413100" cy="0"/>
            </a:xfrm>
            <a:prstGeom prst="straightConnector1">
              <a:avLst/>
            </a:prstGeom>
            <a:noFill/>
            <a:ln w="9525" cap="flat" cmpd="sng">
              <a:solidFill>
                <a:schemeClr val="dk2"/>
              </a:solidFill>
              <a:prstDash val="solid"/>
              <a:round/>
              <a:headEnd type="none" w="med" len="med"/>
              <a:tailEnd type="triangle" w="med" len="med"/>
            </a:ln>
          </p:spPr>
        </p:cxnSp>
        <p:cxnSp>
          <p:nvCxnSpPr>
            <p:cNvPr id="416" name="Google Shape;416;p25"/>
            <p:cNvCxnSpPr/>
            <p:nvPr/>
          </p:nvCxnSpPr>
          <p:spPr>
            <a:xfrm>
              <a:off x="4669703" y="3695700"/>
              <a:ext cx="413100" cy="0"/>
            </a:xfrm>
            <a:prstGeom prst="straightConnector1">
              <a:avLst/>
            </a:prstGeom>
            <a:noFill/>
            <a:ln w="9525" cap="flat" cmpd="sng">
              <a:solidFill>
                <a:schemeClr val="dk2"/>
              </a:solidFill>
              <a:prstDash val="solid"/>
              <a:round/>
              <a:headEnd type="none" w="med" len="med"/>
              <a:tailEnd type="triangle" w="med" len="med"/>
            </a:ln>
          </p:spPr>
        </p:cxnSp>
      </p:grpSp>
      <p:grpSp>
        <p:nvGrpSpPr>
          <p:cNvPr id="417" name="Google Shape;417;p25"/>
          <p:cNvGrpSpPr/>
          <p:nvPr/>
        </p:nvGrpSpPr>
        <p:grpSpPr>
          <a:xfrm>
            <a:off x="6732045" y="2003067"/>
            <a:ext cx="2763392" cy="3711888"/>
            <a:chOff x="4799650" y="1502300"/>
            <a:chExt cx="2072544" cy="2783916"/>
          </a:xfrm>
        </p:grpSpPr>
        <p:sp>
          <p:nvSpPr>
            <p:cNvPr id="418" name="Google Shape;418;p25"/>
            <p:cNvSpPr txBox="1"/>
            <p:nvPr/>
          </p:nvSpPr>
          <p:spPr>
            <a:xfrm>
              <a:off x="6103590" y="2139825"/>
              <a:ext cx="758100" cy="410700"/>
            </a:xfrm>
            <a:prstGeom prst="rect">
              <a:avLst/>
            </a:prstGeom>
            <a:noFill/>
            <a:ln>
              <a:noFill/>
            </a:ln>
          </p:spPr>
          <p:txBody>
            <a:bodyPr spcFirstLastPara="1" wrap="square" lIns="121900" tIns="121900" rIns="121900" bIns="121900" anchor="t" anchorCtr="0">
              <a:noAutofit/>
            </a:bodyPr>
            <a:lstStyle/>
            <a:p>
              <a:pPr defTabSz="1219170">
                <a:spcAft>
                  <a:spcPts val="533"/>
                </a:spcAft>
                <a:buClr>
                  <a:srgbClr val="000000"/>
                </a:buClr>
              </a:pPr>
              <a:r>
                <a:rPr lang="en" sz="2133" kern="0">
                  <a:solidFill>
                    <a:srgbClr val="F2F2F2"/>
                  </a:solidFill>
                  <a:latin typeface="Source Code Pro"/>
                  <a:ea typeface="Source Code Pro"/>
                  <a:cs typeface="Source Code Pro"/>
                  <a:sym typeface="Source Code Pro"/>
                </a:rPr>
                <a:t>BrEq</a:t>
              </a:r>
              <a:endParaRPr sz="2133" kern="0">
                <a:solidFill>
                  <a:srgbClr val="F2F2F2"/>
                </a:solidFill>
                <a:latin typeface="Source Code Pro"/>
                <a:ea typeface="Source Code Pro"/>
                <a:cs typeface="Source Code Pro"/>
                <a:sym typeface="Source Code Pro"/>
              </a:endParaRPr>
            </a:p>
          </p:txBody>
        </p:sp>
        <p:sp>
          <p:nvSpPr>
            <p:cNvPr id="419" name="Google Shape;419;p25"/>
            <p:cNvSpPr/>
            <p:nvPr/>
          </p:nvSpPr>
          <p:spPr>
            <a:xfrm>
              <a:off x="4799650" y="1502300"/>
              <a:ext cx="1354536" cy="2783916"/>
            </a:xfrm>
            <a:prstGeom prst="cloud">
              <a:avLst/>
            </a:prstGeom>
            <a:noFill/>
            <a:ln w="2857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Inter"/>
                <a:ea typeface="Inter"/>
                <a:cs typeface="Inter"/>
                <a:sym typeface="Inter"/>
              </a:endParaRPr>
            </a:p>
          </p:txBody>
        </p:sp>
        <p:sp>
          <p:nvSpPr>
            <p:cNvPr id="420" name="Google Shape;420;p25"/>
            <p:cNvSpPr txBox="1"/>
            <p:nvPr/>
          </p:nvSpPr>
          <p:spPr>
            <a:xfrm>
              <a:off x="4866200" y="2616225"/>
              <a:ext cx="1226700" cy="461635"/>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 sz="2400" kern="0">
                  <a:solidFill>
                    <a:srgbClr val="9FD1FF"/>
                  </a:solidFill>
                  <a:latin typeface="Inter"/>
                  <a:ea typeface="Inter"/>
                  <a:cs typeface="Inter"/>
                  <a:sym typeface="Inter"/>
                </a:rPr>
                <a:t>Datapath</a:t>
              </a:r>
              <a:endParaRPr sz="2400" kern="0">
                <a:solidFill>
                  <a:srgbClr val="9FD1FF"/>
                </a:solidFill>
                <a:latin typeface="Inter"/>
                <a:ea typeface="Inter"/>
                <a:cs typeface="Inter"/>
                <a:sym typeface="Inter"/>
              </a:endParaRPr>
            </a:p>
          </p:txBody>
        </p:sp>
        <p:cxnSp>
          <p:nvCxnSpPr>
            <p:cNvPr id="421" name="Google Shape;421;p25"/>
            <p:cNvCxnSpPr/>
            <p:nvPr/>
          </p:nvCxnSpPr>
          <p:spPr>
            <a:xfrm>
              <a:off x="6146794" y="2571750"/>
              <a:ext cx="725400" cy="0"/>
            </a:xfrm>
            <a:prstGeom prst="straightConnector1">
              <a:avLst/>
            </a:prstGeom>
            <a:noFill/>
            <a:ln w="28575" cap="flat" cmpd="sng">
              <a:solidFill>
                <a:schemeClr val="dk1"/>
              </a:solidFill>
              <a:prstDash val="solid"/>
              <a:round/>
              <a:headEnd type="none" w="med" len="med"/>
              <a:tailEnd type="triangle" w="med" len="med"/>
            </a:ln>
          </p:spPr>
        </p:cxnSp>
        <p:sp>
          <p:nvSpPr>
            <p:cNvPr id="422" name="Google Shape;422;p25"/>
            <p:cNvSpPr txBox="1"/>
            <p:nvPr/>
          </p:nvSpPr>
          <p:spPr>
            <a:xfrm>
              <a:off x="6103590" y="2673225"/>
              <a:ext cx="758100" cy="410700"/>
            </a:xfrm>
            <a:prstGeom prst="rect">
              <a:avLst/>
            </a:prstGeom>
            <a:noFill/>
            <a:ln>
              <a:noFill/>
            </a:ln>
          </p:spPr>
          <p:txBody>
            <a:bodyPr spcFirstLastPara="1" wrap="square" lIns="121900" tIns="121900" rIns="121900" bIns="121900" anchor="t" anchorCtr="0">
              <a:noAutofit/>
            </a:bodyPr>
            <a:lstStyle/>
            <a:p>
              <a:pPr defTabSz="1219170">
                <a:spcAft>
                  <a:spcPts val="533"/>
                </a:spcAft>
                <a:buClr>
                  <a:srgbClr val="000000"/>
                </a:buClr>
              </a:pPr>
              <a:r>
                <a:rPr lang="en" sz="2133" kern="0">
                  <a:solidFill>
                    <a:srgbClr val="F2F2F2"/>
                  </a:solidFill>
                  <a:latin typeface="Source Code Pro"/>
                  <a:ea typeface="Source Code Pro"/>
                  <a:cs typeface="Source Code Pro"/>
                  <a:sym typeface="Source Code Pro"/>
                </a:rPr>
                <a:t>BrLT</a:t>
              </a:r>
              <a:endParaRPr sz="2133" kern="0">
                <a:solidFill>
                  <a:srgbClr val="F2F2F2"/>
                </a:solidFill>
                <a:latin typeface="Source Code Pro"/>
                <a:ea typeface="Source Code Pro"/>
                <a:cs typeface="Source Code Pro"/>
                <a:sym typeface="Source Code Pro"/>
              </a:endParaRPr>
            </a:p>
          </p:txBody>
        </p:sp>
        <p:cxnSp>
          <p:nvCxnSpPr>
            <p:cNvPr id="423" name="Google Shape;423;p25"/>
            <p:cNvCxnSpPr/>
            <p:nvPr/>
          </p:nvCxnSpPr>
          <p:spPr>
            <a:xfrm>
              <a:off x="6146794" y="3105150"/>
              <a:ext cx="725400" cy="0"/>
            </a:xfrm>
            <a:prstGeom prst="straightConnector1">
              <a:avLst/>
            </a:prstGeom>
            <a:noFill/>
            <a:ln w="28575" cap="flat" cmpd="sng">
              <a:solidFill>
                <a:schemeClr val="dk1"/>
              </a:solidFill>
              <a:prstDash val="solid"/>
              <a:round/>
              <a:headEnd type="none" w="med" len="med"/>
              <a:tailEnd type="triangle" w="med" len="med"/>
            </a:ln>
          </p:spPr>
        </p:cxnSp>
      </p:grpSp>
      <p:grpSp>
        <p:nvGrpSpPr>
          <p:cNvPr id="424" name="Google Shape;424;p25"/>
          <p:cNvGrpSpPr/>
          <p:nvPr/>
        </p:nvGrpSpPr>
        <p:grpSpPr>
          <a:xfrm>
            <a:off x="442933" y="1062834"/>
            <a:ext cx="2319552" cy="763632"/>
            <a:chOff x="332200" y="797125"/>
            <a:chExt cx="1739664" cy="572724"/>
          </a:xfrm>
        </p:grpSpPr>
        <p:sp>
          <p:nvSpPr>
            <p:cNvPr id="425" name="Google Shape;425;p25"/>
            <p:cNvSpPr/>
            <p:nvPr/>
          </p:nvSpPr>
          <p:spPr>
            <a:xfrm>
              <a:off x="332200" y="797125"/>
              <a:ext cx="1739664" cy="572724"/>
            </a:xfrm>
            <a:prstGeom prst="cloud">
              <a:avLst/>
            </a:prstGeom>
            <a:noFill/>
            <a:ln w="2857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Inter"/>
                <a:ea typeface="Inter"/>
                <a:cs typeface="Inter"/>
                <a:sym typeface="Inter"/>
              </a:endParaRPr>
            </a:p>
          </p:txBody>
        </p:sp>
        <p:sp>
          <p:nvSpPr>
            <p:cNvPr id="426" name="Google Shape;426;p25"/>
            <p:cNvSpPr txBox="1"/>
            <p:nvPr/>
          </p:nvSpPr>
          <p:spPr>
            <a:xfrm>
              <a:off x="570318" y="842993"/>
              <a:ext cx="1226700" cy="461635"/>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 sz="2400" kern="0">
                  <a:solidFill>
                    <a:srgbClr val="9FD1FF"/>
                  </a:solidFill>
                  <a:latin typeface="Inter"/>
                  <a:ea typeface="Inter"/>
                  <a:cs typeface="Inter"/>
                  <a:sym typeface="Inter"/>
                </a:rPr>
                <a:t>Datapath</a:t>
              </a:r>
              <a:endParaRPr sz="2400" kern="0">
                <a:solidFill>
                  <a:srgbClr val="9FD1FF"/>
                </a:solidFill>
                <a:latin typeface="Inter"/>
                <a:ea typeface="Inter"/>
                <a:cs typeface="Inter"/>
                <a:sym typeface="Inter"/>
              </a:endParaRPr>
            </a:p>
          </p:txBody>
        </p:sp>
      </p:grpSp>
      <p:sp>
        <p:nvSpPr>
          <p:cNvPr id="427" name="Google Shape;427;p25"/>
          <p:cNvSpPr/>
          <p:nvPr/>
        </p:nvSpPr>
        <p:spPr>
          <a:xfrm rot="5400000">
            <a:off x="3180633" y="3004348"/>
            <a:ext cx="215600" cy="5691200"/>
          </a:xfrm>
          <a:prstGeom prst="rightBrace">
            <a:avLst>
              <a:gd name="adj1" fmla="val 50000"/>
              <a:gd name="adj2" fmla="val 50000"/>
            </a:avLst>
          </a:prstGeom>
          <a:no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Inter"/>
              <a:ea typeface="Inter"/>
              <a:cs typeface="Inter"/>
              <a:sym typeface="Inter"/>
            </a:endParaRPr>
          </a:p>
        </p:txBody>
      </p:sp>
      <p:sp>
        <p:nvSpPr>
          <p:cNvPr id="428" name="Google Shape;428;p25"/>
          <p:cNvSpPr txBox="1"/>
          <p:nvPr/>
        </p:nvSpPr>
        <p:spPr>
          <a:xfrm>
            <a:off x="1333233" y="5837114"/>
            <a:ext cx="3910400" cy="5336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2400" kern="0" dirty="0">
                <a:solidFill>
                  <a:srgbClr val="B3E59A"/>
                </a:solidFill>
                <a:latin typeface="Inter"/>
                <a:ea typeface="Inter"/>
                <a:cs typeface="Inter"/>
                <a:sym typeface="Inter"/>
              </a:rPr>
              <a:t>Control Logic Part 1</a:t>
            </a:r>
            <a:endParaRPr sz="2400" kern="0" dirty="0">
              <a:solidFill>
                <a:srgbClr val="B3E59A"/>
              </a:solidFill>
              <a:latin typeface="Inter"/>
              <a:ea typeface="Inter"/>
              <a:cs typeface="Inter"/>
              <a:sym typeface="Inter"/>
            </a:endParaRPr>
          </a:p>
        </p:txBody>
      </p:sp>
      <p:grpSp>
        <p:nvGrpSpPr>
          <p:cNvPr id="429" name="Google Shape;429;p25"/>
          <p:cNvGrpSpPr/>
          <p:nvPr/>
        </p:nvGrpSpPr>
        <p:grpSpPr>
          <a:xfrm>
            <a:off x="9528911" y="2950301"/>
            <a:ext cx="2663089" cy="1643200"/>
            <a:chOff x="6897300" y="2212725"/>
            <a:chExt cx="1997317" cy="1232400"/>
          </a:xfrm>
        </p:grpSpPr>
        <p:sp>
          <p:nvSpPr>
            <p:cNvPr id="430" name="Google Shape;430;p25"/>
            <p:cNvSpPr/>
            <p:nvPr/>
          </p:nvSpPr>
          <p:spPr>
            <a:xfrm>
              <a:off x="6897300" y="2212725"/>
              <a:ext cx="962700" cy="1232400"/>
            </a:xfrm>
            <a:prstGeom prst="rect">
              <a:avLst/>
            </a:prstGeom>
            <a:noFill/>
            <a:ln w="2857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r>
                <a:rPr lang="en" sz="2400" kern="0">
                  <a:solidFill>
                    <a:srgbClr val="F2F2F2"/>
                  </a:solidFill>
                  <a:latin typeface="Inter"/>
                  <a:ea typeface="Inter"/>
                  <a:cs typeface="Inter"/>
                  <a:sym typeface="Inter"/>
                </a:rPr>
                <a:t>Take branch?</a:t>
              </a:r>
              <a:endParaRPr sz="2400" kern="0">
                <a:solidFill>
                  <a:srgbClr val="F2F2F2"/>
                </a:solidFill>
                <a:latin typeface="Inter"/>
                <a:ea typeface="Inter"/>
                <a:cs typeface="Inter"/>
                <a:sym typeface="Inter"/>
              </a:endParaRPr>
            </a:p>
          </p:txBody>
        </p:sp>
        <p:cxnSp>
          <p:nvCxnSpPr>
            <p:cNvPr id="431" name="Google Shape;431;p25"/>
            <p:cNvCxnSpPr>
              <a:cxnSpLocks/>
              <a:stCxn id="430" idx="3"/>
              <a:endCxn id="432" idx="1"/>
            </p:cNvCxnSpPr>
            <p:nvPr/>
          </p:nvCxnSpPr>
          <p:spPr>
            <a:xfrm>
              <a:off x="7860000" y="2828925"/>
              <a:ext cx="393358" cy="40"/>
            </a:xfrm>
            <a:prstGeom prst="straightConnector1">
              <a:avLst/>
            </a:prstGeom>
            <a:noFill/>
            <a:ln w="9525" cap="flat" cmpd="sng">
              <a:solidFill>
                <a:schemeClr val="dk2"/>
              </a:solidFill>
              <a:prstDash val="solid"/>
              <a:round/>
              <a:headEnd type="none" w="med" len="med"/>
              <a:tailEnd type="triangle" w="med" len="med"/>
            </a:ln>
          </p:spPr>
        </p:cxnSp>
        <p:sp>
          <p:nvSpPr>
            <p:cNvPr id="432" name="Google Shape;432;p25"/>
            <p:cNvSpPr txBox="1"/>
            <p:nvPr/>
          </p:nvSpPr>
          <p:spPr>
            <a:xfrm>
              <a:off x="8253358" y="2628865"/>
              <a:ext cx="641259" cy="400200"/>
            </a:xfrm>
            <a:prstGeom prst="rect">
              <a:avLst/>
            </a:prstGeom>
            <a:noFill/>
            <a:ln>
              <a:noFill/>
            </a:ln>
          </p:spPr>
          <p:txBody>
            <a:bodyPr spcFirstLastPara="1" wrap="square" lIns="121900" tIns="121900" rIns="121900" bIns="121900" anchor="t" anchorCtr="0">
              <a:noAutofit/>
            </a:bodyPr>
            <a:lstStyle/>
            <a:p>
              <a:pPr defTabSz="1219170">
                <a:spcAft>
                  <a:spcPts val="533"/>
                </a:spcAft>
                <a:buClr>
                  <a:srgbClr val="000000"/>
                </a:buClr>
              </a:pPr>
              <a:r>
                <a:rPr lang="en" sz="2133" kern="0" dirty="0" err="1">
                  <a:solidFill>
                    <a:srgbClr val="F2F2F2"/>
                  </a:solidFill>
                  <a:latin typeface="Inter"/>
                  <a:ea typeface="Inter"/>
                  <a:cs typeface="Inter"/>
                  <a:sym typeface="Inter"/>
                </a:rPr>
                <a:t>PCSel</a:t>
              </a:r>
              <a:endParaRPr sz="2133" kern="0" dirty="0">
                <a:solidFill>
                  <a:srgbClr val="F2F2F2"/>
                </a:solidFill>
                <a:latin typeface="Inter"/>
                <a:ea typeface="Inter"/>
                <a:cs typeface="Inter"/>
                <a:sym typeface="Inter"/>
              </a:endParaRPr>
            </a:p>
          </p:txBody>
        </p:sp>
      </p:grpSp>
      <p:sp>
        <p:nvSpPr>
          <p:cNvPr id="4" name="Google Shape;433;p25">
            <a:extLst>
              <a:ext uri="{FF2B5EF4-FFF2-40B4-BE49-F238E27FC236}">
                <a16:creationId xmlns:a16="http://schemas.microsoft.com/office/drawing/2014/main" id="{D680EC4C-0082-5A07-7CC3-2ED78DC9CCF7}"/>
              </a:ext>
            </a:extLst>
          </p:cNvPr>
          <p:cNvSpPr/>
          <p:nvPr/>
        </p:nvSpPr>
        <p:spPr>
          <a:xfrm rot="5400000">
            <a:off x="9906333" y="3853249"/>
            <a:ext cx="215600" cy="3752000"/>
          </a:xfrm>
          <a:prstGeom prst="rightBrace">
            <a:avLst>
              <a:gd name="adj1" fmla="val 50000"/>
              <a:gd name="adj2" fmla="val 50000"/>
            </a:avLst>
          </a:prstGeom>
          <a:noFill/>
          <a:ln w="28575" cap="flat" cmpd="sng">
            <a:solidFill>
              <a:schemeClr val="accent3"/>
            </a:solidFill>
            <a:prstDash val="solid"/>
            <a:round/>
            <a:headEnd type="none" w="sm" len="sm"/>
            <a:tailEnd type="none" w="sm" len="sm"/>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Inter"/>
              <a:ea typeface="Inter"/>
              <a:cs typeface="Inter"/>
              <a:sym typeface="Inter"/>
            </a:endParaRPr>
          </a:p>
        </p:txBody>
      </p:sp>
      <p:sp>
        <p:nvSpPr>
          <p:cNvPr id="5" name="Google Shape;434;p25">
            <a:extLst>
              <a:ext uri="{FF2B5EF4-FFF2-40B4-BE49-F238E27FC236}">
                <a16:creationId xmlns:a16="http://schemas.microsoft.com/office/drawing/2014/main" id="{C21D1C32-9AFA-4C1A-9898-36D2409E5BB9}"/>
              </a:ext>
            </a:extLst>
          </p:cNvPr>
          <p:cNvSpPr txBox="1"/>
          <p:nvPr/>
        </p:nvSpPr>
        <p:spPr>
          <a:xfrm>
            <a:off x="7979733" y="5754549"/>
            <a:ext cx="3910400" cy="533600"/>
          </a:xfrm>
          <a:prstGeom prst="rect">
            <a:avLst/>
          </a:prstGeom>
          <a:noFill/>
          <a:ln>
            <a:noFill/>
          </a:ln>
        </p:spPr>
        <p:txBody>
          <a:bodyPr spcFirstLastPara="1" wrap="square" lIns="121900" tIns="121900" rIns="121900" bIns="121900" anchor="t" anchorCtr="0">
            <a:noAutofit/>
          </a:bodyPr>
          <a:lstStyle/>
          <a:p>
            <a:pPr algn="ctr" defTabSz="1219170">
              <a:buClr>
                <a:srgbClr val="000000"/>
              </a:buClr>
            </a:pPr>
            <a:r>
              <a:rPr lang="en" sz="2400" kern="0">
                <a:solidFill>
                  <a:srgbClr val="B3E59A"/>
                </a:solidFill>
                <a:latin typeface="Inter"/>
                <a:ea typeface="Inter"/>
                <a:cs typeface="Inter"/>
                <a:sym typeface="Inter"/>
              </a:rPr>
              <a:t>Control Logic Part 2</a:t>
            </a:r>
            <a:endParaRPr sz="2400" kern="0">
              <a:solidFill>
                <a:srgbClr val="B3E59A"/>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Group 106">
            <a:extLst>
              <a:ext uri="{FF2B5EF4-FFF2-40B4-BE49-F238E27FC236}">
                <a16:creationId xmlns:a16="http://schemas.microsoft.com/office/drawing/2014/main" id="{97FA9478-B251-6C6A-A31A-2DD881850CEC}"/>
              </a:ext>
            </a:extLst>
          </p:cNvPr>
          <p:cNvGrpSpPr/>
          <p:nvPr/>
        </p:nvGrpSpPr>
        <p:grpSpPr>
          <a:xfrm>
            <a:off x="2328652" y="2599699"/>
            <a:ext cx="6011212" cy="228601"/>
            <a:chOff x="1056778" y="4629150"/>
            <a:chExt cx="7020422" cy="228601"/>
          </a:xfrm>
          <a:effectLst/>
        </p:grpSpPr>
        <p:cxnSp>
          <p:nvCxnSpPr>
            <p:cNvPr id="108" name="Straight Connector 107">
              <a:extLst>
                <a:ext uri="{FF2B5EF4-FFF2-40B4-BE49-F238E27FC236}">
                  <a16:creationId xmlns:a16="http://schemas.microsoft.com/office/drawing/2014/main" id="{73DFA83C-FD90-8A47-EBC2-8C330F13A070}"/>
                </a:ext>
              </a:extLst>
            </p:cNvPr>
            <p:cNvCxnSpPr/>
            <p:nvPr/>
          </p:nvCxnSpPr>
          <p:spPr>
            <a:xfrm>
              <a:off x="1066800" y="4857750"/>
              <a:ext cx="7010400" cy="1"/>
            </a:xfrm>
            <a:prstGeom prst="line">
              <a:avLst/>
            </a:prstGeom>
            <a:noFill/>
            <a:ln w="28575" cap="rnd" cmpd="sng" algn="ctr">
              <a:solidFill>
                <a:sysClr val="window" lastClr="FFFFFF"/>
              </a:solidFill>
              <a:prstDash val="solid"/>
            </a:ln>
            <a:effectLst/>
          </p:spPr>
        </p:cxnSp>
        <p:cxnSp>
          <p:nvCxnSpPr>
            <p:cNvPr id="109" name="Straight Connector 108">
              <a:extLst>
                <a:ext uri="{FF2B5EF4-FFF2-40B4-BE49-F238E27FC236}">
                  <a16:creationId xmlns:a16="http://schemas.microsoft.com/office/drawing/2014/main" id="{183F1218-732C-C89A-42F0-B9E0B3B9522D}"/>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10" name="Straight Connector 109">
              <a:extLst>
                <a:ext uri="{FF2B5EF4-FFF2-40B4-BE49-F238E27FC236}">
                  <a16:creationId xmlns:a16="http://schemas.microsoft.com/office/drawing/2014/main" id="{5DBC0F2F-133E-5D96-A306-4A96C5D328EE}"/>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cxnSp>
          <p:nvCxnSpPr>
            <p:cNvPr id="111" name="Straight Connector 110">
              <a:extLst>
                <a:ext uri="{FF2B5EF4-FFF2-40B4-BE49-F238E27FC236}">
                  <a16:creationId xmlns:a16="http://schemas.microsoft.com/office/drawing/2014/main" id="{DC227234-BB23-A4A2-0630-C4C6EE6C4FC5}"/>
                </a:ext>
              </a:extLst>
            </p:cNvPr>
            <p:cNvCxnSpPr/>
            <p:nvPr/>
          </p:nvCxnSpPr>
          <p:spPr>
            <a:xfrm flipV="1">
              <a:off x="7467600" y="4629150"/>
              <a:ext cx="152400" cy="228600"/>
            </a:xfrm>
            <a:prstGeom prst="line">
              <a:avLst/>
            </a:prstGeom>
            <a:noFill/>
            <a:ln w="28575" cap="rnd" cmpd="sng" algn="ctr">
              <a:solidFill>
                <a:sysClr val="window" lastClr="FFFFFF"/>
              </a:solidFill>
              <a:prstDash val="solid"/>
            </a:ln>
            <a:effectLst/>
          </p:spPr>
        </p:cxnSp>
        <p:sp>
          <p:nvSpPr>
            <p:cNvPr id="112" name="TextBox 111">
              <a:extLst>
                <a:ext uri="{FF2B5EF4-FFF2-40B4-BE49-F238E27FC236}">
                  <a16:creationId xmlns:a16="http://schemas.microsoft.com/office/drawing/2014/main" id="{BD688362-010E-55F7-E6AA-73444C320C95}"/>
                </a:ext>
              </a:extLst>
            </p:cNvPr>
            <p:cNvSpPr txBox="1"/>
            <p:nvPr/>
          </p:nvSpPr>
          <p:spPr>
            <a:xfrm>
              <a:off x="3262272" y="4629150"/>
              <a:ext cx="4343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1000</a:t>
              </a:r>
            </a:p>
          </p:txBody>
        </p:sp>
        <p:cxnSp>
          <p:nvCxnSpPr>
            <p:cNvPr id="113" name="Straight Connector 112">
              <a:extLst>
                <a:ext uri="{FF2B5EF4-FFF2-40B4-BE49-F238E27FC236}">
                  <a16:creationId xmlns:a16="http://schemas.microsoft.com/office/drawing/2014/main" id="{1C8E5170-DCD7-3C65-D852-86ACD2735935}"/>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14" name="Straight Connector 113">
              <a:extLst>
                <a:ext uri="{FF2B5EF4-FFF2-40B4-BE49-F238E27FC236}">
                  <a16:creationId xmlns:a16="http://schemas.microsoft.com/office/drawing/2014/main" id="{6EB34F7A-0AC4-9790-26E8-F4D52052EA1E}"/>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15" name="Straight Connector 114">
              <a:extLst>
                <a:ext uri="{FF2B5EF4-FFF2-40B4-BE49-F238E27FC236}">
                  <a16:creationId xmlns:a16="http://schemas.microsoft.com/office/drawing/2014/main" id="{F89B36C4-6667-6DB5-0BA3-0A033E90C491}"/>
                </a:ext>
              </a:extLst>
            </p:cNvPr>
            <p:cNvCxnSpPr/>
            <p:nvPr/>
          </p:nvCxnSpPr>
          <p:spPr>
            <a:xfrm flipH="1" flipV="1">
              <a:off x="7467600" y="4629150"/>
              <a:ext cx="152400" cy="228600"/>
            </a:xfrm>
            <a:prstGeom prst="line">
              <a:avLst/>
            </a:prstGeom>
            <a:noFill/>
            <a:ln w="28575" cap="rnd" cmpd="sng" algn="ctr">
              <a:solidFill>
                <a:sysClr val="window" lastClr="FFFFFF"/>
              </a:solidFill>
              <a:prstDash val="solid"/>
            </a:ln>
            <a:effectLst/>
          </p:spPr>
        </p:cxnSp>
        <p:cxnSp>
          <p:nvCxnSpPr>
            <p:cNvPr id="116" name="Straight Connector 115">
              <a:extLst>
                <a:ext uri="{FF2B5EF4-FFF2-40B4-BE49-F238E27FC236}">
                  <a16:creationId xmlns:a16="http://schemas.microsoft.com/office/drawing/2014/main" id="{58E3D649-7A3B-4FAB-9C97-822B73B95C26}"/>
                </a:ext>
              </a:extLst>
            </p:cNvPr>
            <p:cNvCxnSpPr/>
            <p:nvPr/>
          </p:nvCxnSpPr>
          <p:spPr>
            <a:xfrm>
              <a:off x="1066800" y="4629150"/>
              <a:ext cx="7010400" cy="1"/>
            </a:xfrm>
            <a:prstGeom prst="line">
              <a:avLst/>
            </a:prstGeom>
            <a:noFill/>
            <a:ln w="28575" cap="rnd" cmpd="sng" algn="ctr">
              <a:solidFill>
                <a:sysClr val="window" lastClr="FFFFFF"/>
              </a:solidFill>
              <a:prstDash val="solid"/>
            </a:ln>
            <a:effectLst/>
          </p:spPr>
        </p:cxnSp>
        <p:sp>
          <p:nvSpPr>
            <p:cNvPr id="117" name="TextBox 116">
              <a:extLst>
                <a:ext uri="{FF2B5EF4-FFF2-40B4-BE49-F238E27FC236}">
                  <a16:creationId xmlns:a16="http://schemas.microsoft.com/office/drawing/2014/main" id="{53B59C51-F89C-5E0B-40C2-7025E5C7B43F}"/>
                </a:ext>
              </a:extLst>
            </p:cNvPr>
            <p:cNvSpPr txBox="1"/>
            <p:nvPr/>
          </p:nvSpPr>
          <p:spPr>
            <a:xfrm>
              <a:off x="5167273" y="4629150"/>
              <a:ext cx="4343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1004</a:t>
              </a:r>
            </a:p>
          </p:txBody>
        </p:sp>
        <p:sp>
          <p:nvSpPr>
            <p:cNvPr id="118" name="TextBox 117">
              <a:extLst>
                <a:ext uri="{FF2B5EF4-FFF2-40B4-BE49-F238E27FC236}">
                  <a16:creationId xmlns:a16="http://schemas.microsoft.com/office/drawing/2014/main" id="{A41DF89C-BB19-63E8-3A65-7D0C2ED070F1}"/>
                </a:ext>
              </a:extLst>
            </p:cNvPr>
            <p:cNvSpPr txBox="1"/>
            <p:nvPr/>
          </p:nvSpPr>
          <p:spPr>
            <a:xfrm>
              <a:off x="1056778" y="4657819"/>
              <a:ext cx="217166"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PC</a:t>
              </a:r>
            </a:p>
          </p:txBody>
        </p:sp>
      </p:grpSp>
      <p:grpSp>
        <p:nvGrpSpPr>
          <p:cNvPr id="119" name="Group 118">
            <a:extLst>
              <a:ext uri="{FF2B5EF4-FFF2-40B4-BE49-F238E27FC236}">
                <a16:creationId xmlns:a16="http://schemas.microsoft.com/office/drawing/2014/main" id="{1CE85275-2EB3-2B41-73DC-B1C4B4F088A5}"/>
              </a:ext>
            </a:extLst>
          </p:cNvPr>
          <p:cNvGrpSpPr/>
          <p:nvPr/>
        </p:nvGrpSpPr>
        <p:grpSpPr>
          <a:xfrm>
            <a:off x="2295103" y="2904499"/>
            <a:ext cx="6273360" cy="228600"/>
            <a:chOff x="522017" y="4629150"/>
            <a:chExt cx="7326583" cy="228600"/>
          </a:xfrm>
          <a:effectLst/>
        </p:grpSpPr>
        <p:cxnSp>
          <p:nvCxnSpPr>
            <p:cNvPr id="120" name="Straight Connector 119">
              <a:extLst>
                <a:ext uri="{FF2B5EF4-FFF2-40B4-BE49-F238E27FC236}">
                  <a16:creationId xmlns:a16="http://schemas.microsoft.com/office/drawing/2014/main" id="{076E1337-AB89-FAE8-3D12-3FC41D8DDF19}"/>
                </a:ext>
              </a:extLst>
            </p:cNvPr>
            <p:cNvCxnSpPr/>
            <p:nvPr/>
          </p:nvCxnSpPr>
          <p:spPr>
            <a:xfrm>
              <a:off x="1066800" y="4857750"/>
              <a:ext cx="6781800" cy="0"/>
            </a:xfrm>
            <a:prstGeom prst="line">
              <a:avLst/>
            </a:prstGeom>
            <a:noFill/>
            <a:ln w="28575" cap="rnd" cmpd="sng" algn="ctr">
              <a:solidFill>
                <a:sysClr val="window" lastClr="FFFFFF"/>
              </a:solidFill>
              <a:prstDash val="solid"/>
            </a:ln>
            <a:effectLst/>
          </p:spPr>
        </p:cxnSp>
        <p:cxnSp>
          <p:nvCxnSpPr>
            <p:cNvPr id="121" name="Straight Connector 120">
              <a:extLst>
                <a:ext uri="{FF2B5EF4-FFF2-40B4-BE49-F238E27FC236}">
                  <a16:creationId xmlns:a16="http://schemas.microsoft.com/office/drawing/2014/main" id="{81FEC131-D93F-95ED-3514-F052EF8C1A04}"/>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22" name="Straight Connector 121">
              <a:extLst>
                <a:ext uri="{FF2B5EF4-FFF2-40B4-BE49-F238E27FC236}">
                  <a16:creationId xmlns:a16="http://schemas.microsoft.com/office/drawing/2014/main" id="{87C5DF4A-796A-7C79-F7F2-BBC10D0BB0AD}"/>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cxnSp>
          <p:nvCxnSpPr>
            <p:cNvPr id="123" name="Straight Connector 122">
              <a:extLst>
                <a:ext uri="{FF2B5EF4-FFF2-40B4-BE49-F238E27FC236}">
                  <a16:creationId xmlns:a16="http://schemas.microsoft.com/office/drawing/2014/main" id="{53ADD1CC-9C21-6D0E-3785-ABE755E4BB90}"/>
                </a:ext>
              </a:extLst>
            </p:cNvPr>
            <p:cNvCxnSpPr/>
            <p:nvPr/>
          </p:nvCxnSpPr>
          <p:spPr>
            <a:xfrm flipV="1">
              <a:off x="7467600" y="4629150"/>
              <a:ext cx="152400" cy="228600"/>
            </a:xfrm>
            <a:prstGeom prst="line">
              <a:avLst/>
            </a:prstGeom>
            <a:noFill/>
            <a:ln w="28575" cap="rnd" cmpd="sng" algn="ctr">
              <a:solidFill>
                <a:sysClr val="window" lastClr="FFFFFF"/>
              </a:solidFill>
              <a:prstDash val="solid"/>
            </a:ln>
            <a:effectLst/>
          </p:spPr>
        </p:cxnSp>
        <p:sp>
          <p:nvSpPr>
            <p:cNvPr id="124" name="TextBox 123">
              <a:extLst>
                <a:ext uri="{FF2B5EF4-FFF2-40B4-BE49-F238E27FC236}">
                  <a16:creationId xmlns:a16="http://schemas.microsoft.com/office/drawing/2014/main" id="{B9F14F2A-DAD6-F2CE-A6F3-56D001917C0C}"/>
                </a:ext>
              </a:extLst>
            </p:cNvPr>
            <p:cNvSpPr txBox="1"/>
            <p:nvPr/>
          </p:nvSpPr>
          <p:spPr>
            <a:xfrm>
              <a:off x="3102689" y="4629150"/>
              <a:ext cx="4343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1004</a:t>
              </a:r>
            </a:p>
          </p:txBody>
        </p:sp>
        <p:cxnSp>
          <p:nvCxnSpPr>
            <p:cNvPr id="125" name="Straight Connector 124">
              <a:extLst>
                <a:ext uri="{FF2B5EF4-FFF2-40B4-BE49-F238E27FC236}">
                  <a16:creationId xmlns:a16="http://schemas.microsoft.com/office/drawing/2014/main" id="{267D793F-C765-8CEC-E8E7-C436F23525A4}"/>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26" name="Straight Connector 125">
              <a:extLst>
                <a:ext uri="{FF2B5EF4-FFF2-40B4-BE49-F238E27FC236}">
                  <a16:creationId xmlns:a16="http://schemas.microsoft.com/office/drawing/2014/main" id="{8CB095D4-0E34-2778-3595-FE5C9094F13E}"/>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27" name="Straight Connector 126">
              <a:extLst>
                <a:ext uri="{FF2B5EF4-FFF2-40B4-BE49-F238E27FC236}">
                  <a16:creationId xmlns:a16="http://schemas.microsoft.com/office/drawing/2014/main" id="{61C0D4C9-C2A3-FBE9-5818-77EB1EA688F0}"/>
                </a:ext>
              </a:extLst>
            </p:cNvPr>
            <p:cNvCxnSpPr/>
            <p:nvPr/>
          </p:nvCxnSpPr>
          <p:spPr>
            <a:xfrm flipH="1" flipV="1">
              <a:off x="7467600" y="4629150"/>
              <a:ext cx="152400" cy="228600"/>
            </a:xfrm>
            <a:prstGeom prst="line">
              <a:avLst/>
            </a:prstGeom>
            <a:noFill/>
            <a:ln w="28575" cap="rnd" cmpd="sng" algn="ctr">
              <a:solidFill>
                <a:sysClr val="window" lastClr="FFFFFF"/>
              </a:solidFill>
              <a:prstDash val="solid"/>
            </a:ln>
            <a:effectLst/>
          </p:spPr>
        </p:cxnSp>
        <p:cxnSp>
          <p:nvCxnSpPr>
            <p:cNvPr id="128" name="Straight Connector 127">
              <a:extLst>
                <a:ext uri="{FF2B5EF4-FFF2-40B4-BE49-F238E27FC236}">
                  <a16:creationId xmlns:a16="http://schemas.microsoft.com/office/drawing/2014/main" id="{B1FBCC04-6EFB-2DD1-5F64-6FE6D1A754FD}"/>
                </a:ext>
              </a:extLst>
            </p:cNvPr>
            <p:cNvCxnSpPr/>
            <p:nvPr/>
          </p:nvCxnSpPr>
          <p:spPr>
            <a:xfrm>
              <a:off x="1066800" y="4629150"/>
              <a:ext cx="6781800" cy="0"/>
            </a:xfrm>
            <a:prstGeom prst="line">
              <a:avLst/>
            </a:prstGeom>
            <a:noFill/>
            <a:ln w="28575" cap="rnd" cmpd="sng" algn="ctr">
              <a:solidFill>
                <a:sysClr val="window" lastClr="FFFFFF"/>
              </a:solidFill>
              <a:prstDash val="solid"/>
            </a:ln>
            <a:effectLst/>
          </p:spPr>
        </p:cxnSp>
        <p:sp>
          <p:nvSpPr>
            <p:cNvPr id="129" name="TextBox 128">
              <a:extLst>
                <a:ext uri="{FF2B5EF4-FFF2-40B4-BE49-F238E27FC236}">
                  <a16:creationId xmlns:a16="http://schemas.microsoft.com/office/drawing/2014/main" id="{994E7FB0-742C-70A7-5A6F-0CE395BC4B2E}"/>
                </a:ext>
              </a:extLst>
            </p:cNvPr>
            <p:cNvSpPr txBox="1"/>
            <p:nvPr/>
          </p:nvSpPr>
          <p:spPr>
            <a:xfrm>
              <a:off x="5548273" y="4629150"/>
              <a:ext cx="4343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1008</a:t>
              </a:r>
            </a:p>
          </p:txBody>
        </p:sp>
        <p:sp>
          <p:nvSpPr>
            <p:cNvPr id="130" name="TextBox 129">
              <a:extLst>
                <a:ext uri="{FF2B5EF4-FFF2-40B4-BE49-F238E27FC236}">
                  <a16:creationId xmlns:a16="http://schemas.microsoft.com/office/drawing/2014/main" id="{6249AEFD-CB14-E202-7892-35D24693FB41}"/>
                </a:ext>
              </a:extLst>
            </p:cNvPr>
            <p:cNvSpPr txBox="1"/>
            <p:nvPr/>
          </p:nvSpPr>
          <p:spPr>
            <a:xfrm>
              <a:off x="522017" y="4666515"/>
              <a:ext cx="4343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PC+4</a:t>
              </a:r>
            </a:p>
          </p:txBody>
        </p:sp>
      </p:grpSp>
      <p:grpSp>
        <p:nvGrpSpPr>
          <p:cNvPr id="131" name="Group 130">
            <a:extLst>
              <a:ext uri="{FF2B5EF4-FFF2-40B4-BE49-F238E27FC236}">
                <a16:creationId xmlns:a16="http://schemas.microsoft.com/office/drawing/2014/main" id="{FD6B5F34-E342-E8F6-A03A-31DEAE125149}"/>
              </a:ext>
            </a:extLst>
          </p:cNvPr>
          <p:cNvGrpSpPr/>
          <p:nvPr/>
        </p:nvGrpSpPr>
        <p:grpSpPr>
          <a:xfrm>
            <a:off x="2346858" y="3209299"/>
            <a:ext cx="6263742" cy="228600"/>
            <a:chOff x="533251" y="4629150"/>
            <a:chExt cx="7315349" cy="228600"/>
          </a:xfrm>
          <a:effectLst/>
        </p:grpSpPr>
        <p:cxnSp>
          <p:nvCxnSpPr>
            <p:cNvPr id="132" name="Straight Connector 131">
              <a:extLst>
                <a:ext uri="{FF2B5EF4-FFF2-40B4-BE49-F238E27FC236}">
                  <a16:creationId xmlns:a16="http://schemas.microsoft.com/office/drawing/2014/main" id="{4AEAFC97-728D-98B5-2125-BDC4AA8ACC65}"/>
                </a:ext>
              </a:extLst>
            </p:cNvPr>
            <p:cNvCxnSpPr/>
            <p:nvPr/>
          </p:nvCxnSpPr>
          <p:spPr>
            <a:xfrm>
              <a:off x="1066800" y="4857750"/>
              <a:ext cx="6781800" cy="0"/>
            </a:xfrm>
            <a:prstGeom prst="line">
              <a:avLst/>
            </a:prstGeom>
            <a:noFill/>
            <a:ln w="28575" cap="rnd" cmpd="sng" algn="ctr">
              <a:solidFill>
                <a:sysClr val="window" lastClr="FFFFFF"/>
              </a:solidFill>
              <a:prstDash val="solid"/>
            </a:ln>
            <a:effectLst/>
          </p:spPr>
        </p:cxnSp>
        <p:cxnSp>
          <p:nvCxnSpPr>
            <p:cNvPr id="133" name="Straight Connector 132">
              <a:extLst>
                <a:ext uri="{FF2B5EF4-FFF2-40B4-BE49-F238E27FC236}">
                  <a16:creationId xmlns:a16="http://schemas.microsoft.com/office/drawing/2014/main" id="{E9BEF68E-F3AE-93DF-E683-A05141C83298}"/>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34" name="Straight Connector 133">
              <a:extLst>
                <a:ext uri="{FF2B5EF4-FFF2-40B4-BE49-F238E27FC236}">
                  <a16:creationId xmlns:a16="http://schemas.microsoft.com/office/drawing/2014/main" id="{792BC989-5F51-53F7-F062-DCFFE5269538}"/>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cxnSp>
          <p:nvCxnSpPr>
            <p:cNvPr id="135" name="Straight Connector 134">
              <a:extLst>
                <a:ext uri="{FF2B5EF4-FFF2-40B4-BE49-F238E27FC236}">
                  <a16:creationId xmlns:a16="http://schemas.microsoft.com/office/drawing/2014/main" id="{C733B87C-8730-E446-60A3-149D92328D7E}"/>
                </a:ext>
              </a:extLst>
            </p:cNvPr>
            <p:cNvCxnSpPr/>
            <p:nvPr/>
          </p:nvCxnSpPr>
          <p:spPr>
            <a:xfrm flipV="1">
              <a:off x="7467600" y="4629150"/>
              <a:ext cx="152400" cy="228600"/>
            </a:xfrm>
            <a:prstGeom prst="line">
              <a:avLst/>
            </a:prstGeom>
            <a:noFill/>
            <a:ln w="28575" cap="rnd" cmpd="sng" algn="ctr">
              <a:solidFill>
                <a:sysClr val="window" lastClr="FFFFFF"/>
              </a:solidFill>
              <a:prstDash val="solid"/>
            </a:ln>
            <a:effectLst/>
          </p:spPr>
        </p:cxnSp>
        <p:sp>
          <p:nvSpPr>
            <p:cNvPr id="136" name="TextBox 135">
              <a:extLst>
                <a:ext uri="{FF2B5EF4-FFF2-40B4-BE49-F238E27FC236}">
                  <a16:creationId xmlns:a16="http://schemas.microsoft.com/office/drawing/2014/main" id="{780478EB-334E-6768-0963-7DC452D4F634}"/>
                </a:ext>
              </a:extLst>
            </p:cNvPr>
            <p:cNvSpPr txBox="1"/>
            <p:nvPr/>
          </p:nvSpPr>
          <p:spPr>
            <a:xfrm>
              <a:off x="2744252" y="4629150"/>
              <a:ext cx="1303001"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add x1,x2,x3</a:t>
              </a:r>
            </a:p>
          </p:txBody>
        </p:sp>
        <p:cxnSp>
          <p:nvCxnSpPr>
            <p:cNvPr id="137" name="Straight Connector 136">
              <a:extLst>
                <a:ext uri="{FF2B5EF4-FFF2-40B4-BE49-F238E27FC236}">
                  <a16:creationId xmlns:a16="http://schemas.microsoft.com/office/drawing/2014/main" id="{4047E64A-B3C7-D0A1-6193-A466FE813E5D}"/>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38" name="Straight Connector 137">
              <a:extLst>
                <a:ext uri="{FF2B5EF4-FFF2-40B4-BE49-F238E27FC236}">
                  <a16:creationId xmlns:a16="http://schemas.microsoft.com/office/drawing/2014/main" id="{8B06C194-9576-5D24-F48E-FF1D88999293}"/>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39" name="Straight Connector 138">
              <a:extLst>
                <a:ext uri="{FF2B5EF4-FFF2-40B4-BE49-F238E27FC236}">
                  <a16:creationId xmlns:a16="http://schemas.microsoft.com/office/drawing/2014/main" id="{4671F7AD-6B65-D5C1-F4C1-268A083A03CD}"/>
                </a:ext>
              </a:extLst>
            </p:cNvPr>
            <p:cNvCxnSpPr/>
            <p:nvPr/>
          </p:nvCxnSpPr>
          <p:spPr>
            <a:xfrm flipH="1" flipV="1">
              <a:off x="7467600" y="4629150"/>
              <a:ext cx="152400" cy="228600"/>
            </a:xfrm>
            <a:prstGeom prst="line">
              <a:avLst/>
            </a:prstGeom>
            <a:noFill/>
            <a:ln w="28575" cap="rnd" cmpd="sng" algn="ctr">
              <a:solidFill>
                <a:sysClr val="window" lastClr="FFFFFF"/>
              </a:solidFill>
              <a:prstDash val="solid"/>
            </a:ln>
            <a:effectLst/>
          </p:spPr>
        </p:cxnSp>
        <p:cxnSp>
          <p:nvCxnSpPr>
            <p:cNvPr id="140" name="Straight Connector 139">
              <a:extLst>
                <a:ext uri="{FF2B5EF4-FFF2-40B4-BE49-F238E27FC236}">
                  <a16:creationId xmlns:a16="http://schemas.microsoft.com/office/drawing/2014/main" id="{D6C59926-74B6-F42D-DAED-9DDA89A37AA6}"/>
                </a:ext>
              </a:extLst>
            </p:cNvPr>
            <p:cNvCxnSpPr/>
            <p:nvPr/>
          </p:nvCxnSpPr>
          <p:spPr>
            <a:xfrm>
              <a:off x="1066800" y="4629150"/>
              <a:ext cx="6781800" cy="0"/>
            </a:xfrm>
            <a:prstGeom prst="line">
              <a:avLst/>
            </a:prstGeom>
            <a:noFill/>
            <a:ln w="28575" cap="rnd" cmpd="sng" algn="ctr">
              <a:solidFill>
                <a:sysClr val="window" lastClr="FFFFFF"/>
              </a:solidFill>
              <a:prstDash val="solid"/>
            </a:ln>
            <a:effectLst/>
          </p:spPr>
        </p:cxnSp>
        <p:sp>
          <p:nvSpPr>
            <p:cNvPr id="141" name="TextBox 140">
              <a:extLst>
                <a:ext uri="{FF2B5EF4-FFF2-40B4-BE49-F238E27FC236}">
                  <a16:creationId xmlns:a16="http://schemas.microsoft.com/office/drawing/2014/main" id="{EF4B6201-C2AB-59B9-7ADB-9951A7D4547E}"/>
                </a:ext>
              </a:extLst>
            </p:cNvPr>
            <p:cNvSpPr txBox="1"/>
            <p:nvPr/>
          </p:nvSpPr>
          <p:spPr>
            <a:xfrm>
              <a:off x="5563652" y="4629150"/>
              <a:ext cx="1303001"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add x6,x7,x9</a:t>
              </a:r>
            </a:p>
          </p:txBody>
        </p:sp>
        <p:sp>
          <p:nvSpPr>
            <p:cNvPr id="142" name="TextBox 141">
              <a:extLst>
                <a:ext uri="{FF2B5EF4-FFF2-40B4-BE49-F238E27FC236}">
                  <a16:creationId xmlns:a16="http://schemas.microsoft.com/office/drawing/2014/main" id="{338ED25F-EFA6-38D1-5EEA-17F63827EC2C}"/>
                </a:ext>
              </a:extLst>
            </p:cNvPr>
            <p:cNvSpPr txBox="1"/>
            <p:nvPr/>
          </p:nvSpPr>
          <p:spPr>
            <a:xfrm>
              <a:off x="533251" y="4645276"/>
              <a:ext cx="108583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rPr>
                <a:t>inst</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[31:0]</a:t>
              </a:r>
            </a:p>
          </p:txBody>
        </p:sp>
      </p:grpSp>
      <p:grpSp>
        <p:nvGrpSpPr>
          <p:cNvPr id="143" name="Group 142">
            <a:extLst>
              <a:ext uri="{FF2B5EF4-FFF2-40B4-BE49-F238E27FC236}">
                <a16:creationId xmlns:a16="http://schemas.microsoft.com/office/drawing/2014/main" id="{EEF039A6-FC0A-FB7B-9F90-9DB343DAEE76}"/>
              </a:ext>
            </a:extLst>
          </p:cNvPr>
          <p:cNvGrpSpPr/>
          <p:nvPr/>
        </p:nvGrpSpPr>
        <p:grpSpPr>
          <a:xfrm>
            <a:off x="2277522" y="2287964"/>
            <a:ext cx="6443342" cy="235545"/>
            <a:chOff x="933098" y="3174407"/>
            <a:chExt cx="7525102" cy="235545"/>
          </a:xfrm>
          <a:effectLst/>
        </p:grpSpPr>
        <p:grpSp>
          <p:nvGrpSpPr>
            <p:cNvPr id="144" name="Group 143">
              <a:extLst>
                <a:ext uri="{FF2B5EF4-FFF2-40B4-BE49-F238E27FC236}">
                  <a16:creationId xmlns:a16="http://schemas.microsoft.com/office/drawing/2014/main" id="{BACD99A0-8FE3-3125-D65E-115E7D7F02D4}"/>
                </a:ext>
              </a:extLst>
            </p:cNvPr>
            <p:cNvGrpSpPr/>
            <p:nvPr/>
          </p:nvGrpSpPr>
          <p:grpSpPr>
            <a:xfrm>
              <a:off x="933098" y="3174407"/>
              <a:ext cx="3791302" cy="235544"/>
              <a:chOff x="1085498" y="4622208"/>
              <a:chExt cx="3791302" cy="235544"/>
            </a:xfrm>
          </p:grpSpPr>
          <p:cxnSp>
            <p:nvCxnSpPr>
              <p:cNvPr id="152" name="Straight Connector 151">
                <a:extLst>
                  <a:ext uri="{FF2B5EF4-FFF2-40B4-BE49-F238E27FC236}">
                    <a16:creationId xmlns:a16="http://schemas.microsoft.com/office/drawing/2014/main" id="{30AF47CF-23D5-BF40-BF56-A3084C12804E}"/>
                  </a:ext>
                </a:extLst>
              </p:cNvPr>
              <p:cNvCxnSpPr/>
              <p:nvPr/>
            </p:nvCxnSpPr>
            <p:spPr>
              <a:xfrm>
                <a:off x="1085498" y="4857750"/>
                <a:ext cx="914400" cy="0"/>
              </a:xfrm>
              <a:prstGeom prst="line">
                <a:avLst/>
              </a:prstGeom>
              <a:noFill/>
              <a:ln w="28575" cap="rnd" cmpd="sng" algn="ctr">
                <a:solidFill>
                  <a:sysClr val="window" lastClr="FFFFFF"/>
                </a:solidFill>
                <a:prstDash val="solid"/>
              </a:ln>
              <a:effectLst/>
            </p:spPr>
          </p:cxnSp>
          <p:cxnSp>
            <p:nvCxnSpPr>
              <p:cNvPr id="153" name="Straight Connector 152">
                <a:extLst>
                  <a:ext uri="{FF2B5EF4-FFF2-40B4-BE49-F238E27FC236}">
                    <a16:creationId xmlns:a16="http://schemas.microsoft.com/office/drawing/2014/main" id="{64269FE2-DA68-1133-566F-721E032DC821}"/>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54" name="Straight Connector 153">
                <a:extLst>
                  <a:ext uri="{FF2B5EF4-FFF2-40B4-BE49-F238E27FC236}">
                    <a16:creationId xmlns:a16="http://schemas.microsoft.com/office/drawing/2014/main" id="{07BCC014-D892-C1A8-193E-14805F6655D7}"/>
                  </a:ext>
                </a:extLst>
              </p:cNvPr>
              <p:cNvCxnSpPr/>
              <p:nvPr/>
            </p:nvCxnSpPr>
            <p:spPr>
              <a:xfrm>
                <a:off x="2152298" y="4629150"/>
                <a:ext cx="1295400" cy="1"/>
              </a:xfrm>
              <a:prstGeom prst="line">
                <a:avLst/>
              </a:prstGeom>
              <a:noFill/>
              <a:ln w="28575" cap="rnd" cmpd="sng" algn="ctr">
                <a:solidFill>
                  <a:sysClr val="window" lastClr="FFFFFF"/>
                </a:solidFill>
                <a:prstDash val="solid"/>
              </a:ln>
              <a:effectLst/>
            </p:spPr>
          </p:cxnSp>
          <p:cxnSp>
            <p:nvCxnSpPr>
              <p:cNvPr id="155" name="Straight Connector 154">
                <a:extLst>
                  <a:ext uri="{FF2B5EF4-FFF2-40B4-BE49-F238E27FC236}">
                    <a16:creationId xmlns:a16="http://schemas.microsoft.com/office/drawing/2014/main" id="{F5B8214C-0560-2FA6-1C85-A7B495B23E78}"/>
                  </a:ext>
                </a:extLst>
              </p:cNvPr>
              <p:cNvCxnSpPr/>
              <p:nvPr/>
            </p:nvCxnSpPr>
            <p:spPr>
              <a:xfrm flipH="1" flipV="1">
                <a:off x="3447697" y="4629151"/>
                <a:ext cx="152400" cy="228600"/>
              </a:xfrm>
              <a:prstGeom prst="line">
                <a:avLst/>
              </a:prstGeom>
              <a:noFill/>
              <a:ln w="28575" cap="rnd" cmpd="sng" algn="ctr">
                <a:solidFill>
                  <a:sysClr val="window" lastClr="FFFFFF"/>
                </a:solidFill>
                <a:prstDash val="solid"/>
              </a:ln>
              <a:effectLst/>
            </p:spPr>
          </p:cxnSp>
          <p:cxnSp>
            <p:nvCxnSpPr>
              <p:cNvPr id="156" name="Straight Connector 155">
                <a:extLst>
                  <a:ext uri="{FF2B5EF4-FFF2-40B4-BE49-F238E27FC236}">
                    <a16:creationId xmlns:a16="http://schemas.microsoft.com/office/drawing/2014/main" id="{5B5AB653-B10C-ECD6-C24C-97180017E386}"/>
                  </a:ext>
                </a:extLst>
              </p:cNvPr>
              <p:cNvCxnSpPr/>
              <p:nvPr/>
            </p:nvCxnSpPr>
            <p:spPr>
              <a:xfrm>
                <a:off x="3600098" y="4857751"/>
                <a:ext cx="1143000" cy="1"/>
              </a:xfrm>
              <a:prstGeom prst="line">
                <a:avLst/>
              </a:prstGeom>
              <a:noFill/>
              <a:ln w="28575" cap="rnd" cmpd="sng" algn="ctr">
                <a:solidFill>
                  <a:sysClr val="window" lastClr="FFFFFF"/>
                </a:solidFill>
                <a:prstDash val="solid"/>
              </a:ln>
              <a:effectLst/>
            </p:spPr>
          </p:cxnSp>
          <p:cxnSp>
            <p:nvCxnSpPr>
              <p:cNvPr id="157" name="Straight Connector 156">
                <a:extLst>
                  <a:ext uri="{FF2B5EF4-FFF2-40B4-BE49-F238E27FC236}">
                    <a16:creationId xmlns:a16="http://schemas.microsoft.com/office/drawing/2014/main" id="{D8D3E346-7DC1-B71C-E9BE-0E72F4530402}"/>
                  </a:ext>
                </a:extLst>
              </p:cNvPr>
              <p:cNvCxnSpPr/>
              <p:nvPr/>
            </p:nvCxnSpPr>
            <p:spPr>
              <a:xfrm flipV="1">
                <a:off x="4724400" y="4629151"/>
                <a:ext cx="152400" cy="228600"/>
              </a:xfrm>
              <a:prstGeom prst="line">
                <a:avLst/>
              </a:prstGeom>
              <a:noFill/>
              <a:ln w="28575" cap="rnd" cmpd="sng" algn="ctr">
                <a:solidFill>
                  <a:sysClr val="window" lastClr="FFFFFF"/>
                </a:solidFill>
                <a:prstDash val="solid"/>
              </a:ln>
              <a:effectLst/>
            </p:spPr>
          </p:cxnSp>
          <p:sp>
            <p:nvSpPr>
              <p:cNvPr id="158" name="TextBox 157">
                <a:extLst>
                  <a:ext uri="{FF2B5EF4-FFF2-40B4-BE49-F238E27FC236}">
                    <a16:creationId xmlns:a16="http://schemas.microsoft.com/office/drawing/2014/main" id="{4B4B7BB7-9A07-6A19-A620-C51EFE97F892}"/>
                  </a:ext>
                </a:extLst>
              </p:cNvPr>
              <p:cNvSpPr txBox="1"/>
              <p:nvPr/>
            </p:nvSpPr>
            <p:spPr>
              <a:xfrm>
                <a:off x="1175433" y="4622208"/>
                <a:ext cx="54291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Clock</a:t>
                </a:r>
              </a:p>
            </p:txBody>
          </p:sp>
          <p:cxnSp>
            <p:nvCxnSpPr>
              <p:cNvPr id="159" name="Straight Connector 158">
                <a:extLst>
                  <a:ext uri="{FF2B5EF4-FFF2-40B4-BE49-F238E27FC236}">
                    <a16:creationId xmlns:a16="http://schemas.microsoft.com/office/drawing/2014/main" id="{42ECEC47-0C07-63CF-690B-1C52BF81211B}"/>
                  </a:ext>
                </a:extLst>
              </p:cNvPr>
              <p:cNvCxnSpPr/>
              <p:nvPr/>
            </p:nvCxnSpPr>
            <p:spPr>
              <a:xfrm flipV="1">
                <a:off x="1962693" y="4698506"/>
                <a:ext cx="125073" cy="32071"/>
              </a:xfrm>
              <a:prstGeom prst="line">
                <a:avLst/>
              </a:prstGeom>
              <a:noFill/>
              <a:ln w="28575" cap="flat" cmpd="sng" algn="ctr">
                <a:solidFill>
                  <a:sysClr val="window" lastClr="FFFFFF"/>
                </a:solidFill>
                <a:prstDash val="solid"/>
              </a:ln>
              <a:effectLst/>
            </p:spPr>
          </p:cxnSp>
          <p:cxnSp>
            <p:nvCxnSpPr>
              <p:cNvPr id="160" name="Straight Connector 159">
                <a:extLst>
                  <a:ext uri="{FF2B5EF4-FFF2-40B4-BE49-F238E27FC236}">
                    <a16:creationId xmlns:a16="http://schemas.microsoft.com/office/drawing/2014/main" id="{32D672A7-10FD-0B4B-F70A-973C87850012}"/>
                  </a:ext>
                </a:extLst>
              </p:cNvPr>
              <p:cNvCxnSpPr/>
              <p:nvPr/>
            </p:nvCxnSpPr>
            <p:spPr>
              <a:xfrm flipH="1" flipV="1">
                <a:off x="2103257" y="4698506"/>
                <a:ext cx="16034" cy="109043"/>
              </a:xfrm>
              <a:prstGeom prst="line">
                <a:avLst/>
              </a:prstGeom>
              <a:noFill/>
              <a:ln w="28575" cap="flat" cmpd="sng" algn="ctr">
                <a:solidFill>
                  <a:sysClr val="window" lastClr="FFFFFF"/>
                </a:solidFill>
                <a:prstDash val="solid"/>
              </a:ln>
              <a:effectLst/>
            </p:spPr>
          </p:cxnSp>
          <p:cxnSp>
            <p:nvCxnSpPr>
              <p:cNvPr id="161" name="Straight Connector 160">
                <a:extLst>
                  <a:ext uri="{FF2B5EF4-FFF2-40B4-BE49-F238E27FC236}">
                    <a16:creationId xmlns:a16="http://schemas.microsoft.com/office/drawing/2014/main" id="{A6288522-F728-E4BB-E9E8-A2D0761DCFB7}"/>
                  </a:ext>
                </a:extLst>
              </p:cNvPr>
              <p:cNvCxnSpPr/>
              <p:nvPr/>
            </p:nvCxnSpPr>
            <p:spPr>
              <a:xfrm flipV="1">
                <a:off x="4701951" y="4700170"/>
                <a:ext cx="125073" cy="32071"/>
              </a:xfrm>
              <a:prstGeom prst="line">
                <a:avLst/>
              </a:prstGeom>
              <a:noFill/>
              <a:ln w="28575" cap="flat" cmpd="sng" algn="ctr">
                <a:solidFill>
                  <a:sysClr val="window" lastClr="FFFFFF"/>
                </a:solidFill>
                <a:prstDash val="solid"/>
              </a:ln>
              <a:effectLst/>
            </p:spPr>
          </p:cxnSp>
          <p:cxnSp>
            <p:nvCxnSpPr>
              <p:cNvPr id="162" name="Straight Connector 161">
                <a:extLst>
                  <a:ext uri="{FF2B5EF4-FFF2-40B4-BE49-F238E27FC236}">
                    <a16:creationId xmlns:a16="http://schemas.microsoft.com/office/drawing/2014/main" id="{E4E612DD-7AC2-1BEE-47C4-D7D21FB3EC4C}"/>
                  </a:ext>
                </a:extLst>
              </p:cNvPr>
              <p:cNvCxnSpPr/>
              <p:nvPr/>
            </p:nvCxnSpPr>
            <p:spPr>
              <a:xfrm flipH="1" flipV="1">
                <a:off x="4842515" y="4700170"/>
                <a:ext cx="16034" cy="109043"/>
              </a:xfrm>
              <a:prstGeom prst="line">
                <a:avLst/>
              </a:prstGeom>
              <a:noFill/>
              <a:ln w="28575" cap="flat" cmpd="sng" algn="ctr">
                <a:solidFill>
                  <a:sysClr val="window" lastClr="FFFFFF"/>
                </a:solidFill>
                <a:prstDash val="solid"/>
              </a:ln>
              <a:effectLst/>
            </p:spPr>
          </p:cxnSp>
        </p:grpSp>
        <p:cxnSp>
          <p:nvCxnSpPr>
            <p:cNvPr id="145" name="Straight Connector 144">
              <a:extLst>
                <a:ext uri="{FF2B5EF4-FFF2-40B4-BE49-F238E27FC236}">
                  <a16:creationId xmlns:a16="http://schemas.microsoft.com/office/drawing/2014/main" id="{6726886E-E298-20B4-FFDE-CEC372761410}"/>
                </a:ext>
              </a:extLst>
            </p:cNvPr>
            <p:cNvCxnSpPr/>
            <p:nvPr/>
          </p:nvCxnSpPr>
          <p:spPr>
            <a:xfrm>
              <a:off x="4743098" y="3181350"/>
              <a:ext cx="1295400" cy="1"/>
            </a:xfrm>
            <a:prstGeom prst="line">
              <a:avLst/>
            </a:prstGeom>
            <a:noFill/>
            <a:ln w="28575" cap="rnd" cmpd="sng" algn="ctr">
              <a:solidFill>
                <a:sysClr val="window" lastClr="FFFFFF"/>
              </a:solidFill>
              <a:prstDash val="solid"/>
            </a:ln>
            <a:effectLst/>
          </p:spPr>
        </p:cxnSp>
        <p:cxnSp>
          <p:nvCxnSpPr>
            <p:cNvPr id="146" name="Straight Connector 145">
              <a:extLst>
                <a:ext uri="{FF2B5EF4-FFF2-40B4-BE49-F238E27FC236}">
                  <a16:creationId xmlns:a16="http://schemas.microsoft.com/office/drawing/2014/main" id="{DD63ECEB-046B-D72A-5A44-C672B60B4D9D}"/>
                </a:ext>
              </a:extLst>
            </p:cNvPr>
            <p:cNvCxnSpPr/>
            <p:nvPr/>
          </p:nvCxnSpPr>
          <p:spPr>
            <a:xfrm flipH="1" flipV="1">
              <a:off x="6038498" y="3181351"/>
              <a:ext cx="152400" cy="228600"/>
            </a:xfrm>
            <a:prstGeom prst="line">
              <a:avLst/>
            </a:prstGeom>
            <a:noFill/>
            <a:ln w="28575" cap="rnd" cmpd="sng" algn="ctr">
              <a:solidFill>
                <a:sysClr val="window" lastClr="FFFFFF"/>
              </a:solidFill>
              <a:prstDash val="solid"/>
            </a:ln>
            <a:effectLst/>
          </p:spPr>
        </p:cxnSp>
        <p:cxnSp>
          <p:nvCxnSpPr>
            <p:cNvPr id="147" name="Straight Connector 146">
              <a:extLst>
                <a:ext uri="{FF2B5EF4-FFF2-40B4-BE49-F238E27FC236}">
                  <a16:creationId xmlns:a16="http://schemas.microsoft.com/office/drawing/2014/main" id="{C506B4CC-9F68-2671-7513-F72B356468D8}"/>
                </a:ext>
              </a:extLst>
            </p:cNvPr>
            <p:cNvCxnSpPr/>
            <p:nvPr/>
          </p:nvCxnSpPr>
          <p:spPr>
            <a:xfrm>
              <a:off x="6172200" y="3409951"/>
              <a:ext cx="1143000" cy="1"/>
            </a:xfrm>
            <a:prstGeom prst="line">
              <a:avLst/>
            </a:prstGeom>
            <a:noFill/>
            <a:ln w="28575" cap="rnd" cmpd="sng" algn="ctr">
              <a:solidFill>
                <a:sysClr val="window" lastClr="FFFFFF"/>
              </a:solidFill>
              <a:prstDash val="solid"/>
            </a:ln>
            <a:effectLst/>
          </p:spPr>
        </p:cxnSp>
        <p:cxnSp>
          <p:nvCxnSpPr>
            <p:cNvPr id="148" name="Straight Connector 147">
              <a:extLst>
                <a:ext uri="{FF2B5EF4-FFF2-40B4-BE49-F238E27FC236}">
                  <a16:creationId xmlns:a16="http://schemas.microsoft.com/office/drawing/2014/main" id="{16AFA67E-5841-EA85-B4C0-7FA459123DAA}"/>
                </a:ext>
              </a:extLst>
            </p:cNvPr>
            <p:cNvCxnSpPr/>
            <p:nvPr/>
          </p:nvCxnSpPr>
          <p:spPr>
            <a:xfrm flipV="1">
              <a:off x="7315200" y="3181351"/>
              <a:ext cx="152400" cy="228600"/>
            </a:xfrm>
            <a:prstGeom prst="line">
              <a:avLst/>
            </a:prstGeom>
            <a:noFill/>
            <a:ln w="28575" cap="rnd" cmpd="sng" algn="ctr">
              <a:solidFill>
                <a:sysClr val="window" lastClr="FFFFFF"/>
              </a:solidFill>
              <a:prstDash val="solid"/>
            </a:ln>
            <a:effectLst/>
          </p:spPr>
        </p:cxnSp>
        <p:cxnSp>
          <p:nvCxnSpPr>
            <p:cNvPr id="149" name="Straight Connector 148">
              <a:extLst>
                <a:ext uri="{FF2B5EF4-FFF2-40B4-BE49-F238E27FC236}">
                  <a16:creationId xmlns:a16="http://schemas.microsoft.com/office/drawing/2014/main" id="{C1478BB5-4641-9450-A796-2F488040566F}"/>
                </a:ext>
              </a:extLst>
            </p:cNvPr>
            <p:cNvCxnSpPr/>
            <p:nvPr/>
          </p:nvCxnSpPr>
          <p:spPr>
            <a:xfrm flipV="1">
              <a:off x="7292751" y="3252370"/>
              <a:ext cx="125073" cy="32071"/>
            </a:xfrm>
            <a:prstGeom prst="line">
              <a:avLst/>
            </a:prstGeom>
            <a:noFill/>
            <a:ln w="28575" cap="flat" cmpd="sng" algn="ctr">
              <a:solidFill>
                <a:sysClr val="window" lastClr="FFFFFF"/>
              </a:solidFill>
              <a:prstDash val="solid"/>
            </a:ln>
            <a:effectLst/>
          </p:spPr>
        </p:cxnSp>
        <p:cxnSp>
          <p:nvCxnSpPr>
            <p:cNvPr id="150" name="Straight Connector 149">
              <a:extLst>
                <a:ext uri="{FF2B5EF4-FFF2-40B4-BE49-F238E27FC236}">
                  <a16:creationId xmlns:a16="http://schemas.microsoft.com/office/drawing/2014/main" id="{006C4D23-E635-F698-2D34-69E19F8C2602}"/>
                </a:ext>
              </a:extLst>
            </p:cNvPr>
            <p:cNvCxnSpPr/>
            <p:nvPr/>
          </p:nvCxnSpPr>
          <p:spPr>
            <a:xfrm flipH="1" flipV="1">
              <a:off x="7414618" y="3252370"/>
              <a:ext cx="16034" cy="109043"/>
            </a:xfrm>
            <a:prstGeom prst="line">
              <a:avLst/>
            </a:prstGeom>
            <a:noFill/>
            <a:ln w="28575" cap="flat" cmpd="sng" algn="ctr">
              <a:solidFill>
                <a:sysClr val="window" lastClr="FFFFFF"/>
              </a:solidFill>
              <a:prstDash val="solid"/>
            </a:ln>
            <a:effectLst/>
          </p:spPr>
        </p:cxnSp>
        <p:cxnSp>
          <p:nvCxnSpPr>
            <p:cNvPr id="151" name="Straight Connector 150">
              <a:extLst>
                <a:ext uri="{FF2B5EF4-FFF2-40B4-BE49-F238E27FC236}">
                  <a16:creationId xmlns:a16="http://schemas.microsoft.com/office/drawing/2014/main" id="{0B445E63-87E4-A500-3AFE-5DB55459347D}"/>
                </a:ext>
              </a:extLst>
            </p:cNvPr>
            <p:cNvCxnSpPr/>
            <p:nvPr/>
          </p:nvCxnSpPr>
          <p:spPr>
            <a:xfrm>
              <a:off x="7467600" y="3181349"/>
              <a:ext cx="990600" cy="0"/>
            </a:xfrm>
            <a:prstGeom prst="line">
              <a:avLst/>
            </a:prstGeom>
            <a:noFill/>
            <a:ln w="28575" cap="rnd" cmpd="sng" algn="ctr">
              <a:solidFill>
                <a:sysClr val="window" lastClr="FFFFFF"/>
              </a:solidFill>
              <a:prstDash val="solid"/>
            </a:ln>
            <a:effectLst/>
          </p:spPr>
        </p:cxnSp>
      </p:grpSp>
      <p:grpSp>
        <p:nvGrpSpPr>
          <p:cNvPr id="163" name="Group 162">
            <a:extLst>
              <a:ext uri="{FF2B5EF4-FFF2-40B4-BE49-F238E27FC236}">
                <a16:creationId xmlns:a16="http://schemas.microsoft.com/office/drawing/2014/main" id="{618441FE-1965-20A8-F0B4-68D511CB248C}"/>
              </a:ext>
            </a:extLst>
          </p:cNvPr>
          <p:cNvGrpSpPr/>
          <p:nvPr/>
        </p:nvGrpSpPr>
        <p:grpSpPr>
          <a:xfrm>
            <a:off x="6486276" y="4686393"/>
            <a:ext cx="1634795" cy="307777"/>
            <a:chOff x="2662742" y="4759523"/>
            <a:chExt cx="1909258" cy="307777"/>
          </a:xfrm>
        </p:grpSpPr>
        <p:cxnSp>
          <p:nvCxnSpPr>
            <p:cNvPr id="164" name="Straight Arrow Connector 163">
              <a:extLst>
                <a:ext uri="{FF2B5EF4-FFF2-40B4-BE49-F238E27FC236}">
                  <a16:creationId xmlns:a16="http://schemas.microsoft.com/office/drawing/2014/main" id="{C60F96E4-221D-B063-9A1A-51A44605A08C}"/>
                </a:ext>
              </a:extLst>
            </p:cNvPr>
            <p:cNvCxnSpPr/>
            <p:nvPr/>
          </p:nvCxnSpPr>
          <p:spPr>
            <a:xfrm>
              <a:off x="3200400" y="4933950"/>
              <a:ext cx="1371600" cy="0"/>
            </a:xfrm>
            <a:prstGeom prst="straightConnector1">
              <a:avLst/>
            </a:prstGeom>
            <a:noFill/>
            <a:ln w="28575" cap="flat" cmpd="sng" algn="ctr">
              <a:solidFill>
                <a:sysClr val="window" lastClr="FFFFFF"/>
              </a:solidFill>
              <a:prstDash val="solid"/>
              <a:tailEnd type="arrow"/>
            </a:ln>
            <a:effectLst/>
          </p:spPr>
        </p:cxnSp>
        <p:sp>
          <p:nvSpPr>
            <p:cNvPr id="165" name="TextBox 164">
              <a:extLst>
                <a:ext uri="{FF2B5EF4-FFF2-40B4-BE49-F238E27FC236}">
                  <a16:creationId xmlns:a16="http://schemas.microsoft.com/office/drawing/2014/main" id="{AA6E9E29-45C2-FB92-E7BD-B41199167F3A}"/>
                </a:ext>
              </a:extLst>
            </p:cNvPr>
            <p:cNvSpPr txBox="1"/>
            <p:nvPr/>
          </p:nvSpPr>
          <p:spPr>
            <a:xfrm>
              <a:off x="2662742" y="4759523"/>
              <a:ext cx="541945" cy="307777"/>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VAGRundschriftDLig" panose="00000400000000000000" pitchFamily="50" charset="0"/>
                  <a:ea typeface="ＭＳ Ｐゴシック" pitchFamily="-1" charset="-128"/>
                </a:rPr>
                <a:t>time</a:t>
              </a:r>
            </a:p>
          </p:txBody>
        </p:sp>
      </p:grpSp>
      <p:grpSp>
        <p:nvGrpSpPr>
          <p:cNvPr id="166" name="Group 165">
            <a:extLst>
              <a:ext uri="{FF2B5EF4-FFF2-40B4-BE49-F238E27FC236}">
                <a16:creationId xmlns:a16="http://schemas.microsoft.com/office/drawing/2014/main" id="{D62D9AF9-449F-0AA7-A1C1-FC53FB84F890}"/>
              </a:ext>
            </a:extLst>
          </p:cNvPr>
          <p:cNvGrpSpPr/>
          <p:nvPr/>
        </p:nvGrpSpPr>
        <p:grpSpPr>
          <a:xfrm>
            <a:off x="2304207" y="3514092"/>
            <a:ext cx="6721456" cy="228607"/>
            <a:chOff x="-1308" y="4629143"/>
            <a:chExt cx="7849908" cy="228607"/>
          </a:xfrm>
          <a:effectLst/>
        </p:grpSpPr>
        <p:cxnSp>
          <p:nvCxnSpPr>
            <p:cNvPr id="167" name="Straight Connector 166">
              <a:extLst>
                <a:ext uri="{FF2B5EF4-FFF2-40B4-BE49-F238E27FC236}">
                  <a16:creationId xmlns:a16="http://schemas.microsoft.com/office/drawing/2014/main" id="{8D666384-0C41-8B0A-3213-98169ED453E2}"/>
                </a:ext>
              </a:extLst>
            </p:cNvPr>
            <p:cNvCxnSpPr/>
            <p:nvPr/>
          </p:nvCxnSpPr>
          <p:spPr>
            <a:xfrm>
              <a:off x="1066800" y="4857750"/>
              <a:ext cx="6781800" cy="0"/>
            </a:xfrm>
            <a:prstGeom prst="line">
              <a:avLst/>
            </a:prstGeom>
            <a:noFill/>
            <a:ln w="28575" cap="rnd" cmpd="sng" algn="ctr">
              <a:solidFill>
                <a:sysClr val="window" lastClr="FFFFFF"/>
              </a:solidFill>
              <a:prstDash val="solid"/>
            </a:ln>
            <a:effectLst/>
          </p:spPr>
        </p:cxnSp>
        <p:cxnSp>
          <p:nvCxnSpPr>
            <p:cNvPr id="168" name="Straight Connector 167">
              <a:extLst>
                <a:ext uri="{FF2B5EF4-FFF2-40B4-BE49-F238E27FC236}">
                  <a16:creationId xmlns:a16="http://schemas.microsoft.com/office/drawing/2014/main" id="{8B6514E8-CD36-B3BC-0E84-62900A74BF5D}"/>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69" name="Straight Connector 168">
              <a:extLst>
                <a:ext uri="{FF2B5EF4-FFF2-40B4-BE49-F238E27FC236}">
                  <a16:creationId xmlns:a16="http://schemas.microsoft.com/office/drawing/2014/main" id="{5A9DB355-F5EB-5A01-1974-765D523A3ADC}"/>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cxnSp>
          <p:nvCxnSpPr>
            <p:cNvPr id="170" name="Straight Connector 169">
              <a:extLst>
                <a:ext uri="{FF2B5EF4-FFF2-40B4-BE49-F238E27FC236}">
                  <a16:creationId xmlns:a16="http://schemas.microsoft.com/office/drawing/2014/main" id="{7F4FA0EC-1884-1F16-E3FA-F5475BC7E2CF}"/>
                </a:ext>
              </a:extLst>
            </p:cNvPr>
            <p:cNvCxnSpPr/>
            <p:nvPr/>
          </p:nvCxnSpPr>
          <p:spPr>
            <a:xfrm flipV="1">
              <a:off x="7467600" y="4629150"/>
              <a:ext cx="152400" cy="228600"/>
            </a:xfrm>
            <a:prstGeom prst="line">
              <a:avLst/>
            </a:prstGeom>
            <a:noFill/>
            <a:ln w="28575" cap="rnd" cmpd="sng" algn="ctr">
              <a:solidFill>
                <a:sysClr val="window" lastClr="FFFFFF"/>
              </a:solidFill>
              <a:prstDash val="solid"/>
            </a:ln>
            <a:effectLst/>
          </p:spPr>
        </p:cxnSp>
        <p:sp>
          <p:nvSpPr>
            <p:cNvPr id="171" name="TextBox 170">
              <a:extLst>
                <a:ext uri="{FF2B5EF4-FFF2-40B4-BE49-F238E27FC236}">
                  <a16:creationId xmlns:a16="http://schemas.microsoft.com/office/drawing/2014/main" id="{B96B71BB-CE47-B4FA-E0FB-3BFAC8C82BE8}"/>
                </a:ext>
              </a:extLst>
            </p:cNvPr>
            <p:cNvSpPr txBox="1"/>
            <p:nvPr/>
          </p:nvSpPr>
          <p:spPr>
            <a:xfrm>
              <a:off x="2750138" y="4629150"/>
              <a:ext cx="65150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[2]</a:t>
              </a:r>
            </a:p>
          </p:txBody>
        </p:sp>
        <p:cxnSp>
          <p:nvCxnSpPr>
            <p:cNvPr id="172" name="Straight Connector 171">
              <a:extLst>
                <a:ext uri="{FF2B5EF4-FFF2-40B4-BE49-F238E27FC236}">
                  <a16:creationId xmlns:a16="http://schemas.microsoft.com/office/drawing/2014/main" id="{0A62FFDD-C6E4-CF7D-360C-144A50C40359}"/>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73" name="Straight Connector 172">
              <a:extLst>
                <a:ext uri="{FF2B5EF4-FFF2-40B4-BE49-F238E27FC236}">
                  <a16:creationId xmlns:a16="http://schemas.microsoft.com/office/drawing/2014/main" id="{532AAE51-7361-8699-B0E5-00A46D6E9A7A}"/>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74" name="Straight Connector 173">
              <a:extLst>
                <a:ext uri="{FF2B5EF4-FFF2-40B4-BE49-F238E27FC236}">
                  <a16:creationId xmlns:a16="http://schemas.microsoft.com/office/drawing/2014/main" id="{8BB4C29E-E31D-FC18-FD68-FFD1AB816CAD}"/>
                </a:ext>
              </a:extLst>
            </p:cNvPr>
            <p:cNvCxnSpPr/>
            <p:nvPr/>
          </p:nvCxnSpPr>
          <p:spPr>
            <a:xfrm flipH="1" flipV="1">
              <a:off x="7467600" y="4629150"/>
              <a:ext cx="152400" cy="228600"/>
            </a:xfrm>
            <a:prstGeom prst="line">
              <a:avLst/>
            </a:prstGeom>
            <a:noFill/>
            <a:ln w="28575" cap="rnd" cmpd="sng" algn="ctr">
              <a:solidFill>
                <a:sysClr val="window" lastClr="FFFFFF"/>
              </a:solidFill>
              <a:prstDash val="solid"/>
            </a:ln>
            <a:effectLst/>
          </p:spPr>
        </p:cxnSp>
        <p:cxnSp>
          <p:nvCxnSpPr>
            <p:cNvPr id="175" name="Straight Connector 174">
              <a:extLst>
                <a:ext uri="{FF2B5EF4-FFF2-40B4-BE49-F238E27FC236}">
                  <a16:creationId xmlns:a16="http://schemas.microsoft.com/office/drawing/2014/main" id="{676135F4-32CB-B974-6EDE-5664412E8A9A}"/>
                </a:ext>
              </a:extLst>
            </p:cNvPr>
            <p:cNvCxnSpPr/>
            <p:nvPr/>
          </p:nvCxnSpPr>
          <p:spPr>
            <a:xfrm>
              <a:off x="1066800" y="4629150"/>
              <a:ext cx="6781800" cy="0"/>
            </a:xfrm>
            <a:prstGeom prst="line">
              <a:avLst/>
            </a:prstGeom>
            <a:noFill/>
            <a:ln w="28575" cap="rnd" cmpd="sng" algn="ctr">
              <a:solidFill>
                <a:sysClr val="window" lastClr="FFFFFF"/>
              </a:solidFill>
              <a:prstDash val="solid"/>
            </a:ln>
            <a:effectLst/>
          </p:spPr>
        </p:cxnSp>
        <p:sp>
          <p:nvSpPr>
            <p:cNvPr id="176" name="TextBox 175">
              <a:extLst>
                <a:ext uri="{FF2B5EF4-FFF2-40B4-BE49-F238E27FC236}">
                  <a16:creationId xmlns:a16="http://schemas.microsoft.com/office/drawing/2014/main" id="{FE9F95BD-0501-AB53-B7BA-EFBDC828E10C}"/>
                </a:ext>
              </a:extLst>
            </p:cNvPr>
            <p:cNvSpPr txBox="1"/>
            <p:nvPr/>
          </p:nvSpPr>
          <p:spPr>
            <a:xfrm>
              <a:off x="5569538" y="4629150"/>
              <a:ext cx="65150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[7]</a:t>
              </a:r>
            </a:p>
          </p:txBody>
        </p:sp>
        <p:sp>
          <p:nvSpPr>
            <p:cNvPr id="177" name="TextBox 176">
              <a:extLst>
                <a:ext uri="{FF2B5EF4-FFF2-40B4-BE49-F238E27FC236}">
                  <a16:creationId xmlns:a16="http://schemas.microsoft.com/office/drawing/2014/main" id="{31789CAB-F6E6-9786-F54D-567977F53B89}"/>
                </a:ext>
              </a:extLst>
            </p:cNvPr>
            <p:cNvSpPr txBox="1"/>
            <p:nvPr/>
          </p:nvSpPr>
          <p:spPr>
            <a:xfrm>
              <a:off x="-1308" y="4629143"/>
              <a:ext cx="86866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[rs1]</a:t>
              </a:r>
            </a:p>
          </p:txBody>
        </p:sp>
      </p:grpSp>
      <p:grpSp>
        <p:nvGrpSpPr>
          <p:cNvPr id="178" name="Group 177">
            <a:extLst>
              <a:ext uri="{FF2B5EF4-FFF2-40B4-BE49-F238E27FC236}">
                <a16:creationId xmlns:a16="http://schemas.microsoft.com/office/drawing/2014/main" id="{66C00F57-1944-B1EC-9C8B-53A66A06E8C6}"/>
              </a:ext>
            </a:extLst>
          </p:cNvPr>
          <p:cNvGrpSpPr/>
          <p:nvPr/>
        </p:nvGrpSpPr>
        <p:grpSpPr>
          <a:xfrm>
            <a:off x="2286000" y="4123699"/>
            <a:ext cx="6511064" cy="228600"/>
            <a:chOff x="-1050993" y="4629150"/>
            <a:chExt cx="7604193" cy="228600"/>
          </a:xfrm>
          <a:effectLst/>
        </p:grpSpPr>
        <p:cxnSp>
          <p:nvCxnSpPr>
            <p:cNvPr id="179" name="Straight Connector 178">
              <a:extLst>
                <a:ext uri="{FF2B5EF4-FFF2-40B4-BE49-F238E27FC236}">
                  <a16:creationId xmlns:a16="http://schemas.microsoft.com/office/drawing/2014/main" id="{3976EA5C-D2EF-F963-6B72-41160A3B9061}"/>
                </a:ext>
              </a:extLst>
            </p:cNvPr>
            <p:cNvCxnSpPr/>
            <p:nvPr/>
          </p:nvCxnSpPr>
          <p:spPr>
            <a:xfrm>
              <a:off x="1066800" y="4857750"/>
              <a:ext cx="5486400" cy="0"/>
            </a:xfrm>
            <a:prstGeom prst="line">
              <a:avLst/>
            </a:prstGeom>
            <a:noFill/>
            <a:ln w="28575" cap="rnd" cmpd="sng" algn="ctr">
              <a:solidFill>
                <a:sysClr val="window" lastClr="FFFFFF"/>
              </a:solidFill>
              <a:prstDash val="solid"/>
            </a:ln>
            <a:effectLst/>
          </p:spPr>
        </p:cxnSp>
        <p:cxnSp>
          <p:nvCxnSpPr>
            <p:cNvPr id="180" name="Straight Connector 179">
              <a:extLst>
                <a:ext uri="{FF2B5EF4-FFF2-40B4-BE49-F238E27FC236}">
                  <a16:creationId xmlns:a16="http://schemas.microsoft.com/office/drawing/2014/main" id="{5D1185C8-43CC-FC6D-62A8-337DE6106C87}"/>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81" name="Straight Connector 180">
              <a:extLst>
                <a:ext uri="{FF2B5EF4-FFF2-40B4-BE49-F238E27FC236}">
                  <a16:creationId xmlns:a16="http://schemas.microsoft.com/office/drawing/2014/main" id="{42F78AB3-A48D-C1C8-D598-C00FB493F6AD}"/>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sp>
          <p:nvSpPr>
            <p:cNvPr id="182" name="TextBox 181">
              <a:extLst>
                <a:ext uri="{FF2B5EF4-FFF2-40B4-BE49-F238E27FC236}">
                  <a16:creationId xmlns:a16="http://schemas.microsoft.com/office/drawing/2014/main" id="{52672CD1-CAB3-900D-C00D-0FC35BDF1FEB}"/>
                </a:ext>
              </a:extLst>
            </p:cNvPr>
            <p:cNvSpPr txBox="1"/>
            <p:nvPr/>
          </p:nvSpPr>
          <p:spPr>
            <a:xfrm>
              <a:off x="2750751" y="4629150"/>
              <a:ext cx="141158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[2]+</a:t>
              </a: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[3]</a:t>
              </a:r>
            </a:p>
          </p:txBody>
        </p:sp>
        <p:cxnSp>
          <p:nvCxnSpPr>
            <p:cNvPr id="183" name="Straight Connector 182">
              <a:extLst>
                <a:ext uri="{FF2B5EF4-FFF2-40B4-BE49-F238E27FC236}">
                  <a16:creationId xmlns:a16="http://schemas.microsoft.com/office/drawing/2014/main" id="{E092FC99-E848-B734-DEFB-6540B7B553E4}"/>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84" name="Straight Connector 183">
              <a:extLst>
                <a:ext uri="{FF2B5EF4-FFF2-40B4-BE49-F238E27FC236}">
                  <a16:creationId xmlns:a16="http://schemas.microsoft.com/office/drawing/2014/main" id="{08AFB48A-45B4-E8B1-323A-F722E807C147}"/>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85" name="Straight Connector 184">
              <a:extLst>
                <a:ext uri="{FF2B5EF4-FFF2-40B4-BE49-F238E27FC236}">
                  <a16:creationId xmlns:a16="http://schemas.microsoft.com/office/drawing/2014/main" id="{87466B99-DDE5-AEAA-3DBC-FBBD114660F3}"/>
                </a:ext>
              </a:extLst>
            </p:cNvPr>
            <p:cNvCxnSpPr/>
            <p:nvPr/>
          </p:nvCxnSpPr>
          <p:spPr>
            <a:xfrm>
              <a:off x="1066800" y="4629150"/>
              <a:ext cx="5486400" cy="0"/>
            </a:xfrm>
            <a:prstGeom prst="line">
              <a:avLst/>
            </a:prstGeom>
            <a:noFill/>
            <a:ln w="28575" cap="rnd" cmpd="sng" algn="ctr">
              <a:solidFill>
                <a:sysClr val="window" lastClr="FFFFFF"/>
              </a:solidFill>
              <a:prstDash val="solid"/>
            </a:ln>
            <a:effectLst/>
          </p:spPr>
        </p:cxnSp>
        <p:sp>
          <p:nvSpPr>
            <p:cNvPr id="186" name="TextBox 185">
              <a:extLst>
                <a:ext uri="{FF2B5EF4-FFF2-40B4-BE49-F238E27FC236}">
                  <a16:creationId xmlns:a16="http://schemas.microsoft.com/office/drawing/2014/main" id="{3C5BABC1-007B-A29F-2DB9-7C0D0D97F6D3}"/>
                </a:ext>
              </a:extLst>
            </p:cNvPr>
            <p:cNvSpPr txBox="1"/>
            <p:nvPr/>
          </p:nvSpPr>
          <p:spPr>
            <a:xfrm>
              <a:off x="-1050993" y="4629150"/>
              <a:ext cx="325751"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rPr>
                <a:t>alu</a:t>
              </a:r>
              <a:endPar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endParaRPr>
            </a:p>
          </p:txBody>
        </p:sp>
        <p:sp>
          <p:nvSpPr>
            <p:cNvPr id="187" name="TextBox 186">
              <a:extLst>
                <a:ext uri="{FF2B5EF4-FFF2-40B4-BE49-F238E27FC236}">
                  <a16:creationId xmlns:a16="http://schemas.microsoft.com/office/drawing/2014/main" id="{CEDE7552-BE5E-2E8C-C0A7-79E1D57145A9}"/>
                </a:ext>
              </a:extLst>
            </p:cNvPr>
            <p:cNvSpPr txBox="1"/>
            <p:nvPr/>
          </p:nvSpPr>
          <p:spPr>
            <a:xfrm>
              <a:off x="5036751" y="4629150"/>
              <a:ext cx="1411584"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[7]+</a:t>
              </a: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[9]</a:t>
              </a:r>
            </a:p>
          </p:txBody>
        </p:sp>
      </p:grpSp>
      <p:grpSp>
        <p:nvGrpSpPr>
          <p:cNvPr id="188" name="Group 187">
            <a:extLst>
              <a:ext uri="{FF2B5EF4-FFF2-40B4-BE49-F238E27FC236}">
                <a16:creationId xmlns:a16="http://schemas.microsoft.com/office/drawing/2014/main" id="{BFFC6B3B-01DF-4D6C-273D-3AD6D21FA596}"/>
              </a:ext>
            </a:extLst>
          </p:cNvPr>
          <p:cNvGrpSpPr/>
          <p:nvPr/>
        </p:nvGrpSpPr>
        <p:grpSpPr>
          <a:xfrm>
            <a:off x="2304207" y="3818899"/>
            <a:ext cx="6721456" cy="228600"/>
            <a:chOff x="-1308" y="4629150"/>
            <a:chExt cx="7849908" cy="228600"/>
          </a:xfrm>
          <a:effectLst/>
        </p:grpSpPr>
        <p:cxnSp>
          <p:nvCxnSpPr>
            <p:cNvPr id="189" name="Straight Connector 188">
              <a:extLst>
                <a:ext uri="{FF2B5EF4-FFF2-40B4-BE49-F238E27FC236}">
                  <a16:creationId xmlns:a16="http://schemas.microsoft.com/office/drawing/2014/main" id="{A3642D74-F590-841E-2060-8C91D25D9900}"/>
                </a:ext>
              </a:extLst>
            </p:cNvPr>
            <p:cNvCxnSpPr/>
            <p:nvPr/>
          </p:nvCxnSpPr>
          <p:spPr>
            <a:xfrm>
              <a:off x="1066800" y="4857750"/>
              <a:ext cx="6781800" cy="0"/>
            </a:xfrm>
            <a:prstGeom prst="line">
              <a:avLst/>
            </a:prstGeom>
            <a:noFill/>
            <a:ln w="28575" cap="rnd" cmpd="sng" algn="ctr">
              <a:solidFill>
                <a:sysClr val="window" lastClr="FFFFFF"/>
              </a:solidFill>
              <a:prstDash val="solid"/>
            </a:ln>
            <a:effectLst/>
          </p:spPr>
        </p:cxnSp>
        <p:cxnSp>
          <p:nvCxnSpPr>
            <p:cNvPr id="190" name="Straight Connector 189">
              <a:extLst>
                <a:ext uri="{FF2B5EF4-FFF2-40B4-BE49-F238E27FC236}">
                  <a16:creationId xmlns:a16="http://schemas.microsoft.com/office/drawing/2014/main" id="{8F97B793-4420-6273-D93F-8CF589DAE2E3}"/>
                </a:ext>
              </a:extLst>
            </p:cNvPr>
            <p:cNvCxnSpPr/>
            <p:nvPr/>
          </p:nvCxnSpPr>
          <p:spPr>
            <a:xfrm flipV="1">
              <a:off x="1981200" y="4629150"/>
              <a:ext cx="152400" cy="228600"/>
            </a:xfrm>
            <a:prstGeom prst="line">
              <a:avLst/>
            </a:prstGeom>
            <a:noFill/>
            <a:ln w="28575" cap="rnd" cmpd="sng" algn="ctr">
              <a:solidFill>
                <a:sysClr val="window" lastClr="FFFFFF"/>
              </a:solidFill>
              <a:prstDash val="solid"/>
            </a:ln>
            <a:effectLst/>
          </p:spPr>
        </p:cxnSp>
        <p:cxnSp>
          <p:nvCxnSpPr>
            <p:cNvPr id="191" name="Straight Connector 190">
              <a:extLst>
                <a:ext uri="{FF2B5EF4-FFF2-40B4-BE49-F238E27FC236}">
                  <a16:creationId xmlns:a16="http://schemas.microsoft.com/office/drawing/2014/main" id="{DEDF99F2-1265-8A4A-D20D-E0461FB6EA26}"/>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cxnSp>
          <p:nvCxnSpPr>
            <p:cNvPr id="192" name="Straight Connector 191">
              <a:extLst>
                <a:ext uri="{FF2B5EF4-FFF2-40B4-BE49-F238E27FC236}">
                  <a16:creationId xmlns:a16="http://schemas.microsoft.com/office/drawing/2014/main" id="{C6449A2B-720B-EA64-D294-EB40D57A849B}"/>
                </a:ext>
              </a:extLst>
            </p:cNvPr>
            <p:cNvCxnSpPr/>
            <p:nvPr/>
          </p:nvCxnSpPr>
          <p:spPr>
            <a:xfrm flipV="1">
              <a:off x="7467600" y="4629150"/>
              <a:ext cx="152400" cy="228600"/>
            </a:xfrm>
            <a:prstGeom prst="line">
              <a:avLst/>
            </a:prstGeom>
            <a:noFill/>
            <a:ln w="28575" cap="rnd" cmpd="sng" algn="ctr">
              <a:solidFill>
                <a:sysClr val="window" lastClr="FFFFFF"/>
              </a:solidFill>
              <a:prstDash val="solid"/>
            </a:ln>
            <a:effectLst/>
          </p:spPr>
        </p:cxnSp>
        <p:sp>
          <p:nvSpPr>
            <p:cNvPr id="193" name="TextBox 192">
              <a:extLst>
                <a:ext uri="{FF2B5EF4-FFF2-40B4-BE49-F238E27FC236}">
                  <a16:creationId xmlns:a16="http://schemas.microsoft.com/office/drawing/2014/main" id="{C31423C4-9922-119B-67BA-BB137C2C66D5}"/>
                </a:ext>
              </a:extLst>
            </p:cNvPr>
            <p:cNvSpPr txBox="1"/>
            <p:nvPr/>
          </p:nvSpPr>
          <p:spPr>
            <a:xfrm>
              <a:off x="2750138" y="4629150"/>
              <a:ext cx="65150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[3]</a:t>
              </a:r>
            </a:p>
          </p:txBody>
        </p:sp>
        <p:cxnSp>
          <p:nvCxnSpPr>
            <p:cNvPr id="194" name="Straight Connector 193">
              <a:extLst>
                <a:ext uri="{FF2B5EF4-FFF2-40B4-BE49-F238E27FC236}">
                  <a16:creationId xmlns:a16="http://schemas.microsoft.com/office/drawing/2014/main" id="{2362F680-858B-CAE2-05BE-D35D5A81A8A5}"/>
                </a:ext>
              </a:extLst>
            </p:cNvPr>
            <p:cNvCxnSpPr/>
            <p:nvPr/>
          </p:nvCxnSpPr>
          <p:spPr>
            <a:xfrm flipH="1" flipV="1">
              <a:off x="1981200" y="4629150"/>
              <a:ext cx="152400" cy="228600"/>
            </a:xfrm>
            <a:prstGeom prst="line">
              <a:avLst/>
            </a:prstGeom>
            <a:noFill/>
            <a:ln w="28575" cap="rnd" cmpd="sng" algn="ctr">
              <a:solidFill>
                <a:sysClr val="window" lastClr="FFFFFF"/>
              </a:solidFill>
              <a:prstDash val="solid"/>
            </a:ln>
            <a:effectLst/>
          </p:spPr>
        </p:cxnSp>
        <p:cxnSp>
          <p:nvCxnSpPr>
            <p:cNvPr id="195" name="Straight Connector 194">
              <a:extLst>
                <a:ext uri="{FF2B5EF4-FFF2-40B4-BE49-F238E27FC236}">
                  <a16:creationId xmlns:a16="http://schemas.microsoft.com/office/drawing/2014/main" id="{53AC3BA0-D5A6-6395-C15A-93E94B4504E0}"/>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196" name="Straight Connector 195">
              <a:extLst>
                <a:ext uri="{FF2B5EF4-FFF2-40B4-BE49-F238E27FC236}">
                  <a16:creationId xmlns:a16="http://schemas.microsoft.com/office/drawing/2014/main" id="{B3919DE2-4A5E-CD03-207B-59836BCAC372}"/>
                </a:ext>
              </a:extLst>
            </p:cNvPr>
            <p:cNvCxnSpPr/>
            <p:nvPr/>
          </p:nvCxnSpPr>
          <p:spPr>
            <a:xfrm flipH="1" flipV="1">
              <a:off x="7467600" y="4629150"/>
              <a:ext cx="152400" cy="228600"/>
            </a:xfrm>
            <a:prstGeom prst="line">
              <a:avLst/>
            </a:prstGeom>
            <a:noFill/>
            <a:ln w="28575" cap="rnd" cmpd="sng" algn="ctr">
              <a:solidFill>
                <a:sysClr val="window" lastClr="FFFFFF"/>
              </a:solidFill>
              <a:prstDash val="solid"/>
            </a:ln>
            <a:effectLst/>
          </p:spPr>
        </p:cxnSp>
        <p:cxnSp>
          <p:nvCxnSpPr>
            <p:cNvPr id="197" name="Straight Connector 196">
              <a:extLst>
                <a:ext uri="{FF2B5EF4-FFF2-40B4-BE49-F238E27FC236}">
                  <a16:creationId xmlns:a16="http://schemas.microsoft.com/office/drawing/2014/main" id="{F7BE32D4-91D7-566B-5826-237A235922B6}"/>
                </a:ext>
              </a:extLst>
            </p:cNvPr>
            <p:cNvCxnSpPr/>
            <p:nvPr/>
          </p:nvCxnSpPr>
          <p:spPr>
            <a:xfrm>
              <a:off x="1066800" y="4629150"/>
              <a:ext cx="6781800" cy="0"/>
            </a:xfrm>
            <a:prstGeom prst="line">
              <a:avLst/>
            </a:prstGeom>
            <a:noFill/>
            <a:ln w="28575" cap="rnd" cmpd="sng" algn="ctr">
              <a:solidFill>
                <a:sysClr val="window" lastClr="FFFFFF"/>
              </a:solidFill>
              <a:prstDash val="solid"/>
            </a:ln>
            <a:effectLst/>
          </p:spPr>
        </p:cxnSp>
        <p:sp>
          <p:nvSpPr>
            <p:cNvPr id="198" name="TextBox 197">
              <a:extLst>
                <a:ext uri="{FF2B5EF4-FFF2-40B4-BE49-F238E27FC236}">
                  <a16:creationId xmlns:a16="http://schemas.microsoft.com/office/drawing/2014/main" id="{7BC28ED0-8EB9-9E29-F9F4-5A7BEC4BF0F3}"/>
                </a:ext>
              </a:extLst>
            </p:cNvPr>
            <p:cNvSpPr txBox="1"/>
            <p:nvPr/>
          </p:nvSpPr>
          <p:spPr>
            <a:xfrm>
              <a:off x="5569538" y="4629150"/>
              <a:ext cx="65150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cs typeface="Courier New"/>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cs typeface="Courier New"/>
                </a:rPr>
                <a:t>[9]</a:t>
              </a:r>
            </a:p>
          </p:txBody>
        </p:sp>
        <p:sp>
          <p:nvSpPr>
            <p:cNvPr id="199" name="TextBox 198">
              <a:extLst>
                <a:ext uri="{FF2B5EF4-FFF2-40B4-BE49-F238E27FC236}">
                  <a16:creationId xmlns:a16="http://schemas.microsoft.com/office/drawing/2014/main" id="{58F5CE43-3FFC-9C38-E70E-6525FA37121B}"/>
                </a:ext>
              </a:extLst>
            </p:cNvPr>
            <p:cNvSpPr txBox="1"/>
            <p:nvPr/>
          </p:nvSpPr>
          <p:spPr>
            <a:xfrm>
              <a:off x="-1308" y="4640826"/>
              <a:ext cx="86866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[rs2]</a:t>
              </a:r>
            </a:p>
          </p:txBody>
        </p:sp>
      </p:grpSp>
      <p:grpSp>
        <p:nvGrpSpPr>
          <p:cNvPr id="200" name="Group 199">
            <a:extLst>
              <a:ext uri="{FF2B5EF4-FFF2-40B4-BE49-F238E27FC236}">
                <a16:creationId xmlns:a16="http://schemas.microsoft.com/office/drawing/2014/main" id="{F49A44F4-6CFD-F593-5181-3FBD535E248C}"/>
              </a:ext>
            </a:extLst>
          </p:cNvPr>
          <p:cNvGrpSpPr/>
          <p:nvPr/>
        </p:nvGrpSpPr>
        <p:grpSpPr>
          <a:xfrm>
            <a:off x="2285999" y="4422664"/>
            <a:ext cx="6543925" cy="234441"/>
            <a:chOff x="930208" y="4623309"/>
            <a:chExt cx="7604192" cy="234441"/>
          </a:xfrm>
        </p:grpSpPr>
        <p:cxnSp>
          <p:nvCxnSpPr>
            <p:cNvPr id="201" name="Straight Connector 200">
              <a:extLst>
                <a:ext uri="{FF2B5EF4-FFF2-40B4-BE49-F238E27FC236}">
                  <a16:creationId xmlns:a16="http://schemas.microsoft.com/office/drawing/2014/main" id="{5D996EB9-8182-0AE8-B90D-1A73EABB0B4C}"/>
                </a:ext>
              </a:extLst>
            </p:cNvPr>
            <p:cNvCxnSpPr/>
            <p:nvPr/>
          </p:nvCxnSpPr>
          <p:spPr>
            <a:xfrm>
              <a:off x="1066800" y="4857750"/>
              <a:ext cx="7467600" cy="0"/>
            </a:xfrm>
            <a:prstGeom prst="line">
              <a:avLst/>
            </a:prstGeom>
            <a:noFill/>
            <a:ln w="28575" cap="rnd" cmpd="sng" algn="ctr">
              <a:solidFill>
                <a:sysClr val="window" lastClr="FFFFFF"/>
              </a:solidFill>
              <a:prstDash val="solid"/>
            </a:ln>
            <a:effectLst/>
          </p:spPr>
        </p:cxnSp>
        <p:cxnSp>
          <p:nvCxnSpPr>
            <p:cNvPr id="202" name="Straight Connector 201">
              <a:extLst>
                <a:ext uri="{FF2B5EF4-FFF2-40B4-BE49-F238E27FC236}">
                  <a16:creationId xmlns:a16="http://schemas.microsoft.com/office/drawing/2014/main" id="{F198DD9C-315B-F940-8105-32F1DC56CDB2}"/>
                </a:ext>
              </a:extLst>
            </p:cNvPr>
            <p:cNvCxnSpPr/>
            <p:nvPr/>
          </p:nvCxnSpPr>
          <p:spPr>
            <a:xfrm flipH="1" flipV="1">
              <a:off x="4724400" y="4629150"/>
              <a:ext cx="152400" cy="228600"/>
            </a:xfrm>
            <a:prstGeom prst="line">
              <a:avLst/>
            </a:prstGeom>
            <a:noFill/>
            <a:ln w="28575" cap="rnd" cmpd="sng" algn="ctr">
              <a:solidFill>
                <a:sysClr val="window" lastClr="FFFFFF"/>
              </a:solidFill>
              <a:prstDash val="solid"/>
            </a:ln>
            <a:effectLst/>
          </p:spPr>
        </p:cxnSp>
        <p:sp>
          <p:nvSpPr>
            <p:cNvPr id="203" name="TextBox 202">
              <a:extLst>
                <a:ext uri="{FF2B5EF4-FFF2-40B4-BE49-F238E27FC236}">
                  <a16:creationId xmlns:a16="http://schemas.microsoft.com/office/drawing/2014/main" id="{52A828E2-7469-7FB3-87CE-9B87550B13B7}"/>
                </a:ext>
              </a:extLst>
            </p:cNvPr>
            <p:cNvSpPr txBox="1"/>
            <p:nvPr/>
          </p:nvSpPr>
          <p:spPr>
            <a:xfrm>
              <a:off x="3255824" y="4629150"/>
              <a:ext cx="325751"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a:t>
              </a:r>
            </a:p>
          </p:txBody>
        </p:sp>
        <p:cxnSp>
          <p:nvCxnSpPr>
            <p:cNvPr id="204" name="Straight Connector 203">
              <a:extLst>
                <a:ext uri="{FF2B5EF4-FFF2-40B4-BE49-F238E27FC236}">
                  <a16:creationId xmlns:a16="http://schemas.microsoft.com/office/drawing/2014/main" id="{8D75D0B8-D6B6-3C48-DDDF-97A2A5BA4142}"/>
                </a:ext>
              </a:extLst>
            </p:cNvPr>
            <p:cNvCxnSpPr/>
            <p:nvPr/>
          </p:nvCxnSpPr>
          <p:spPr>
            <a:xfrm flipV="1">
              <a:off x="4724400" y="4629150"/>
              <a:ext cx="152400" cy="228600"/>
            </a:xfrm>
            <a:prstGeom prst="line">
              <a:avLst/>
            </a:prstGeom>
            <a:noFill/>
            <a:ln w="28575" cap="rnd" cmpd="sng" algn="ctr">
              <a:solidFill>
                <a:sysClr val="window" lastClr="FFFFFF"/>
              </a:solidFill>
              <a:prstDash val="solid"/>
            </a:ln>
            <a:effectLst/>
          </p:spPr>
        </p:cxnSp>
        <p:cxnSp>
          <p:nvCxnSpPr>
            <p:cNvPr id="205" name="Straight Connector 204">
              <a:extLst>
                <a:ext uri="{FF2B5EF4-FFF2-40B4-BE49-F238E27FC236}">
                  <a16:creationId xmlns:a16="http://schemas.microsoft.com/office/drawing/2014/main" id="{E9B5479E-C15E-2079-DCA3-32D27B9D9A8C}"/>
                </a:ext>
              </a:extLst>
            </p:cNvPr>
            <p:cNvCxnSpPr/>
            <p:nvPr/>
          </p:nvCxnSpPr>
          <p:spPr>
            <a:xfrm>
              <a:off x="1066800" y="4629150"/>
              <a:ext cx="7467600" cy="0"/>
            </a:xfrm>
            <a:prstGeom prst="line">
              <a:avLst/>
            </a:prstGeom>
            <a:noFill/>
            <a:ln w="28575" cap="rnd" cmpd="sng" algn="ctr">
              <a:solidFill>
                <a:sysClr val="window" lastClr="FFFFFF"/>
              </a:solidFill>
              <a:prstDash val="solid"/>
            </a:ln>
            <a:effectLst/>
          </p:spPr>
        </p:cxnSp>
        <p:sp>
          <p:nvSpPr>
            <p:cNvPr id="206" name="TextBox 205">
              <a:extLst>
                <a:ext uri="{FF2B5EF4-FFF2-40B4-BE49-F238E27FC236}">
                  <a16:creationId xmlns:a16="http://schemas.microsoft.com/office/drawing/2014/main" id="{115F7040-A648-DD2E-9587-6BEFE3A66F57}"/>
                </a:ext>
              </a:extLst>
            </p:cNvPr>
            <p:cNvSpPr txBox="1"/>
            <p:nvPr/>
          </p:nvSpPr>
          <p:spPr>
            <a:xfrm>
              <a:off x="930208" y="4637680"/>
              <a:ext cx="65150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urier"/>
                  <a:ea typeface="ＭＳ Ｐゴシック" pitchFamily="-1" charset="-128"/>
                </a:rPr>
                <a:t>Reg</a:t>
              </a:r>
              <a:r>
                <a:rPr kumimoji="0" lang="en-US" sz="1200" b="1" i="0" u="none" strike="noStrike" kern="0" cap="none" spc="0" normalizeH="0" baseline="0" noProof="0" dirty="0">
                  <a:ln>
                    <a:noFill/>
                  </a:ln>
                  <a:solidFill>
                    <a:prstClr val="white"/>
                  </a:solidFill>
                  <a:effectLst/>
                  <a:uLnTx/>
                  <a:uFillTx/>
                  <a:latin typeface="Courier"/>
                  <a:ea typeface="ＭＳ Ｐゴシック" pitchFamily="-1" charset="-128"/>
                </a:rPr>
                <a:t>[1]</a:t>
              </a:r>
            </a:p>
          </p:txBody>
        </p:sp>
        <p:cxnSp>
          <p:nvCxnSpPr>
            <p:cNvPr id="207" name="Straight Connector 206">
              <a:extLst>
                <a:ext uri="{FF2B5EF4-FFF2-40B4-BE49-F238E27FC236}">
                  <a16:creationId xmlns:a16="http://schemas.microsoft.com/office/drawing/2014/main" id="{839F8E3D-0C85-A12E-F44A-25A65D8DC5D6}"/>
                </a:ext>
              </a:extLst>
            </p:cNvPr>
            <p:cNvCxnSpPr/>
            <p:nvPr/>
          </p:nvCxnSpPr>
          <p:spPr>
            <a:xfrm flipV="1">
              <a:off x="7510035" y="4627382"/>
              <a:ext cx="152400" cy="228600"/>
            </a:xfrm>
            <a:prstGeom prst="line">
              <a:avLst/>
            </a:prstGeom>
            <a:noFill/>
            <a:ln w="28575" cap="rnd" cmpd="sng" algn="ctr">
              <a:solidFill>
                <a:sysClr val="window" lastClr="FFFFFF"/>
              </a:solidFill>
              <a:prstDash val="solid"/>
            </a:ln>
            <a:effectLst/>
          </p:spPr>
        </p:cxnSp>
        <p:cxnSp>
          <p:nvCxnSpPr>
            <p:cNvPr id="208" name="Straight Connector 207">
              <a:extLst>
                <a:ext uri="{FF2B5EF4-FFF2-40B4-BE49-F238E27FC236}">
                  <a16:creationId xmlns:a16="http://schemas.microsoft.com/office/drawing/2014/main" id="{F381AF33-3E91-3799-C292-EB1287B05A34}"/>
                </a:ext>
              </a:extLst>
            </p:cNvPr>
            <p:cNvCxnSpPr/>
            <p:nvPr/>
          </p:nvCxnSpPr>
          <p:spPr>
            <a:xfrm flipH="1" flipV="1">
              <a:off x="7510035" y="4623309"/>
              <a:ext cx="152400" cy="228600"/>
            </a:xfrm>
            <a:prstGeom prst="line">
              <a:avLst/>
            </a:prstGeom>
            <a:noFill/>
            <a:ln w="28575" cap="rnd" cmpd="sng" algn="ctr">
              <a:solidFill>
                <a:sysClr val="window" lastClr="FFFFFF"/>
              </a:solidFill>
              <a:prstDash val="solid"/>
            </a:ln>
            <a:effectLst/>
          </p:spPr>
        </p:cxnSp>
      </p:grpSp>
      <p:sp>
        <p:nvSpPr>
          <p:cNvPr id="209" name="TextBox 208">
            <a:extLst>
              <a:ext uri="{FF2B5EF4-FFF2-40B4-BE49-F238E27FC236}">
                <a16:creationId xmlns:a16="http://schemas.microsoft.com/office/drawing/2014/main" id="{2636F17B-A4DE-337B-051E-BEB20E5E9EAB}"/>
              </a:ext>
            </a:extLst>
          </p:cNvPr>
          <p:cNvSpPr txBox="1"/>
          <p:nvPr/>
        </p:nvSpPr>
        <p:spPr>
          <a:xfrm>
            <a:off x="6147835" y="4428505"/>
            <a:ext cx="1214764" cy="184666"/>
          </a:xfrm>
          <a:prstGeom prst="rect">
            <a:avLst/>
          </a:prstGeom>
          <a:noFill/>
          <a:ln>
            <a:noFill/>
          </a:ln>
        </p:spPr>
        <p:txBody>
          <a:bodyPr wrap="none" lIns="0" tIns="0" rIns="0" bIns="0" rtlCol="0">
            <a:spAutoFit/>
          </a:bodyPr>
          <a:lstStyle/>
          <a:p>
            <a:pPr defTabSz="914400" fontAlgn="base">
              <a:spcBef>
                <a:spcPct val="0"/>
              </a:spcBef>
              <a:spcAft>
                <a:spcPct val="0"/>
              </a:spcAft>
            </a:pPr>
            <a:r>
              <a:rPr lang="en-US" sz="1200" b="1" dirty="0" err="1">
                <a:solidFill>
                  <a:prstClr val="white"/>
                </a:solidFill>
                <a:latin typeface="Courier"/>
                <a:ea typeface="ＭＳ Ｐゴシック" pitchFamily="-1" charset="-128"/>
                <a:cs typeface="Courier New"/>
              </a:rPr>
              <a:t>Reg</a:t>
            </a:r>
            <a:r>
              <a:rPr lang="en-US" sz="1200" b="1" dirty="0">
                <a:solidFill>
                  <a:prstClr val="white"/>
                </a:solidFill>
                <a:latin typeface="Courier"/>
                <a:ea typeface="ＭＳ Ｐゴシック" pitchFamily="-1" charset="-128"/>
                <a:cs typeface="Courier New"/>
              </a:rPr>
              <a:t>[2]+</a:t>
            </a:r>
            <a:r>
              <a:rPr lang="en-US" sz="1200" b="1" dirty="0" err="1">
                <a:solidFill>
                  <a:prstClr val="white"/>
                </a:solidFill>
                <a:latin typeface="Courier"/>
                <a:ea typeface="ＭＳ Ｐゴシック" pitchFamily="-1" charset="-128"/>
                <a:cs typeface="Courier New"/>
              </a:rPr>
              <a:t>Reg</a:t>
            </a:r>
            <a:r>
              <a:rPr lang="en-US" sz="1200" b="1" dirty="0">
                <a:solidFill>
                  <a:prstClr val="white"/>
                </a:solidFill>
                <a:latin typeface="Courier"/>
                <a:ea typeface="ＭＳ Ｐゴシック" pitchFamily="-1" charset="-128"/>
                <a:cs typeface="Courier New"/>
              </a:rPr>
              <a:t>[3]</a:t>
            </a:r>
          </a:p>
        </p:txBody>
      </p:sp>
      <p:cxnSp>
        <p:nvCxnSpPr>
          <p:cNvPr id="2" name="Google Shape;513;p29">
            <a:extLst>
              <a:ext uri="{FF2B5EF4-FFF2-40B4-BE49-F238E27FC236}">
                <a16:creationId xmlns:a16="http://schemas.microsoft.com/office/drawing/2014/main" id="{13336D4C-5409-0FAC-9209-26D07CF6F0DD}"/>
              </a:ext>
            </a:extLst>
          </p:cNvPr>
          <p:cNvCxnSpPr/>
          <p:nvPr/>
        </p:nvCxnSpPr>
        <p:spPr>
          <a:xfrm rot="10800000" flipH="1">
            <a:off x="3141125" y="21082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3" name="Google Shape;514;p29">
            <a:extLst>
              <a:ext uri="{FF2B5EF4-FFF2-40B4-BE49-F238E27FC236}">
                <a16:creationId xmlns:a16="http://schemas.microsoft.com/office/drawing/2014/main" id="{4C24E743-9E91-B734-A978-40437E81A890}"/>
              </a:ext>
            </a:extLst>
          </p:cNvPr>
          <p:cNvCxnSpPr/>
          <p:nvPr/>
        </p:nvCxnSpPr>
        <p:spPr>
          <a:xfrm rot="10800000">
            <a:off x="3141080" y="2108200"/>
            <a:ext cx="95600" cy="304800"/>
          </a:xfrm>
          <a:prstGeom prst="straightConnector1">
            <a:avLst/>
          </a:prstGeom>
          <a:noFill/>
          <a:ln w="28575" cap="rnd" cmpd="sng">
            <a:solidFill>
              <a:schemeClr val="dk1"/>
            </a:solidFill>
            <a:prstDash val="solid"/>
            <a:round/>
            <a:headEnd type="none" w="sm" len="sm"/>
            <a:tailEnd type="none" w="sm" len="sm"/>
          </a:ln>
        </p:spPr>
      </p:cxnSp>
    </p:spTree>
    <p:extLst>
      <p:ext uri="{BB962C8B-B14F-4D97-AF65-F5344CB8AC3E}">
        <p14:creationId xmlns:p14="http://schemas.microsoft.com/office/powerpoint/2010/main" val="37896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24152-A164-CCC3-A217-BDC9F1243421}"/>
            </a:ext>
          </a:extLst>
        </p:cNvPr>
        <p:cNvGrpSpPr/>
        <p:nvPr/>
      </p:nvGrpSpPr>
      <p:grpSpPr>
        <a:xfrm>
          <a:off x="0" y="0"/>
          <a:ext cx="0" cy="0"/>
          <a:chOff x="0" y="0"/>
          <a:chExt cx="0" cy="0"/>
        </a:xfrm>
      </p:grpSpPr>
      <p:cxnSp>
        <p:nvCxnSpPr>
          <p:cNvPr id="108" name="Straight Connector 107">
            <a:extLst>
              <a:ext uri="{FF2B5EF4-FFF2-40B4-BE49-F238E27FC236}">
                <a16:creationId xmlns:a16="http://schemas.microsoft.com/office/drawing/2014/main" id="{68320A21-7CE4-F794-66B3-2BCC375EA9DE}"/>
              </a:ext>
            </a:extLst>
          </p:cNvPr>
          <p:cNvCxnSpPr/>
          <p:nvPr/>
        </p:nvCxnSpPr>
        <p:spPr>
          <a:xfrm>
            <a:off x="2337233" y="2828299"/>
            <a:ext cx="6002631" cy="1"/>
          </a:xfrm>
          <a:prstGeom prst="line">
            <a:avLst/>
          </a:prstGeom>
          <a:noFill/>
          <a:ln w="28575" cap="rnd" cmpd="sng" algn="ctr">
            <a:solidFill>
              <a:sysClr val="window" lastClr="FFFFFF"/>
            </a:solidFill>
            <a:prstDash val="solid"/>
          </a:ln>
          <a:effectLst/>
        </p:spPr>
      </p:cxnSp>
      <p:cxnSp>
        <p:nvCxnSpPr>
          <p:cNvPr id="109" name="Straight Connector 108">
            <a:extLst>
              <a:ext uri="{FF2B5EF4-FFF2-40B4-BE49-F238E27FC236}">
                <a16:creationId xmlns:a16="http://schemas.microsoft.com/office/drawing/2014/main" id="{5E03431E-E71E-C4DB-EAB1-841B287F7882}"/>
              </a:ext>
            </a:extLst>
          </p:cNvPr>
          <p:cNvCxnSpPr/>
          <p:nvPr/>
        </p:nvCxnSpPr>
        <p:spPr>
          <a:xfrm flipV="1">
            <a:off x="3120185" y="2599699"/>
            <a:ext cx="130492" cy="228600"/>
          </a:xfrm>
          <a:prstGeom prst="line">
            <a:avLst/>
          </a:prstGeom>
          <a:noFill/>
          <a:ln w="28575" cap="rnd" cmpd="sng" algn="ctr">
            <a:solidFill>
              <a:sysClr val="window" lastClr="FFFFFF"/>
            </a:solidFill>
            <a:prstDash val="solid"/>
          </a:ln>
          <a:effectLst/>
        </p:spPr>
      </p:cxnSp>
      <p:cxnSp>
        <p:nvCxnSpPr>
          <p:cNvPr id="110" name="Straight Connector 109">
            <a:extLst>
              <a:ext uri="{FF2B5EF4-FFF2-40B4-BE49-F238E27FC236}">
                <a16:creationId xmlns:a16="http://schemas.microsoft.com/office/drawing/2014/main" id="{5DACA69E-B8AC-7BFD-AD89-0901A8D4A6B6}"/>
              </a:ext>
            </a:extLst>
          </p:cNvPr>
          <p:cNvCxnSpPr/>
          <p:nvPr/>
        </p:nvCxnSpPr>
        <p:spPr>
          <a:xfrm flipH="1" flipV="1">
            <a:off x="5469041" y="2599699"/>
            <a:ext cx="130492" cy="228600"/>
          </a:xfrm>
          <a:prstGeom prst="line">
            <a:avLst/>
          </a:prstGeom>
          <a:noFill/>
          <a:ln w="28575" cap="rnd" cmpd="sng" algn="ctr">
            <a:solidFill>
              <a:sysClr val="window" lastClr="FFFFFF"/>
            </a:solidFill>
            <a:prstDash val="solid"/>
          </a:ln>
          <a:effectLst/>
        </p:spPr>
      </p:cxnSp>
      <p:cxnSp>
        <p:nvCxnSpPr>
          <p:cNvPr id="111" name="Straight Connector 110">
            <a:extLst>
              <a:ext uri="{FF2B5EF4-FFF2-40B4-BE49-F238E27FC236}">
                <a16:creationId xmlns:a16="http://schemas.microsoft.com/office/drawing/2014/main" id="{841F75D8-2EF8-6B14-E347-A26AF841B186}"/>
              </a:ext>
            </a:extLst>
          </p:cNvPr>
          <p:cNvCxnSpPr/>
          <p:nvPr/>
        </p:nvCxnSpPr>
        <p:spPr>
          <a:xfrm flipV="1">
            <a:off x="7817896" y="2599699"/>
            <a:ext cx="130492" cy="228600"/>
          </a:xfrm>
          <a:prstGeom prst="line">
            <a:avLst/>
          </a:prstGeom>
          <a:noFill/>
          <a:ln w="28575" cap="rnd" cmpd="sng" algn="ctr">
            <a:solidFill>
              <a:sysClr val="window" lastClr="FFFFFF"/>
            </a:solidFill>
            <a:prstDash val="solid"/>
          </a:ln>
          <a:effectLst/>
        </p:spPr>
      </p:cxnSp>
      <p:sp>
        <p:nvSpPr>
          <p:cNvPr id="112" name="TextBox 111">
            <a:extLst>
              <a:ext uri="{FF2B5EF4-FFF2-40B4-BE49-F238E27FC236}">
                <a16:creationId xmlns:a16="http://schemas.microsoft.com/office/drawing/2014/main" id="{54EA5899-6D15-77A5-2EC0-9B59E344B1E9}"/>
              </a:ext>
            </a:extLst>
          </p:cNvPr>
          <p:cNvSpPr txBox="1"/>
          <p:nvPr/>
        </p:nvSpPr>
        <p:spPr>
          <a:xfrm>
            <a:off x="4217099" y="25996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1000</a:t>
            </a:r>
          </a:p>
        </p:txBody>
      </p:sp>
      <p:cxnSp>
        <p:nvCxnSpPr>
          <p:cNvPr id="113" name="Straight Connector 112">
            <a:extLst>
              <a:ext uri="{FF2B5EF4-FFF2-40B4-BE49-F238E27FC236}">
                <a16:creationId xmlns:a16="http://schemas.microsoft.com/office/drawing/2014/main" id="{A4776E2B-844A-8A88-6E56-C6723C2F079C}"/>
              </a:ext>
            </a:extLst>
          </p:cNvPr>
          <p:cNvCxnSpPr/>
          <p:nvPr/>
        </p:nvCxnSpPr>
        <p:spPr>
          <a:xfrm flipH="1" flipV="1">
            <a:off x="3120185" y="2599699"/>
            <a:ext cx="130492" cy="228600"/>
          </a:xfrm>
          <a:prstGeom prst="line">
            <a:avLst/>
          </a:prstGeom>
          <a:noFill/>
          <a:ln w="28575" cap="rnd" cmpd="sng" algn="ctr">
            <a:solidFill>
              <a:sysClr val="window" lastClr="FFFFFF"/>
            </a:solidFill>
            <a:prstDash val="solid"/>
          </a:ln>
          <a:effectLst/>
        </p:spPr>
      </p:cxnSp>
      <p:cxnSp>
        <p:nvCxnSpPr>
          <p:cNvPr id="114" name="Straight Connector 113">
            <a:extLst>
              <a:ext uri="{FF2B5EF4-FFF2-40B4-BE49-F238E27FC236}">
                <a16:creationId xmlns:a16="http://schemas.microsoft.com/office/drawing/2014/main" id="{2B0FA988-F844-D568-36BA-5E51FCD7F3A9}"/>
              </a:ext>
            </a:extLst>
          </p:cNvPr>
          <p:cNvCxnSpPr/>
          <p:nvPr/>
        </p:nvCxnSpPr>
        <p:spPr>
          <a:xfrm flipV="1">
            <a:off x="5469041" y="2599699"/>
            <a:ext cx="130492" cy="228600"/>
          </a:xfrm>
          <a:prstGeom prst="line">
            <a:avLst/>
          </a:prstGeom>
          <a:noFill/>
          <a:ln w="28575" cap="rnd" cmpd="sng" algn="ctr">
            <a:solidFill>
              <a:sysClr val="window" lastClr="FFFFFF"/>
            </a:solidFill>
            <a:prstDash val="solid"/>
          </a:ln>
          <a:effectLst/>
        </p:spPr>
      </p:cxnSp>
      <p:cxnSp>
        <p:nvCxnSpPr>
          <p:cNvPr id="115" name="Straight Connector 114">
            <a:extLst>
              <a:ext uri="{FF2B5EF4-FFF2-40B4-BE49-F238E27FC236}">
                <a16:creationId xmlns:a16="http://schemas.microsoft.com/office/drawing/2014/main" id="{BD4E0F6C-18BB-FE89-2662-192E33042251}"/>
              </a:ext>
            </a:extLst>
          </p:cNvPr>
          <p:cNvCxnSpPr/>
          <p:nvPr/>
        </p:nvCxnSpPr>
        <p:spPr>
          <a:xfrm flipH="1" flipV="1">
            <a:off x="7817896" y="2599699"/>
            <a:ext cx="130492" cy="228600"/>
          </a:xfrm>
          <a:prstGeom prst="line">
            <a:avLst/>
          </a:prstGeom>
          <a:noFill/>
          <a:ln w="28575" cap="rnd" cmpd="sng" algn="ctr">
            <a:solidFill>
              <a:sysClr val="window" lastClr="FFFFFF"/>
            </a:solidFill>
            <a:prstDash val="solid"/>
          </a:ln>
          <a:effectLst/>
        </p:spPr>
      </p:cxnSp>
      <p:cxnSp>
        <p:nvCxnSpPr>
          <p:cNvPr id="116" name="Straight Connector 115">
            <a:extLst>
              <a:ext uri="{FF2B5EF4-FFF2-40B4-BE49-F238E27FC236}">
                <a16:creationId xmlns:a16="http://schemas.microsoft.com/office/drawing/2014/main" id="{0E3D4B98-A71F-6732-2592-4DE665C132FB}"/>
              </a:ext>
            </a:extLst>
          </p:cNvPr>
          <p:cNvCxnSpPr/>
          <p:nvPr/>
        </p:nvCxnSpPr>
        <p:spPr>
          <a:xfrm>
            <a:off x="2337233" y="2599699"/>
            <a:ext cx="6002631" cy="1"/>
          </a:xfrm>
          <a:prstGeom prst="line">
            <a:avLst/>
          </a:prstGeom>
          <a:noFill/>
          <a:ln w="28575" cap="rnd" cmpd="sng" algn="ctr">
            <a:solidFill>
              <a:sysClr val="window" lastClr="FFFFFF"/>
            </a:solidFill>
            <a:prstDash val="solid"/>
          </a:ln>
          <a:effectLst/>
        </p:spPr>
      </p:cxnSp>
      <p:sp>
        <p:nvSpPr>
          <p:cNvPr id="117" name="TextBox 116">
            <a:extLst>
              <a:ext uri="{FF2B5EF4-FFF2-40B4-BE49-F238E27FC236}">
                <a16:creationId xmlns:a16="http://schemas.microsoft.com/office/drawing/2014/main" id="{8725CF2C-0BDB-E7FF-2485-C929894B02F5}"/>
              </a:ext>
            </a:extLst>
          </p:cNvPr>
          <p:cNvSpPr txBox="1"/>
          <p:nvPr/>
        </p:nvSpPr>
        <p:spPr>
          <a:xfrm>
            <a:off x="5848249" y="25996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1004</a:t>
            </a:r>
          </a:p>
        </p:txBody>
      </p:sp>
      <p:sp>
        <p:nvSpPr>
          <p:cNvPr id="118" name="TextBox 117">
            <a:extLst>
              <a:ext uri="{FF2B5EF4-FFF2-40B4-BE49-F238E27FC236}">
                <a16:creationId xmlns:a16="http://schemas.microsoft.com/office/drawing/2014/main" id="{A6EB7935-2C5E-02A5-37A2-608E45F3F7AB}"/>
              </a:ext>
            </a:extLst>
          </p:cNvPr>
          <p:cNvSpPr txBox="1"/>
          <p:nvPr/>
        </p:nvSpPr>
        <p:spPr>
          <a:xfrm>
            <a:off x="2277522" y="2628368"/>
            <a:ext cx="169918"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PC</a:t>
            </a:r>
          </a:p>
        </p:txBody>
      </p:sp>
      <p:cxnSp>
        <p:nvCxnSpPr>
          <p:cNvPr id="120" name="Straight Connector 119">
            <a:extLst>
              <a:ext uri="{FF2B5EF4-FFF2-40B4-BE49-F238E27FC236}">
                <a16:creationId xmlns:a16="http://schemas.microsoft.com/office/drawing/2014/main" id="{78BDDBD3-6399-0018-3132-F78B81723B1E}"/>
              </a:ext>
            </a:extLst>
          </p:cNvPr>
          <p:cNvCxnSpPr/>
          <p:nvPr/>
        </p:nvCxnSpPr>
        <p:spPr>
          <a:xfrm>
            <a:off x="2761571" y="3133099"/>
            <a:ext cx="5806892" cy="0"/>
          </a:xfrm>
          <a:prstGeom prst="line">
            <a:avLst/>
          </a:prstGeom>
          <a:noFill/>
          <a:ln w="28575" cap="rnd" cmpd="sng" algn="ctr">
            <a:solidFill>
              <a:sysClr val="window" lastClr="FFFFFF"/>
            </a:solidFill>
            <a:prstDash val="solid"/>
          </a:ln>
          <a:effectLst/>
        </p:spPr>
      </p:cxnSp>
      <p:cxnSp>
        <p:nvCxnSpPr>
          <p:cNvPr id="121" name="Straight Connector 120">
            <a:extLst>
              <a:ext uri="{FF2B5EF4-FFF2-40B4-BE49-F238E27FC236}">
                <a16:creationId xmlns:a16="http://schemas.microsoft.com/office/drawing/2014/main" id="{55782E0A-C92C-F117-D291-CFEF7ACC07E3}"/>
              </a:ext>
            </a:extLst>
          </p:cNvPr>
          <p:cNvCxnSpPr/>
          <p:nvPr/>
        </p:nvCxnSpPr>
        <p:spPr>
          <a:xfrm flipV="1">
            <a:off x="3544523" y="2904499"/>
            <a:ext cx="130492" cy="228600"/>
          </a:xfrm>
          <a:prstGeom prst="line">
            <a:avLst/>
          </a:prstGeom>
          <a:noFill/>
          <a:ln w="28575" cap="rnd" cmpd="sng" algn="ctr">
            <a:solidFill>
              <a:sysClr val="window" lastClr="FFFFFF"/>
            </a:solidFill>
            <a:prstDash val="solid"/>
          </a:ln>
          <a:effectLst/>
        </p:spPr>
      </p:cxnSp>
      <p:cxnSp>
        <p:nvCxnSpPr>
          <p:cNvPr id="122" name="Straight Connector 121">
            <a:extLst>
              <a:ext uri="{FF2B5EF4-FFF2-40B4-BE49-F238E27FC236}">
                <a16:creationId xmlns:a16="http://schemas.microsoft.com/office/drawing/2014/main" id="{F32C383D-A6B1-D8E5-89DA-F1F3EEF18699}"/>
              </a:ext>
            </a:extLst>
          </p:cNvPr>
          <p:cNvCxnSpPr/>
          <p:nvPr/>
        </p:nvCxnSpPr>
        <p:spPr>
          <a:xfrm flipH="1" flipV="1">
            <a:off x="5893378" y="2904499"/>
            <a:ext cx="130492" cy="228600"/>
          </a:xfrm>
          <a:prstGeom prst="line">
            <a:avLst/>
          </a:prstGeom>
          <a:noFill/>
          <a:ln w="28575" cap="rnd" cmpd="sng" algn="ctr">
            <a:solidFill>
              <a:sysClr val="window" lastClr="FFFFFF"/>
            </a:solidFill>
            <a:prstDash val="solid"/>
          </a:ln>
          <a:effectLst/>
        </p:spPr>
      </p:cxnSp>
      <p:cxnSp>
        <p:nvCxnSpPr>
          <p:cNvPr id="123" name="Straight Connector 122">
            <a:extLst>
              <a:ext uri="{FF2B5EF4-FFF2-40B4-BE49-F238E27FC236}">
                <a16:creationId xmlns:a16="http://schemas.microsoft.com/office/drawing/2014/main" id="{33F3A4D8-31BC-935B-C85B-31854B0E1F42}"/>
              </a:ext>
            </a:extLst>
          </p:cNvPr>
          <p:cNvCxnSpPr/>
          <p:nvPr/>
        </p:nvCxnSpPr>
        <p:spPr>
          <a:xfrm flipV="1">
            <a:off x="8242233" y="2904499"/>
            <a:ext cx="130492" cy="228600"/>
          </a:xfrm>
          <a:prstGeom prst="line">
            <a:avLst/>
          </a:prstGeom>
          <a:noFill/>
          <a:ln w="28575" cap="rnd" cmpd="sng" algn="ctr">
            <a:solidFill>
              <a:sysClr val="window" lastClr="FFFFFF"/>
            </a:solidFill>
            <a:prstDash val="solid"/>
          </a:ln>
          <a:effectLst/>
        </p:spPr>
      </p:cxnSp>
      <p:sp>
        <p:nvSpPr>
          <p:cNvPr id="124" name="TextBox 123">
            <a:extLst>
              <a:ext uri="{FF2B5EF4-FFF2-40B4-BE49-F238E27FC236}">
                <a16:creationId xmlns:a16="http://schemas.microsoft.com/office/drawing/2014/main" id="{B9FE4AA3-C802-5DCF-328F-A3534C9E9990}"/>
              </a:ext>
            </a:extLst>
          </p:cNvPr>
          <p:cNvSpPr txBox="1"/>
          <p:nvPr/>
        </p:nvSpPr>
        <p:spPr>
          <a:xfrm>
            <a:off x="4504794" y="29044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1004</a:t>
            </a:r>
          </a:p>
        </p:txBody>
      </p:sp>
      <p:cxnSp>
        <p:nvCxnSpPr>
          <p:cNvPr id="125" name="Straight Connector 124">
            <a:extLst>
              <a:ext uri="{FF2B5EF4-FFF2-40B4-BE49-F238E27FC236}">
                <a16:creationId xmlns:a16="http://schemas.microsoft.com/office/drawing/2014/main" id="{10C289C5-3529-85B6-403F-5937A4797E26}"/>
              </a:ext>
            </a:extLst>
          </p:cNvPr>
          <p:cNvCxnSpPr/>
          <p:nvPr/>
        </p:nvCxnSpPr>
        <p:spPr>
          <a:xfrm flipH="1" flipV="1">
            <a:off x="3544523" y="2904499"/>
            <a:ext cx="130492" cy="228600"/>
          </a:xfrm>
          <a:prstGeom prst="line">
            <a:avLst/>
          </a:prstGeom>
          <a:noFill/>
          <a:ln w="28575" cap="rnd" cmpd="sng" algn="ctr">
            <a:solidFill>
              <a:sysClr val="window" lastClr="FFFFFF"/>
            </a:solidFill>
            <a:prstDash val="solid"/>
          </a:ln>
          <a:effectLst/>
        </p:spPr>
      </p:cxnSp>
      <p:cxnSp>
        <p:nvCxnSpPr>
          <p:cNvPr id="126" name="Straight Connector 125">
            <a:extLst>
              <a:ext uri="{FF2B5EF4-FFF2-40B4-BE49-F238E27FC236}">
                <a16:creationId xmlns:a16="http://schemas.microsoft.com/office/drawing/2014/main" id="{C1316EFD-1A55-2627-CD05-3ADF63E03AA6}"/>
              </a:ext>
            </a:extLst>
          </p:cNvPr>
          <p:cNvCxnSpPr/>
          <p:nvPr/>
        </p:nvCxnSpPr>
        <p:spPr>
          <a:xfrm flipV="1">
            <a:off x="5893378" y="2904499"/>
            <a:ext cx="130492" cy="228600"/>
          </a:xfrm>
          <a:prstGeom prst="line">
            <a:avLst/>
          </a:prstGeom>
          <a:noFill/>
          <a:ln w="28575" cap="rnd" cmpd="sng" algn="ctr">
            <a:solidFill>
              <a:sysClr val="window" lastClr="FFFFFF"/>
            </a:solidFill>
            <a:prstDash val="solid"/>
          </a:ln>
          <a:effectLst/>
        </p:spPr>
      </p:cxnSp>
      <p:cxnSp>
        <p:nvCxnSpPr>
          <p:cNvPr id="127" name="Straight Connector 126">
            <a:extLst>
              <a:ext uri="{FF2B5EF4-FFF2-40B4-BE49-F238E27FC236}">
                <a16:creationId xmlns:a16="http://schemas.microsoft.com/office/drawing/2014/main" id="{56DFC704-CEF5-95D6-7CD4-6AE5C3D87DD9}"/>
              </a:ext>
            </a:extLst>
          </p:cNvPr>
          <p:cNvCxnSpPr/>
          <p:nvPr/>
        </p:nvCxnSpPr>
        <p:spPr>
          <a:xfrm flipH="1" flipV="1">
            <a:off x="8242233" y="2904499"/>
            <a:ext cx="130492" cy="228600"/>
          </a:xfrm>
          <a:prstGeom prst="line">
            <a:avLst/>
          </a:prstGeom>
          <a:noFill/>
          <a:ln w="28575" cap="rnd" cmpd="sng" algn="ctr">
            <a:solidFill>
              <a:sysClr val="window" lastClr="FFFFFF"/>
            </a:solidFill>
            <a:prstDash val="solid"/>
          </a:ln>
          <a:effectLst/>
        </p:spPr>
      </p:cxnSp>
      <p:cxnSp>
        <p:nvCxnSpPr>
          <p:cNvPr id="128" name="Straight Connector 127">
            <a:extLst>
              <a:ext uri="{FF2B5EF4-FFF2-40B4-BE49-F238E27FC236}">
                <a16:creationId xmlns:a16="http://schemas.microsoft.com/office/drawing/2014/main" id="{F4C0BF6A-F699-DFF0-4CDC-9749DA300A6C}"/>
              </a:ext>
            </a:extLst>
          </p:cNvPr>
          <p:cNvCxnSpPr/>
          <p:nvPr/>
        </p:nvCxnSpPr>
        <p:spPr>
          <a:xfrm>
            <a:off x="2761571" y="2904499"/>
            <a:ext cx="5806892" cy="0"/>
          </a:xfrm>
          <a:prstGeom prst="line">
            <a:avLst/>
          </a:prstGeom>
          <a:noFill/>
          <a:ln w="28575" cap="rnd" cmpd="sng" algn="ctr">
            <a:solidFill>
              <a:sysClr val="window" lastClr="FFFFFF"/>
            </a:solidFill>
            <a:prstDash val="solid"/>
          </a:ln>
          <a:effectLst/>
        </p:spPr>
      </p:cxnSp>
      <p:sp>
        <p:nvSpPr>
          <p:cNvPr id="129" name="TextBox 128">
            <a:extLst>
              <a:ext uri="{FF2B5EF4-FFF2-40B4-BE49-F238E27FC236}">
                <a16:creationId xmlns:a16="http://schemas.microsoft.com/office/drawing/2014/main" id="{491F1EF7-C1C2-0C76-E913-A032F0416E33}"/>
              </a:ext>
            </a:extLst>
          </p:cNvPr>
          <p:cNvSpPr txBox="1"/>
          <p:nvPr/>
        </p:nvSpPr>
        <p:spPr>
          <a:xfrm>
            <a:off x="6598816" y="29044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1008</a:t>
            </a:r>
          </a:p>
        </p:txBody>
      </p:sp>
      <p:sp>
        <p:nvSpPr>
          <p:cNvPr id="130" name="TextBox 129">
            <a:extLst>
              <a:ext uri="{FF2B5EF4-FFF2-40B4-BE49-F238E27FC236}">
                <a16:creationId xmlns:a16="http://schemas.microsoft.com/office/drawing/2014/main" id="{A51B017B-96A5-99FE-5D84-AE2A27FACBDC}"/>
              </a:ext>
            </a:extLst>
          </p:cNvPr>
          <p:cNvSpPr txBox="1"/>
          <p:nvPr/>
        </p:nvSpPr>
        <p:spPr>
          <a:xfrm>
            <a:off x="2277522" y="2941864"/>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PC+4</a:t>
            </a:r>
          </a:p>
        </p:txBody>
      </p:sp>
      <p:cxnSp>
        <p:nvCxnSpPr>
          <p:cNvPr id="132" name="Straight Connector 131">
            <a:extLst>
              <a:ext uri="{FF2B5EF4-FFF2-40B4-BE49-F238E27FC236}">
                <a16:creationId xmlns:a16="http://schemas.microsoft.com/office/drawing/2014/main" id="{692E404A-9C06-3CC9-829E-306A7095E5BB}"/>
              </a:ext>
            </a:extLst>
          </p:cNvPr>
          <p:cNvCxnSpPr/>
          <p:nvPr/>
        </p:nvCxnSpPr>
        <p:spPr>
          <a:xfrm>
            <a:off x="2803707" y="3437899"/>
            <a:ext cx="5806893" cy="0"/>
          </a:xfrm>
          <a:prstGeom prst="line">
            <a:avLst/>
          </a:prstGeom>
          <a:noFill/>
          <a:ln w="28575" cap="rnd" cmpd="sng" algn="ctr">
            <a:solidFill>
              <a:sysClr val="window" lastClr="FFFFFF"/>
            </a:solidFill>
            <a:prstDash val="solid"/>
          </a:ln>
          <a:effectLst/>
        </p:spPr>
      </p:cxnSp>
      <p:cxnSp>
        <p:nvCxnSpPr>
          <p:cNvPr id="133" name="Straight Connector 132">
            <a:extLst>
              <a:ext uri="{FF2B5EF4-FFF2-40B4-BE49-F238E27FC236}">
                <a16:creationId xmlns:a16="http://schemas.microsoft.com/office/drawing/2014/main" id="{830001C5-1A37-4771-8A31-AB38CB10D30E}"/>
              </a:ext>
            </a:extLst>
          </p:cNvPr>
          <p:cNvCxnSpPr/>
          <p:nvPr/>
        </p:nvCxnSpPr>
        <p:spPr>
          <a:xfrm flipV="1">
            <a:off x="3586659" y="3209299"/>
            <a:ext cx="130492" cy="228600"/>
          </a:xfrm>
          <a:prstGeom prst="line">
            <a:avLst/>
          </a:prstGeom>
          <a:noFill/>
          <a:ln w="28575" cap="rnd" cmpd="sng" algn="ctr">
            <a:solidFill>
              <a:sysClr val="window" lastClr="FFFFFF"/>
            </a:solidFill>
            <a:prstDash val="solid"/>
          </a:ln>
          <a:effectLst/>
        </p:spPr>
      </p:cxnSp>
      <p:cxnSp>
        <p:nvCxnSpPr>
          <p:cNvPr id="134" name="Straight Connector 133">
            <a:extLst>
              <a:ext uri="{FF2B5EF4-FFF2-40B4-BE49-F238E27FC236}">
                <a16:creationId xmlns:a16="http://schemas.microsoft.com/office/drawing/2014/main" id="{6BDA8F00-1309-141A-E9D1-847476D8AAF8}"/>
              </a:ext>
            </a:extLst>
          </p:cNvPr>
          <p:cNvCxnSpPr/>
          <p:nvPr/>
        </p:nvCxnSpPr>
        <p:spPr>
          <a:xfrm flipH="1" flipV="1">
            <a:off x="5935515" y="3209299"/>
            <a:ext cx="130492" cy="228600"/>
          </a:xfrm>
          <a:prstGeom prst="line">
            <a:avLst/>
          </a:prstGeom>
          <a:noFill/>
          <a:ln w="28575" cap="rnd" cmpd="sng" algn="ctr">
            <a:solidFill>
              <a:sysClr val="window" lastClr="FFFFFF"/>
            </a:solidFill>
            <a:prstDash val="solid"/>
          </a:ln>
          <a:effectLst/>
        </p:spPr>
      </p:cxnSp>
      <p:cxnSp>
        <p:nvCxnSpPr>
          <p:cNvPr id="135" name="Straight Connector 134">
            <a:extLst>
              <a:ext uri="{FF2B5EF4-FFF2-40B4-BE49-F238E27FC236}">
                <a16:creationId xmlns:a16="http://schemas.microsoft.com/office/drawing/2014/main" id="{304D3208-66A3-8620-8F68-9ACD04FBEF79}"/>
              </a:ext>
            </a:extLst>
          </p:cNvPr>
          <p:cNvCxnSpPr/>
          <p:nvPr/>
        </p:nvCxnSpPr>
        <p:spPr>
          <a:xfrm flipV="1">
            <a:off x="8284370" y="3209299"/>
            <a:ext cx="130492" cy="228600"/>
          </a:xfrm>
          <a:prstGeom prst="line">
            <a:avLst/>
          </a:prstGeom>
          <a:noFill/>
          <a:ln w="28575" cap="rnd" cmpd="sng" algn="ctr">
            <a:solidFill>
              <a:sysClr val="window" lastClr="FFFFFF"/>
            </a:solidFill>
            <a:prstDash val="solid"/>
          </a:ln>
          <a:effectLst/>
        </p:spPr>
      </p:cxnSp>
      <p:sp>
        <p:nvSpPr>
          <p:cNvPr id="136" name="TextBox 135">
            <a:extLst>
              <a:ext uri="{FF2B5EF4-FFF2-40B4-BE49-F238E27FC236}">
                <a16:creationId xmlns:a16="http://schemas.microsoft.com/office/drawing/2014/main" id="{324C139C-00F8-C299-0AF5-4EC85B0629EA}"/>
              </a:ext>
            </a:extLst>
          </p:cNvPr>
          <p:cNvSpPr txBox="1"/>
          <p:nvPr/>
        </p:nvSpPr>
        <p:spPr>
          <a:xfrm>
            <a:off x="4240020" y="3209299"/>
            <a:ext cx="101951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add x1 x2 x3</a:t>
            </a:r>
          </a:p>
        </p:txBody>
      </p:sp>
      <p:cxnSp>
        <p:nvCxnSpPr>
          <p:cNvPr id="137" name="Straight Connector 136">
            <a:extLst>
              <a:ext uri="{FF2B5EF4-FFF2-40B4-BE49-F238E27FC236}">
                <a16:creationId xmlns:a16="http://schemas.microsoft.com/office/drawing/2014/main" id="{748DF7B4-63A2-2E3D-C5A4-35FE4441927F}"/>
              </a:ext>
            </a:extLst>
          </p:cNvPr>
          <p:cNvCxnSpPr/>
          <p:nvPr/>
        </p:nvCxnSpPr>
        <p:spPr>
          <a:xfrm flipH="1" flipV="1">
            <a:off x="3586659" y="3209299"/>
            <a:ext cx="130492" cy="228600"/>
          </a:xfrm>
          <a:prstGeom prst="line">
            <a:avLst/>
          </a:prstGeom>
          <a:noFill/>
          <a:ln w="28575" cap="rnd" cmpd="sng" algn="ctr">
            <a:solidFill>
              <a:sysClr val="window" lastClr="FFFFFF"/>
            </a:solidFill>
            <a:prstDash val="solid"/>
          </a:ln>
          <a:effectLst/>
        </p:spPr>
      </p:cxnSp>
      <p:cxnSp>
        <p:nvCxnSpPr>
          <p:cNvPr id="138" name="Straight Connector 137">
            <a:extLst>
              <a:ext uri="{FF2B5EF4-FFF2-40B4-BE49-F238E27FC236}">
                <a16:creationId xmlns:a16="http://schemas.microsoft.com/office/drawing/2014/main" id="{E9CC36AD-8347-9FD9-8669-DE7924776DE4}"/>
              </a:ext>
            </a:extLst>
          </p:cNvPr>
          <p:cNvCxnSpPr/>
          <p:nvPr/>
        </p:nvCxnSpPr>
        <p:spPr>
          <a:xfrm flipV="1">
            <a:off x="5935515" y="3209299"/>
            <a:ext cx="130492" cy="228600"/>
          </a:xfrm>
          <a:prstGeom prst="line">
            <a:avLst/>
          </a:prstGeom>
          <a:noFill/>
          <a:ln w="28575" cap="rnd" cmpd="sng" algn="ctr">
            <a:solidFill>
              <a:sysClr val="window" lastClr="FFFFFF"/>
            </a:solidFill>
            <a:prstDash val="solid"/>
          </a:ln>
          <a:effectLst/>
        </p:spPr>
      </p:cxnSp>
      <p:cxnSp>
        <p:nvCxnSpPr>
          <p:cNvPr id="139" name="Straight Connector 138">
            <a:extLst>
              <a:ext uri="{FF2B5EF4-FFF2-40B4-BE49-F238E27FC236}">
                <a16:creationId xmlns:a16="http://schemas.microsoft.com/office/drawing/2014/main" id="{14736A0D-A254-B7E0-BA77-F387986632CC}"/>
              </a:ext>
            </a:extLst>
          </p:cNvPr>
          <p:cNvCxnSpPr/>
          <p:nvPr/>
        </p:nvCxnSpPr>
        <p:spPr>
          <a:xfrm flipH="1" flipV="1">
            <a:off x="8284370" y="3209299"/>
            <a:ext cx="130492" cy="228600"/>
          </a:xfrm>
          <a:prstGeom prst="line">
            <a:avLst/>
          </a:prstGeom>
          <a:noFill/>
          <a:ln w="28575" cap="rnd" cmpd="sng" algn="ctr">
            <a:solidFill>
              <a:sysClr val="window" lastClr="FFFFFF"/>
            </a:solidFill>
            <a:prstDash val="solid"/>
          </a:ln>
          <a:effectLst/>
        </p:spPr>
      </p:cxnSp>
      <p:cxnSp>
        <p:nvCxnSpPr>
          <p:cNvPr id="140" name="Straight Connector 139">
            <a:extLst>
              <a:ext uri="{FF2B5EF4-FFF2-40B4-BE49-F238E27FC236}">
                <a16:creationId xmlns:a16="http://schemas.microsoft.com/office/drawing/2014/main" id="{F7D76831-E6EC-2340-9D49-98A389C083BA}"/>
              </a:ext>
            </a:extLst>
          </p:cNvPr>
          <p:cNvCxnSpPr/>
          <p:nvPr/>
        </p:nvCxnSpPr>
        <p:spPr>
          <a:xfrm>
            <a:off x="2803707" y="3209299"/>
            <a:ext cx="5806893" cy="0"/>
          </a:xfrm>
          <a:prstGeom prst="line">
            <a:avLst/>
          </a:prstGeom>
          <a:noFill/>
          <a:ln w="28575" cap="rnd" cmpd="sng" algn="ctr">
            <a:solidFill>
              <a:sysClr val="window" lastClr="FFFFFF"/>
            </a:solidFill>
            <a:prstDash val="solid"/>
          </a:ln>
          <a:effectLst/>
        </p:spPr>
      </p:cxnSp>
      <p:sp>
        <p:nvSpPr>
          <p:cNvPr id="141" name="TextBox 140">
            <a:extLst>
              <a:ext uri="{FF2B5EF4-FFF2-40B4-BE49-F238E27FC236}">
                <a16:creationId xmlns:a16="http://schemas.microsoft.com/office/drawing/2014/main" id="{56DECED2-4BBE-3DC2-0815-FAD10196A30D}"/>
              </a:ext>
            </a:extLst>
          </p:cNvPr>
          <p:cNvSpPr txBox="1"/>
          <p:nvPr/>
        </p:nvSpPr>
        <p:spPr>
          <a:xfrm>
            <a:off x="6654121" y="3209299"/>
            <a:ext cx="1019510"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add x6 x7 x9</a:t>
            </a:r>
          </a:p>
        </p:txBody>
      </p:sp>
      <p:sp>
        <p:nvSpPr>
          <p:cNvPr id="142" name="TextBox 141">
            <a:extLst>
              <a:ext uri="{FF2B5EF4-FFF2-40B4-BE49-F238E27FC236}">
                <a16:creationId xmlns:a16="http://schemas.microsoft.com/office/drawing/2014/main" id="{15F89A03-BE3B-B12C-50EA-F9E42A7AC85A}"/>
              </a:ext>
            </a:extLst>
          </p:cNvPr>
          <p:cNvSpPr txBox="1"/>
          <p:nvPr/>
        </p:nvSpPr>
        <p:spPr>
          <a:xfrm>
            <a:off x="2277522" y="3225425"/>
            <a:ext cx="849592"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inst</a:t>
            </a: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[31:0]</a:t>
            </a:r>
          </a:p>
        </p:txBody>
      </p:sp>
      <p:cxnSp>
        <p:nvCxnSpPr>
          <p:cNvPr id="152" name="Straight Connector 151">
            <a:extLst>
              <a:ext uri="{FF2B5EF4-FFF2-40B4-BE49-F238E27FC236}">
                <a16:creationId xmlns:a16="http://schemas.microsoft.com/office/drawing/2014/main" id="{0B4BCFF3-AE2D-0385-18F7-06915D651179}"/>
              </a:ext>
            </a:extLst>
          </p:cNvPr>
          <p:cNvCxnSpPr>
            <a:cxnSpLocks/>
          </p:cNvCxnSpPr>
          <p:nvPr/>
        </p:nvCxnSpPr>
        <p:spPr>
          <a:xfrm>
            <a:off x="2277522" y="2523506"/>
            <a:ext cx="782952" cy="0"/>
          </a:xfrm>
          <a:prstGeom prst="line">
            <a:avLst/>
          </a:prstGeom>
          <a:noFill/>
          <a:ln w="28575" cap="rnd" cmpd="sng" algn="ctr">
            <a:solidFill>
              <a:sysClr val="window" lastClr="FFFFFF"/>
            </a:solidFill>
            <a:prstDash val="solid"/>
          </a:ln>
          <a:effectLst/>
        </p:spPr>
      </p:cxnSp>
      <p:cxnSp>
        <p:nvCxnSpPr>
          <p:cNvPr id="153" name="Straight Connector 152">
            <a:extLst>
              <a:ext uri="{FF2B5EF4-FFF2-40B4-BE49-F238E27FC236}">
                <a16:creationId xmlns:a16="http://schemas.microsoft.com/office/drawing/2014/main" id="{666FDCCE-D95B-0FDC-3175-20413D5FAEDA}"/>
              </a:ext>
            </a:extLst>
          </p:cNvPr>
          <p:cNvCxnSpPr>
            <a:cxnSpLocks/>
          </p:cNvCxnSpPr>
          <p:nvPr/>
        </p:nvCxnSpPr>
        <p:spPr>
          <a:xfrm flipV="1">
            <a:off x="3044464" y="2294906"/>
            <a:ext cx="130492" cy="228600"/>
          </a:xfrm>
          <a:prstGeom prst="line">
            <a:avLst/>
          </a:prstGeom>
          <a:noFill/>
          <a:ln w="28575" cap="rnd" cmpd="sng" algn="ctr">
            <a:solidFill>
              <a:sysClr val="window" lastClr="FFFFFF"/>
            </a:solidFill>
            <a:prstDash val="solid"/>
          </a:ln>
          <a:effectLst/>
        </p:spPr>
      </p:cxnSp>
      <p:cxnSp>
        <p:nvCxnSpPr>
          <p:cNvPr id="154" name="Straight Connector 153">
            <a:extLst>
              <a:ext uri="{FF2B5EF4-FFF2-40B4-BE49-F238E27FC236}">
                <a16:creationId xmlns:a16="http://schemas.microsoft.com/office/drawing/2014/main" id="{15EAD8FE-FF84-6F2C-F6E5-1978083D42D6}"/>
              </a:ext>
            </a:extLst>
          </p:cNvPr>
          <p:cNvCxnSpPr/>
          <p:nvPr/>
        </p:nvCxnSpPr>
        <p:spPr>
          <a:xfrm>
            <a:off x="3190966" y="2294906"/>
            <a:ext cx="1109182" cy="1"/>
          </a:xfrm>
          <a:prstGeom prst="line">
            <a:avLst/>
          </a:prstGeom>
          <a:noFill/>
          <a:ln w="28575" cap="rnd" cmpd="sng" algn="ctr">
            <a:solidFill>
              <a:sysClr val="window" lastClr="FFFFFF"/>
            </a:solidFill>
            <a:prstDash val="solid"/>
          </a:ln>
          <a:effectLst/>
        </p:spPr>
      </p:cxnSp>
      <p:cxnSp>
        <p:nvCxnSpPr>
          <p:cNvPr id="155" name="Straight Connector 154">
            <a:extLst>
              <a:ext uri="{FF2B5EF4-FFF2-40B4-BE49-F238E27FC236}">
                <a16:creationId xmlns:a16="http://schemas.microsoft.com/office/drawing/2014/main" id="{55A654A5-CFF7-1A90-C7DA-2224EF832752}"/>
              </a:ext>
            </a:extLst>
          </p:cNvPr>
          <p:cNvCxnSpPr/>
          <p:nvPr/>
        </p:nvCxnSpPr>
        <p:spPr>
          <a:xfrm flipH="1" flipV="1">
            <a:off x="4300147" y="2294907"/>
            <a:ext cx="130492" cy="228600"/>
          </a:xfrm>
          <a:prstGeom prst="line">
            <a:avLst/>
          </a:prstGeom>
          <a:noFill/>
          <a:ln w="28575" cap="rnd" cmpd="sng" algn="ctr">
            <a:solidFill>
              <a:sysClr val="window" lastClr="FFFFFF"/>
            </a:solidFill>
            <a:prstDash val="solid"/>
          </a:ln>
          <a:effectLst/>
        </p:spPr>
      </p:cxnSp>
      <p:cxnSp>
        <p:nvCxnSpPr>
          <p:cNvPr id="156" name="Straight Connector 155">
            <a:extLst>
              <a:ext uri="{FF2B5EF4-FFF2-40B4-BE49-F238E27FC236}">
                <a16:creationId xmlns:a16="http://schemas.microsoft.com/office/drawing/2014/main" id="{C08DD13A-5FCA-9425-AA12-B7150EFDD328}"/>
              </a:ext>
            </a:extLst>
          </p:cNvPr>
          <p:cNvCxnSpPr/>
          <p:nvPr/>
        </p:nvCxnSpPr>
        <p:spPr>
          <a:xfrm>
            <a:off x="4430639" y="2523507"/>
            <a:ext cx="978690" cy="1"/>
          </a:xfrm>
          <a:prstGeom prst="line">
            <a:avLst/>
          </a:prstGeom>
          <a:noFill/>
          <a:ln w="28575" cap="rnd" cmpd="sng" algn="ctr">
            <a:solidFill>
              <a:sysClr val="window" lastClr="FFFFFF"/>
            </a:solidFill>
            <a:prstDash val="solid"/>
          </a:ln>
          <a:effectLst/>
        </p:spPr>
      </p:cxnSp>
      <p:cxnSp>
        <p:nvCxnSpPr>
          <p:cNvPr id="157" name="Straight Connector 156">
            <a:extLst>
              <a:ext uri="{FF2B5EF4-FFF2-40B4-BE49-F238E27FC236}">
                <a16:creationId xmlns:a16="http://schemas.microsoft.com/office/drawing/2014/main" id="{393BDA33-6139-7F1B-4FE6-1147D4F66D23}"/>
              </a:ext>
            </a:extLst>
          </p:cNvPr>
          <p:cNvCxnSpPr/>
          <p:nvPr/>
        </p:nvCxnSpPr>
        <p:spPr>
          <a:xfrm flipV="1">
            <a:off x="5393319" y="2294907"/>
            <a:ext cx="130492" cy="228600"/>
          </a:xfrm>
          <a:prstGeom prst="line">
            <a:avLst/>
          </a:prstGeom>
          <a:noFill/>
          <a:ln w="28575" cap="rnd" cmpd="sng" algn="ctr">
            <a:solidFill>
              <a:sysClr val="window" lastClr="FFFFFF"/>
            </a:solidFill>
            <a:prstDash val="solid"/>
          </a:ln>
          <a:effectLst/>
        </p:spPr>
      </p:cxnSp>
      <p:sp>
        <p:nvSpPr>
          <p:cNvPr id="158" name="TextBox 157">
            <a:extLst>
              <a:ext uri="{FF2B5EF4-FFF2-40B4-BE49-F238E27FC236}">
                <a16:creationId xmlns:a16="http://schemas.microsoft.com/office/drawing/2014/main" id="{987CDBF6-F5DA-9BFC-FD68-BB33D156531E}"/>
              </a:ext>
            </a:extLst>
          </p:cNvPr>
          <p:cNvSpPr txBox="1"/>
          <p:nvPr/>
        </p:nvSpPr>
        <p:spPr>
          <a:xfrm>
            <a:off x="2277522" y="2287964"/>
            <a:ext cx="424796"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Clock</a:t>
            </a:r>
          </a:p>
        </p:txBody>
      </p:sp>
      <p:cxnSp>
        <p:nvCxnSpPr>
          <p:cNvPr id="159" name="Straight Connector 158">
            <a:extLst>
              <a:ext uri="{FF2B5EF4-FFF2-40B4-BE49-F238E27FC236}">
                <a16:creationId xmlns:a16="http://schemas.microsoft.com/office/drawing/2014/main" id="{8C3C4664-A17C-4872-26C8-C922DA4E0384}"/>
              </a:ext>
            </a:extLst>
          </p:cNvPr>
          <p:cNvCxnSpPr>
            <a:cxnSpLocks/>
          </p:cNvCxnSpPr>
          <p:nvPr/>
        </p:nvCxnSpPr>
        <p:spPr>
          <a:xfrm flipV="1">
            <a:off x="3028617" y="2364262"/>
            <a:ext cx="107093" cy="32071"/>
          </a:xfrm>
          <a:prstGeom prst="line">
            <a:avLst/>
          </a:prstGeom>
          <a:noFill/>
          <a:ln w="28575" cap="flat" cmpd="sng" algn="ctr">
            <a:solidFill>
              <a:sysClr val="window" lastClr="FFFFFF"/>
            </a:solidFill>
            <a:prstDash val="solid"/>
          </a:ln>
          <a:effectLst/>
        </p:spPr>
      </p:cxnSp>
      <p:cxnSp>
        <p:nvCxnSpPr>
          <p:cNvPr id="160" name="Straight Connector 159">
            <a:extLst>
              <a:ext uri="{FF2B5EF4-FFF2-40B4-BE49-F238E27FC236}">
                <a16:creationId xmlns:a16="http://schemas.microsoft.com/office/drawing/2014/main" id="{0EF05F00-4DCD-1286-F8AD-831D599CB4CD}"/>
              </a:ext>
            </a:extLst>
          </p:cNvPr>
          <p:cNvCxnSpPr>
            <a:cxnSpLocks/>
          </p:cNvCxnSpPr>
          <p:nvPr/>
        </p:nvCxnSpPr>
        <p:spPr>
          <a:xfrm flipH="1" flipV="1">
            <a:off x="3148975" y="2364262"/>
            <a:ext cx="13729" cy="109043"/>
          </a:xfrm>
          <a:prstGeom prst="line">
            <a:avLst/>
          </a:prstGeom>
          <a:noFill/>
          <a:ln w="28575" cap="flat" cmpd="sng" algn="ctr">
            <a:solidFill>
              <a:sysClr val="window" lastClr="FFFFFF"/>
            </a:solidFill>
            <a:prstDash val="solid"/>
          </a:ln>
          <a:effectLst/>
        </p:spPr>
      </p:cxnSp>
      <p:cxnSp>
        <p:nvCxnSpPr>
          <p:cNvPr id="161" name="Straight Connector 160">
            <a:extLst>
              <a:ext uri="{FF2B5EF4-FFF2-40B4-BE49-F238E27FC236}">
                <a16:creationId xmlns:a16="http://schemas.microsoft.com/office/drawing/2014/main" id="{EBB4A48D-1517-51BA-EC77-7A46A0F5A118}"/>
              </a:ext>
            </a:extLst>
          </p:cNvPr>
          <p:cNvCxnSpPr/>
          <p:nvPr/>
        </p:nvCxnSpPr>
        <p:spPr>
          <a:xfrm flipV="1">
            <a:off x="5374097" y="2365926"/>
            <a:ext cx="107093" cy="32071"/>
          </a:xfrm>
          <a:prstGeom prst="line">
            <a:avLst/>
          </a:prstGeom>
          <a:noFill/>
          <a:ln w="28575" cap="flat" cmpd="sng" algn="ctr">
            <a:solidFill>
              <a:sysClr val="window" lastClr="FFFFFF"/>
            </a:solidFill>
            <a:prstDash val="solid"/>
          </a:ln>
          <a:effectLst/>
        </p:spPr>
      </p:cxnSp>
      <p:cxnSp>
        <p:nvCxnSpPr>
          <p:cNvPr id="162" name="Straight Connector 161">
            <a:extLst>
              <a:ext uri="{FF2B5EF4-FFF2-40B4-BE49-F238E27FC236}">
                <a16:creationId xmlns:a16="http://schemas.microsoft.com/office/drawing/2014/main" id="{45908328-ADF1-EB18-F030-AD79CA9223C4}"/>
              </a:ext>
            </a:extLst>
          </p:cNvPr>
          <p:cNvCxnSpPr/>
          <p:nvPr/>
        </p:nvCxnSpPr>
        <p:spPr>
          <a:xfrm flipH="1" flipV="1">
            <a:off x="5494455" y="2365926"/>
            <a:ext cx="13729" cy="109043"/>
          </a:xfrm>
          <a:prstGeom prst="line">
            <a:avLst/>
          </a:prstGeom>
          <a:noFill/>
          <a:ln w="28575" cap="flat" cmpd="sng" algn="ctr">
            <a:solidFill>
              <a:sysClr val="window" lastClr="FFFFFF"/>
            </a:solidFill>
            <a:prstDash val="solid"/>
          </a:ln>
          <a:effectLst/>
        </p:spPr>
      </p:cxnSp>
      <p:cxnSp>
        <p:nvCxnSpPr>
          <p:cNvPr id="145" name="Straight Connector 144">
            <a:extLst>
              <a:ext uri="{FF2B5EF4-FFF2-40B4-BE49-F238E27FC236}">
                <a16:creationId xmlns:a16="http://schemas.microsoft.com/office/drawing/2014/main" id="{699CF3DF-CD4B-2F09-F978-6F58DF5A7C12}"/>
              </a:ext>
            </a:extLst>
          </p:cNvPr>
          <p:cNvCxnSpPr/>
          <p:nvPr/>
        </p:nvCxnSpPr>
        <p:spPr>
          <a:xfrm>
            <a:off x="5539821" y="2294907"/>
            <a:ext cx="1109182" cy="1"/>
          </a:xfrm>
          <a:prstGeom prst="line">
            <a:avLst/>
          </a:prstGeom>
          <a:noFill/>
          <a:ln w="28575" cap="rnd" cmpd="sng" algn="ctr">
            <a:solidFill>
              <a:sysClr val="window" lastClr="FFFFFF"/>
            </a:solidFill>
            <a:prstDash val="solid"/>
          </a:ln>
          <a:effectLst/>
        </p:spPr>
      </p:cxnSp>
      <p:cxnSp>
        <p:nvCxnSpPr>
          <p:cNvPr id="146" name="Straight Connector 145">
            <a:extLst>
              <a:ext uri="{FF2B5EF4-FFF2-40B4-BE49-F238E27FC236}">
                <a16:creationId xmlns:a16="http://schemas.microsoft.com/office/drawing/2014/main" id="{26FAA138-4021-8EB2-09DA-66A2DB90CC7D}"/>
              </a:ext>
            </a:extLst>
          </p:cNvPr>
          <p:cNvCxnSpPr/>
          <p:nvPr/>
        </p:nvCxnSpPr>
        <p:spPr>
          <a:xfrm flipH="1" flipV="1">
            <a:off x="6649003" y="2294908"/>
            <a:ext cx="130492" cy="228600"/>
          </a:xfrm>
          <a:prstGeom prst="line">
            <a:avLst/>
          </a:prstGeom>
          <a:noFill/>
          <a:ln w="28575" cap="rnd" cmpd="sng" algn="ctr">
            <a:solidFill>
              <a:sysClr val="window" lastClr="FFFFFF"/>
            </a:solidFill>
            <a:prstDash val="solid"/>
          </a:ln>
          <a:effectLst/>
        </p:spPr>
      </p:cxnSp>
      <p:cxnSp>
        <p:nvCxnSpPr>
          <p:cNvPr id="147" name="Straight Connector 146">
            <a:extLst>
              <a:ext uri="{FF2B5EF4-FFF2-40B4-BE49-F238E27FC236}">
                <a16:creationId xmlns:a16="http://schemas.microsoft.com/office/drawing/2014/main" id="{D42BE14C-73FA-8E9A-8A4F-647BEC6627AA}"/>
              </a:ext>
            </a:extLst>
          </p:cNvPr>
          <p:cNvCxnSpPr/>
          <p:nvPr/>
        </p:nvCxnSpPr>
        <p:spPr>
          <a:xfrm>
            <a:off x="6763485" y="2523508"/>
            <a:ext cx="978690" cy="1"/>
          </a:xfrm>
          <a:prstGeom prst="line">
            <a:avLst/>
          </a:prstGeom>
          <a:noFill/>
          <a:ln w="28575" cap="rnd" cmpd="sng" algn="ctr">
            <a:solidFill>
              <a:sysClr val="window" lastClr="FFFFFF"/>
            </a:solidFill>
            <a:prstDash val="solid"/>
          </a:ln>
          <a:effectLst/>
        </p:spPr>
      </p:cxnSp>
      <p:cxnSp>
        <p:nvCxnSpPr>
          <p:cNvPr id="148" name="Straight Connector 147">
            <a:extLst>
              <a:ext uri="{FF2B5EF4-FFF2-40B4-BE49-F238E27FC236}">
                <a16:creationId xmlns:a16="http://schemas.microsoft.com/office/drawing/2014/main" id="{6EB917E7-1A7B-61B5-8C01-43811BA46FBF}"/>
              </a:ext>
            </a:extLst>
          </p:cNvPr>
          <p:cNvCxnSpPr/>
          <p:nvPr/>
        </p:nvCxnSpPr>
        <p:spPr>
          <a:xfrm flipV="1">
            <a:off x="7742174" y="2294908"/>
            <a:ext cx="130492" cy="228600"/>
          </a:xfrm>
          <a:prstGeom prst="line">
            <a:avLst/>
          </a:prstGeom>
          <a:noFill/>
          <a:ln w="28575" cap="rnd" cmpd="sng" algn="ctr">
            <a:solidFill>
              <a:sysClr val="window" lastClr="FFFFFF"/>
            </a:solidFill>
            <a:prstDash val="solid"/>
          </a:ln>
          <a:effectLst/>
        </p:spPr>
      </p:cxnSp>
      <p:cxnSp>
        <p:nvCxnSpPr>
          <p:cNvPr id="149" name="Straight Connector 148">
            <a:extLst>
              <a:ext uri="{FF2B5EF4-FFF2-40B4-BE49-F238E27FC236}">
                <a16:creationId xmlns:a16="http://schemas.microsoft.com/office/drawing/2014/main" id="{B3ED449F-B5E7-7E18-8783-AB69EE2DC63D}"/>
              </a:ext>
            </a:extLst>
          </p:cNvPr>
          <p:cNvCxnSpPr/>
          <p:nvPr/>
        </p:nvCxnSpPr>
        <p:spPr>
          <a:xfrm flipV="1">
            <a:off x="7722952" y="2365927"/>
            <a:ext cx="107093" cy="32071"/>
          </a:xfrm>
          <a:prstGeom prst="line">
            <a:avLst/>
          </a:prstGeom>
          <a:noFill/>
          <a:ln w="28575" cap="flat" cmpd="sng" algn="ctr">
            <a:solidFill>
              <a:sysClr val="window" lastClr="FFFFFF"/>
            </a:solidFill>
            <a:prstDash val="solid"/>
          </a:ln>
          <a:effectLst/>
        </p:spPr>
      </p:cxnSp>
      <p:cxnSp>
        <p:nvCxnSpPr>
          <p:cNvPr id="150" name="Straight Connector 149">
            <a:extLst>
              <a:ext uri="{FF2B5EF4-FFF2-40B4-BE49-F238E27FC236}">
                <a16:creationId xmlns:a16="http://schemas.microsoft.com/office/drawing/2014/main" id="{DD54D569-CD44-012F-60A2-09BA17DE3576}"/>
              </a:ext>
            </a:extLst>
          </p:cNvPr>
          <p:cNvCxnSpPr/>
          <p:nvPr/>
        </p:nvCxnSpPr>
        <p:spPr>
          <a:xfrm flipH="1" flipV="1">
            <a:off x="7827301" y="2365927"/>
            <a:ext cx="13729" cy="109043"/>
          </a:xfrm>
          <a:prstGeom prst="line">
            <a:avLst/>
          </a:prstGeom>
          <a:noFill/>
          <a:ln w="28575" cap="flat" cmpd="sng" algn="ctr">
            <a:solidFill>
              <a:sysClr val="window" lastClr="FFFFFF"/>
            </a:solidFill>
            <a:prstDash val="solid"/>
          </a:ln>
          <a:effectLst/>
        </p:spPr>
      </p:cxnSp>
      <p:cxnSp>
        <p:nvCxnSpPr>
          <p:cNvPr id="151" name="Straight Connector 150">
            <a:extLst>
              <a:ext uri="{FF2B5EF4-FFF2-40B4-BE49-F238E27FC236}">
                <a16:creationId xmlns:a16="http://schemas.microsoft.com/office/drawing/2014/main" id="{0981DC94-4CB1-FCC3-A4C9-BF0079E93B10}"/>
              </a:ext>
            </a:extLst>
          </p:cNvPr>
          <p:cNvCxnSpPr/>
          <p:nvPr/>
        </p:nvCxnSpPr>
        <p:spPr>
          <a:xfrm>
            <a:off x="7872666" y="2294906"/>
            <a:ext cx="848198" cy="0"/>
          </a:xfrm>
          <a:prstGeom prst="line">
            <a:avLst/>
          </a:prstGeom>
          <a:noFill/>
          <a:ln w="28575" cap="rnd" cmpd="sng" algn="ctr">
            <a:solidFill>
              <a:sysClr val="window" lastClr="FFFFFF"/>
            </a:solidFill>
            <a:prstDash val="solid"/>
          </a:ln>
          <a:effectLst/>
        </p:spPr>
      </p:cxnSp>
      <p:cxnSp>
        <p:nvCxnSpPr>
          <p:cNvPr id="164" name="Straight Arrow Connector 163">
            <a:extLst>
              <a:ext uri="{FF2B5EF4-FFF2-40B4-BE49-F238E27FC236}">
                <a16:creationId xmlns:a16="http://schemas.microsoft.com/office/drawing/2014/main" id="{D8DA5DBA-D250-43BE-79D1-F800F04A9CF7}"/>
              </a:ext>
            </a:extLst>
          </p:cNvPr>
          <p:cNvCxnSpPr/>
          <p:nvPr/>
        </p:nvCxnSpPr>
        <p:spPr>
          <a:xfrm>
            <a:off x="6946644" y="4860820"/>
            <a:ext cx="1174427" cy="0"/>
          </a:xfrm>
          <a:prstGeom prst="straightConnector1">
            <a:avLst/>
          </a:prstGeom>
          <a:noFill/>
          <a:ln w="28575" cap="flat" cmpd="sng" algn="ctr">
            <a:solidFill>
              <a:sysClr val="window" lastClr="FFFFFF"/>
            </a:solidFill>
            <a:prstDash val="solid"/>
            <a:tailEnd type="arrow"/>
          </a:ln>
          <a:effectLst/>
        </p:spPr>
      </p:cxnSp>
      <p:sp>
        <p:nvSpPr>
          <p:cNvPr id="165" name="TextBox 164">
            <a:extLst>
              <a:ext uri="{FF2B5EF4-FFF2-40B4-BE49-F238E27FC236}">
                <a16:creationId xmlns:a16="http://schemas.microsoft.com/office/drawing/2014/main" id="{5C96EE3A-1F78-C23A-2CF8-73D5A56BC3B1}"/>
              </a:ext>
            </a:extLst>
          </p:cNvPr>
          <p:cNvSpPr txBox="1"/>
          <p:nvPr/>
        </p:nvSpPr>
        <p:spPr>
          <a:xfrm>
            <a:off x="6283224" y="4706931"/>
            <a:ext cx="525785" cy="307777"/>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prstClr val="white"/>
                </a:solidFill>
                <a:effectLst/>
                <a:uLnTx/>
                <a:uFillTx/>
                <a:ea typeface="ＭＳ Ｐゴシック" pitchFamily="-1" charset="-128"/>
                <a:cs typeface="Consolas" panose="020B0609020204030204" pitchFamily="49" charset="0"/>
              </a:rPr>
              <a:t>time</a:t>
            </a:r>
          </a:p>
        </p:txBody>
      </p:sp>
      <p:cxnSp>
        <p:nvCxnSpPr>
          <p:cNvPr id="167" name="Straight Connector 166">
            <a:extLst>
              <a:ext uri="{FF2B5EF4-FFF2-40B4-BE49-F238E27FC236}">
                <a16:creationId xmlns:a16="http://schemas.microsoft.com/office/drawing/2014/main" id="{67DC9983-DADA-61FE-79EF-8E6735EFD4E8}"/>
              </a:ext>
            </a:extLst>
          </p:cNvPr>
          <p:cNvCxnSpPr/>
          <p:nvPr/>
        </p:nvCxnSpPr>
        <p:spPr>
          <a:xfrm>
            <a:off x="3218771" y="3742699"/>
            <a:ext cx="5806892" cy="0"/>
          </a:xfrm>
          <a:prstGeom prst="line">
            <a:avLst/>
          </a:prstGeom>
          <a:noFill/>
          <a:ln w="28575" cap="rnd" cmpd="sng" algn="ctr">
            <a:solidFill>
              <a:sysClr val="window" lastClr="FFFFFF"/>
            </a:solidFill>
            <a:prstDash val="solid"/>
          </a:ln>
          <a:effectLst/>
        </p:spPr>
      </p:cxnSp>
      <p:cxnSp>
        <p:nvCxnSpPr>
          <p:cNvPr id="168" name="Straight Connector 167">
            <a:extLst>
              <a:ext uri="{FF2B5EF4-FFF2-40B4-BE49-F238E27FC236}">
                <a16:creationId xmlns:a16="http://schemas.microsoft.com/office/drawing/2014/main" id="{6EC8BB4F-5381-45FC-648F-22418D0BEEDF}"/>
              </a:ext>
            </a:extLst>
          </p:cNvPr>
          <p:cNvCxnSpPr/>
          <p:nvPr/>
        </p:nvCxnSpPr>
        <p:spPr>
          <a:xfrm flipV="1">
            <a:off x="4001722" y="3514099"/>
            <a:ext cx="130492" cy="228600"/>
          </a:xfrm>
          <a:prstGeom prst="line">
            <a:avLst/>
          </a:prstGeom>
          <a:noFill/>
          <a:ln w="28575" cap="rnd" cmpd="sng" algn="ctr">
            <a:solidFill>
              <a:sysClr val="window" lastClr="FFFFFF"/>
            </a:solidFill>
            <a:prstDash val="solid"/>
          </a:ln>
          <a:effectLst/>
        </p:spPr>
      </p:cxnSp>
      <p:cxnSp>
        <p:nvCxnSpPr>
          <p:cNvPr id="169" name="Straight Connector 168">
            <a:extLst>
              <a:ext uri="{FF2B5EF4-FFF2-40B4-BE49-F238E27FC236}">
                <a16:creationId xmlns:a16="http://schemas.microsoft.com/office/drawing/2014/main" id="{A20D6C55-6DD1-BD02-FFF4-447B27A2789E}"/>
              </a:ext>
            </a:extLst>
          </p:cNvPr>
          <p:cNvCxnSpPr/>
          <p:nvPr/>
        </p:nvCxnSpPr>
        <p:spPr>
          <a:xfrm flipH="1" flipV="1">
            <a:off x="6350578" y="3514099"/>
            <a:ext cx="130492" cy="228600"/>
          </a:xfrm>
          <a:prstGeom prst="line">
            <a:avLst/>
          </a:prstGeom>
          <a:noFill/>
          <a:ln w="28575" cap="rnd" cmpd="sng" algn="ctr">
            <a:solidFill>
              <a:sysClr val="window" lastClr="FFFFFF"/>
            </a:solidFill>
            <a:prstDash val="solid"/>
          </a:ln>
          <a:effectLst/>
        </p:spPr>
      </p:cxnSp>
      <p:cxnSp>
        <p:nvCxnSpPr>
          <p:cNvPr id="170" name="Straight Connector 169">
            <a:extLst>
              <a:ext uri="{FF2B5EF4-FFF2-40B4-BE49-F238E27FC236}">
                <a16:creationId xmlns:a16="http://schemas.microsoft.com/office/drawing/2014/main" id="{CBD546AB-70B6-5D1D-67B5-42F34C5DBE83}"/>
              </a:ext>
            </a:extLst>
          </p:cNvPr>
          <p:cNvCxnSpPr/>
          <p:nvPr/>
        </p:nvCxnSpPr>
        <p:spPr>
          <a:xfrm flipV="1">
            <a:off x="8699433" y="3514099"/>
            <a:ext cx="130492" cy="228600"/>
          </a:xfrm>
          <a:prstGeom prst="line">
            <a:avLst/>
          </a:prstGeom>
          <a:noFill/>
          <a:ln w="28575" cap="rnd" cmpd="sng" algn="ctr">
            <a:solidFill>
              <a:sysClr val="window" lastClr="FFFFFF"/>
            </a:solidFill>
            <a:prstDash val="solid"/>
          </a:ln>
          <a:effectLst/>
        </p:spPr>
      </p:cxnSp>
      <p:sp>
        <p:nvSpPr>
          <p:cNvPr id="171" name="TextBox 170">
            <a:extLst>
              <a:ext uri="{FF2B5EF4-FFF2-40B4-BE49-F238E27FC236}">
                <a16:creationId xmlns:a16="http://schemas.microsoft.com/office/drawing/2014/main" id="{94E53DF8-B066-9F20-3A22-0A2F183F5DAE}"/>
              </a:ext>
            </a:extLst>
          </p:cNvPr>
          <p:cNvSpPr txBox="1"/>
          <p:nvPr/>
        </p:nvSpPr>
        <p:spPr>
          <a:xfrm>
            <a:off x="4660123" y="35140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R[2]</a:t>
            </a:r>
          </a:p>
        </p:txBody>
      </p:sp>
      <p:cxnSp>
        <p:nvCxnSpPr>
          <p:cNvPr id="172" name="Straight Connector 171">
            <a:extLst>
              <a:ext uri="{FF2B5EF4-FFF2-40B4-BE49-F238E27FC236}">
                <a16:creationId xmlns:a16="http://schemas.microsoft.com/office/drawing/2014/main" id="{7AD5FDE1-3762-3EF2-19DD-6A3FAFB53C1B}"/>
              </a:ext>
            </a:extLst>
          </p:cNvPr>
          <p:cNvCxnSpPr/>
          <p:nvPr/>
        </p:nvCxnSpPr>
        <p:spPr>
          <a:xfrm flipH="1" flipV="1">
            <a:off x="4001722" y="3514099"/>
            <a:ext cx="130492" cy="228600"/>
          </a:xfrm>
          <a:prstGeom prst="line">
            <a:avLst/>
          </a:prstGeom>
          <a:noFill/>
          <a:ln w="28575" cap="rnd" cmpd="sng" algn="ctr">
            <a:solidFill>
              <a:sysClr val="window" lastClr="FFFFFF"/>
            </a:solidFill>
            <a:prstDash val="solid"/>
          </a:ln>
          <a:effectLst/>
        </p:spPr>
      </p:cxnSp>
      <p:cxnSp>
        <p:nvCxnSpPr>
          <p:cNvPr id="173" name="Straight Connector 172">
            <a:extLst>
              <a:ext uri="{FF2B5EF4-FFF2-40B4-BE49-F238E27FC236}">
                <a16:creationId xmlns:a16="http://schemas.microsoft.com/office/drawing/2014/main" id="{21244BC5-4B6D-EF1D-F814-1C70A8AD1D01}"/>
              </a:ext>
            </a:extLst>
          </p:cNvPr>
          <p:cNvCxnSpPr/>
          <p:nvPr/>
        </p:nvCxnSpPr>
        <p:spPr>
          <a:xfrm flipV="1">
            <a:off x="6350578" y="3514099"/>
            <a:ext cx="130492" cy="228600"/>
          </a:xfrm>
          <a:prstGeom prst="line">
            <a:avLst/>
          </a:prstGeom>
          <a:noFill/>
          <a:ln w="28575" cap="rnd" cmpd="sng" algn="ctr">
            <a:solidFill>
              <a:sysClr val="window" lastClr="FFFFFF"/>
            </a:solidFill>
            <a:prstDash val="solid"/>
          </a:ln>
          <a:effectLst/>
        </p:spPr>
      </p:cxnSp>
      <p:cxnSp>
        <p:nvCxnSpPr>
          <p:cNvPr id="174" name="Straight Connector 173">
            <a:extLst>
              <a:ext uri="{FF2B5EF4-FFF2-40B4-BE49-F238E27FC236}">
                <a16:creationId xmlns:a16="http://schemas.microsoft.com/office/drawing/2014/main" id="{E4D14A1D-6A05-EE36-950C-A5DD4506FCA5}"/>
              </a:ext>
            </a:extLst>
          </p:cNvPr>
          <p:cNvCxnSpPr/>
          <p:nvPr/>
        </p:nvCxnSpPr>
        <p:spPr>
          <a:xfrm flipH="1" flipV="1">
            <a:off x="8699433" y="3514099"/>
            <a:ext cx="130492" cy="228600"/>
          </a:xfrm>
          <a:prstGeom prst="line">
            <a:avLst/>
          </a:prstGeom>
          <a:noFill/>
          <a:ln w="28575" cap="rnd" cmpd="sng" algn="ctr">
            <a:solidFill>
              <a:sysClr val="window" lastClr="FFFFFF"/>
            </a:solidFill>
            <a:prstDash val="solid"/>
          </a:ln>
          <a:effectLst/>
        </p:spPr>
      </p:cxnSp>
      <p:cxnSp>
        <p:nvCxnSpPr>
          <p:cNvPr id="175" name="Straight Connector 174">
            <a:extLst>
              <a:ext uri="{FF2B5EF4-FFF2-40B4-BE49-F238E27FC236}">
                <a16:creationId xmlns:a16="http://schemas.microsoft.com/office/drawing/2014/main" id="{1C571C76-EA53-71B8-308C-FF82E46EB681}"/>
              </a:ext>
            </a:extLst>
          </p:cNvPr>
          <p:cNvCxnSpPr/>
          <p:nvPr/>
        </p:nvCxnSpPr>
        <p:spPr>
          <a:xfrm>
            <a:off x="3218771" y="3514099"/>
            <a:ext cx="5806892" cy="0"/>
          </a:xfrm>
          <a:prstGeom prst="line">
            <a:avLst/>
          </a:prstGeom>
          <a:noFill/>
          <a:ln w="28575" cap="rnd" cmpd="sng" algn="ctr">
            <a:solidFill>
              <a:sysClr val="window" lastClr="FFFFFF"/>
            </a:solidFill>
            <a:prstDash val="solid"/>
          </a:ln>
          <a:effectLst/>
        </p:spPr>
      </p:cxnSp>
      <p:sp>
        <p:nvSpPr>
          <p:cNvPr id="176" name="TextBox 175">
            <a:extLst>
              <a:ext uri="{FF2B5EF4-FFF2-40B4-BE49-F238E27FC236}">
                <a16:creationId xmlns:a16="http://schemas.microsoft.com/office/drawing/2014/main" id="{F5034A93-F429-4F78-97AE-A9C2FDD6851F}"/>
              </a:ext>
            </a:extLst>
          </p:cNvPr>
          <p:cNvSpPr txBox="1"/>
          <p:nvPr/>
        </p:nvSpPr>
        <p:spPr>
          <a:xfrm>
            <a:off x="7074224" y="35140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R[7]</a:t>
            </a:r>
          </a:p>
        </p:txBody>
      </p:sp>
      <p:sp>
        <p:nvSpPr>
          <p:cNvPr id="177" name="TextBox 176">
            <a:extLst>
              <a:ext uri="{FF2B5EF4-FFF2-40B4-BE49-F238E27FC236}">
                <a16:creationId xmlns:a16="http://schemas.microsoft.com/office/drawing/2014/main" id="{430EEC5F-25D9-5EF0-9EC4-ACAD11846C2C}"/>
              </a:ext>
            </a:extLst>
          </p:cNvPr>
          <p:cNvSpPr txBox="1"/>
          <p:nvPr/>
        </p:nvSpPr>
        <p:spPr>
          <a:xfrm>
            <a:off x="2277522" y="3514092"/>
            <a:ext cx="509755"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R[rs1]</a:t>
            </a:r>
          </a:p>
        </p:txBody>
      </p:sp>
      <p:cxnSp>
        <p:nvCxnSpPr>
          <p:cNvPr id="179" name="Straight Connector 178">
            <a:extLst>
              <a:ext uri="{FF2B5EF4-FFF2-40B4-BE49-F238E27FC236}">
                <a16:creationId xmlns:a16="http://schemas.microsoft.com/office/drawing/2014/main" id="{EB863293-9132-4189-9144-B56AB5AFE10C}"/>
              </a:ext>
            </a:extLst>
          </p:cNvPr>
          <p:cNvCxnSpPr/>
          <p:nvPr/>
        </p:nvCxnSpPr>
        <p:spPr>
          <a:xfrm>
            <a:off x="4099353" y="4352299"/>
            <a:ext cx="4697711" cy="0"/>
          </a:xfrm>
          <a:prstGeom prst="line">
            <a:avLst/>
          </a:prstGeom>
          <a:noFill/>
          <a:ln w="28575" cap="rnd" cmpd="sng" algn="ctr">
            <a:solidFill>
              <a:sysClr val="window" lastClr="FFFFFF"/>
            </a:solidFill>
            <a:prstDash val="solid"/>
          </a:ln>
          <a:effectLst/>
        </p:spPr>
      </p:cxnSp>
      <p:cxnSp>
        <p:nvCxnSpPr>
          <p:cNvPr id="180" name="Straight Connector 179">
            <a:extLst>
              <a:ext uri="{FF2B5EF4-FFF2-40B4-BE49-F238E27FC236}">
                <a16:creationId xmlns:a16="http://schemas.microsoft.com/office/drawing/2014/main" id="{5C9B3669-77ED-09D1-2E9D-938842DA5D1B}"/>
              </a:ext>
            </a:extLst>
          </p:cNvPr>
          <p:cNvCxnSpPr/>
          <p:nvPr/>
        </p:nvCxnSpPr>
        <p:spPr>
          <a:xfrm flipV="1">
            <a:off x="4882305" y="4123699"/>
            <a:ext cx="130492" cy="228600"/>
          </a:xfrm>
          <a:prstGeom prst="line">
            <a:avLst/>
          </a:prstGeom>
          <a:noFill/>
          <a:ln w="28575" cap="rnd" cmpd="sng" algn="ctr">
            <a:solidFill>
              <a:sysClr val="window" lastClr="FFFFFF"/>
            </a:solidFill>
            <a:prstDash val="solid"/>
          </a:ln>
          <a:effectLst/>
        </p:spPr>
      </p:cxnSp>
      <p:cxnSp>
        <p:nvCxnSpPr>
          <p:cNvPr id="181" name="Straight Connector 180">
            <a:extLst>
              <a:ext uri="{FF2B5EF4-FFF2-40B4-BE49-F238E27FC236}">
                <a16:creationId xmlns:a16="http://schemas.microsoft.com/office/drawing/2014/main" id="{C501FAEC-8BAE-D722-027D-7D83481C4E5C}"/>
              </a:ext>
            </a:extLst>
          </p:cNvPr>
          <p:cNvCxnSpPr/>
          <p:nvPr/>
        </p:nvCxnSpPr>
        <p:spPr>
          <a:xfrm flipH="1" flipV="1">
            <a:off x="7231160" y="4123699"/>
            <a:ext cx="130492" cy="228600"/>
          </a:xfrm>
          <a:prstGeom prst="line">
            <a:avLst/>
          </a:prstGeom>
          <a:noFill/>
          <a:ln w="28575" cap="rnd" cmpd="sng" algn="ctr">
            <a:solidFill>
              <a:sysClr val="window" lastClr="FFFFFF"/>
            </a:solidFill>
            <a:prstDash val="solid"/>
          </a:ln>
          <a:effectLst/>
        </p:spPr>
      </p:cxnSp>
      <p:sp>
        <p:nvSpPr>
          <p:cNvPr id="182" name="TextBox 181">
            <a:extLst>
              <a:ext uri="{FF2B5EF4-FFF2-40B4-BE49-F238E27FC236}">
                <a16:creationId xmlns:a16="http://schemas.microsoft.com/office/drawing/2014/main" id="{9485A56A-7CF4-DA00-4C10-0AAFF14DEA81}"/>
              </a:ext>
            </a:extLst>
          </p:cNvPr>
          <p:cNvSpPr txBox="1"/>
          <p:nvPr/>
        </p:nvSpPr>
        <p:spPr>
          <a:xfrm>
            <a:off x="5541230" y="4123699"/>
            <a:ext cx="764633"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R[2]+R[3]</a:t>
            </a:r>
          </a:p>
        </p:txBody>
      </p:sp>
      <p:cxnSp>
        <p:nvCxnSpPr>
          <p:cNvPr id="183" name="Straight Connector 182">
            <a:extLst>
              <a:ext uri="{FF2B5EF4-FFF2-40B4-BE49-F238E27FC236}">
                <a16:creationId xmlns:a16="http://schemas.microsoft.com/office/drawing/2014/main" id="{2EAE0A56-5D1C-786D-A75E-57E893758F3E}"/>
              </a:ext>
            </a:extLst>
          </p:cNvPr>
          <p:cNvCxnSpPr/>
          <p:nvPr/>
        </p:nvCxnSpPr>
        <p:spPr>
          <a:xfrm flipH="1" flipV="1">
            <a:off x="4882305" y="4123699"/>
            <a:ext cx="130492" cy="228600"/>
          </a:xfrm>
          <a:prstGeom prst="line">
            <a:avLst/>
          </a:prstGeom>
          <a:noFill/>
          <a:ln w="28575" cap="rnd" cmpd="sng" algn="ctr">
            <a:solidFill>
              <a:sysClr val="window" lastClr="FFFFFF"/>
            </a:solidFill>
            <a:prstDash val="solid"/>
          </a:ln>
          <a:effectLst/>
        </p:spPr>
      </p:cxnSp>
      <p:cxnSp>
        <p:nvCxnSpPr>
          <p:cNvPr id="184" name="Straight Connector 183">
            <a:extLst>
              <a:ext uri="{FF2B5EF4-FFF2-40B4-BE49-F238E27FC236}">
                <a16:creationId xmlns:a16="http://schemas.microsoft.com/office/drawing/2014/main" id="{172BFEC1-4545-01C0-9E30-F31100E5FB81}"/>
              </a:ext>
            </a:extLst>
          </p:cNvPr>
          <p:cNvCxnSpPr/>
          <p:nvPr/>
        </p:nvCxnSpPr>
        <p:spPr>
          <a:xfrm flipV="1">
            <a:off x="7231160" y="4123699"/>
            <a:ext cx="130492" cy="228600"/>
          </a:xfrm>
          <a:prstGeom prst="line">
            <a:avLst/>
          </a:prstGeom>
          <a:noFill/>
          <a:ln w="28575" cap="rnd" cmpd="sng" algn="ctr">
            <a:solidFill>
              <a:sysClr val="window" lastClr="FFFFFF"/>
            </a:solidFill>
            <a:prstDash val="solid"/>
          </a:ln>
          <a:effectLst/>
        </p:spPr>
      </p:cxnSp>
      <p:cxnSp>
        <p:nvCxnSpPr>
          <p:cNvPr id="185" name="Straight Connector 184">
            <a:extLst>
              <a:ext uri="{FF2B5EF4-FFF2-40B4-BE49-F238E27FC236}">
                <a16:creationId xmlns:a16="http://schemas.microsoft.com/office/drawing/2014/main" id="{CD3027A8-CBEC-2E0D-C957-63E99BFE9643}"/>
              </a:ext>
            </a:extLst>
          </p:cNvPr>
          <p:cNvCxnSpPr/>
          <p:nvPr/>
        </p:nvCxnSpPr>
        <p:spPr>
          <a:xfrm>
            <a:off x="4099353" y="4123699"/>
            <a:ext cx="4697711" cy="0"/>
          </a:xfrm>
          <a:prstGeom prst="line">
            <a:avLst/>
          </a:prstGeom>
          <a:noFill/>
          <a:ln w="28575" cap="rnd" cmpd="sng" algn="ctr">
            <a:solidFill>
              <a:sysClr val="window" lastClr="FFFFFF"/>
            </a:solidFill>
            <a:prstDash val="solid"/>
          </a:ln>
          <a:effectLst/>
        </p:spPr>
      </p:cxnSp>
      <p:sp>
        <p:nvSpPr>
          <p:cNvPr id="186" name="TextBox 185">
            <a:extLst>
              <a:ext uri="{FF2B5EF4-FFF2-40B4-BE49-F238E27FC236}">
                <a16:creationId xmlns:a16="http://schemas.microsoft.com/office/drawing/2014/main" id="{65AC4A0F-191B-C728-82EE-00AD1D28916B}"/>
              </a:ext>
            </a:extLst>
          </p:cNvPr>
          <p:cNvSpPr txBox="1"/>
          <p:nvPr/>
        </p:nvSpPr>
        <p:spPr>
          <a:xfrm>
            <a:off x="2277522" y="4123699"/>
            <a:ext cx="254878"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err="1">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alu</a:t>
            </a:r>
            <a:endPar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endParaRPr>
          </a:p>
        </p:txBody>
      </p:sp>
      <p:sp>
        <p:nvSpPr>
          <p:cNvPr id="187" name="TextBox 186">
            <a:extLst>
              <a:ext uri="{FF2B5EF4-FFF2-40B4-BE49-F238E27FC236}">
                <a16:creationId xmlns:a16="http://schemas.microsoft.com/office/drawing/2014/main" id="{20F2B3A0-1AEF-939D-94B4-6FE9FE8BD6DD}"/>
              </a:ext>
            </a:extLst>
          </p:cNvPr>
          <p:cNvSpPr txBox="1"/>
          <p:nvPr/>
        </p:nvSpPr>
        <p:spPr>
          <a:xfrm>
            <a:off x="7498610" y="4123699"/>
            <a:ext cx="764633"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R[7]+R[9]</a:t>
            </a:r>
          </a:p>
        </p:txBody>
      </p:sp>
      <p:cxnSp>
        <p:nvCxnSpPr>
          <p:cNvPr id="189" name="Straight Connector 188">
            <a:extLst>
              <a:ext uri="{FF2B5EF4-FFF2-40B4-BE49-F238E27FC236}">
                <a16:creationId xmlns:a16="http://schemas.microsoft.com/office/drawing/2014/main" id="{FB9BA0A8-B037-0B76-AEFE-93CB6576871D}"/>
              </a:ext>
            </a:extLst>
          </p:cNvPr>
          <p:cNvCxnSpPr/>
          <p:nvPr/>
        </p:nvCxnSpPr>
        <p:spPr>
          <a:xfrm>
            <a:off x="3218771" y="4047499"/>
            <a:ext cx="5806892" cy="0"/>
          </a:xfrm>
          <a:prstGeom prst="line">
            <a:avLst/>
          </a:prstGeom>
          <a:noFill/>
          <a:ln w="28575" cap="rnd" cmpd="sng" algn="ctr">
            <a:solidFill>
              <a:sysClr val="window" lastClr="FFFFFF"/>
            </a:solidFill>
            <a:prstDash val="solid"/>
          </a:ln>
          <a:effectLst/>
        </p:spPr>
      </p:cxnSp>
      <p:cxnSp>
        <p:nvCxnSpPr>
          <p:cNvPr id="190" name="Straight Connector 189">
            <a:extLst>
              <a:ext uri="{FF2B5EF4-FFF2-40B4-BE49-F238E27FC236}">
                <a16:creationId xmlns:a16="http://schemas.microsoft.com/office/drawing/2014/main" id="{A1CF4DEE-5414-92CF-26C4-072D4D562774}"/>
              </a:ext>
            </a:extLst>
          </p:cNvPr>
          <p:cNvCxnSpPr/>
          <p:nvPr/>
        </p:nvCxnSpPr>
        <p:spPr>
          <a:xfrm flipV="1">
            <a:off x="4001722" y="3818899"/>
            <a:ext cx="130492" cy="228600"/>
          </a:xfrm>
          <a:prstGeom prst="line">
            <a:avLst/>
          </a:prstGeom>
          <a:noFill/>
          <a:ln w="28575" cap="rnd" cmpd="sng" algn="ctr">
            <a:solidFill>
              <a:sysClr val="window" lastClr="FFFFFF"/>
            </a:solidFill>
            <a:prstDash val="solid"/>
          </a:ln>
          <a:effectLst/>
        </p:spPr>
      </p:cxnSp>
      <p:cxnSp>
        <p:nvCxnSpPr>
          <p:cNvPr id="191" name="Straight Connector 190">
            <a:extLst>
              <a:ext uri="{FF2B5EF4-FFF2-40B4-BE49-F238E27FC236}">
                <a16:creationId xmlns:a16="http://schemas.microsoft.com/office/drawing/2014/main" id="{C4F9FD7A-A765-B055-B328-16C53E10BF07}"/>
              </a:ext>
            </a:extLst>
          </p:cNvPr>
          <p:cNvCxnSpPr/>
          <p:nvPr/>
        </p:nvCxnSpPr>
        <p:spPr>
          <a:xfrm flipH="1" flipV="1">
            <a:off x="6350578" y="3818899"/>
            <a:ext cx="130492" cy="228600"/>
          </a:xfrm>
          <a:prstGeom prst="line">
            <a:avLst/>
          </a:prstGeom>
          <a:noFill/>
          <a:ln w="28575" cap="rnd" cmpd="sng" algn="ctr">
            <a:solidFill>
              <a:sysClr val="window" lastClr="FFFFFF"/>
            </a:solidFill>
            <a:prstDash val="solid"/>
          </a:ln>
          <a:effectLst/>
        </p:spPr>
      </p:cxnSp>
      <p:cxnSp>
        <p:nvCxnSpPr>
          <p:cNvPr id="192" name="Straight Connector 191">
            <a:extLst>
              <a:ext uri="{FF2B5EF4-FFF2-40B4-BE49-F238E27FC236}">
                <a16:creationId xmlns:a16="http://schemas.microsoft.com/office/drawing/2014/main" id="{64AD385C-80FE-473E-D85A-D40AA23924A9}"/>
              </a:ext>
            </a:extLst>
          </p:cNvPr>
          <p:cNvCxnSpPr/>
          <p:nvPr/>
        </p:nvCxnSpPr>
        <p:spPr>
          <a:xfrm flipV="1">
            <a:off x="8699433" y="3818899"/>
            <a:ext cx="130492" cy="228600"/>
          </a:xfrm>
          <a:prstGeom prst="line">
            <a:avLst/>
          </a:prstGeom>
          <a:noFill/>
          <a:ln w="28575" cap="rnd" cmpd="sng" algn="ctr">
            <a:solidFill>
              <a:sysClr val="window" lastClr="FFFFFF"/>
            </a:solidFill>
            <a:prstDash val="solid"/>
          </a:ln>
          <a:effectLst/>
        </p:spPr>
      </p:cxnSp>
      <p:sp>
        <p:nvSpPr>
          <p:cNvPr id="193" name="TextBox 192">
            <a:extLst>
              <a:ext uri="{FF2B5EF4-FFF2-40B4-BE49-F238E27FC236}">
                <a16:creationId xmlns:a16="http://schemas.microsoft.com/office/drawing/2014/main" id="{5B34B5E6-701F-A7F6-AB6D-B5A411C4B947}"/>
              </a:ext>
            </a:extLst>
          </p:cNvPr>
          <p:cNvSpPr txBox="1"/>
          <p:nvPr/>
        </p:nvSpPr>
        <p:spPr>
          <a:xfrm>
            <a:off x="4660123" y="38188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R[3]</a:t>
            </a:r>
          </a:p>
        </p:txBody>
      </p:sp>
      <p:cxnSp>
        <p:nvCxnSpPr>
          <p:cNvPr id="194" name="Straight Connector 193">
            <a:extLst>
              <a:ext uri="{FF2B5EF4-FFF2-40B4-BE49-F238E27FC236}">
                <a16:creationId xmlns:a16="http://schemas.microsoft.com/office/drawing/2014/main" id="{6FD2D367-A2C7-D158-99E5-18116032E73F}"/>
              </a:ext>
            </a:extLst>
          </p:cNvPr>
          <p:cNvCxnSpPr/>
          <p:nvPr/>
        </p:nvCxnSpPr>
        <p:spPr>
          <a:xfrm flipH="1" flipV="1">
            <a:off x="4001722" y="3818899"/>
            <a:ext cx="130492" cy="228600"/>
          </a:xfrm>
          <a:prstGeom prst="line">
            <a:avLst/>
          </a:prstGeom>
          <a:noFill/>
          <a:ln w="28575" cap="rnd" cmpd="sng" algn="ctr">
            <a:solidFill>
              <a:sysClr val="window" lastClr="FFFFFF"/>
            </a:solidFill>
            <a:prstDash val="solid"/>
          </a:ln>
          <a:effectLst/>
        </p:spPr>
      </p:cxnSp>
      <p:cxnSp>
        <p:nvCxnSpPr>
          <p:cNvPr id="195" name="Straight Connector 194">
            <a:extLst>
              <a:ext uri="{FF2B5EF4-FFF2-40B4-BE49-F238E27FC236}">
                <a16:creationId xmlns:a16="http://schemas.microsoft.com/office/drawing/2014/main" id="{D188E420-6791-3341-B807-B714FA10118B}"/>
              </a:ext>
            </a:extLst>
          </p:cNvPr>
          <p:cNvCxnSpPr/>
          <p:nvPr/>
        </p:nvCxnSpPr>
        <p:spPr>
          <a:xfrm flipV="1">
            <a:off x="6350578" y="3818899"/>
            <a:ext cx="130492" cy="228600"/>
          </a:xfrm>
          <a:prstGeom prst="line">
            <a:avLst/>
          </a:prstGeom>
          <a:noFill/>
          <a:ln w="28575" cap="rnd" cmpd="sng" algn="ctr">
            <a:solidFill>
              <a:sysClr val="window" lastClr="FFFFFF"/>
            </a:solidFill>
            <a:prstDash val="solid"/>
          </a:ln>
          <a:effectLst/>
        </p:spPr>
      </p:cxnSp>
      <p:cxnSp>
        <p:nvCxnSpPr>
          <p:cNvPr id="196" name="Straight Connector 195">
            <a:extLst>
              <a:ext uri="{FF2B5EF4-FFF2-40B4-BE49-F238E27FC236}">
                <a16:creationId xmlns:a16="http://schemas.microsoft.com/office/drawing/2014/main" id="{7DBFBC31-5BED-FBF8-8C82-3187A837F868}"/>
              </a:ext>
            </a:extLst>
          </p:cNvPr>
          <p:cNvCxnSpPr/>
          <p:nvPr/>
        </p:nvCxnSpPr>
        <p:spPr>
          <a:xfrm flipH="1" flipV="1">
            <a:off x="8699433" y="3818899"/>
            <a:ext cx="130492" cy="228600"/>
          </a:xfrm>
          <a:prstGeom prst="line">
            <a:avLst/>
          </a:prstGeom>
          <a:noFill/>
          <a:ln w="28575" cap="rnd" cmpd="sng" algn="ctr">
            <a:solidFill>
              <a:sysClr val="window" lastClr="FFFFFF"/>
            </a:solidFill>
            <a:prstDash val="solid"/>
          </a:ln>
          <a:effectLst/>
        </p:spPr>
      </p:cxnSp>
      <p:cxnSp>
        <p:nvCxnSpPr>
          <p:cNvPr id="197" name="Straight Connector 196">
            <a:extLst>
              <a:ext uri="{FF2B5EF4-FFF2-40B4-BE49-F238E27FC236}">
                <a16:creationId xmlns:a16="http://schemas.microsoft.com/office/drawing/2014/main" id="{85BA34C9-A96B-5028-8E01-54D37747C0D6}"/>
              </a:ext>
            </a:extLst>
          </p:cNvPr>
          <p:cNvCxnSpPr/>
          <p:nvPr/>
        </p:nvCxnSpPr>
        <p:spPr>
          <a:xfrm>
            <a:off x="3218771" y="3818899"/>
            <a:ext cx="5806892" cy="0"/>
          </a:xfrm>
          <a:prstGeom prst="line">
            <a:avLst/>
          </a:prstGeom>
          <a:noFill/>
          <a:ln w="28575" cap="rnd" cmpd="sng" algn="ctr">
            <a:solidFill>
              <a:sysClr val="window" lastClr="FFFFFF"/>
            </a:solidFill>
            <a:prstDash val="solid"/>
          </a:ln>
          <a:effectLst/>
        </p:spPr>
      </p:cxnSp>
      <p:sp>
        <p:nvSpPr>
          <p:cNvPr id="198" name="TextBox 197">
            <a:extLst>
              <a:ext uri="{FF2B5EF4-FFF2-40B4-BE49-F238E27FC236}">
                <a16:creationId xmlns:a16="http://schemas.microsoft.com/office/drawing/2014/main" id="{92A96A11-0DE9-EDAF-EDEE-9CACC583F7D9}"/>
              </a:ext>
            </a:extLst>
          </p:cNvPr>
          <p:cNvSpPr txBox="1"/>
          <p:nvPr/>
        </p:nvSpPr>
        <p:spPr>
          <a:xfrm>
            <a:off x="7074224" y="3818899"/>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R[9]</a:t>
            </a:r>
          </a:p>
        </p:txBody>
      </p:sp>
      <p:sp>
        <p:nvSpPr>
          <p:cNvPr id="199" name="TextBox 198">
            <a:extLst>
              <a:ext uri="{FF2B5EF4-FFF2-40B4-BE49-F238E27FC236}">
                <a16:creationId xmlns:a16="http://schemas.microsoft.com/office/drawing/2014/main" id="{461D232C-95F7-E90D-C5E2-3816DBD74CD9}"/>
              </a:ext>
            </a:extLst>
          </p:cNvPr>
          <p:cNvSpPr txBox="1"/>
          <p:nvPr/>
        </p:nvSpPr>
        <p:spPr>
          <a:xfrm>
            <a:off x="2277522" y="3830575"/>
            <a:ext cx="509755"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R[rs2]</a:t>
            </a:r>
          </a:p>
        </p:txBody>
      </p:sp>
      <p:cxnSp>
        <p:nvCxnSpPr>
          <p:cNvPr id="201" name="Straight Connector 200">
            <a:extLst>
              <a:ext uri="{FF2B5EF4-FFF2-40B4-BE49-F238E27FC236}">
                <a16:creationId xmlns:a16="http://schemas.microsoft.com/office/drawing/2014/main" id="{0471CA99-42A3-3258-29F4-5BBBDCF2EE5E}"/>
              </a:ext>
            </a:extLst>
          </p:cNvPr>
          <p:cNvCxnSpPr>
            <a:cxnSpLocks/>
          </p:cNvCxnSpPr>
          <p:nvPr/>
        </p:nvCxnSpPr>
        <p:spPr>
          <a:xfrm>
            <a:off x="3218771" y="4657105"/>
            <a:ext cx="5611153" cy="0"/>
          </a:xfrm>
          <a:prstGeom prst="line">
            <a:avLst/>
          </a:prstGeom>
          <a:noFill/>
          <a:ln w="28575" cap="rnd" cmpd="sng" algn="ctr">
            <a:solidFill>
              <a:sysClr val="window" lastClr="FFFFFF"/>
            </a:solidFill>
            <a:prstDash val="solid"/>
          </a:ln>
          <a:effectLst/>
        </p:spPr>
      </p:cxnSp>
      <p:cxnSp>
        <p:nvCxnSpPr>
          <p:cNvPr id="202" name="Straight Connector 201">
            <a:extLst>
              <a:ext uri="{FF2B5EF4-FFF2-40B4-BE49-F238E27FC236}">
                <a16:creationId xmlns:a16="http://schemas.microsoft.com/office/drawing/2014/main" id="{47EF1068-150B-33C8-B532-7C066BCFF7DE}"/>
              </a:ext>
            </a:extLst>
          </p:cNvPr>
          <p:cNvCxnSpPr/>
          <p:nvPr/>
        </p:nvCxnSpPr>
        <p:spPr>
          <a:xfrm flipH="1" flipV="1">
            <a:off x="5551160" y="4428505"/>
            <a:ext cx="131151" cy="228600"/>
          </a:xfrm>
          <a:prstGeom prst="line">
            <a:avLst/>
          </a:prstGeom>
          <a:noFill/>
          <a:ln w="28575" cap="rnd" cmpd="sng" algn="ctr">
            <a:solidFill>
              <a:sysClr val="window" lastClr="FFFFFF"/>
            </a:solidFill>
            <a:prstDash val="solid"/>
          </a:ln>
          <a:effectLst/>
        </p:spPr>
      </p:cxnSp>
      <p:sp>
        <p:nvSpPr>
          <p:cNvPr id="203" name="TextBox 202">
            <a:extLst>
              <a:ext uri="{FF2B5EF4-FFF2-40B4-BE49-F238E27FC236}">
                <a16:creationId xmlns:a16="http://schemas.microsoft.com/office/drawing/2014/main" id="{8CDACD28-3627-8043-624D-8BDAF143884E}"/>
              </a:ext>
            </a:extLst>
          </p:cNvPr>
          <p:cNvSpPr txBox="1"/>
          <p:nvPr/>
        </p:nvSpPr>
        <p:spPr>
          <a:xfrm>
            <a:off x="4287350" y="4428505"/>
            <a:ext cx="254878"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a:t>
            </a:r>
          </a:p>
        </p:txBody>
      </p:sp>
      <p:cxnSp>
        <p:nvCxnSpPr>
          <p:cNvPr id="204" name="Straight Connector 203">
            <a:extLst>
              <a:ext uri="{FF2B5EF4-FFF2-40B4-BE49-F238E27FC236}">
                <a16:creationId xmlns:a16="http://schemas.microsoft.com/office/drawing/2014/main" id="{AC00C004-9B9A-8523-0E71-9967EC9DA05F}"/>
              </a:ext>
            </a:extLst>
          </p:cNvPr>
          <p:cNvCxnSpPr/>
          <p:nvPr/>
        </p:nvCxnSpPr>
        <p:spPr>
          <a:xfrm flipV="1">
            <a:off x="5551160" y="4428505"/>
            <a:ext cx="131151" cy="228600"/>
          </a:xfrm>
          <a:prstGeom prst="line">
            <a:avLst/>
          </a:prstGeom>
          <a:noFill/>
          <a:ln w="28575" cap="rnd" cmpd="sng" algn="ctr">
            <a:solidFill>
              <a:sysClr val="window" lastClr="FFFFFF"/>
            </a:solidFill>
            <a:prstDash val="solid"/>
          </a:ln>
          <a:effectLst/>
        </p:spPr>
      </p:cxnSp>
      <p:cxnSp>
        <p:nvCxnSpPr>
          <p:cNvPr id="205" name="Straight Connector 204">
            <a:extLst>
              <a:ext uri="{FF2B5EF4-FFF2-40B4-BE49-F238E27FC236}">
                <a16:creationId xmlns:a16="http://schemas.microsoft.com/office/drawing/2014/main" id="{111148FF-2772-A6DE-9C22-C20687536D20}"/>
              </a:ext>
            </a:extLst>
          </p:cNvPr>
          <p:cNvCxnSpPr>
            <a:cxnSpLocks/>
          </p:cNvCxnSpPr>
          <p:nvPr/>
        </p:nvCxnSpPr>
        <p:spPr>
          <a:xfrm>
            <a:off x="3190966" y="4428505"/>
            <a:ext cx="5638958" cy="0"/>
          </a:xfrm>
          <a:prstGeom prst="line">
            <a:avLst/>
          </a:prstGeom>
          <a:noFill/>
          <a:ln w="28575" cap="rnd" cmpd="sng" algn="ctr">
            <a:solidFill>
              <a:sysClr val="window" lastClr="FFFFFF"/>
            </a:solidFill>
            <a:prstDash val="solid"/>
          </a:ln>
          <a:effectLst/>
        </p:spPr>
      </p:cxnSp>
      <p:sp>
        <p:nvSpPr>
          <p:cNvPr id="206" name="TextBox 205">
            <a:extLst>
              <a:ext uri="{FF2B5EF4-FFF2-40B4-BE49-F238E27FC236}">
                <a16:creationId xmlns:a16="http://schemas.microsoft.com/office/drawing/2014/main" id="{A43E4F06-2089-D89A-FCA4-B8DA7077C77A}"/>
              </a:ext>
            </a:extLst>
          </p:cNvPr>
          <p:cNvSpPr txBox="1"/>
          <p:nvPr/>
        </p:nvSpPr>
        <p:spPr>
          <a:xfrm>
            <a:off x="2277522" y="4437035"/>
            <a:ext cx="339837" cy="184666"/>
          </a:xfrm>
          <a:prstGeom prst="rect">
            <a:avLst/>
          </a:prstGeom>
          <a:noFill/>
          <a:ln>
            <a:noFill/>
          </a:ln>
        </p:spPr>
        <p:txBody>
          <a:bodyPr wrap="none" lIns="0" tIns="0" rIns="0" bIns="0" rtlCol="0">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Consolas" panose="020B0609020204030204" pitchFamily="49" charset="0"/>
                <a:ea typeface="ＭＳ Ｐゴシック" pitchFamily="-1" charset="-128"/>
                <a:cs typeface="Consolas" panose="020B0609020204030204" pitchFamily="49" charset="0"/>
              </a:rPr>
              <a:t>R[1]</a:t>
            </a:r>
          </a:p>
        </p:txBody>
      </p:sp>
      <p:cxnSp>
        <p:nvCxnSpPr>
          <p:cNvPr id="207" name="Straight Connector 206">
            <a:extLst>
              <a:ext uri="{FF2B5EF4-FFF2-40B4-BE49-F238E27FC236}">
                <a16:creationId xmlns:a16="http://schemas.microsoft.com/office/drawing/2014/main" id="{C8C450D3-2BDF-B67A-5CA6-EF543481CF7B}"/>
              </a:ext>
            </a:extLst>
          </p:cNvPr>
          <p:cNvCxnSpPr/>
          <p:nvPr/>
        </p:nvCxnSpPr>
        <p:spPr>
          <a:xfrm flipV="1">
            <a:off x="7948388" y="4426737"/>
            <a:ext cx="131151" cy="228600"/>
          </a:xfrm>
          <a:prstGeom prst="line">
            <a:avLst/>
          </a:prstGeom>
          <a:noFill/>
          <a:ln w="28575" cap="rnd" cmpd="sng" algn="ctr">
            <a:solidFill>
              <a:sysClr val="window" lastClr="FFFFFF"/>
            </a:solidFill>
            <a:prstDash val="solid"/>
          </a:ln>
          <a:effectLst/>
        </p:spPr>
      </p:cxnSp>
      <p:cxnSp>
        <p:nvCxnSpPr>
          <p:cNvPr id="208" name="Straight Connector 207">
            <a:extLst>
              <a:ext uri="{FF2B5EF4-FFF2-40B4-BE49-F238E27FC236}">
                <a16:creationId xmlns:a16="http://schemas.microsoft.com/office/drawing/2014/main" id="{FBE9E49F-4024-70F3-32D3-998905D52455}"/>
              </a:ext>
            </a:extLst>
          </p:cNvPr>
          <p:cNvCxnSpPr/>
          <p:nvPr/>
        </p:nvCxnSpPr>
        <p:spPr>
          <a:xfrm flipH="1" flipV="1">
            <a:off x="7948388" y="4422664"/>
            <a:ext cx="131151" cy="228600"/>
          </a:xfrm>
          <a:prstGeom prst="line">
            <a:avLst/>
          </a:prstGeom>
          <a:noFill/>
          <a:ln w="28575" cap="rnd" cmpd="sng" algn="ctr">
            <a:solidFill>
              <a:sysClr val="window" lastClr="FFFFFF"/>
            </a:solidFill>
            <a:prstDash val="solid"/>
          </a:ln>
          <a:effectLst/>
        </p:spPr>
      </p:cxnSp>
      <p:sp>
        <p:nvSpPr>
          <p:cNvPr id="209" name="TextBox 208">
            <a:extLst>
              <a:ext uri="{FF2B5EF4-FFF2-40B4-BE49-F238E27FC236}">
                <a16:creationId xmlns:a16="http://schemas.microsoft.com/office/drawing/2014/main" id="{F0645B29-3B12-17FF-F6A6-B6D838E9B88F}"/>
              </a:ext>
            </a:extLst>
          </p:cNvPr>
          <p:cNvSpPr txBox="1"/>
          <p:nvPr/>
        </p:nvSpPr>
        <p:spPr>
          <a:xfrm>
            <a:off x="6147835" y="4428505"/>
            <a:ext cx="764633" cy="184666"/>
          </a:xfrm>
          <a:prstGeom prst="rect">
            <a:avLst/>
          </a:prstGeom>
          <a:noFill/>
          <a:ln>
            <a:noFill/>
          </a:ln>
        </p:spPr>
        <p:txBody>
          <a:bodyPr wrap="none" lIns="0" tIns="0" rIns="0" bIns="0" rtlCol="0">
            <a:spAutoFit/>
          </a:bodyPr>
          <a:lstStyle/>
          <a:p>
            <a:pPr defTabSz="914400" fontAlgn="base">
              <a:spcBef>
                <a:spcPct val="0"/>
              </a:spcBef>
              <a:spcAft>
                <a:spcPct val="0"/>
              </a:spcAft>
            </a:pPr>
            <a:r>
              <a:rPr lang="en-US" sz="1200" b="1" dirty="0">
                <a:solidFill>
                  <a:prstClr val="white"/>
                </a:solidFill>
                <a:latin typeface="Consolas" panose="020B0609020204030204" pitchFamily="49" charset="0"/>
                <a:ea typeface="ＭＳ Ｐゴシック" pitchFamily="-1" charset="-128"/>
                <a:cs typeface="Consolas" panose="020B0609020204030204" pitchFamily="49" charset="0"/>
              </a:rPr>
              <a:t>R[2]+R[3]</a:t>
            </a:r>
          </a:p>
        </p:txBody>
      </p:sp>
    </p:spTree>
    <p:extLst>
      <p:ext uri="{BB962C8B-B14F-4D97-AF65-F5344CB8AC3E}">
        <p14:creationId xmlns:p14="http://schemas.microsoft.com/office/powerpoint/2010/main" val="166939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1F717E8-2F23-48E4-80D7-78503CFFD4B8}"/>
              </a:ext>
            </a:extLst>
          </p:cNvPr>
          <p:cNvSpPr/>
          <p:nvPr/>
        </p:nvSpPr>
        <p:spPr>
          <a:xfrm>
            <a:off x="6383505" y="284662"/>
            <a:ext cx="5605295" cy="267258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p:cNvSpPr>
            <a:spLocks noGrp="1"/>
          </p:cNvSpPr>
          <p:nvPr>
            <p:ph type="title"/>
          </p:nvPr>
        </p:nvSpPr>
        <p:spPr/>
        <p:txBody>
          <a:bodyPr>
            <a:normAutofit/>
          </a:bodyPr>
          <a:lstStyle/>
          <a:p>
            <a:r>
              <a:rPr lang="en-US" dirty="0"/>
              <a:t>Timing Diagram for </a:t>
            </a:r>
            <a:r>
              <a:rPr lang="en-US" b="1" dirty="0">
                <a:latin typeface="Courier New"/>
                <a:cs typeface="Courier New"/>
              </a:rPr>
              <a:t>add</a:t>
            </a:r>
            <a:r>
              <a:rPr lang="en-US" dirty="0"/>
              <a:t> </a:t>
            </a:r>
            <a:endParaRPr lang="en-US" b="1" dirty="0">
              <a:latin typeface="Courier New"/>
              <a:cs typeface="Courier New"/>
            </a:endParaRPr>
          </a:p>
        </p:txBody>
      </p:sp>
      <p:grpSp>
        <p:nvGrpSpPr>
          <p:cNvPr id="100" name="Group 99"/>
          <p:cNvGrpSpPr/>
          <p:nvPr/>
        </p:nvGrpSpPr>
        <p:grpSpPr>
          <a:xfrm>
            <a:off x="3104870" y="3466258"/>
            <a:ext cx="8014949" cy="304801"/>
            <a:chOff x="1056778" y="4629150"/>
            <a:chExt cx="7020422" cy="228601"/>
          </a:xfrm>
          <a:effectLst/>
        </p:grpSpPr>
        <p:cxnSp>
          <p:nvCxnSpPr>
            <p:cNvPr id="101" name="Straight Connector 100"/>
            <p:cNvCxnSpPr/>
            <p:nvPr/>
          </p:nvCxnSpPr>
          <p:spPr>
            <a:xfrm>
              <a:off x="1066800" y="4857750"/>
              <a:ext cx="7010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2" name="Straight Connector 101"/>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4" name="Straight Connector 103"/>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6" name="Straight Connector 105"/>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7" name="TextBox 106"/>
            <p:cNvSpPr txBox="1"/>
            <p:nvPr/>
          </p:nvSpPr>
          <p:spPr>
            <a:xfrm>
              <a:off x="3262272" y="4629150"/>
              <a:ext cx="432462" cy="184666"/>
            </a:xfrm>
            <a:prstGeom prst="rect">
              <a:avLst/>
            </a:prstGeom>
            <a:noFill/>
            <a:ln>
              <a:noFill/>
            </a:ln>
          </p:spPr>
          <p:txBody>
            <a:bodyPr wrap="none" lIns="0" tIns="0" rIns="0" bIns="0" rtlCol="0">
              <a:spAutoFit/>
            </a:bodyPr>
            <a:lstStyle/>
            <a:p>
              <a:r>
                <a:rPr lang="en-US" sz="1600" b="1" dirty="0">
                  <a:latin typeface="Courier"/>
                </a:rPr>
                <a:t>1000</a:t>
              </a:r>
            </a:p>
          </p:txBody>
        </p:sp>
        <p:cxnSp>
          <p:nvCxnSpPr>
            <p:cNvPr id="113" name="Straight Connector 112"/>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23" name="Straight Connector 122"/>
            <p:cNvCxnSpPr/>
            <p:nvPr/>
          </p:nvCxnSpPr>
          <p:spPr>
            <a:xfrm>
              <a:off x="1066800" y="4629150"/>
              <a:ext cx="7010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5167273" y="4629150"/>
              <a:ext cx="432462" cy="184666"/>
            </a:xfrm>
            <a:prstGeom prst="rect">
              <a:avLst/>
            </a:prstGeom>
            <a:noFill/>
            <a:ln>
              <a:noFill/>
            </a:ln>
          </p:spPr>
          <p:txBody>
            <a:bodyPr wrap="none" lIns="0" tIns="0" rIns="0" bIns="0" rtlCol="0">
              <a:spAutoFit/>
            </a:bodyPr>
            <a:lstStyle/>
            <a:p>
              <a:r>
                <a:rPr lang="en-US" sz="1600" b="1" dirty="0">
                  <a:latin typeface="Courier"/>
                </a:rPr>
                <a:t>1004</a:t>
              </a:r>
            </a:p>
          </p:txBody>
        </p:sp>
        <p:sp>
          <p:nvSpPr>
            <p:cNvPr id="132" name="TextBox 131"/>
            <p:cNvSpPr txBox="1"/>
            <p:nvPr/>
          </p:nvSpPr>
          <p:spPr>
            <a:xfrm>
              <a:off x="1056778" y="4657819"/>
              <a:ext cx="216230" cy="184666"/>
            </a:xfrm>
            <a:prstGeom prst="rect">
              <a:avLst/>
            </a:prstGeom>
            <a:noFill/>
            <a:ln>
              <a:noFill/>
            </a:ln>
          </p:spPr>
          <p:txBody>
            <a:bodyPr wrap="none" lIns="0" tIns="0" rIns="0" bIns="0" rtlCol="0">
              <a:spAutoFit/>
            </a:bodyPr>
            <a:lstStyle/>
            <a:p>
              <a:r>
                <a:rPr lang="en-US" sz="1600" b="1" dirty="0">
                  <a:latin typeface="Courier"/>
                </a:rPr>
                <a:t>PC</a:t>
              </a:r>
            </a:p>
          </p:txBody>
        </p:sp>
      </p:grpSp>
      <p:grpSp>
        <p:nvGrpSpPr>
          <p:cNvPr id="135" name="Group 134"/>
          <p:cNvGrpSpPr/>
          <p:nvPr/>
        </p:nvGrpSpPr>
        <p:grpSpPr>
          <a:xfrm>
            <a:off x="3060137" y="3872660"/>
            <a:ext cx="8364480" cy="304800"/>
            <a:chOff x="522017" y="4629150"/>
            <a:chExt cx="7326583" cy="228600"/>
          </a:xfrm>
          <a:effectLst/>
        </p:grpSpPr>
        <p:cxnSp>
          <p:nvCxnSpPr>
            <p:cNvPr id="136" name="Straight Connector 135"/>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7" name="Straight Connector 136"/>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3102689" y="4629150"/>
              <a:ext cx="432462" cy="184666"/>
            </a:xfrm>
            <a:prstGeom prst="rect">
              <a:avLst/>
            </a:prstGeom>
            <a:noFill/>
            <a:ln>
              <a:noFill/>
            </a:ln>
          </p:spPr>
          <p:txBody>
            <a:bodyPr wrap="none" lIns="0" tIns="0" rIns="0" bIns="0" rtlCol="0">
              <a:spAutoFit/>
            </a:bodyPr>
            <a:lstStyle/>
            <a:p>
              <a:r>
                <a:rPr lang="en-US" sz="1600" b="1" dirty="0">
                  <a:latin typeface="Courier"/>
                </a:rPr>
                <a:t>1004</a:t>
              </a:r>
            </a:p>
          </p:txBody>
        </p:sp>
        <p:cxnSp>
          <p:nvCxnSpPr>
            <p:cNvPr id="141" name="Straight Connector 140"/>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2" name="Straight Connector 141"/>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4" name="Straight Connector 143"/>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46" name="Straight Connector 145"/>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7" name="TextBox 146"/>
            <p:cNvSpPr txBox="1"/>
            <p:nvPr/>
          </p:nvSpPr>
          <p:spPr>
            <a:xfrm>
              <a:off x="5548273" y="4629150"/>
              <a:ext cx="432462" cy="184666"/>
            </a:xfrm>
            <a:prstGeom prst="rect">
              <a:avLst/>
            </a:prstGeom>
            <a:noFill/>
            <a:ln>
              <a:noFill/>
            </a:ln>
          </p:spPr>
          <p:txBody>
            <a:bodyPr wrap="none" lIns="0" tIns="0" rIns="0" bIns="0" rtlCol="0">
              <a:spAutoFit/>
            </a:bodyPr>
            <a:lstStyle/>
            <a:p>
              <a:r>
                <a:rPr lang="en-US" sz="1600" b="1" dirty="0">
                  <a:latin typeface="Courier"/>
                </a:rPr>
                <a:t>1008</a:t>
              </a:r>
            </a:p>
          </p:txBody>
        </p:sp>
        <p:sp>
          <p:nvSpPr>
            <p:cNvPr id="148" name="TextBox 147"/>
            <p:cNvSpPr txBox="1"/>
            <p:nvPr/>
          </p:nvSpPr>
          <p:spPr>
            <a:xfrm>
              <a:off x="522017" y="4666515"/>
              <a:ext cx="432462" cy="184666"/>
            </a:xfrm>
            <a:prstGeom prst="rect">
              <a:avLst/>
            </a:prstGeom>
            <a:noFill/>
            <a:ln>
              <a:noFill/>
            </a:ln>
          </p:spPr>
          <p:txBody>
            <a:bodyPr wrap="none" lIns="0" tIns="0" rIns="0" bIns="0" rtlCol="0">
              <a:spAutoFit/>
            </a:bodyPr>
            <a:lstStyle/>
            <a:p>
              <a:r>
                <a:rPr lang="en-US" sz="1600" b="1" dirty="0">
                  <a:latin typeface="Courier"/>
                </a:rPr>
                <a:t>PC+4</a:t>
              </a:r>
            </a:p>
          </p:txBody>
        </p:sp>
      </p:grpSp>
      <p:grpSp>
        <p:nvGrpSpPr>
          <p:cNvPr id="149" name="Group 148"/>
          <p:cNvGrpSpPr/>
          <p:nvPr/>
        </p:nvGrpSpPr>
        <p:grpSpPr>
          <a:xfrm>
            <a:off x="3129144" y="4279066"/>
            <a:ext cx="8351656" cy="304800"/>
            <a:chOff x="533251" y="4629150"/>
            <a:chExt cx="7315349" cy="228600"/>
          </a:xfrm>
          <a:effectLst/>
        </p:grpSpPr>
        <p:cxnSp>
          <p:nvCxnSpPr>
            <p:cNvPr id="150" name="Straight Connector 149"/>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2" name="Straight Connector 151"/>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3" name="Straight Connector 152"/>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4" name="TextBox 153"/>
            <p:cNvSpPr txBox="1"/>
            <p:nvPr/>
          </p:nvSpPr>
          <p:spPr>
            <a:xfrm>
              <a:off x="2744252" y="4629150"/>
              <a:ext cx="1297385" cy="184666"/>
            </a:xfrm>
            <a:prstGeom prst="rect">
              <a:avLst/>
            </a:prstGeom>
            <a:noFill/>
            <a:ln>
              <a:noFill/>
            </a:ln>
          </p:spPr>
          <p:txBody>
            <a:bodyPr wrap="none" lIns="0" tIns="0" rIns="0" bIns="0" rtlCol="0">
              <a:spAutoFit/>
            </a:bodyPr>
            <a:lstStyle/>
            <a:p>
              <a:r>
                <a:rPr lang="en-US" sz="1600" b="1" dirty="0">
                  <a:latin typeface="Courier"/>
                  <a:cs typeface="Courier New"/>
                </a:rPr>
                <a:t>add x1,x2,x3</a:t>
              </a:r>
            </a:p>
          </p:txBody>
        </p:sp>
        <p:cxnSp>
          <p:nvCxnSpPr>
            <p:cNvPr id="155" name="Straight Connector 154"/>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6" name="Straight Connector 155"/>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7" name="Straight Connector 156"/>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58" name="Straight Connector 157"/>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9" name="TextBox 158"/>
            <p:cNvSpPr txBox="1"/>
            <p:nvPr/>
          </p:nvSpPr>
          <p:spPr>
            <a:xfrm>
              <a:off x="5563652" y="4629150"/>
              <a:ext cx="1297385" cy="184666"/>
            </a:xfrm>
            <a:prstGeom prst="rect">
              <a:avLst/>
            </a:prstGeom>
            <a:noFill/>
            <a:ln>
              <a:noFill/>
            </a:ln>
          </p:spPr>
          <p:txBody>
            <a:bodyPr wrap="none" lIns="0" tIns="0" rIns="0" bIns="0" rtlCol="0">
              <a:spAutoFit/>
            </a:bodyPr>
            <a:lstStyle/>
            <a:p>
              <a:r>
                <a:rPr lang="en-US" sz="1600" b="1" dirty="0">
                  <a:latin typeface="Courier"/>
                  <a:cs typeface="Courier New"/>
                </a:rPr>
                <a:t>add x6,x7,x9</a:t>
              </a:r>
            </a:p>
          </p:txBody>
        </p:sp>
        <p:sp>
          <p:nvSpPr>
            <p:cNvPr id="160" name="TextBox 159"/>
            <p:cNvSpPr txBox="1"/>
            <p:nvPr/>
          </p:nvSpPr>
          <p:spPr>
            <a:xfrm>
              <a:off x="533251" y="4645276"/>
              <a:ext cx="1081154" cy="184666"/>
            </a:xfrm>
            <a:prstGeom prst="rect">
              <a:avLst/>
            </a:prstGeom>
            <a:noFill/>
            <a:ln>
              <a:noFill/>
            </a:ln>
          </p:spPr>
          <p:txBody>
            <a:bodyPr wrap="none" lIns="0" tIns="0" rIns="0" bIns="0" rtlCol="0">
              <a:spAutoFit/>
            </a:bodyPr>
            <a:lstStyle/>
            <a:p>
              <a:r>
                <a:rPr lang="en-US" sz="1600" b="1" dirty="0" err="1">
                  <a:latin typeface="Courier"/>
                </a:rPr>
                <a:t>inst</a:t>
              </a:r>
              <a:r>
                <a:rPr lang="en-US" sz="1600" b="1" dirty="0">
                  <a:latin typeface="Courier"/>
                </a:rPr>
                <a:t>[31:0]</a:t>
              </a:r>
            </a:p>
          </p:txBody>
        </p:sp>
      </p:grpSp>
      <p:grpSp>
        <p:nvGrpSpPr>
          <p:cNvPr id="99" name="Group 98"/>
          <p:cNvGrpSpPr/>
          <p:nvPr/>
        </p:nvGrpSpPr>
        <p:grpSpPr>
          <a:xfrm>
            <a:off x="3036696" y="3050615"/>
            <a:ext cx="8591123" cy="314060"/>
            <a:chOff x="933098" y="3174407"/>
            <a:chExt cx="7525102" cy="235545"/>
          </a:xfrm>
          <a:effectLst/>
        </p:grpSpPr>
        <p:grpSp>
          <p:nvGrpSpPr>
            <p:cNvPr id="61" name="Group 60"/>
            <p:cNvGrpSpPr/>
            <p:nvPr/>
          </p:nvGrpSpPr>
          <p:grpSpPr>
            <a:xfrm>
              <a:off x="933098" y="3174407"/>
              <a:ext cx="3791302" cy="235544"/>
              <a:chOff x="1085498" y="4622208"/>
              <a:chExt cx="3791302" cy="235544"/>
            </a:xfrm>
          </p:grpSpPr>
          <p:cxnSp>
            <p:nvCxnSpPr>
              <p:cNvPr id="64" name="Straight Connector 63"/>
              <p:cNvCxnSpPr/>
              <p:nvPr/>
            </p:nvCxnSpPr>
            <p:spPr>
              <a:xfrm>
                <a:off x="1085498" y="4857750"/>
                <a:ext cx="914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5" name="Straight Connector 64"/>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a:off x="2152298" y="4629150"/>
                <a:ext cx="1295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flipH="1" flipV="1">
                <a:off x="3447697" y="46291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3600098" y="4857751"/>
                <a:ext cx="11430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flipV="1">
                <a:off x="4724400" y="46291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175434" y="4622208"/>
                <a:ext cx="540578" cy="184666"/>
              </a:xfrm>
              <a:prstGeom prst="rect">
                <a:avLst/>
              </a:prstGeom>
              <a:noFill/>
              <a:ln>
                <a:noFill/>
              </a:ln>
            </p:spPr>
            <p:txBody>
              <a:bodyPr wrap="none" lIns="0" tIns="0" rIns="0" bIns="0" rtlCol="0">
                <a:spAutoFit/>
              </a:bodyPr>
              <a:lstStyle/>
              <a:p>
                <a:r>
                  <a:rPr lang="en-US" sz="1600" b="1" dirty="0">
                    <a:latin typeface="Courier"/>
                  </a:rPr>
                  <a:t>Clock</a:t>
                </a:r>
              </a:p>
            </p:txBody>
          </p:sp>
          <p:cxnSp>
            <p:nvCxnSpPr>
              <p:cNvPr id="71" name="Straight Connector 70"/>
              <p:cNvCxnSpPr/>
              <p:nvPr/>
            </p:nvCxnSpPr>
            <p:spPr>
              <a:xfrm flipV="1">
                <a:off x="1962693" y="4698506"/>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2" name="Straight Connector 71"/>
              <p:cNvCxnSpPr/>
              <p:nvPr/>
            </p:nvCxnSpPr>
            <p:spPr>
              <a:xfrm flipH="1" flipV="1">
                <a:off x="2103257" y="4698506"/>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flipV="1">
                <a:off x="4701951" y="4700170"/>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flipH="1" flipV="1">
                <a:off x="4842515" y="4700170"/>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170" name="Straight Connector 169"/>
            <p:cNvCxnSpPr/>
            <p:nvPr/>
          </p:nvCxnSpPr>
          <p:spPr>
            <a:xfrm>
              <a:off x="4743098" y="3181350"/>
              <a:ext cx="1295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1" name="Straight Connector 170"/>
            <p:cNvCxnSpPr/>
            <p:nvPr/>
          </p:nvCxnSpPr>
          <p:spPr>
            <a:xfrm flipH="1" flipV="1">
              <a:off x="6038498" y="31813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2" name="Straight Connector 171"/>
            <p:cNvCxnSpPr/>
            <p:nvPr/>
          </p:nvCxnSpPr>
          <p:spPr>
            <a:xfrm>
              <a:off x="6172200" y="3409951"/>
              <a:ext cx="11430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3" name="Straight Connector 172"/>
            <p:cNvCxnSpPr/>
            <p:nvPr/>
          </p:nvCxnSpPr>
          <p:spPr>
            <a:xfrm flipV="1">
              <a:off x="7315200" y="31813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4" name="Straight Connector 173"/>
            <p:cNvCxnSpPr/>
            <p:nvPr/>
          </p:nvCxnSpPr>
          <p:spPr>
            <a:xfrm flipV="1">
              <a:off x="7292751" y="3252370"/>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75" name="Straight Connector 174"/>
            <p:cNvCxnSpPr/>
            <p:nvPr/>
          </p:nvCxnSpPr>
          <p:spPr>
            <a:xfrm flipH="1" flipV="1">
              <a:off x="7414618" y="3252370"/>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4" name="Straight Connector 253"/>
            <p:cNvCxnSpPr/>
            <p:nvPr/>
          </p:nvCxnSpPr>
          <p:spPr>
            <a:xfrm>
              <a:off x="7467600" y="3181349"/>
              <a:ext cx="990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177" name="Group 176"/>
          <p:cNvGrpSpPr/>
          <p:nvPr/>
        </p:nvGrpSpPr>
        <p:grpSpPr>
          <a:xfrm>
            <a:off x="8648369" y="6248520"/>
            <a:ext cx="2179727" cy="410433"/>
            <a:chOff x="2662742" y="4759523"/>
            <a:chExt cx="1909258" cy="307825"/>
          </a:xfrm>
        </p:grpSpPr>
        <p:cxnSp>
          <p:nvCxnSpPr>
            <p:cNvPr id="178" name="Straight Arrow Connector 177"/>
            <p:cNvCxnSpPr/>
            <p:nvPr/>
          </p:nvCxnSpPr>
          <p:spPr>
            <a:xfrm>
              <a:off x="3200400" y="4933950"/>
              <a:ext cx="1371600" cy="0"/>
            </a:xfrm>
            <a:prstGeom prst="straightConnector1">
              <a:avLst/>
            </a:prstGeom>
            <a:ln w="28575"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79" name="TextBox 178"/>
            <p:cNvSpPr txBox="1"/>
            <p:nvPr/>
          </p:nvSpPr>
          <p:spPr>
            <a:xfrm>
              <a:off x="2662742" y="4759523"/>
              <a:ext cx="571468" cy="307825"/>
            </a:xfrm>
            <a:prstGeom prst="rect">
              <a:avLst/>
            </a:prstGeom>
            <a:noFill/>
            <a:ln>
              <a:noFill/>
            </a:ln>
          </p:spPr>
          <p:txBody>
            <a:bodyPr wrap="none" lIns="0" tIns="0" rIns="0" bIns="0" rtlCol="0">
              <a:spAutoFit/>
            </a:bodyPr>
            <a:lstStyle/>
            <a:p>
              <a:r>
                <a:rPr lang="en-US" sz="2667" b="1" dirty="0">
                  <a:latin typeface="VAGRundschriftDLig" panose="00000400000000000000" pitchFamily="50" charset="0"/>
                </a:rPr>
                <a:t>time</a:t>
              </a:r>
            </a:p>
          </p:txBody>
        </p:sp>
      </p:grpSp>
      <p:grpSp>
        <p:nvGrpSpPr>
          <p:cNvPr id="181" name="Group 180"/>
          <p:cNvGrpSpPr/>
          <p:nvPr/>
        </p:nvGrpSpPr>
        <p:grpSpPr>
          <a:xfrm>
            <a:off x="3072276" y="4685469"/>
            <a:ext cx="8961941" cy="304810"/>
            <a:chOff x="-1308" y="4629143"/>
            <a:chExt cx="7849908" cy="228607"/>
          </a:xfrm>
          <a:effectLst/>
        </p:grpSpPr>
        <p:cxnSp>
          <p:nvCxnSpPr>
            <p:cNvPr id="182" name="Straight Connector 181"/>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3" name="Straight Connector 182"/>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4" name="Straight Connector 183"/>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6" name="Straight Connector 185"/>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2750138" y="4629150"/>
              <a:ext cx="648692"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[2]</a:t>
              </a:r>
            </a:p>
          </p:txBody>
        </p:sp>
        <p:cxnSp>
          <p:nvCxnSpPr>
            <p:cNvPr id="189" name="Straight Connector 188"/>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0" name="Straight Connector 189"/>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1" name="Straight Connector 190"/>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2" name="Straight Connector 191"/>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3" name="TextBox 192"/>
            <p:cNvSpPr txBox="1"/>
            <p:nvPr/>
          </p:nvSpPr>
          <p:spPr>
            <a:xfrm>
              <a:off x="5569538" y="4629150"/>
              <a:ext cx="648692"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[7]</a:t>
              </a:r>
            </a:p>
          </p:txBody>
        </p:sp>
        <p:sp>
          <p:nvSpPr>
            <p:cNvPr id="194" name="TextBox 193"/>
            <p:cNvSpPr txBox="1"/>
            <p:nvPr/>
          </p:nvSpPr>
          <p:spPr>
            <a:xfrm>
              <a:off x="-1308" y="4629143"/>
              <a:ext cx="864923" cy="184666"/>
            </a:xfrm>
            <a:prstGeom prst="rect">
              <a:avLst/>
            </a:prstGeom>
            <a:noFill/>
            <a:ln>
              <a:noFill/>
            </a:ln>
          </p:spPr>
          <p:txBody>
            <a:bodyPr wrap="none" lIns="0" tIns="0" rIns="0" bIns="0" rtlCol="0">
              <a:spAutoFit/>
            </a:bodyPr>
            <a:lstStyle/>
            <a:p>
              <a:r>
                <a:rPr lang="en-US" sz="1600" b="1" dirty="0" err="1">
                  <a:latin typeface="Courier"/>
                </a:rPr>
                <a:t>Reg</a:t>
              </a:r>
              <a:r>
                <a:rPr lang="en-US" sz="1600" b="1" dirty="0">
                  <a:latin typeface="Courier"/>
                </a:rPr>
                <a:t>[rs1]</a:t>
              </a:r>
            </a:p>
          </p:txBody>
        </p:sp>
      </p:grpSp>
      <p:grpSp>
        <p:nvGrpSpPr>
          <p:cNvPr id="195" name="Group 194"/>
          <p:cNvGrpSpPr/>
          <p:nvPr/>
        </p:nvGrpSpPr>
        <p:grpSpPr>
          <a:xfrm>
            <a:off x="3048000" y="5498260"/>
            <a:ext cx="8681419" cy="304800"/>
            <a:chOff x="-1050993" y="4629150"/>
            <a:chExt cx="7604193" cy="228600"/>
          </a:xfrm>
          <a:effectLst/>
        </p:grpSpPr>
        <p:cxnSp>
          <p:nvCxnSpPr>
            <p:cNvPr id="196" name="Straight Connector 195"/>
            <p:cNvCxnSpPr/>
            <p:nvPr/>
          </p:nvCxnSpPr>
          <p:spPr>
            <a:xfrm>
              <a:off x="1066800" y="48577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7" name="Straight Connector 196"/>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8" name="Straight Connector 197"/>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0" name="TextBox 199"/>
            <p:cNvSpPr txBox="1"/>
            <p:nvPr/>
          </p:nvSpPr>
          <p:spPr>
            <a:xfrm>
              <a:off x="2750751" y="4629150"/>
              <a:ext cx="1405500"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[2]+</a:t>
              </a:r>
              <a:r>
                <a:rPr lang="en-US" sz="1600" b="1" dirty="0" err="1">
                  <a:latin typeface="Courier"/>
                  <a:cs typeface="Courier New"/>
                </a:rPr>
                <a:t>Reg</a:t>
              </a:r>
              <a:r>
                <a:rPr lang="en-US" sz="1600" b="1" dirty="0">
                  <a:latin typeface="Courier"/>
                  <a:cs typeface="Courier New"/>
                </a:rPr>
                <a:t>[3]</a:t>
              </a:r>
            </a:p>
          </p:txBody>
        </p:sp>
        <p:cxnSp>
          <p:nvCxnSpPr>
            <p:cNvPr id="201" name="Straight Connector 200"/>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02" name="Straight Connector 201"/>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05" name="Straight Connector 204"/>
            <p:cNvCxnSpPr/>
            <p:nvPr/>
          </p:nvCxnSpPr>
          <p:spPr>
            <a:xfrm>
              <a:off x="1066800" y="46291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1050993" y="4629150"/>
              <a:ext cx="324346" cy="184666"/>
            </a:xfrm>
            <a:prstGeom prst="rect">
              <a:avLst/>
            </a:prstGeom>
            <a:noFill/>
            <a:ln>
              <a:noFill/>
            </a:ln>
          </p:spPr>
          <p:txBody>
            <a:bodyPr wrap="none" lIns="0" tIns="0" rIns="0" bIns="0" rtlCol="0">
              <a:spAutoFit/>
            </a:bodyPr>
            <a:lstStyle/>
            <a:p>
              <a:r>
                <a:rPr lang="en-US" sz="1600" b="1" dirty="0" err="1">
                  <a:latin typeface="Courier"/>
                </a:rPr>
                <a:t>alu</a:t>
              </a:r>
              <a:endParaRPr lang="en-US" sz="1600" b="1" dirty="0">
                <a:latin typeface="Courier"/>
              </a:endParaRPr>
            </a:p>
          </p:txBody>
        </p:sp>
        <p:sp>
          <p:nvSpPr>
            <p:cNvPr id="208" name="TextBox 207"/>
            <p:cNvSpPr txBox="1"/>
            <p:nvPr/>
          </p:nvSpPr>
          <p:spPr>
            <a:xfrm>
              <a:off x="5036751" y="4629150"/>
              <a:ext cx="1405500"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[7]+</a:t>
              </a:r>
              <a:r>
                <a:rPr lang="en-US" sz="1600" b="1" dirty="0" err="1">
                  <a:latin typeface="Courier"/>
                  <a:cs typeface="Courier New"/>
                </a:rPr>
                <a:t>Reg</a:t>
              </a:r>
              <a:r>
                <a:rPr lang="en-US" sz="1600" b="1" dirty="0">
                  <a:latin typeface="Courier"/>
                  <a:cs typeface="Courier New"/>
                </a:rPr>
                <a:t>[9]</a:t>
              </a:r>
            </a:p>
          </p:txBody>
        </p:sp>
      </p:grpSp>
      <p:grpSp>
        <p:nvGrpSpPr>
          <p:cNvPr id="210" name="Group 209"/>
          <p:cNvGrpSpPr/>
          <p:nvPr/>
        </p:nvGrpSpPr>
        <p:grpSpPr>
          <a:xfrm>
            <a:off x="3072276" y="5091860"/>
            <a:ext cx="8961941" cy="304800"/>
            <a:chOff x="-1308" y="4629150"/>
            <a:chExt cx="7849908" cy="228600"/>
          </a:xfrm>
          <a:effectLst/>
        </p:grpSpPr>
        <p:cxnSp>
          <p:nvCxnSpPr>
            <p:cNvPr id="211" name="Straight Connector 210"/>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2" name="Straight Connector 211"/>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3" name="Straight Connector 212"/>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6" name="TextBox 215"/>
            <p:cNvSpPr txBox="1"/>
            <p:nvPr/>
          </p:nvSpPr>
          <p:spPr>
            <a:xfrm>
              <a:off x="2750138" y="4629150"/>
              <a:ext cx="648692"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[3]</a:t>
              </a:r>
            </a:p>
          </p:txBody>
        </p:sp>
        <p:cxnSp>
          <p:nvCxnSpPr>
            <p:cNvPr id="217" name="Straight Connector 216"/>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9" name="Straight Connector 218"/>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0" name="Straight Connector 219"/>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1" name="TextBox 220"/>
            <p:cNvSpPr txBox="1"/>
            <p:nvPr/>
          </p:nvSpPr>
          <p:spPr>
            <a:xfrm>
              <a:off x="5569538" y="4629150"/>
              <a:ext cx="648692" cy="184666"/>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[9]</a:t>
              </a:r>
            </a:p>
          </p:txBody>
        </p:sp>
        <p:sp>
          <p:nvSpPr>
            <p:cNvPr id="222" name="TextBox 221"/>
            <p:cNvSpPr txBox="1"/>
            <p:nvPr/>
          </p:nvSpPr>
          <p:spPr>
            <a:xfrm>
              <a:off x="-1308" y="4640826"/>
              <a:ext cx="864923" cy="184666"/>
            </a:xfrm>
            <a:prstGeom prst="rect">
              <a:avLst/>
            </a:prstGeom>
            <a:noFill/>
            <a:ln>
              <a:noFill/>
            </a:ln>
          </p:spPr>
          <p:txBody>
            <a:bodyPr wrap="none" lIns="0" tIns="0" rIns="0" bIns="0" rtlCol="0">
              <a:spAutoFit/>
            </a:bodyPr>
            <a:lstStyle/>
            <a:p>
              <a:r>
                <a:rPr lang="en-US" sz="1600" b="1" dirty="0" err="1">
                  <a:latin typeface="Courier"/>
                </a:rPr>
                <a:t>Reg</a:t>
              </a:r>
              <a:r>
                <a:rPr lang="en-US" sz="1600" b="1" dirty="0">
                  <a:latin typeface="Courier"/>
                </a:rPr>
                <a:t>[rs2]</a:t>
              </a:r>
            </a:p>
          </p:txBody>
        </p:sp>
      </p:grpSp>
      <p:grpSp>
        <p:nvGrpSpPr>
          <p:cNvPr id="240" name="Group 239"/>
          <p:cNvGrpSpPr/>
          <p:nvPr/>
        </p:nvGrpSpPr>
        <p:grpSpPr>
          <a:xfrm>
            <a:off x="3048000" y="5896885"/>
            <a:ext cx="8725233" cy="312588"/>
            <a:chOff x="930208" y="4623309"/>
            <a:chExt cx="7604192" cy="234441"/>
          </a:xfrm>
        </p:grpSpPr>
        <p:cxnSp>
          <p:nvCxnSpPr>
            <p:cNvPr id="241" name="Straight Connector 240"/>
            <p:cNvCxnSpPr/>
            <p:nvPr/>
          </p:nvCxnSpPr>
          <p:spPr>
            <a:xfrm>
              <a:off x="1066800" y="4857750"/>
              <a:ext cx="7467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3" name="Straight Connector 242"/>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45" name="TextBox 244"/>
            <p:cNvSpPr txBox="1"/>
            <p:nvPr/>
          </p:nvSpPr>
          <p:spPr>
            <a:xfrm>
              <a:off x="3255824" y="4629150"/>
              <a:ext cx="322718" cy="184666"/>
            </a:xfrm>
            <a:prstGeom prst="rect">
              <a:avLst/>
            </a:prstGeom>
            <a:noFill/>
            <a:ln>
              <a:noFill/>
            </a:ln>
          </p:spPr>
          <p:txBody>
            <a:bodyPr wrap="none" lIns="0" tIns="0" rIns="0" bIns="0" rtlCol="0">
              <a:spAutoFit/>
            </a:bodyPr>
            <a:lstStyle/>
            <a:p>
              <a:r>
                <a:rPr lang="en-US" sz="1600" b="1" dirty="0">
                  <a:latin typeface="Courier"/>
                </a:rPr>
                <a:t>???</a:t>
              </a:r>
            </a:p>
          </p:txBody>
        </p:sp>
        <p:cxnSp>
          <p:nvCxnSpPr>
            <p:cNvPr id="247" name="Straight Connector 246"/>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9" name="Straight Connector 248"/>
            <p:cNvCxnSpPr/>
            <p:nvPr/>
          </p:nvCxnSpPr>
          <p:spPr>
            <a:xfrm>
              <a:off x="1066800" y="4629150"/>
              <a:ext cx="7467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2" name="TextBox 251"/>
            <p:cNvSpPr txBox="1"/>
            <p:nvPr/>
          </p:nvSpPr>
          <p:spPr>
            <a:xfrm>
              <a:off x="930208" y="4637680"/>
              <a:ext cx="645434" cy="184666"/>
            </a:xfrm>
            <a:prstGeom prst="rect">
              <a:avLst/>
            </a:prstGeom>
            <a:noFill/>
            <a:ln>
              <a:noFill/>
            </a:ln>
          </p:spPr>
          <p:txBody>
            <a:bodyPr wrap="none" lIns="0" tIns="0" rIns="0" bIns="0" rtlCol="0">
              <a:spAutoFit/>
            </a:bodyPr>
            <a:lstStyle/>
            <a:p>
              <a:r>
                <a:rPr lang="en-US" sz="1600" b="1" dirty="0" err="1">
                  <a:latin typeface="Courier"/>
                </a:rPr>
                <a:t>Reg</a:t>
              </a:r>
              <a:r>
                <a:rPr lang="en-US" sz="1600" b="1" dirty="0">
                  <a:latin typeface="Courier"/>
                </a:rPr>
                <a:t>[1]</a:t>
              </a:r>
            </a:p>
          </p:txBody>
        </p:sp>
        <p:cxnSp>
          <p:nvCxnSpPr>
            <p:cNvPr id="185" name="Straight Connector 184">
              <a:extLst>
                <a:ext uri="{FF2B5EF4-FFF2-40B4-BE49-F238E27FC236}">
                  <a16:creationId xmlns:a16="http://schemas.microsoft.com/office/drawing/2014/main" id="{1923C1A6-DBDE-4F49-A6DB-CDFF801970FD}"/>
                </a:ext>
              </a:extLst>
            </p:cNvPr>
            <p:cNvCxnSpPr/>
            <p:nvPr/>
          </p:nvCxnSpPr>
          <p:spPr>
            <a:xfrm flipV="1">
              <a:off x="7510035" y="4627382"/>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D824B010-5801-476D-AB6C-AA422AA08DA8}"/>
                </a:ext>
              </a:extLst>
            </p:cNvPr>
            <p:cNvCxnSpPr/>
            <p:nvPr/>
          </p:nvCxnSpPr>
          <p:spPr>
            <a:xfrm flipH="1" flipV="1">
              <a:off x="7510035" y="4623309"/>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255" name="TextBox 254"/>
          <p:cNvSpPr txBox="1"/>
          <p:nvPr/>
        </p:nvSpPr>
        <p:spPr>
          <a:xfrm>
            <a:off x="8197113" y="5904674"/>
            <a:ext cx="1604606" cy="246221"/>
          </a:xfrm>
          <a:prstGeom prst="rect">
            <a:avLst/>
          </a:prstGeom>
          <a:noFill/>
          <a:ln>
            <a:noFill/>
          </a:ln>
        </p:spPr>
        <p:txBody>
          <a:bodyPr wrap="none" lIns="0" tIns="0" rIns="0" bIns="0" rtlCol="0">
            <a:spAutoFit/>
          </a:bodyPr>
          <a:lstStyle/>
          <a:p>
            <a:r>
              <a:rPr lang="en-US" sz="1600" b="1" dirty="0" err="1">
                <a:latin typeface="Courier"/>
                <a:cs typeface="Courier New"/>
              </a:rPr>
              <a:t>Reg</a:t>
            </a:r>
            <a:r>
              <a:rPr lang="en-US" sz="1600" b="1" dirty="0">
                <a:latin typeface="Courier"/>
                <a:cs typeface="Courier New"/>
              </a:rPr>
              <a:t>[2]+</a:t>
            </a:r>
            <a:r>
              <a:rPr lang="en-US" sz="1600" b="1" dirty="0" err="1">
                <a:latin typeface="Courier"/>
                <a:cs typeface="Courier New"/>
              </a:rPr>
              <a:t>Reg</a:t>
            </a:r>
            <a:r>
              <a:rPr lang="en-US" sz="1600" b="1" dirty="0">
                <a:latin typeface="Courier"/>
                <a:cs typeface="Courier New"/>
              </a:rPr>
              <a:t>[3]</a:t>
            </a:r>
          </a:p>
        </p:txBody>
      </p:sp>
      <p:sp>
        <p:nvSpPr>
          <p:cNvPr id="283" name="Line 86"/>
          <p:cNvSpPr>
            <a:spLocks noChangeShapeType="1"/>
          </p:cNvSpPr>
          <p:nvPr/>
        </p:nvSpPr>
        <p:spPr bwMode="auto">
          <a:xfrm>
            <a:off x="5977746" y="2553731"/>
            <a:ext cx="4038623" cy="4765"/>
          </a:xfrm>
          <a:prstGeom prst="line">
            <a:avLst/>
          </a:prstGeom>
          <a:noFill/>
          <a:ln w="28575" cap="rnd">
            <a:solidFill>
              <a:schemeClr val="tx1"/>
            </a:solidFill>
            <a:round/>
            <a:headEnd/>
            <a:tailEnd/>
          </a:ln>
        </p:spPr>
        <p:txBody>
          <a:bodyPr wrap="none" anchor="ctr">
            <a:prstTxWarp prst="textNoShape">
              <a:avLst/>
            </a:prstTxWarp>
          </a:bodyPr>
          <a:lstStyle/>
          <a:p>
            <a:endParaRPr lang="en-US" sz="1500" b="1">
              <a:latin typeface="VAGRundschriftDLig" panose="00000400000000000000" pitchFamily="50" charset="0"/>
            </a:endParaRPr>
          </a:p>
        </p:txBody>
      </p:sp>
      <p:sp>
        <p:nvSpPr>
          <p:cNvPr id="188" name="Rectangle 184">
            <a:extLst>
              <a:ext uri="{FF2B5EF4-FFF2-40B4-BE49-F238E27FC236}">
                <a16:creationId xmlns:a16="http://schemas.microsoft.com/office/drawing/2014/main" id="{B45D0CC7-A44F-408E-8586-BB8E0DD43679}"/>
              </a:ext>
            </a:extLst>
          </p:cNvPr>
          <p:cNvSpPr>
            <a:spLocks noChangeArrowheads="1"/>
          </p:cNvSpPr>
          <p:nvPr/>
        </p:nvSpPr>
        <p:spPr bwMode="auto">
          <a:xfrm>
            <a:off x="5416351" y="2324099"/>
            <a:ext cx="554567" cy="518584"/>
          </a:xfrm>
          <a:prstGeom prst="rect">
            <a:avLst/>
          </a:prstGeom>
          <a:noFill/>
          <a:ln w="28575"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03" name="Freeform 185">
            <a:extLst>
              <a:ext uri="{FF2B5EF4-FFF2-40B4-BE49-F238E27FC236}">
                <a16:creationId xmlns:a16="http://schemas.microsoft.com/office/drawing/2014/main" id="{9CC6E0BF-6668-48F9-9181-0DD2B6C1606A}"/>
              </a:ext>
            </a:extLst>
          </p:cNvPr>
          <p:cNvSpPr>
            <a:spLocks/>
          </p:cNvSpPr>
          <p:nvPr/>
        </p:nvSpPr>
        <p:spPr bwMode="auto">
          <a:xfrm>
            <a:off x="5541235" y="2677583"/>
            <a:ext cx="52917" cy="69851"/>
          </a:xfrm>
          <a:custGeom>
            <a:avLst/>
            <a:gdLst>
              <a:gd name="T0" fmla="*/ 21 w 22"/>
              <a:gd name="T1" fmla="*/ 23 h 29"/>
              <a:gd name="T2" fmla="*/ 15 w 22"/>
              <a:gd name="T3" fmla="*/ 25 h 29"/>
              <a:gd name="T4" fmla="*/ 5 w 22"/>
              <a:gd name="T5" fmla="*/ 15 h 29"/>
              <a:gd name="T6" fmla="*/ 15 w 22"/>
              <a:gd name="T7" fmla="*/ 4 h 29"/>
              <a:gd name="T8" fmla="*/ 21 w 22"/>
              <a:gd name="T9" fmla="*/ 6 h 29"/>
              <a:gd name="T10" fmla="*/ 22 w 22"/>
              <a:gd name="T11" fmla="*/ 2 h 29"/>
              <a:gd name="T12" fmla="*/ 15 w 22"/>
              <a:gd name="T13" fmla="*/ 0 h 29"/>
              <a:gd name="T14" fmla="*/ 0 w 22"/>
              <a:gd name="T15" fmla="*/ 15 h 29"/>
              <a:gd name="T16" fmla="*/ 14 w 22"/>
              <a:gd name="T17" fmla="*/ 29 h 29"/>
              <a:gd name="T18" fmla="*/ 22 w 22"/>
              <a:gd name="T19" fmla="*/ 27 h 29"/>
              <a:gd name="T20" fmla="*/ 21 w 22"/>
              <a:gd name="T21"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9">
                <a:moveTo>
                  <a:pt x="21" y="23"/>
                </a:moveTo>
                <a:cubicBezTo>
                  <a:pt x="20" y="24"/>
                  <a:pt x="18" y="25"/>
                  <a:pt x="15" y="25"/>
                </a:cubicBezTo>
                <a:cubicBezTo>
                  <a:pt x="9" y="25"/>
                  <a:pt x="5" y="21"/>
                  <a:pt x="5" y="15"/>
                </a:cubicBezTo>
                <a:cubicBezTo>
                  <a:pt x="5" y="9"/>
                  <a:pt x="9" y="4"/>
                  <a:pt x="15" y="4"/>
                </a:cubicBezTo>
                <a:cubicBezTo>
                  <a:pt x="18" y="4"/>
                  <a:pt x="20" y="5"/>
                  <a:pt x="21" y="6"/>
                </a:cubicBezTo>
                <a:cubicBezTo>
                  <a:pt x="22" y="2"/>
                  <a:pt x="22" y="2"/>
                  <a:pt x="22" y="2"/>
                </a:cubicBezTo>
                <a:cubicBezTo>
                  <a:pt x="21" y="1"/>
                  <a:pt x="18" y="0"/>
                  <a:pt x="15" y="0"/>
                </a:cubicBezTo>
                <a:cubicBezTo>
                  <a:pt x="6" y="0"/>
                  <a:pt x="0" y="6"/>
                  <a:pt x="0" y="15"/>
                </a:cubicBezTo>
                <a:cubicBezTo>
                  <a:pt x="0" y="23"/>
                  <a:pt x="6" y="29"/>
                  <a:pt x="14" y="29"/>
                </a:cubicBezTo>
                <a:cubicBezTo>
                  <a:pt x="18" y="29"/>
                  <a:pt x="20" y="28"/>
                  <a:pt x="22" y="27"/>
                </a:cubicBezTo>
                <a:lnTo>
                  <a:pt x="21" y="23"/>
                </a:lnTo>
                <a:close/>
              </a:path>
            </a:pathLst>
          </a:custGeom>
          <a:solidFill>
            <a:srgbClr val="FFFFFF"/>
          </a:solidFill>
          <a:ln w="7938" cap="flat">
            <a:solidFill>
              <a:srgbClr val="FFFFFF"/>
            </a:solidFill>
            <a:prstDash val="solid"/>
            <a:miter lim="800000"/>
            <a:headEnd/>
            <a:tailEnd/>
          </a:ln>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06" name="Rectangle 186">
            <a:extLst>
              <a:ext uri="{FF2B5EF4-FFF2-40B4-BE49-F238E27FC236}">
                <a16:creationId xmlns:a16="http://schemas.microsoft.com/office/drawing/2014/main" id="{FC06B98D-8E7B-4E33-872D-E7FFE085AF86}"/>
              </a:ext>
            </a:extLst>
          </p:cNvPr>
          <p:cNvSpPr>
            <a:spLocks noChangeArrowheads="1"/>
          </p:cNvSpPr>
          <p:nvPr/>
        </p:nvSpPr>
        <p:spPr bwMode="auto">
          <a:xfrm>
            <a:off x="5606851" y="2650066"/>
            <a:ext cx="10584" cy="93133"/>
          </a:xfrm>
          <a:prstGeom prst="rect">
            <a:avLst/>
          </a:prstGeom>
          <a:solidFill>
            <a:srgbClr val="FFFFFF"/>
          </a:solidFill>
          <a:ln w="7938" cap="flat">
            <a:solidFill>
              <a:srgbClr val="FFFFFF"/>
            </a:solidFill>
            <a:prstDash val="solid"/>
            <a:miter lim="800000"/>
            <a:headEnd/>
            <a:tailEnd/>
          </a:ln>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14" name="Freeform 187">
            <a:extLst>
              <a:ext uri="{FF2B5EF4-FFF2-40B4-BE49-F238E27FC236}">
                <a16:creationId xmlns:a16="http://schemas.microsoft.com/office/drawing/2014/main" id="{6A22B1AD-6063-407C-A6F2-FBFDCEF24710}"/>
              </a:ext>
            </a:extLst>
          </p:cNvPr>
          <p:cNvSpPr>
            <a:spLocks noEditPoints="1"/>
          </p:cNvSpPr>
          <p:nvPr/>
        </p:nvSpPr>
        <p:spPr bwMode="auto">
          <a:xfrm>
            <a:off x="5634368" y="2677583"/>
            <a:ext cx="61384" cy="69851"/>
          </a:xfrm>
          <a:custGeom>
            <a:avLst/>
            <a:gdLst>
              <a:gd name="T0" fmla="*/ 13 w 26"/>
              <a:gd name="T1" fmla="*/ 0 h 29"/>
              <a:gd name="T2" fmla="*/ 0 w 26"/>
              <a:gd name="T3" fmla="*/ 15 h 29"/>
              <a:gd name="T4" fmla="*/ 13 w 26"/>
              <a:gd name="T5" fmla="*/ 29 h 29"/>
              <a:gd name="T6" fmla="*/ 26 w 26"/>
              <a:gd name="T7" fmla="*/ 14 h 29"/>
              <a:gd name="T8" fmla="*/ 13 w 26"/>
              <a:gd name="T9" fmla="*/ 0 h 29"/>
              <a:gd name="T10" fmla="*/ 13 w 26"/>
              <a:gd name="T11" fmla="*/ 4 h 29"/>
              <a:gd name="T12" fmla="*/ 21 w 26"/>
              <a:gd name="T13" fmla="*/ 14 h 29"/>
              <a:gd name="T14" fmla="*/ 13 w 26"/>
              <a:gd name="T15" fmla="*/ 25 h 29"/>
              <a:gd name="T16" fmla="*/ 5 w 26"/>
              <a:gd name="T17" fmla="*/ 15 h 29"/>
              <a:gd name="T18" fmla="*/ 13 w 26"/>
              <a:gd name="T19" fmla="*/ 4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9">
                <a:moveTo>
                  <a:pt x="13" y="0"/>
                </a:moveTo>
                <a:cubicBezTo>
                  <a:pt x="6" y="0"/>
                  <a:pt x="0" y="6"/>
                  <a:pt x="0" y="15"/>
                </a:cubicBezTo>
                <a:cubicBezTo>
                  <a:pt x="0" y="23"/>
                  <a:pt x="5" y="29"/>
                  <a:pt x="13" y="29"/>
                </a:cubicBezTo>
                <a:cubicBezTo>
                  <a:pt x="19" y="29"/>
                  <a:pt x="26" y="24"/>
                  <a:pt x="26" y="14"/>
                </a:cubicBezTo>
                <a:cubicBezTo>
                  <a:pt x="26" y="6"/>
                  <a:pt x="21" y="0"/>
                  <a:pt x="13" y="0"/>
                </a:cubicBezTo>
                <a:close/>
                <a:moveTo>
                  <a:pt x="13" y="4"/>
                </a:moveTo>
                <a:cubicBezTo>
                  <a:pt x="19" y="4"/>
                  <a:pt x="21" y="10"/>
                  <a:pt x="21" y="14"/>
                </a:cubicBezTo>
                <a:cubicBezTo>
                  <a:pt x="21" y="21"/>
                  <a:pt x="18" y="25"/>
                  <a:pt x="13" y="25"/>
                </a:cubicBezTo>
                <a:cubicBezTo>
                  <a:pt x="8" y="25"/>
                  <a:pt x="5" y="21"/>
                  <a:pt x="5" y="15"/>
                </a:cubicBezTo>
                <a:cubicBezTo>
                  <a:pt x="5" y="9"/>
                  <a:pt x="7" y="4"/>
                  <a:pt x="13" y="4"/>
                </a:cubicBezTo>
                <a:close/>
              </a:path>
            </a:pathLst>
          </a:custGeom>
          <a:solidFill>
            <a:srgbClr val="FFFFFF"/>
          </a:solidFill>
          <a:ln w="7938" cap="flat">
            <a:solidFill>
              <a:srgbClr val="FFFFFF"/>
            </a:solidFill>
            <a:prstDash val="solid"/>
            <a:miter lim="800000"/>
            <a:headEnd/>
            <a:tailEnd/>
          </a:ln>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34" name="Freeform 188">
            <a:extLst>
              <a:ext uri="{FF2B5EF4-FFF2-40B4-BE49-F238E27FC236}">
                <a16:creationId xmlns:a16="http://schemas.microsoft.com/office/drawing/2014/main" id="{EF197A16-2F5A-430B-8F07-957EADB9F360}"/>
              </a:ext>
            </a:extLst>
          </p:cNvPr>
          <p:cNvSpPr>
            <a:spLocks/>
          </p:cNvSpPr>
          <p:nvPr/>
        </p:nvSpPr>
        <p:spPr bwMode="auto">
          <a:xfrm>
            <a:off x="5706335" y="2677583"/>
            <a:ext cx="50800" cy="69851"/>
          </a:xfrm>
          <a:custGeom>
            <a:avLst/>
            <a:gdLst>
              <a:gd name="T0" fmla="*/ 20 w 21"/>
              <a:gd name="T1" fmla="*/ 23 h 29"/>
              <a:gd name="T2" fmla="*/ 14 w 21"/>
              <a:gd name="T3" fmla="*/ 25 h 29"/>
              <a:gd name="T4" fmla="*/ 5 w 21"/>
              <a:gd name="T5" fmla="*/ 15 h 29"/>
              <a:gd name="T6" fmla="*/ 14 w 21"/>
              <a:gd name="T7" fmla="*/ 4 h 29"/>
              <a:gd name="T8" fmla="*/ 20 w 21"/>
              <a:gd name="T9" fmla="*/ 6 h 29"/>
              <a:gd name="T10" fmla="*/ 21 w 21"/>
              <a:gd name="T11" fmla="*/ 2 h 29"/>
              <a:gd name="T12" fmla="*/ 14 w 21"/>
              <a:gd name="T13" fmla="*/ 0 h 29"/>
              <a:gd name="T14" fmla="*/ 0 w 21"/>
              <a:gd name="T15" fmla="*/ 15 h 29"/>
              <a:gd name="T16" fmla="*/ 13 w 21"/>
              <a:gd name="T17" fmla="*/ 29 h 29"/>
              <a:gd name="T18" fmla="*/ 21 w 21"/>
              <a:gd name="T19" fmla="*/ 27 h 29"/>
              <a:gd name="T20" fmla="*/ 20 w 21"/>
              <a:gd name="T21" fmla="*/ 23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9">
                <a:moveTo>
                  <a:pt x="20" y="23"/>
                </a:moveTo>
                <a:cubicBezTo>
                  <a:pt x="19" y="24"/>
                  <a:pt x="17" y="25"/>
                  <a:pt x="14" y="25"/>
                </a:cubicBezTo>
                <a:cubicBezTo>
                  <a:pt x="9" y="25"/>
                  <a:pt x="5" y="21"/>
                  <a:pt x="5" y="15"/>
                </a:cubicBezTo>
                <a:cubicBezTo>
                  <a:pt x="5" y="9"/>
                  <a:pt x="8" y="4"/>
                  <a:pt x="14" y="4"/>
                </a:cubicBezTo>
                <a:cubicBezTo>
                  <a:pt x="17" y="4"/>
                  <a:pt x="19" y="5"/>
                  <a:pt x="20" y="6"/>
                </a:cubicBezTo>
                <a:cubicBezTo>
                  <a:pt x="21" y="2"/>
                  <a:pt x="21" y="2"/>
                  <a:pt x="21" y="2"/>
                </a:cubicBezTo>
                <a:cubicBezTo>
                  <a:pt x="20" y="1"/>
                  <a:pt x="17" y="0"/>
                  <a:pt x="14" y="0"/>
                </a:cubicBezTo>
                <a:cubicBezTo>
                  <a:pt x="5" y="0"/>
                  <a:pt x="0" y="6"/>
                  <a:pt x="0" y="15"/>
                </a:cubicBezTo>
                <a:cubicBezTo>
                  <a:pt x="0" y="23"/>
                  <a:pt x="5" y="29"/>
                  <a:pt x="13" y="29"/>
                </a:cubicBezTo>
                <a:cubicBezTo>
                  <a:pt x="17" y="29"/>
                  <a:pt x="20" y="28"/>
                  <a:pt x="21" y="27"/>
                </a:cubicBezTo>
                <a:lnTo>
                  <a:pt x="20" y="23"/>
                </a:lnTo>
                <a:close/>
              </a:path>
            </a:pathLst>
          </a:custGeom>
          <a:solidFill>
            <a:srgbClr val="FFFFFF"/>
          </a:solidFill>
          <a:ln w="7938" cap="flat">
            <a:solidFill>
              <a:srgbClr val="FFFFFF"/>
            </a:solidFill>
            <a:prstDash val="solid"/>
            <a:miter lim="800000"/>
            <a:headEnd/>
            <a:tailEnd/>
          </a:ln>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51" name="Freeform 189">
            <a:extLst>
              <a:ext uri="{FF2B5EF4-FFF2-40B4-BE49-F238E27FC236}">
                <a16:creationId xmlns:a16="http://schemas.microsoft.com/office/drawing/2014/main" id="{F7EE9852-B1E5-4861-AE52-627A3F8E95B5}"/>
              </a:ext>
            </a:extLst>
          </p:cNvPr>
          <p:cNvSpPr>
            <a:spLocks/>
          </p:cNvSpPr>
          <p:nvPr/>
        </p:nvSpPr>
        <p:spPr bwMode="auto">
          <a:xfrm>
            <a:off x="5769835" y="2650066"/>
            <a:ext cx="52917" cy="93133"/>
          </a:xfrm>
          <a:custGeom>
            <a:avLst/>
            <a:gdLst>
              <a:gd name="T0" fmla="*/ 4 w 22"/>
              <a:gd name="T1" fmla="*/ 0 h 40"/>
              <a:gd name="T2" fmla="*/ 0 w 22"/>
              <a:gd name="T3" fmla="*/ 0 h 40"/>
              <a:gd name="T4" fmla="*/ 0 w 22"/>
              <a:gd name="T5" fmla="*/ 40 h 40"/>
              <a:gd name="T6" fmla="*/ 4 w 22"/>
              <a:gd name="T7" fmla="*/ 40 h 40"/>
              <a:gd name="T8" fmla="*/ 4 w 22"/>
              <a:gd name="T9" fmla="*/ 30 h 40"/>
              <a:gd name="T10" fmla="*/ 7 w 22"/>
              <a:gd name="T11" fmla="*/ 27 h 40"/>
              <a:gd name="T12" fmla="*/ 16 w 22"/>
              <a:gd name="T13" fmla="*/ 40 h 40"/>
              <a:gd name="T14" fmla="*/ 22 w 22"/>
              <a:gd name="T15" fmla="*/ 40 h 40"/>
              <a:gd name="T16" fmla="*/ 10 w 22"/>
              <a:gd name="T17" fmla="*/ 24 h 40"/>
              <a:gd name="T18" fmla="*/ 21 w 22"/>
              <a:gd name="T19" fmla="*/ 13 h 40"/>
              <a:gd name="T20" fmla="*/ 15 w 22"/>
              <a:gd name="T21" fmla="*/ 13 h 40"/>
              <a:gd name="T22" fmla="*/ 7 w 22"/>
              <a:gd name="T23" fmla="*/ 22 h 40"/>
              <a:gd name="T24" fmla="*/ 5 w 22"/>
              <a:gd name="T25" fmla="*/ 25 h 40"/>
              <a:gd name="T26" fmla="*/ 4 w 22"/>
              <a:gd name="T27" fmla="*/ 25 h 40"/>
              <a:gd name="T28" fmla="*/ 4 w 22"/>
              <a:gd name="T29"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 h="40">
                <a:moveTo>
                  <a:pt x="4" y="0"/>
                </a:moveTo>
                <a:cubicBezTo>
                  <a:pt x="0" y="0"/>
                  <a:pt x="0" y="0"/>
                  <a:pt x="0" y="0"/>
                </a:cubicBezTo>
                <a:cubicBezTo>
                  <a:pt x="0" y="40"/>
                  <a:pt x="0" y="40"/>
                  <a:pt x="0" y="40"/>
                </a:cubicBezTo>
                <a:cubicBezTo>
                  <a:pt x="4" y="40"/>
                  <a:pt x="4" y="40"/>
                  <a:pt x="4" y="40"/>
                </a:cubicBezTo>
                <a:cubicBezTo>
                  <a:pt x="4" y="30"/>
                  <a:pt x="4" y="30"/>
                  <a:pt x="4" y="30"/>
                </a:cubicBezTo>
                <a:cubicBezTo>
                  <a:pt x="7" y="27"/>
                  <a:pt x="7" y="27"/>
                  <a:pt x="7" y="27"/>
                </a:cubicBezTo>
                <a:cubicBezTo>
                  <a:pt x="16" y="40"/>
                  <a:pt x="16" y="40"/>
                  <a:pt x="16" y="40"/>
                </a:cubicBezTo>
                <a:cubicBezTo>
                  <a:pt x="22" y="40"/>
                  <a:pt x="22" y="40"/>
                  <a:pt x="22" y="40"/>
                </a:cubicBezTo>
                <a:cubicBezTo>
                  <a:pt x="10" y="24"/>
                  <a:pt x="10" y="24"/>
                  <a:pt x="10" y="24"/>
                </a:cubicBezTo>
                <a:cubicBezTo>
                  <a:pt x="21" y="13"/>
                  <a:pt x="21" y="13"/>
                  <a:pt x="21" y="13"/>
                </a:cubicBezTo>
                <a:cubicBezTo>
                  <a:pt x="15" y="13"/>
                  <a:pt x="15" y="13"/>
                  <a:pt x="15" y="13"/>
                </a:cubicBezTo>
                <a:cubicBezTo>
                  <a:pt x="7" y="22"/>
                  <a:pt x="7" y="22"/>
                  <a:pt x="7" y="22"/>
                </a:cubicBezTo>
                <a:cubicBezTo>
                  <a:pt x="6" y="23"/>
                  <a:pt x="5" y="24"/>
                  <a:pt x="5" y="25"/>
                </a:cubicBezTo>
                <a:cubicBezTo>
                  <a:pt x="4" y="25"/>
                  <a:pt x="4" y="25"/>
                  <a:pt x="4" y="25"/>
                </a:cubicBezTo>
                <a:lnTo>
                  <a:pt x="4" y="0"/>
                </a:lnTo>
                <a:close/>
              </a:path>
            </a:pathLst>
          </a:custGeom>
          <a:solidFill>
            <a:srgbClr val="FFFFFF"/>
          </a:solidFill>
          <a:ln w="7938" cap="flat">
            <a:solidFill>
              <a:srgbClr val="FFFFFF"/>
            </a:solidFill>
            <a:prstDash val="solid"/>
            <a:miter lim="800000"/>
            <a:headEnd/>
            <a:tailEnd/>
          </a:ln>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61" name="Line 190">
            <a:extLst>
              <a:ext uri="{FF2B5EF4-FFF2-40B4-BE49-F238E27FC236}">
                <a16:creationId xmlns:a16="http://schemas.microsoft.com/office/drawing/2014/main" id="{6E57F6FD-192D-40A5-8E55-595CE6D0CEF7}"/>
              </a:ext>
            </a:extLst>
          </p:cNvPr>
          <p:cNvSpPr>
            <a:spLocks noChangeShapeType="1"/>
          </p:cNvSpPr>
          <p:nvPr/>
        </p:nvSpPr>
        <p:spPr bwMode="auto">
          <a:xfrm flipV="1">
            <a:off x="5473502" y="2442632"/>
            <a:ext cx="31751" cy="127000"/>
          </a:xfrm>
          <a:prstGeom prst="line">
            <a:avLst/>
          </a:prstGeom>
          <a:noFill/>
          <a:ln w="22225"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70" name="Line 191">
            <a:extLst>
              <a:ext uri="{FF2B5EF4-FFF2-40B4-BE49-F238E27FC236}">
                <a16:creationId xmlns:a16="http://schemas.microsoft.com/office/drawing/2014/main" id="{3CE74D65-62FF-4B03-BD85-27835C0A53CA}"/>
              </a:ext>
            </a:extLst>
          </p:cNvPr>
          <p:cNvSpPr>
            <a:spLocks noChangeShapeType="1"/>
          </p:cNvSpPr>
          <p:nvPr/>
        </p:nvSpPr>
        <p:spPr bwMode="auto">
          <a:xfrm>
            <a:off x="5505251" y="2442632"/>
            <a:ext cx="146051" cy="2117"/>
          </a:xfrm>
          <a:prstGeom prst="line">
            <a:avLst/>
          </a:prstGeom>
          <a:noFill/>
          <a:ln w="22225"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82" name="Line 192">
            <a:extLst>
              <a:ext uri="{FF2B5EF4-FFF2-40B4-BE49-F238E27FC236}">
                <a16:creationId xmlns:a16="http://schemas.microsoft.com/office/drawing/2014/main" id="{A966002C-304C-4061-ABB2-7A7A21683CEA}"/>
              </a:ext>
            </a:extLst>
          </p:cNvPr>
          <p:cNvSpPr>
            <a:spLocks noChangeShapeType="1"/>
          </p:cNvSpPr>
          <p:nvPr/>
        </p:nvSpPr>
        <p:spPr bwMode="auto">
          <a:xfrm>
            <a:off x="5651302" y="2444750"/>
            <a:ext cx="29633" cy="122767"/>
          </a:xfrm>
          <a:prstGeom prst="line">
            <a:avLst/>
          </a:prstGeom>
          <a:noFill/>
          <a:ln w="22225"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87" name="Line 193">
            <a:extLst>
              <a:ext uri="{FF2B5EF4-FFF2-40B4-BE49-F238E27FC236}">
                <a16:creationId xmlns:a16="http://schemas.microsoft.com/office/drawing/2014/main" id="{868235F6-B152-41D8-BD6F-1D47B08629A2}"/>
              </a:ext>
            </a:extLst>
          </p:cNvPr>
          <p:cNvSpPr>
            <a:spLocks noChangeShapeType="1"/>
          </p:cNvSpPr>
          <p:nvPr/>
        </p:nvSpPr>
        <p:spPr bwMode="auto">
          <a:xfrm>
            <a:off x="5680935" y="2567516"/>
            <a:ext cx="146051" cy="2117"/>
          </a:xfrm>
          <a:prstGeom prst="line">
            <a:avLst/>
          </a:prstGeom>
          <a:noFill/>
          <a:ln w="22225"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sp>
        <p:nvSpPr>
          <p:cNvPr id="288" name="Line 194">
            <a:extLst>
              <a:ext uri="{FF2B5EF4-FFF2-40B4-BE49-F238E27FC236}">
                <a16:creationId xmlns:a16="http://schemas.microsoft.com/office/drawing/2014/main" id="{ACF8C863-27E8-4962-9D66-27FBC331DEA9}"/>
              </a:ext>
            </a:extLst>
          </p:cNvPr>
          <p:cNvSpPr>
            <a:spLocks noChangeShapeType="1"/>
          </p:cNvSpPr>
          <p:nvPr/>
        </p:nvSpPr>
        <p:spPr bwMode="auto">
          <a:xfrm flipV="1">
            <a:off x="5828938" y="2429931"/>
            <a:ext cx="27517" cy="137584"/>
          </a:xfrm>
          <a:prstGeom prst="line">
            <a:avLst/>
          </a:prstGeom>
          <a:noFill/>
          <a:ln w="22225"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en-US" sz="1800">
              <a:latin typeface="VAGRundschriftDLig" panose="00000400000000000000" pitchFamily="50" charset="0"/>
            </a:endParaRPr>
          </a:p>
        </p:txBody>
      </p:sp>
      <p:grpSp>
        <p:nvGrpSpPr>
          <p:cNvPr id="5" name="Group 4">
            <a:extLst>
              <a:ext uri="{FF2B5EF4-FFF2-40B4-BE49-F238E27FC236}">
                <a16:creationId xmlns:a16="http://schemas.microsoft.com/office/drawing/2014/main" id="{D5801F65-CC7B-4D31-9288-79C38F15C4E1}"/>
              </a:ext>
            </a:extLst>
          </p:cNvPr>
          <p:cNvGrpSpPr/>
          <p:nvPr/>
        </p:nvGrpSpPr>
        <p:grpSpPr>
          <a:xfrm>
            <a:off x="6574268" y="406868"/>
            <a:ext cx="5056816" cy="2365287"/>
            <a:chOff x="2718198" y="957789"/>
            <a:chExt cx="5681339" cy="2657402"/>
          </a:xfrm>
        </p:grpSpPr>
        <p:grpSp>
          <p:nvGrpSpPr>
            <p:cNvPr id="289" name="Group 288">
              <a:extLst>
                <a:ext uri="{FF2B5EF4-FFF2-40B4-BE49-F238E27FC236}">
                  <a16:creationId xmlns:a16="http://schemas.microsoft.com/office/drawing/2014/main" id="{0D2FA94E-544E-4658-A548-878A24A5B56D}"/>
                </a:ext>
              </a:extLst>
            </p:cNvPr>
            <p:cNvGrpSpPr/>
            <p:nvPr/>
          </p:nvGrpSpPr>
          <p:grpSpPr>
            <a:xfrm>
              <a:off x="2718198" y="957789"/>
              <a:ext cx="2347961" cy="2380651"/>
              <a:chOff x="2776507" y="1828800"/>
              <a:chExt cx="2349263" cy="2381972"/>
            </a:xfrm>
          </p:grpSpPr>
          <p:sp>
            <p:nvSpPr>
              <p:cNvPr id="290" name="Line 26">
                <a:extLst>
                  <a:ext uri="{FF2B5EF4-FFF2-40B4-BE49-F238E27FC236}">
                    <a16:creationId xmlns:a16="http://schemas.microsoft.com/office/drawing/2014/main" id="{D97C741A-EBF2-4214-828D-284817F10983}"/>
                  </a:ext>
                </a:extLst>
              </p:cNvPr>
              <p:cNvSpPr>
                <a:spLocks noChangeShapeType="1"/>
              </p:cNvSpPr>
              <p:nvPr/>
            </p:nvSpPr>
            <p:spPr bwMode="auto">
              <a:xfrm>
                <a:off x="4851572" y="3427203"/>
                <a:ext cx="274198" cy="0"/>
              </a:xfrm>
              <a:prstGeom prst="line">
                <a:avLst/>
              </a:prstGeom>
              <a:noFill/>
              <a:ln w="25400">
                <a:solidFill>
                  <a:schemeClr val="tx1"/>
                </a:solidFill>
                <a:round/>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291" name="Rectangle 27">
                <a:extLst>
                  <a:ext uri="{FF2B5EF4-FFF2-40B4-BE49-F238E27FC236}">
                    <a16:creationId xmlns:a16="http://schemas.microsoft.com/office/drawing/2014/main" id="{6DD3BC5E-CA37-47A3-89E5-1622DA95FA87}"/>
                  </a:ext>
                </a:extLst>
              </p:cNvPr>
              <p:cNvSpPr>
                <a:spLocks noChangeArrowheads="1"/>
              </p:cNvSpPr>
              <p:nvPr/>
            </p:nvSpPr>
            <p:spPr bwMode="auto">
              <a:xfrm>
                <a:off x="3691017" y="2185486"/>
                <a:ext cx="243718" cy="201460"/>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RundschriftDLig" panose="00000400000000000000" pitchFamily="50" charset="0"/>
                  </a:rPr>
                  <a:t>+4</a:t>
                </a:r>
              </a:p>
            </p:txBody>
          </p:sp>
          <p:sp>
            <p:nvSpPr>
              <p:cNvPr id="292" name="Freeform 28">
                <a:extLst>
                  <a:ext uri="{FF2B5EF4-FFF2-40B4-BE49-F238E27FC236}">
                    <a16:creationId xmlns:a16="http://schemas.microsoft.com/office/drawing/2014/main" id="{E6DBD42D-070A-443B-BAF7-530E3AA3A6A5}"/>
                  </a:ext>
                </a:extLst>
              </p:cNvPr>
              <p:cNvSpPr>
                <a:spLocks/>
              </p:cNvSpPr>
              <p:nvPr/>
            </p:nvSpPr>
            <p:spPr bwMode="auto">
              <a:xfrm>
                <a:off x="4028978" y="2178345"/>
                <a:ext cx="413011" cy="653275"/>
              </a:xfrm>
              <a:custGeom>
                <a:avLst/>
                <a:gdLst>
                  <a:gd name="T0" fmla="*/ 0 w 241"/>
                  <a:gd name="T1" fmla="*/ 0 h 385"/>
                  <a:gd name="T2" fmla="*/ 0 w 241"/>
                  <a:gd name="T3" fmla="*/ 160 h 385"/>
                  <a:gd name="T4" fmla="*/ 48 w 241"/>
                  <a:gd name="T5" fmla="*/ 192 h 385"/>
                  <a:gd name="T6" fmla="*/ 0 w 241"/>
                  <a:gd name="T7" fmla="*/ 224 h 385"/>
                  <a:gd name="T8" fmla="*/ 0 w 241"/>
                  <a:gd name="T9" fmla="*/ 384 h 385"/>
                  <a:gd name="T10" fmla="*/ 240 w 241"/>
                  <a:gd name="T11" fmla="*/ 288 h 385"/>
                  <a:gd name="T12" fmla="*/ 240 w 241"/>
                  <a:gd name="T13" fmla="*/ 96 h 385"/>
                  <a:gd name="T14" fmla="*/ 0 w 241"/>
                  <a:gd name="T15" fmla="*/ 0 h 385"/>
                  <a:gd name="T16" fmla="*/ 0 60000 65536"/>
                  <a:gd name="T17" fmla="*/ 0 60000 65536"/>
                  <a:gd name="T18" fmla="*/ 0 60000 65536"/>
                  <a:gd name="T19" fmla="*/ 0 60000 65536"/>
                  <a:gd name="T20" fmla="*/ 0 60000 65536"/>
                  <a:gd name="T21" fmla="*/ 0 60000 65536"/>
                  <a:gd name="T22" fmla="*/ 0 60000 65536"/>
                  <a:gd name="T23" fmla="*/ 0 60000 65536"/>
                  <a:gd name="T24" fmla="*/ 0 w 241"/>
                  <a:gd name="T25" fmla="*/ 0 h 385"/>
                  <a:gd name="T26" fmla="*/ 241 w 241"/>
                  <a:gd name="T27" fmla="*/ 385 h 3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1" h="385">
                    <a:moveTo>
                      <a:pt x="0" y="0"/>
                    </a:moveTo>
                    <a:lnTo>
                      <a:pt x="0" y="160"/>
                    </a:lnTo>
                    <a:lnTo>
                      <a:pt x="48" y="192"/>
                    </a:lnTo>
                    <a:lnTo>
                      <a:pt x="0" y="224"/>
                    </a:lnTo>
                    <a:lnTo>
                      <a:pt x="0" y="384"/>
                    </a:lnTo>
                    <a:lnTo>
                      <a:pt x="240" y="288"/>
                    </a:lnTo>
                    <a:lnTo>
                      <a:pt x="240" y="96"/>
                    </a:lnTo>
                    <a:lnTo>
                      <a:pt x="0" y="0"/>
                    </a:lnTo>
                  </a:path>
                </a:pathLst>
              </a:custGeom>
              <a:solidFill>
                <a:schemeClr val="bg1"/>
              </a:solidFill>
              <a:ln w="38100" cap="rnd">
                <a:solidFill>
                  <a:schemeClr val="tx1"/>
                </a:solidFill>
                <a:round/>
                <a:headEnd/>
                <a:tailEnd/>
              </a:ln>
            </p:spPr>
            <p:txBody>
              <a:bodyPr>
                <a:prstTxWarp prst="textNoShape">
                  <a:avLst/>
                </a:prstTxWarp>
              </a:bodyPr>
              <a:lstStyle/>
              <a:p>
                <a:endParaRPr lang="en-US" sz="1400" b="1">
                  <a:latin typeface="VAGRundschriftDLig" panose="00000400000000000000" pitchFamily="50" charset="0"/>
                </a:endParaRPr>
              </a:p>
            </p:txBody>
          </p:sp>
          <p:sp>
            <p:nvSpPr>
              <p:cNvPr id="293" name="Line 29">
                <a:extLst>
                  <a:ext uri="{FF2B5EF4-FFF2-40B4-BE49-F238E27FC236}">
                    <a16:creationId xmlns:a16="http://schemas.microsoft.com/office/drawing/2014/main" id="{78A298FA-493C-4406-8646-387111DE3167}"/>
                  </a:ext>
                </a:extLst>
              </p:cNvPr>
              <p:cNvSpPr>
                <a:spLocks noChangeShapeType="1"/>
              </p:cNvSpPr>
              <p:nvPr/>
            </p:nvSpPr>
            <p:spPr bwMode="auto">
              <a:xfrm flipV="1">
                <a:off x="3923081" y="2259792"/>
                <a:ext cx="99042" cy="683"/>
              </a:xfrm>
              <a:prstGeom prst="line">
                <a:avLst/>
              </a:prstGeom>
              <a:noFill/>
              <a:ln w="28575">
                <a:solidFill>
                  <a:schemeClr val="tx1"/>
                </a:solidFill>
                <a:round/>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294" name="Rectangle 30">
                <a:extLst>
                  <a:ext uri="{FF2B5EF4-FFF2-40B4-BE49-F238E27FC236}">
                    <a16:creationId xmlns:a16="http://schemas.microsoft.com/office/drawing/2014/main" id="{CF3194D9-4EF3-4A62-B161-D1760EDA0526}"/>
                  </a:ext>
                </a:extLst>
              </p:cNvPr>
              <p:cNvSpPr>
                <a:spLocks noChangeArrowheads="1"/>
              </p:cNvSpPr>
              <p:nvPr/>
            </p:nvSpPr>
            <p:spPr bwMode="auto">
              <a:xfrm>
                <a:off x="4108601" y="2402325"/>
                <a:ext cx="321203" cy="201460"/>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RundschriftDLig" panose="00000400000000000000" pitchFamily="50" charset="0"/>
                  </a:rPr>
                  <a:t>Add</a:t>
                </a:r>
              </a:p>
            </p:txBody>
          </p:sp>
          <p:sp>
            <p:nvSpPr>
              <p:cNvPr id="295" name="Rectangle 31">
                <a:extLst>
                  <a:ext uri="{FF2B5EF4-FFF2-40B4-BE49-F238E27FC236}">
                    <a16:creationId xmlns:a16="http://schemas.microsoft.com/office/drawing/2014/main" id="{11F09473-2AB8-4836-9D07-2D18F5357785}"/>
                  </a:ext>
                </a:extLst>
              </p:cNvPr>
              <p:cNvSpPr>
                <a:spLocks noChangeArrowheads="1"/>
              </p:cNvSpPr>
              <p:nvPr/>
            </p:nvSpPr>
            <p:spPr bwMode="auto">
              <a:xfrm>
                <a:off x="3266773" y="3662679"/>
                <a:ext cx="261738" cy="201460"/>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clk</a:t>
                </a:r>
                <a:endParaRPr lang="en-US" sz="800" b="1" dirty="0">
                  <a:latin typeface="VAGRundschriftDLig" panose="00000400000000000000" pitchFamily="50" charset="0"/>
                </a:endParaRPr>
              </a:p>
            </p:txBody>
          </p:sp>
          <p:sp>
            <p:nvSpPr>
              <p:cNvPr id="296" name="Line 32">
                <a:extLst>
                  <a:ext uri="{FF2B5EF4-FFF2-40B4-BE49-F238E27FC236}">
                    <a16:creationId xmlns:a16="http://schemas.microsoft.com/office/drawing/2014/main" id="{E42CA9CE-8297-4B59-8919-83101A757718}"/>
                  </a:ext>
                </a:extLst>
              </p:cNvPr>
              <p:cNvSpPr>
                <a:spLocks noChangeShapeType="1"/>
              </p:cNvSpPr>
              <p:nvPr/>
            </p:nvSpPr>
            <p:spPr bwMode="auto">
              <a:xfrm flipH="1">
                <a:off x="3561751" y="3576523"/>
                <a:ext cx="2193" cy="634249"/>
              </a:xfrm>
              <a:prstGeom prst="line">
                <a:avLst/>
              </a:prstGeom>
              <a:noFill/>
              <a:ln w="28575">
                <a:solidFill>
                  <a:schemeClr val="tx1"/>
                </a:solidFill>
                <a:round/>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297" name="Freeform 34">
                <a:extLst>
                  <a:ext uri="{FF2B5EF4-FFF2-40B4-BE49-F238E27FC236}">
                    <a16:creationId xmlns:a16="http://schemas.microsoft.com/office/drawing/2014/main" id="{E0953FF8-8FF2-4B3E-B42C-18C435781B46}"/>
                  </a:ext>
                </a:extLst>
              </p:cNvPr>
              <p:cNvSpPr>
                <a:spLocks/>
              </p:cNvSpPr>
              <p:nvPr/>
            </p:nvSpPr>
            <p:spPr bwMode="auto">
              <a:xfrm>
                <a:off x="3670807" y="3267702"/>
                <a:ext cx="330751" cy="1697"/>
              </a:xfrm>
              <a:custGeom>
                <a:avLst/>
                <a:gdLst>
                  <a:gd name="T0" fmla="*/ 0 w 193"/>
                  <a:gd name="T1" fmla="*/ 0 h 1"/>
                  <a:gd name="T2" fmla="*/ 144 w 193"/>
                  <a:gd name="T3" fmla="*/ 0 h 1"/>
                  <a:gd name="T4" fmla="*/ 192 w 193"/>
                  <a:gd name="T5" fmla="*/ 0 h 1"/>
                  <a:gd name="T6" fmla="*/ 0 60000 65536"/>
                  <a:gd name="T7" fmla="*/ 0 60000 65536"/>
                  <a:gd name="T8" fmla="*/ 0 60000 65536"/>
                  <a:gd name="T9" fmla="*/ 0 w 193"/>
                  <a:gd name="T10" fmla="*/ 0 h 1"/>
                  <a:gd name="T11" fmla="*/ 193 w 193"/>
                  <a:gd name="T12" fmla="*/ 1 h 1"/>
                </a:gdLst>
                <a:ahLst/>
                <a:cxnLst>
                  <a:cxn ang="T6">
                    <a:pos x="T0" y="T1"/>
                  </a:cxn>
                  <a:cxn ang="T7">
                    <a:pos x="T2" y="T3"/>
                  </a:cxn>
                  <a:cxn ang="T8">
                    <a:pos x="T4" y="T5"/>
                  </a:cxn>
                </a:cxnLst>
                <a:rect l="T9" t="T10" r="T11" b="T12"/>
                <a:pathLst>
                  <a:path w="193" h="1">
                    <a:moveTo>
                      <a:pt x="0" y="0"/>
                    </a:moveTo>
                    <a:lnTo>
                      <a:pt x="144" y="0"/>
                    </a:lnTo>
                    <a:lnTo>
                      <a:pt x="192" y="0"/>
                    </a:lnTo>
                  </a:path>
                </a:pathLst>
              </a:custGeom>
              <a:noFill/>
              <a:ln w="25400" cap="rnd">
                <a:solidFill>
                  <a:schemeClr val="tx1"/>
                </a:solidFill>
                <a:round/>
                <a:headEnd/>
                <a:tailEnd type="triangle" w="med" len="med"/>
              </a:ln>
            </p:spPr>
            <p:txBody>
              <a:bodyPr>
                <a:prstTxWarp prst="textNoShape">
                  <a:avLst/>
                </a:prstTxWarp>
              </a:bodyPr>
              <a:lstStyle/>
              <a:p>
                <a:endParaRPr lang="en-US" sz="1400" b="1">
                  <a:latin typeface="VAGRundschriftDLig" panose="00000400000000000000" pitchFamily="50" charset="0"/>
                </a:endParaRPr>
              </a:p>
            </p:txBody>
          </p:sp>
          <p:grpSp>
            <p:nvGrpSpPr>
              <p:cNvPr id="298" name="Group 35">
                <a:extLst>
                  <a:ext uri="{FF2B5EF4-FFF2-40B4-BE49-F238E27FC236}">
                    <a16:creationId xmlns:a16="http://schemas.microsoft.com/office/drawing/2014/main" id="{99597BB4-A4D4-48B1-B3CF-AC31A65DA91C}"/>
                  </a:ext>
                </a:extLst>
              </p:cNvPr>
              <p:cNvGrpSpPr>
                <a:grpSpLocks/>
              </p:cNvGrpSpPr>
              <p:nvPr/>
            </p:nvGrpSpPr>
            <p:grpSpPr bwMode="auto">
              <a:xfrm>
                <a:off x="4011842" y="3072567"/>
                <a:ext cx="817453" cy="1002819"/>
                <a:chOff x="1326" y="1623"/>
                <a:chExt cx="477" cy="591"/>
              </a:xfrm>
            </p:grpSpPr>
            <p:sp>
              <p:nvSpPr>
                <p:cNvPr id="306" name="Rectangle 36">
                  <a:extLst>
                    <a:ext uri="{FF2B5EF4-FFF2-40B4-BE49-F238E27FC236}">
                      <a16:creationId xmlns:a16="http://schemas.microsoft.com/office/drawing/2014/main" id="{672AA63F-838F-4177-ABAB-3F9BE624BF12}"/>
                    </a:ext>
                  </a:extLst>
                </p:cNvPr>
                <p:cNvSpPr>
                  <a:spLocks noChangeArrowheads="1"/>
                </p:cNvSpPr>
                <p:nvPr/>
              </p:nvSpPr>
              <p:spPr bwMode="auto">
                <a:xfrm>
                  <a:off x="1331" y="1623"/>
                  <a:ext cx="472" cy="584"/>
                </a:xfrm>
                <a:prstGeom prst="rect">
                  <a:avLst/>
                </a:prstGeom>
                <a:solidFill>
                  <a:schemeClr val="bg1"/>
                </a:solidFill>
                <a:ln w="38100">
                  <a:solidFill>
                    <a:schemeClr val="tx1"/>
                  </a:solidFill>
                  <a:miter lim="800000"/>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307" name="Rectangle 37">
                  <a:extLst>
                    <a:ext uri="{FF2B5EF4-FFF2-40B4-BE49-F238E27FC236}">
                      <a16:creationId xmlns:a16="http://schemas.microsoft.com/office/drawing/2014/main" id="{C8122A83-7F96-46F8-8EC8-848ED6F4C77E}"/>
                    </a:ext>
                  </a:extLst>
                </p:cNvPr>
                <p:cNvSpPr>
                  <a:spLocks noChangeArrowheads="1"/>
                </p:cNvSpPr>
                <p:nvPr/>
              </p:nvSpPr>
              <p:spPr bwMode="auto">
                <a:xfrm>
                  <a:off x="1326" y="1691"/>
                  <a:ext cx="204" cy="11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addr</a:t>
                  </a:r>
                  <a:endParaRPr lang="en-US" sz="800" b="1" dirty="0">
                    <a:latin typeface="VAGRundschriftDLig" panose="00000400000000000000" pitchFamily="50" charset="0"/>
                  </a:endParaRPr>
                </a:p>
              </p:txBody>
            </p:sp>
            <p:sp>
              <p:nvSpPr>
                <p:cNvPr id="308" name="Rectangle 38">
                  <a:extLst>
                    <a:ext uri="{FF2B5EF4-FFF2-40B4-BE49-F238E27FC236}">
                      <a16:creationId xmlns:a16="http://schemas.microsoft.com/office/drawing/2014/main" id="{9BB4410E-3379-44AB-81E0-78009161FE63}"/>
                    </a:ext>
                  </a:extLst>
                </p:cNvPr>
                <p:cNvSpPr>
                  <a:spLocks noChangeArrowheads="1"/>
                </p:cNvSpPr>
                <p:nvPr/>
              </p:nvSpPr>
              <p:spPr bwMode="auto">
                <a:xfrm>
                  <a:off x="1613" y="1774"/>
                  <a:ext cx="178" cy="11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inst</a:t>
                  </a:r>
                  <a:endParaRPr lang="en-US" sz="400" b="1" dirty="0">
                    <a:latin typeface="VAGRundschriftDLig" panose="00000400000000000000" pitchFamily="50" charset="0"/>
                  </a:endParaRPr>
                </a:p>
              </p:txBody>
            </p:sp>
            <p:sp>
              <p:nvSpPr>
                <p:cNvPr id="309" name="Rectangle 39">
                  <a:extLst>
                    <a:ext uri="{FF2B5EF4-FFF2-40B4-BE49-F238E27FC236}">
                      <a16:creationId xmlns:a16="http://schemas.microsoft.com/office/drawing/2014/main" id="{160C91E7-5800-47DF-A1F9-5E752C95902D}"/>
                    </a:ext>
                  </a:extLst>
                </p:cNvPr>
                <p:cNvSpPr>
                  <a:spLocks noChangeArrowheads="1"/>
                </p:cNvSpPr>
                <p:nvPr/>
              </p:nvSpPr>
              <p:spPr bwMode="auto">
                <a:xfrm>
                  <a:off x="1432" y="2054"/>
                  <a:ext cx="328" cy="160"/>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RundschriftDLig" panose="00000400000000000000" pitchFamily="50" charset="0"/>
                    </a:rPr>
                    <a:t>IMEM</a:t>
                  </a:r>
                </a:p>
              </p:txBody>
            </p:sp>
          </p:grpSp>
          <p:sp>
            <p:nvSpPr>
              <p:cNvPr id="299" name="Rectangle 40">
                <a:extLst>
                  <a:ext uri="{FF2B5EF4-FFF2-40B4-BE49-F238E27FC236}">
                    <a16:creationId xmlns:a16="http://schemas.microsoft.com/office/drawing/2014/main" id="{7019AA4F-3359-4B6E-9582-0954FB1ABBE9}"/>
                  </a:ext>
                </a:extLst>
              </p:cNvPr>
              <p:cNvSpPr>
                <a:spLocks noChangeArrowheads="1"/>
              </p:cNvSpPr>
              <p:nvPr/>
            </p:nvSpPr>
            <p:spPr bwMode="auto">
              <a:xfrm>
                <a:off x="3437739" y="2955487"/>
                <a:ext cx="219358" cy="624429"/>
              </a:xfrm>
              <a:prstGeom prst="rect">
                <a:avLst/>
              </a:prstGeom>
              <a:solidFill>
                <a:schemeClr val="bg1"/>
              </a:solidFill>
              <a:ln w="38100">
                <a:solidFill>
                  <a:schemeClr val="tx1"/>
                </a:solidFill>
                <a:miter lim="800000"/>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300" name="Line 41">
                <a:extLst>
                  <a:ext uri="{FF2B5EF4-FFF2-40B4-BE49-F238E27FC236}">
                    <a16:creationId xmlns:a16="http://schemas.microsoft.com/office/drawing/2014/main" id="{357DC0AF-F925-42E7-A7CF-5A37599126C1}"/>
                  </a:ext>
                </a:extLst>
              </p:cNvPr>
              <p:cNvSpPr>
                <a:spLocks noChangeShapeType="1"/>
              </p:cNvSpPr>
              <p:nvPr/>
            </p:nvSpPr>
            <p:spPr bwMode="auto">
              <a:xfrm>
                <a:off x="3684517" y="3267702"/>
                <a:ext cx="54840" cy="0"/>
              </a:xfrm>
              <a:prstGeom prst="line">
                <a:avLst/>
              </a:prstGeom>
              <a:noFill/>
              <a:ln w="25400">
                <a:solidFill>
                  <a:schemeClr val="tx1"/>
                </a:solidFill>
                <a:round/>
                <a:headEnd/>
                <a:tailEnd/>
              </a:ln>
            </p:spPr>
            <p:txBody>
              <a:bodyPr wrap="none" anchor="ctr">
                <a:prstTxWarp prst="textNoShape">
                  <a:avLst/>
                </a:prstTxWarp>
              </a:bodyPr>
              <a:lstStyle/>
              <a:p>
                <a:endParaRPr lang="en-US" sz="1400" b="1">
                  <a:latin typeface="VAGRundschriftDLig" panose="00000400000000000000" pitchFamily="50" charset="0"/>
                </a:endParaRPr>
              </a:p>
            </p:txBody>
          </p:sp>
          <p:sp>
            <p:nvSpPr>
              <p:cNvPr id="301" name="Rectangle 42">
                <a:extLst>
                  <a:ext uri="{FF2B5EF4-FFF2-40B4-BE49-F238E27FC236}">
                    <a16:creationId xmlns:a16="http://schemas.microsoft.com/office/drawing/2014/main" id="{8B8A3434-8EE2-434D-BA60-4942D45D38D8}"/>
                  </a:ext>
                </a:extLst>
              </p:cNvPr>
              <p:cNvSpPr>
                <a:spLocks noChangeArrowheads="1"/>
              </p:cNvSpPr>
              <p:nvPr/>
            </p:nvSpPr>
            <p:spPr bwMode="auto">
              <a:xfrm>
                <a:off x="3409948" y="3157761"/>
                <a:ext cx="229302" cy="178467"/>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667" b="1" dirty="0">
                    <a:latin typeface="VAGRundschriftDLig" panose="00000400000000000000" pitchFamily="50" charset="0"/>
                  </a:rPr>
                  <a:t>PC</a:t>
                </a:r>
              </a:p>
            </p:txBody>
          </p:sp>
          <p:sp>
            <p:nvSpPr>
              <p:cNvPr id="302" name="Freeform 43">
                <a:extLst>
                  <a:ext uri="{FF2B5EF4-FFF2-40B4-BE49-F238E27FC236}">
                    <a16:creationId xmlns:a16="http://schemas.microsoft.com/office/drawing/2014/main" id="{ADE1D201-2AF3-46C6-B806-C3B62A20E745}"/>
                  </a:ext>
                </a:extLst>
              </p:cNvPr>
              <p:cNvSpPr>
                <a:spLocks/>
              </p:cNvSpPr>
              <p:nvPr/>
            </p:nvSpPr>
            <p:spPr bwMode="auto">
              <a:xfrm>
                <a:off x="3506289" y="3498469"/>
                <a:ext cx="83973" cy="83144"/>
              </a:xfrm>
              <a:custGeom>
                <a:avLst/>
                <a:gdLst>
                  <a:gd name="T0" fmla="*/ 0 w 49"/>
                  <a:gd name="T1" fmla="*/ 48 h 49"/>
                  <a:gd name="T2" fmla="*/ 24 w 49"/>
                  <a:gd name="T3" fmla="*/ 0 h 49"/>
                  <a:gd name="T4" fmla="*/ 48 w 49"/>
                  <a:gd name="T5" fmla="*/ 48 h 49"/>
                  <a:gd name="T6" fmla="*/ 0 60000 65536"/>
                  <a:gd name="T7" fmla="*/ 0 60000 65536"/>
                  <a:gd name="T8" fmla="*/ 0 60000 65536"/>
                  <a:gd name="T9" fmla="*/ 0 w 49"/>
                  <a:gd name="T10" fmla="*/ 0 h 49"/>
                  <a:gd name="T11" fmla="*/ 49 w 49"/>
                  <a:gd name="T12" fmla="*/ 49 h 49"/>
                </a:gdLst>
                <a:ahLst/>
                <a:cxnLst>
                  <a:cxn ang="T6">
                    <a:pos x="T0" y="T1"/>
                  </a:cxn>
                  <a:cxn ang="T7">
                    <a:pos x="T2" y="T3"/>
                  </a:cxn>
                  <a:cxn ang="T8">
                    <a:pos x="T4" y="T5"/>
                  </a:cxn>
                </a:cxnLst>
                <a:rect l="T9" t="T10" r="T11" b="T12"/>
                <a:pathLst>
                  <a:path w="49" h="49">
                    <a:moveTo>
                      <a:pt x="0" y="48"/>
                    </a:moveTo>
                    <a:lnTo>
                      <a:pt x="24" y="0"/>
                    </a:lnTo>
                    <a:lnTo>
                      <a:pt x="48" y="48"/>
                    </a:lnTo>
                  </a:path>
                </a:pathLst>
              </a:custGeom>
              <a:noFill/>
              <a:ln w="25400" cap="rnd">
                <a:solidFill>
                  <a:schemeClr val="tx1"/>
                </a:solidFill>
                <a:round/>
                <a:headEnd/>
                <a:tailEnd/>
              </a:ln>
            </p:spPr>
            <p:txBody>
              <a:bodyPr>
                <a:prstTxWarp prst="textNoShape">
                  <a:avLst/>
                </a:prstTxWarp>
              </a:bodyPr>
              <a:lstStyle/>
              <a:p>
                <a:endParaRPr lang="en-US" sz="1400" b="1">
                  <a:latin typeface="VAGRundschriftDLig" panose="00000400000000000000" pitchFamily="50" charset="0"/>
                </a:endParaRPr>
              </a:p>
            </p:txBody>
          </p:sp>
          <p:sp>
            <p:nvSpPr>
              <p:cNvPr id="303" name="Freeform 44">
                <a:extLst>
                  <a:ext uri="{FF2B5EF4-FFF2-40B4-BE49-F238E27FC236}">
                    <a16:creationId xmlns:a16="http://schemas.microsoft.com/office/drawing/2014/main" id="{1DDF5160-A44F-4D97-99D7-473C65AC30E9}"/>
                  </a:ext>
                </a:extLst>
              </p:cNvPr>
              <p:cNvSpPr>
                <a:spLocks/>
              </p:cNvSpPr>
              <p:nvPr/>
            </p:nvSpPr>
            <p:spPr bwMode="auto">
              <a:xfrm>
                <a:off x="2879061" y="1828800"/>
                <a:ext cx="1895393" cy="1433811"/>
              </a:xfrm>
              <a:custGeom>
                <a:avLst/>
                <a:gdLst>
                  <a:gd name="T0" fmla="*/ 921 w 1106"/>
                  <a:gd name="T1" fmla="*/ 410 h 845"/>
                  <a:gd name="T2" fmla="*/ 1104 w 1106"/>
                  <a:gd name="T3" fmla="*/ 409 h 845"/>
                  <a:gd name="T4" fmla="*/ 1106 w 1106"/>
                  <a:gd name="T5" fmla="*/ 1 h 845"/>
                  <a:gd name="T6" fmla="*/ 775 w 1106"/>
                  <a:gd name="T7" fmla="*/ 0 h 845"/>
                  <a:gd name="T8" fmla="*/ 2 w 1106"/>
                  <a:gd name="T9" fmla="*/ 1 h 845"/>
                  <a:gd name="T10" fmla="*/ 0 w 1106"/>
                  <a:gd name="T11" fmla="*/ 845 h 845"/>
                  <a:gd name="T12" fmla="*/ 335 w 1106"/>
                  <a:gd name="T13" fmla="*/ 845 h 845"/>
                  <a:gd name="T14" fmla="*/ 0 60000 65536"/>
                  <a:gd name="T15" fmla="*/ 0 60000 65536"/>
                  <a:gd name="T16" fmla="*/ 0 60000 65536"/>
                  <a:gd name="T17" fmla="*/ 0 60000 65536"/>
                  <a:gd name="T18" fmla="*/ 0 60000 65536"/>
                  <a:gd name="T19" fmla="*/ 0 60000 65536"/>
                  <a:gd name="T20" fmla="*/ 0 60000 65536"/>
                  <a:gd name="T21" fmla="*/ 0 w 1106"/>
                  <a:gd name="T22" fmla="*/ 0 h 845"/>
                  <a:gd name="T23" fmla="*/ 1106 w 1106"/>
                  <a:gd name="T24" fmla="*/ 845 h 8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6" h="845">
                    <a:moveTo>
                      <a:pt x="921" y="410"/>
                    </a:moveTo>
                    <a:lnTo>
                      <a:pt x="1104" y="409"/>
                    </a:lnTo>
                    <a:lnTo>
                      <a:pt x="1106" y="1"/>
                    </a:lnTo>
                    <a:lnTo>
                      <a:pt x="775" y="0"/>
                    </a:lnTo>
                    <a:lnTo>
                      <a:pt x="2" y="1"/>
                    </a:lnTo>
                    <a:lnTo>
                      <a:pt x="0" y="845"/>
                    </a:lnTo>
                    <a:lnTo>
                      <a:pt x="335" y="845"/>
                    </a:lnTo>
                  </a:path>
                </a:pathLst>
              </a:custGeom>
              <a:noFill/>
              <a:ln w="25400" cap="rnd">
                <a:solidFill>
                  <a:schemeClr val="tx1"/>
                </a:solidFill>
                <a:round/>
                <a:headEnd/>
                <a:tailEnd type="triangle" w="med" len="med"/>
              </a:ln>
            </p:spPr>
            <p:txBody>
              <a:bodyPr>
                <a:prstTxWarp prst="textNoShape">
                  <a:avLst/>
                </a:prstTxWarp>
              </a:bodyPr>
              <a:lstStyle/>
              <a:p>
                <a:endParaRPr lang="en-US" sz="1400" b="1">
                  <a:latin typeface="VAGRundschriftDLig" panose="00000400000000000000" pitchFamily="50" charset="0"/>
                </a:endParaRPr>
              </a:p>
            </p:txBody>
          </p:sp>
          <p:sp>
            <p:nvSpPr>
              <p:cNvPr id="304" name="Freeform 45">
                <a:extLst>
                  <a:ext uri="{FF2B5EF4-FFF2-40B4-BE49-F238E27FC236}">
                    <a16:creationId xmlns:a16="http://schemas.microsoft.com/office/drawing/2014/main" id="{D276368A-25F8-40EC-A0F0-BFA2FE88CE3A}"/>
                  </a:ext>
                </a:extLst>
              </p:cNvPr>
              <p:cNvSpPr>
                <a:spLocks/>
              </p:cNvSpPr>
              <p:nvPr/>
            </p:nvSpPr>
            <p:spPr bwMode="auto">
              <a:xfrm>
                <a:off x="3741071" y="2711145"/>
                <a:ext cx="287908" cy="565040"/>
              </a:xfrm>
              <a:custGeom>
                <a:avLst/>
                <a:gdLst>
                  <a:gd name="T0" fmla="*/ 1 w 168"/>
                  <a:gd name="T1" fmla="*/ 333 h 333"/>
                  <a:gd name="T2" fmla="*/ 0 w 168"/>
                  <a:gd name="T3" fmla="*/ 5 h 333"/>
                  <a:gd name="T4" fmla="*/ 5 w 168"/>
                  <a:gd name="T5" fmla="*/ 0 h 333"/>
                  <a:gd name="T6" fmla="*/ 168 w 168"/>
                  <a:gd name="T7" fmla="*/ 4 h 333"/>
                  <a:gd name="T8" fmla="*/ 0 60000 65536"/>
                  <a:gd name="T9" fmla="*/ 0 60000 65536"/>
                  <a:gd name="T10" fmla="*/ 0 60000 65536"/>
                  <a:gd name="T11" fmla="*/ 0 60000 65536"/>
                  <a:gd name="T12" fmla="*/ 0 w 168"/>
                  <a:gd name="T13" fmla="*/ 0 h 333"/>
                  <a:gd name="T14" fmla="*/ 168 w 168"/>
                  <a:gd name="T15" fmla="*/ 333 h 333"/>
                </a:gdLst>
                <a:ahLst/>
                <a:cxnLst>
                  <a:cxn ang="T8">
                    <a:pos x="T0" y="T1"/>
                  </a:cxn>
                  <a:cxn ang="T9">
                    <a:pos x="T2" y="T3"/>
                  </a:cxn>
                  <a:cxn ang="T10">
                    <a:pos x="T4" y="T5"/>
                  </a:cxn>
                  <a:cxn ang="T11">
                    <a:pos x="T6" y="T7"/>
                  </a:cxn>
                </a:cxnLst>
                <a:rect l="T12" t="T13" r="T14" b="T15"/>
                <a:pathLst>
                  <a:path w="168" h="333">
                    <a:moveTo>
                      <a:pt x="1" y="333"/>
                    </a:moveTo>
                    <a:lnTo>
                      <a:pt x="0" y="5"/>
                    </a:lnTo>
                    <a:lnTo>
                      <a:pt x="5" y="0"/>
                    </a:lnTo>
                    <a:lnTo>
                      <a:pt x="168" y="4"/>
                    </a:lnTo>
                  </a:path>
                </a:pathLst>
              </a:custGeom>
              <a:noFill/>
              <a:ln w="25400">
                <a:solidFill>
                  <a:schemeClr val="tx1"/>
                </a:solidFill>
                <a:round/>
                <a:headEnd/>
                <a:tailEnd type="triangle" w="med" len="med"/>
              </a:ln>
            </p:spPr>
            <p:txBody>
              <a:bodyPr wrap="none" anchor="ctr">
                <a:prstTxWarp prst="textNoShape">
                  <a:avLst/>
                </a:prstTxWarp>
              </a:bodyPr>
              <a:lstStyle/>
              <a:p>
                <a:endParaRPr lang="en-US" sz="1400" b="1">
                  <a:latin typeface="VAGRundschriftDLig" panose="00000400000000000000" pitchFamily="50" charset="0"/>
                </a:endParaRPr>
              </a:p>
            </p:txBody>
          </p:sp>
          <p:sp>
            <p:nvSpPr>
              <p:cNvPr id="305" name="Rectangle 42">
                <a:extLst>
                  <a:ext uri="{FF2B5EF4-FFF2-40B4-BE49-F238E27FC236}">
                    <a16:creationId xmlns:a16="http://schemas.microsoft.com/office/drawing/2014/main" id="{6B199D8A-9E47-4AF7-AE5A-3C1C6FC2DEF6}"/>
                  </a:ext>
                </a:extLst>
              </p:cNvPr>
              <p:cNvSpPr>
                <a:spLocks noChangeArrowheads="1"/>
              </p:cNvSpPr>
              <p:nvPr/>
            </p:nvSpPr>
            <p:spPr bwMode="auto">
              <a:xfrm>
                <a:off x="2776507" y="3288005"/>
                <a:ext cx="353638" cy="201460"/>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RundschriftDLig" panose="00000400000000000000" pitchFamily="50" charset="0"/>
                  </a:rPr>
                  <a:t>pc+4</a:t>
                </a:r>
              </a:p>
            </p:txBody>
          </p:sp>
        </p:grpSp>
        <p:grpSp>
          <p:nvGrpSpPr>
            <p:cNvPr id="310" name="Group 309">
              <a:extLst>
                <a:ext uri="{FF2B5EF4-FFF2-40B4-BE49-F238E27FC236}">
                  <a16:creationId xmlns:a16="http://schemas.microsoft.com/office/drawing/2014/main" id="{08906664-0FD9-4773-9B36-D1BC7B0F038D}"/>
                </a:ext>
              </a:extLst>
            </p:cNvPr>
            <p:cNvGrpSpPr/>
            <p:nvPr/>
          </p:nvGrpSpPr>
          <p:grpSpPr>
            <a:xfrm>
              <a:off x="5072382" y="1335065"/>
              <a:ext cx="3327155" cy="2280126"/>
              <a:chOff x="5331190" y="1894482"/>
              <a:chExt cx="5323448" cy="3648201"/>
            </a:xfrm>
            <a:noFill/>
          </p:grpSpPr>
          <p:sp>
            <p:nvSpPr>
              <p:cNvPr id="311" name="Freeform 48">
                <a:extLst>
                  <a:ext uri="{FF2B5EF4-FFF2-40B4-BE49-F238E27FC236}">
                    <a16:creationId xmlns:a16="http://schemas.microsoft.com/office/drawing/2014/main" id="{1D59BA8E-2E24-4152-91C4-40762C9AED34}"/>
                  </a:ext>
                </a:extLst>
              </p:cNvPr>
              <p:cNvSpPr>
                <a:spLocks/>
              </p:cNvSpPr>
              <p:nvPr/>
            </p:nvSpPr>
            <p:spPr bwMode="auto">
              <a:xfrm>
                <a:off x="5334697" y="3516633"/>
                <a:ext cx="1435865" cy="373113"/>
              </a:xfrm>
              <a:custGeom>
                <a:avLst/>
                <a:gdLst>
                  <a:gd name="T0" fmla="*/ 0 w 817"/>
                  <a:gd name="T1" fmla="*/ 192 h 193"/>
                  <a:gd name="T2" fmla="*/ 0 w 817"/>
                  <a:gd name="T3" fmla="*/ 0 h 193"/>
                  <a:gd name="T4" fmla="*/ 816 w 817"/>
                  <a:gd name="T5" fmla="*/ 0 h 193"/>
                  <a:gd name="T6" fmla="*/ 0 60000 65536"/>
                  <a:gd name="T7" fmla="*/ 0 60000 65536"/>
                  <a:gd name="T8" fmla="*/ 0 60000 65536"/>
                  <a:gd name="T9" fmla="*/ 0 w 817"/>
                  <a:gd name="T10" fmla="*/ 0 h 193"/>
                  <a:gd name="T11" fmla="*/ 817 w 817"/>
                  <a:gd name="T12" fmla="*/ 193 h 193"/>
                </a:gdLst>
                <a:ahLst/>
                <a:cxnLst>
                  <a:cxn ang="T6">
                    <a:pos x="T0" y="T1"/>
                  </a:cxn>
                  <a:cxn ang="T7">
                    <a:pos x="T2" y="T3"/>
                  </a:cxn>
                  <a:cxn ang="T8">
                    <a:pos x="T4" y="T5"/>
                  </a:cxn>
                </a:cxnLst>
                <a:rect l="T9" t="T10" r="T11" b="T12"/>
                <a:pathLst>
                  <a:path w="817" h="193">
                    <a:moveTo>
                      <a:pt x="0" y="192"/>
                    </a:moveTo>
                    <a:lnTo>
                      <a:pt x="0" y="0"/>
                    </a:lnTo>
                    <a:lnTo>
                      <a:pt x="816" y="0"/>
                    </a:lnTo>
                  </a:path>
                </a:pathLst>
              </a:custGeom>
              <a:grpFill/>
              <a:ln w="28575"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sp>
            <p:nvSpPr>
              <p:cNvPr id="312" name="Freeform 49">
                <a:extLst>
                  <a:ext uri="{FF2B5EF4-FFF2-40B4-BE49-F238E27FC236}">
                    <a16:creationId xmlns:a16="http://schemas.microsoft.com/office/drawing/2014/main" id="{7C6100ED-A669-4C7E-A98B-5891AEAA9775}"/>
                  </a:ext>
                </a:extLst>
              </p:cNvPr>
              <p:cNvSpPr>
                <a:spLocks/>
              </p:cNvSpPr>
              <p:nvPr/>
            </p:nvSpPr>
            <p:spPr bwMode="auto">
              <a:xfrm>
                <a:off x="5334696" y="3873331"/>
                <a:ext cx="1435865" cy="1933"/>
              </a:xfrm>
              <a:custGeom>
                <a:avLst/>
                <a:gdLst>
                  <a:gd name="T0" fmla="*/ 0 w 817"/>
                  <a:gd name="T1" fmla="*/ 0 h 1"/>
                  <a:gd name="T2" fmla="*/ 816 w 817"/>
                  <a:gd name="T3" fmla="*/ 0 h 1"/>
                  <a:gd name="T4" fmla="*/ 0 60000 65536"/>
                  <a:gd name="T5" fmla="*/ 0 60000 65536"/>
                  <a:gd name="T6" fmla="*/ 0 w 817"/>
                  <a:gd name="T7" fmla="*/ 0 h 1"/>
                  <a:gd name="T8" fmla="*/ 817 w 817"/>
                  <a:gd name="T9" fmla="*/ 1 h 1"/>
                </a:gdLst>
                <a:ahLst/>
                <a:cxnLst>
                  <a:cxn ang="T4">
                    <a:pos x="T0" y="T1"/>
                  </a:cxn>
                  <a:cxn ang="T5">
                    <a:pos x="T2" y="T3"/>
                  </a:cxn>
                </a:cxnLst>
                <a:rect l="T6" t="T7" r="T8" b="T9"/>
                <a:pathLst>
                  <a:path w="817" h="1">
                    <a:moveTo>
                      <a:pt x="0" y="0"/>
                    </a:moveTo>
                    <a:lnTo>
                      <a:pt x="816" y="0"/>
                    </a:lnTo>
                  </a:path>
                </a:pathLst>
              </a:custGeom>
              <a:grpFill/>
              <a:ln w="28575"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sp>
            <p:nvSpPr>
              <p:cNvPr id="313" name="Rectangle 56">
                <a:extLst>
                  <a:ext uri="{FF2B5EF4-FFF2-40B4-BE49-F238E27FC236}">
                    <a16:creationId xmlns:a16="http://schemas.microsoft.com/office/drawing/2014/main" id="{11349225-5680-4CC7-8252-346E35A982BF}"/>
                  </a:ext>
                </a:extLst>
              </p:cNvPr>
              <p:cNvSpPr>
                <a:spLocks noChangeArrowheads="1"/>
              </p:cNvSpPr>
              <p:nvPr/>
            </p:nvSpPr>
            <p:spPr bwMode="auto">
              <a:xfrm>
                <a:off x="5476361" y="3950142"/>
                <a:ext cx="1032322"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Inst</a:t>
                </a:r>
                <a:r>
                  <a:rPr lang="en-US" sz="800" b="1" dirty="0">
                    <a:latin typeface="VAGRundschriftDLig" panose="00000400000000000000" pitchFamily="50" charset="0"/>
                  </a:rPr>
                  <a:t>[24:20]</a:t>
                </a:r>
              </a:p>
            </p:txBody>
          </p:sp>
          <p:sp>
            <p:nvSpPr>
              <p:cNvPr id="314" name="Line 58">
                <a:extLst>
                  <a:ext uri="{FF2B5EF4-FFF2-40B4-BE49-F238E27FC236}">
                    <a16:creationId xmlns:a16="http://schemas.microsoft.com/office/drawing/2014/main" id="{22505885-4ACA-48DE-A131-326A82E6205C}"/>
                  </a:ext>
                </a:extLst>
              </p:cNvPr>
              <p:cNvSpPr>
                <a:spLocks noChangeShapeType="1"/>
              </p:cNvSpPr>
              <p:nvPr/>
            </p:nvSpPr>
            <p:spPr bwMode="auto">
              <a:xfrm flipH="1">
                <a:off x="5331190" y="3524366"/>
                <a:ext cx="3507" cy="2018317"/>
              </a:xfrm>
              <a:prstGeom prst="line">
                <a:avLst/>
              </a:prstGeom>
              <a:grpFill/>
              <a:ln w="28575">
                <a:solidFill>
                  <a:schemeClr val="tx1"/>
                </a:solidFill>
                <a:round/>
                <a:headEnd/>
                <a:tailEnd type="triangle" w="med" len="med"/>
              </a:ln>
            </p:spPr>
            <p:txBody>
              <a:bodyPr wrap="none" anchor="ctr">
                <a:prstTxWarp prst="textNoShape">
                  <a:avLst/>
                </a:prstTxWarp>
              </a:bodyPr>
              <a:lstStyle/>
              <a:p>
                <a:endParaRPr lang="en-US" sz="1200">
                  <a:latin typeface="VAGRundschriftDLig" panose="00000400000000000000" pitchFamily="50" charset="0"/>
                </a:endParaRPr>
              </a:p>
            </p:txBody>
          </p:sp>
          <p:sp>
            <p:nvSpPr>
              <p:cNvPr id="315" name="Freeform 61">
                <a:extLst>
                  <a:ext uri="{FF2B5EF4-FFF2-40B4-BE49-F238E27FC236}">
                    <a16:creationId xmlns:a16="http://schemas.microsoft.com/office/drawing/2014/main" id="{21EF5A6F-EE53-437D-BB24-C83B70203122}"/>
                  </a:ext>
                </a:extLst>
              </p:cNvPr>
              <p:cNvSpPr>
                <a:spLocks/>
              </p:cNvSpPr>
              <p:nvPr/>
            </p:nvSpPr>
            <p:spPr bwMode="auto">
              <a:xfrm>
                <a:off x="5338651" y="4159019"/>
                <a:ext cx="1417853" cy="73150"/>
              </a:xfrm>
              <a:custGeom>
                <a:avLst/>
                <a:gdLst>
                  <a:gd name="T0" fmla="*/ 0 w 817"/>
                  <a:gd name="T1" fmla="*/ 0 h 1"/>
                  <a:gd name="T2" fmla="*/ 816 w 817"/>
                  <a:gd name="T3" fmla="*/ 0 h 1"/>
                  <a:gd name="T4" fmla="*/ 0 60000 65536"/>
                  <a:gd name="T5" fmla="*/ 0 60000 65536"/>
                  <a:gd name="T6" fmla="*/ 0 w 817"/>
                  <a:gd name="T7" fmla="*/ 0 h 1"/>
                  <a:gd name="T8" fmla="*/ 817 w 817"/>
                  <a:gd name="T9" fmla="*/ 1 h 1"/>
                </a:gdLst>
                <a:ahLst/>
                <a:cxnLst>
                  <a:cxn ang="T4">
                    <a:pos x="T0" y="T1"/>
                  </a:cxn>
                  <a:cxn ang="T5">
                    <a:pos x="T2" y="T3"/>
                  </a:cxn>
                </a:cxnLst>
                <a:rect l="T6" t="T7" r="T8" b="T9"/>
                <a:pathLst>
                  <a:path w="817" h="1">
                    <a:moveTo>
                      <a:pt x="0" y="0"/>
                    </a:moveTo>
                    <a:lnTo>
                      <a:pt x="816" y="0"/>
                    </a:lnTo>
                  </a:path>
                </a:pathLst>
              </a:custGeom>
              <a:grpFill/>
              <a:ln w="28575"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grpSp>
            <p:nvGrpSpPr>
              <p:cNvPr id="316" name="Group 62">
                <a:extLst>
                  <a:ext uri="{FF2B5EF4-FFF2-40B4-BE49-F238E27FC236}">
                    <a16:creationId xmlns:a16="http://schemas.microsoft.com/office/drawing/2014/main" id="{0FD99FFF-8157-4FDD-B315-9AB3E742B005}"/>
                  </a:ext>
                </a:extLst>
              </p:cNvPr>
              <p:cNvGrpSpPr>
                <a:grpSpLocks/>
              </p:cNvGrpSpPr>
              <p:nvPr/>
            </p:nvGrpSpPr>
            <p:grpSpPr bwMode="auto">
              <a:xfrm>
                <a:off x="9408180" y="3470170"/>
                <a:ext cx="724690" cy="1168993"/>
                <a:chOff x="4085" y="1630"/>
                <a:chExt cx="258" cy="385"/>
              </a:xfrm>
              <a:grpFill/>
            </p:grpSpPr>
            <p:sp>
              <p:nvSpPr>
                <p:cNvPr id="341" name="Freeform 65">
                  <a:extLst>
                    <a:ext uri="{FF2B5EF4-FFF2-40B4-BE49-F238E27FC236}">
                      <a16:creationId xmlns:a16="http://schemas.microsoft.com/office/drawing/2014/main" id="{DED840A0-1DC7-4867-8E50-A6B6365E125C}"/>
                    </a:ext>
                  </a:extLst>
                </p:cNvPr>
                <p:cNvSpPr>
                  <a:spLocks/>
                </p:cNvSpPr>
                <p:nvPr/>
              </p:nvSpPr>
              <p:spPr bwMode="auto">
                <a:xfrm>
                  <a:off x="4085" y="1630"/>
                  <a:ext cx="241" cy="385"/>
                </a:xfrm>
                <a:custGeom>
                  <a:avLst/>
                  <a:gdLst>
                    <a:gd name="T0" fmla="*/ 0 w 241"/>
                    <a:gd name="T1" fmla="*/ 0 h 385"/>
                    <a:gd name="T2" fmla="*/ 0 w 241"/>
                    <a:gd name="T3" fmla="*/ 160 h 385"/>
                    <a:gd name="T4" fmla="*/ 48 w 241"/>
                    <a:gd name="T5" fmla="*/ 192 h 385"/>
                    <a:gd name="T6" fmla="*/ 0 w 241"/>
                    <a:gd name="T7" fmla="*/ 224 h 385"/>
                    <a:gd name="T8" fmla="*/ 0 w 241"/>
                    <a:gd name="T9" fmla="*/ 384 h 385"/>
                    <a:gd name="T10" fmla="*/ 240 w 241"/>
                    <a:gd name="T11" fmla="*/ 288 h 385"/>
                    <a:gd name="T12" fmla="*/ 240 w 241"/>
                    <a:gd name="T13" fmla="*/ 96 h 385"/>
                    <a:gd name="T14" fmla="*/ 0 w 241"/>
                    <a:gd name="T15" fmla="*/ 0 h 385"/>
                    <a:gd name="T16" fmla="*/ 0 60000 65536"/>
                    <a:gd name="T17" fmla="*/ 0 60000 65536"/>
                    <a:gd name="T18" fmla="*/ 0 60000 65536"/>
                    <a:gd name="T19" fmla="*/ 0 60000 65536"/>
                    <a:gd name="T20" fmla="*/ 0 60000 65536"/>
                    <a:gd name="T21" fmla="*/ 0 60000 65536"/>
                    <a:gd name="T22" fmla="*/ 0 60000 65536"/>
                    <a:gd name="T23" fmla="*/ 0 60000 65536"/>
                    <a:gd name="T24" fmla="*/ 0 w 241"/>
                    <a:gd name="T25" fmla="*/ 0 h 385"/>
                    <a:gd name="T26" fmla="*/ 241 w 241"/>
                    <a:gd name="T27" fmla="*/ 385 h 3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1" h="385">
                      <a:moveTo>
                        <a:pt x="0" y="0"/>
                      </a:moveTo>
                      <a:lnTo>
                        <a:pt x="0" y="160"/>
                      </a:lnTo>
                      <a:lnTo>
                        <a:pt x="48" y="192"/>
                      </a:lnTo>
                      <a:lnTo>
                        <a:pt x="0" y="224"/>
                      </a:lnTo>
                      <a:lnTo>
                        <a:pt x="0" y="384"/>
                      </a:lnTo>
                      <a:lnTo>
                        <a:pt x="240" y="288"/>
                      </a:lnTo>
                      <a:lnTo>
                        <a:pt x="240" y="96"/>
                      </a:lnTo>
                      <a:lnTo>
                        <a:pt x="0" y="0"/>
                      </a:lnTo>
                    </a:path>
                  </a:pathLst>
                </a:custGeom>
                <a:grpFill/>
                <a:ln w="38100" cap="rnd">
                  <a:solidFill>
                    <a:schemeClr val="tx1"/>
                  </a:solidFill>
                  <a:round/>
                  <a:headEnd/>
                  <a:tailEnd/>
                </a:ln>
              </p:spPr>
              <p:txBody>
                <a:bodyPr>
                  <a:prstTxWarp prst="textNoShape">
                    <a:avLst/>
                  </a:prstTxWarp>
                </a:bodyPr>
                <a:lstStyle/>
                <a:p>
                  <a:endParaRPr lang="en-US" sz="1200">
                    <a:latin typeface="VAGRundschriftDLig" panose="00000400000000000000" pitchFamily="50" charset="0"/>
                  </a:endParaRPr>
                </a:p>
              </p:txBody>
            </p:sp>
            <p:sp>
              <p:nvSpPr>
                <p:cNvPr id="342" name="Rectangle 66">
                  <a:extLst>
                    <a:ext uri="{FF2B5EF4-FFF2-40B4-BE49-F238E27FC236}">
                      <a16:creationId xmlns:a16="http://schemas.microsoft.com/office/drawing/2014/main" id="{5961DE92-D77F-4A2E-945A-EC01051DC5AB}"/>
                    </a:ext>
                  </a:extLst>
                </p:cNvPr>
                <p:cNvSpPr>
                  <a:spLocks noChangeArrowheads="1"/>
                </p:cNvSpPr>
                <p:nvPr/>
              </p:nvSpPr>
              <p:spPr bwMode="auto">
                <a:xfrm>
                  <a:off x="4106" y="1828"/>
                  <a:ext cx="237" cy="143"/>
                </a:xfrm>
                <a:prstGeom prst="rect">
                  <a:avLst/>
                </a:prstGeom>
                <a:grpFill/>
                <a:ln w="381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RundschriftDLig" panose="00000400000000000000" pitchFamily="50" charset="0"/>
                    </a:rPr>
                    <a:t>ALU</a:t>
                  </a:r>
                </a:p>
              </p:txBody>
            </p:sp>
            <p:sp>
              <p:nvSpPr>
                <p:cNvPr id="343" name="Rectangle 66">
                  <a:extLst>
                    <a:ext uri="{FF2B5EF4-FFF2-40B4-BE49-F238E27FC236}">
                      <a16:creationId xmlns:a16="http://schemas.microsoft.com/office/drawing/2014/main" id="{19B08D74-D905-402F-9799-E0F5C3B48DC8}"/>
                    </a:ext>
                  </a:extLst>
                </p:cNvPr>
                <p:cNvSpPr>
                  <a:spLocks noChangeArrowheads="1"/>
                </p:cNvSpPr>
                <p:nvPr/>
              </p:nvSpPr>
              <p:spPr bwMode="auto">
                <a:xfrm>
                  <a:off x="4145" y="1708"/>
                  <a:ext cx="131" cy="161"/>
                </a:xfrm>
                <a:prstGeom prst="rect">
                  <a:avLst/>
                </a:prstGeom>
                <a:grpFill/>
                <a:ln w="38100">
                  <a:noFill/>
                  <a:miter lim="800000"/>
                  <a:headEnd/>
                  <a:tailEnd/>
                </a:ln>
              </p:spPr>
              <p:txBody>
                <a:bodyPr wrap="none" lIns="56555" tIns="27781" rIns="56555" bIns="27781">
                  <a:prstTxWarp prst="textNoShape">
                    <a:avLst/>
                  </a:prstTxWarp>
                  <a:spAutoFit/>
                </a:bodyPr>
                <a:lstStyle/>
                <a:p>
                  <a:pPr>
                    <a:spcBef>
                      <a:spcPct val="0"/>
                    </a:spcBef>
                  </a:pPr>
                  <a:r>
                    <a:rPr lang="en-US" sz="1400" b="1" dirty="0">
                      <a:latin typeface="VAGRundschriftDLig" panose="00000400000000000000" pitchFamily="50" charset="0"/>
                    </a:rPr>
                    <a:t>+</a:t>
                  </a:r>
                </a:p>
              </p:txBody>
            </p:sp>
          </p:grpSp>
          <p:sp>
            <p:nvSpPr>
              <p:cNvPr id="317" name="Rectangle 72">
                <a:extLst>
                  <a:ext uri="{FF2B5EF4-FFF2-40B4-BE49-F238E27FC236}">
                    <a16:creationId xmlns:a16="http://schemas.microsoft.com/office/drawing/2014/main" id="{B859FFB4-F299-4432-BDFB-DE910F41C3F8}"/>
                  </a:ext>
                </a:extLst>
              </p:cNvPr>
              <p:cNvSpPr>
                <a:spLocks noChangeArrowheads="1"/>
              </p:cNvSpPr>
              <p:nvPr/>
            </p:nvSpPr>
            <p:spPr bwMode="auto">
              <a:xfrm>
                <a:off x="7538786" y="5133544"/>
                <a:ext cx="418548" cy="322157"/>
              </a:xfrm>
              <a:prstGeom prst="rect">
                <a:avLst/>
              </a:prstGeom>
              <a:grp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clk</a:t>
                </a:r>
                <a:endParaRPr lang="en-US" sz="800" b="1" dirty="0">
                  <a:latin typeface="VAGRundschriftDLig" panose="00000400000000000000" pitchFamily="50" charset="0"/>
                </a:endParaRPr>
              </a:p>
            </p:txBody>
          </p:sp>
          <p:sp>
            <p:nvSpPr>
              <p:cNvPr id="318" name="Rectangle 74">
                <a:extLst>
                  <a:ext uri="{FF2B5EF4-FFF2-40B4-BE49-F238E27FC236}">
                    <a16:creationId xmlns:a16="http://schemas.microsoft.com/office/drawing/2014/main" id="{D17011FD-FB06-4C43-B1F6-D8CCA589DE92}"/>
                  </a:ext>
                </a:extLst>
              </p:cNvPr>
              <p:cNvSpPr>
                <a:spLocks noChangeArrowheads="1"/>
              </p:cNvSpPr>
              <p:nvPr/>
            </p:nvSpPr>
            <p:spPr bwMode="auto">
              <a:xfrm>
                <a:off x="6791652" y="2614312"/>
                <a:ext cx="1502103" cy="2303658"/>
              </a:xfrm>
              <a:prstGeom prst="rect">
                <a:avLst/>
              </a:prstGeom>
              <a:grpFill/>
              <a:ln w="38100">
                <a:solidFill>
                  <a:schemeClr val="tx1"/>
                </a:solidFill>
                <a:miter lim="800000"/>
                <a:headEnd/>
                <a:tailEnd/>
              </a:ln>
            </p:spPr>
            <p:txBody>
              <a:bodyPr wrap="none" anchor="ctr">
                <a:prstTxWarp prst="textNoShape">
                  <a:avLst/>
                </a:prstTxWarp>
              </a:bodyPr>
              <a:lstStyle/>
              <a:p>
                <a:endParaRPr lang="en-US" sz="1200">
                  <a:latin typeface="VAGRundschriftDLig" panose="00000400000000000000" pitchFamily="50" charset="0"/>
                </a:endParaRPr>
              </a:p>
            </p:txBody>
          </p:sp>
          <p:sp>
            <p:nvSpPr>
              <p:cNvPr id="319" name="Rectangle 76">
                <a:extLst>
                  <a:ext uri="{FF2B5EF4-FFF2-40B4-BE49-F238E27FC236}">
                    <a16:creationId xmlns:a16="http://schemas.microsoft.com/office/drawing/2014/main" id="{80C89D2D-096C-44D6-A0C7-A63A82DE2F83}"/>
                  </a:ext>
                </a:extLst>
              </p:cNvPr>
              <p:cNvSpPr>
                <a:spLocks noChangeArrowheads="1"/>
              </p:cNvSpPr>
              <p:nvPr/>
            </p:nvSpPr>
            <p:spPr bwMode="auto">
              <a:xfrm>
                <a:off x="6894441" y="4349157"/>
                <a:ext cx="933196" cy="432810"/>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1200" b="1" dirty="0" err="1">
                    <a:latin typeface="VAGRundschriftDLig" panose="00000400000000000000" pitchFamily="50" charset="0"/>
                  </a:rPr>
                  <a:t>Reg</a:t>
                </a:r>
                <a:r>
                  <a:rPr lang="en-US" sz="1200" b="1" dirty="0">
                    <a:latin typeface="VAGRundschriftDLig" panose="00000400000000000000" pitchFamily="50" charset="0"/>
                  </a:rPr>
                  <a:t> [ ]</a:t>
                </a:r>
              </a:p>
            </p:txBody>
          </p:sp>
          <p:sp>
            <p:nvSpPr>
              <p:cNvPr id="320" name="Line 86">
                <a:extLst>
                  <a:ext uri="{FF2B5EF4-FFF2-40B4-BE49-F238E27FC236}">
                    <a16:creationId xmlns:a16="http://schemas.microsoft.com/office/drawing/2014/main" id="{40AE8C36-C76C-4810-9C9A-28B6AC7880B9}"/>
                  </a:ext>
                </a:extLst>
              </p:cNvPr>
              <p:cNvSpPr>
                <a:spLocks noChangeShapeType="1"/>
              </p:cNvSpPr>
              <p:nvPr/>
            </p:nvSpPr>
            <p:spPr bwMode="auto">
              <a:xfrm>
                <a:off x="10062647" y="4040275"/>
                <a:ext cx="562395" cy="0"/>
              </a:xfrm>
              <a:prstGeom prst="line">
                <a:avLst/>
              </a:prstGeom>
              <a:grpFill/>
              <a:ln w="28575" cap="rnd">
                <a:solidFill>
                  <a:schemeClr val="tx1"/>
                </a:solidFill>
                <a:round/>
                <a:headEnd/>
                <a:tailEnd/>
              </a:ln>
            </p:spPr>
            <p:txBody>
              <a:bodyPr wrap="none" anchor="ctr">
                <a:prstTxWarp prst="textNoShape">
                  <a:avLst/>
                </a:prstTxWarp>
              </a:bodyPr>
              <a:lstStyle/>
              <a:p>
                <a:endParaRPr lang="en-US" sz="1200">
                  <a:latin typeface="VAGRundschriftDLig" panose="00000400000000000000" pitchFamily="50" charset="0"/>
                </a:endParaRPr>
              </a:p>
            </p:txBody>
          </p:sp>
          <p:sp>
            <p:nvSpPr>
              <p:cNvPr id="321" name="Freeform 53">
                <a:extLst>
                  <a:ext uri="{FF2B5EF4-FFF2-40B4-BE49-F238E27FC236}">
                    <a16:creationId xmlns:a16="http://schemas.microsoft.com/office/drawing/2014/main" id="{D5AC20E6-D569-4588-A20F-867832157355}"/>
                  </a:ext>
                </a:extLst>
              </p:cNvPr>
              <p:cNvSpPr>
                <a:spLocks/>
              </p:cNvSpPr>
              <p:nvPr/>
            </p:nvSpPr>
            <p:spPr bwMode="auto">
              <a:xfrm flipV="1">
                <a:off x="8313513" y="3743971"/>
                <a:ext cx="1094666"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grpFill/>
              <a:ln w="25400"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sp>
            <p:nvSpPr>
              <p:cNvPr id="322" name="Line 86">
                <a:extLst>
                  <a:ext uri="{FF2B5EF4-FFF2-40B4-BE49-F238E27FC236}">
                    <a16:creationId xmlns:a16="http://schemas.microsoft.com/office/drawing/2014/main" id="{467BC8CF-5600-4CDC-9E35-FF2DA9D85A96}"/>
                  </a:ext>
                </a:extLst>
              </p:cNvPr>
              <p:cNvSpPr>
                <a:spLocks noChangeShapeType="1"/>
              </p:cNvSpPr>
              <p:nvPr/>
            </p:nvSpPr>
            <p:spPr bwMode="auto">
              <a:xfrm flipH="1">
                <a:off x="10633851" y="1904493"/>
                <a:ext cx="20787" cy="2121458"/>
              </a:xfrm>
              <a:prstGeom prst="line">
                <a:avLst/>
              </a:prstGeom>
              <a:grpFill/>
              <a:ln w="28575" cap="rnd">
                <a:solidFill>
                  <a:schemeClr val="tx1"/>
                </a:solidFill>
                <a:round/>
                <a:headEnd/>
                <a:tailEnd/>
              </a:ln>
            </p:spPr>
            <p:txBody>
              <a:bodyPr wrap="none" anchor="ctr">
                <a:prstTxWarp prst="textNoShape">
                  <a:avLst/>
                </a:prstTxWarp>
              </a:bodyPr>
              <a:lstStyle/>
              <a:p>
                <a:pPr algn="r"/>
                <a:endParaRPr lang="en-US" sz="1200" dirty="0">
                  <a:latin typeface="VAGRundschriftDLig" panose="00000400000000000000" pitchFamily="50" charset="0"/>
                </a:endParaRPr>
              </a:p>
            </p:txBody>
          </p:sp>
          <p:sp>
            <p:nvSpPr>
              <p:cNvPr id="323" name="Line 86">
                <a:extLst>
                  <a:ext uri="{FF2B5EF4-FFF2-40B4-BE49-F238E27FC236}">
                    <a16:creationId xmlns:a16="http://schemas.microsoft.com/office/drawing/2014/main" id="{F6CFEA5E-864D-40C1-ADA1-AB1EBF4FCF71}"/>
                  </a:ext>
                </a:extLst>
              </p:cNvPr>
              <p:cNvSpPr>
                <a:spLocks noChangeShapeType="1"/>
              </p:cNvSpPr>
              <p:nvPr/>
            </p:nvSpPr>
            <p:spPr bwMode="auto">
              <a:xfrm flipV="1">
                <a:off x="5777839" y="1894482"/>
                <a:ext cx="4864418" cy="486"/>
              </a:xfrm>
              <a:prstGeom prst="line">
                <a:avLst/>
              </a:prstGeom>
              <a:grpFill/>
              <a:ln w="28575" cap="rnd">
                <a:solidFill>
                  <a:schemeClr val="tx1"/>
                </a:solidFill>
                <a:round/>
                <a:headEnd/>
                <a:tailEnd/>
              </a:ln>
            </p:spPr>
            <p:txBody>
              <a:bodyPr wrap="none" anchor="ctr">
                <a:prstTxWarp prst="textNoShape">
                  <a:avLst/>
                </a:prstTxWarp>
              </a:bodyPr>
              <a:lstStyle/>
              <a:p>
                <a:endParaRPr lang="en-US" sz="1200">
                  <a:latin typeface="VAGRundschriftDLig" panose="00000400000000000000" pitchFamily="50" charset="0"/>
                </a:endParaRPr>
              </a:p>
            </p:txBody>
          </p:sp>
          <p:sp>
            <p:nvSpPr>
              <p:cNvPr id="324" name="Line 86">
                <a:extLst>
                  <a:ext uri="{FF2B5EF4-FFF2-40B4-BE49-F238E27FC236}">
                    <a16:creationId xmlns:a16="http://schemas.microsoft.com/office/drawing/2014/main" id="{CACEEE16-4FD9-49BC-B1A7-F1FDCDE1A0B2}"/>
                  </a:ext>
                </a:extLst>
              </p:cNvPr>
              <p:cNvSpPr>
                <a:spLocks noChangeShapeType="1"/>
              </p:cNvSpPr>
              <p:nvPr/>
            </p:nvSpPr>
            <p:spPr bwMode="auto">
              <a:xfrm flipH="1">
                <a:off x="5756193" y="1904491"/>
                <a:ext cx="3346" cy="1110433"/>
              </a:xfrm>
              <a:prstGeom prst="line">
                <a:avLst/>
              </a:prstGeom>
              <a:grpFill/>
              <a:ln w="28575" cap="rnd">
                <a:solidFill>
                  <a:schemeClr val="tx1"/>
                </a:solidFill>
                <a:round/>
                <a:headEnd/>
                <a:tailEnd/>
              </a:ln>
            </p:spPr>
            <p:txBody>
              <a:bodyPr wrap="none" anchor="ctr">
                <a:prstTxWarp prst="textNoShape">
                  <a:avLst/>
                </a:prstTxWarp>
              </a:bodyPr>
              <a:lstStyle/>
              <a:p>
                <a:pPr algn="r"/>
                <a:endParaRPr lang="en-US" sz="1200" dirty="0">
                  <a:latin typeface="VAGRundschriftDLig" panose="00000400000000000000" pitchFamily="50" charset="0"/>
                </a:endParaRPr>
              </a:p>
            </p:txBody>
          </p:sp>
          <p:sp>
            <p:nvSpPr>
              <p:cNvPr id="325" name="Freeform 53">
                <a:extLst>
                  <a:ext uri="{FF2B5EF4-FFF2-40B4-BE49-F238E27FC236}">
                    <a16:creationId xmlns:a16="http://schemas.microsoft.com/office/drawing/2014/main" id="{63E778BA-E7F3-46CD-8171-64766D3C693F}"/>
                  </a:ext>
                </a:extLst>
              </p:cNvPr>
              <p:cNvSpPr>
                <a:spLocks/>
              </p:cNvSpPr>
              <p:nvPr/>
            </p:nvSpPr>
            <p:spPr bwMode="auto">
              <a:xfrm flipV="1">
                <a:off x="5767803" y="2967748"/>
                <a:ext cx="1004090" cy="47180"/>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grpFill/>
              <a:ln w="25400"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sp>
            <p:nvSpPr>
              <p:cNvPr id="326" name="Freeform 43">
                <a:extLst>
                  <a:ext uri="{FF2B5EF4-FFF2-40B4-BE49-F238E27FC236}">
                    <a16:creationId xmlns:a16="http://schemas.microsoft.com/office/drawing/2014/main" id="{C01B98B1-44EE-43E7-902B-4C0890E65F9B}"/>
                  </a:ext>
                </a:extLst>
              </p:cNvPr>
              <p:cNvSpPr>
                <a:spLocks/>
              </p:cNvSpPr>
              <p:nvPr/>
            </p:nvSpPr>
            <p:spPr bwMode="auto">
              <a:xfrm>
                <a:off x="7682838" y="4785013"/>
                <a:ext cx="134282" cy="132957"/>
              </a:xfrm>
              <a:custGeom>
                <a:avLst/>
                <a:gdLst>
                  <a:gd name="T0" fmla="*/ 0 w 49"/>
                  <a:gd name="T1" fmla="*/ 48 h 49"/>
                  <a:gd name="T2" fmla="*/ 24 w 49"/>
                  <a:gd name="T3" fmla="*/ 0 h 49"/>
                  <a:gd name="T4" fmla="*/ 48 w 49"/>
                  <a:gd name="T5" fmla="*/ 48 h 49"/>
                  <a:gd name="T6" fmla="*/ 0 60000 65536"/>
                  <a:gd name="T7" fmla="*/ 0 60000 65536"/>
                  <a:gd name="T8" fmla="*/ 0 60000 65536"/>
                  <a:gd name="T9" fmla="*/ 0 w 49"/>
                  <a:gd name="T10" fmla="*/ 0 h 49"/>
                  <a:gd name="T11" fmla="*/ 49 w 49"/>
                  <a:gd name="T12" fmla="*/ 49 h 49"/>
                </a:gdLst>
                <a:ahLst/>
                <a:cxnLst>
                  <a:cxn ang="T6">
                    <a:pos x="T0" y="T1"/>
                  </a:cxn>
                  <a:cxn ang="T7">
                    <a:pos x="T2" y="T3"/>
                  </a:cxn>
                  <a:cxn ang="T8">
                    <a:pos x="T4" y="T5"/>
                  </a:cxn>
                </a:cxnLst>
                <a:rect l="T9" t="T10" r="T11" b="T12"/>
                <a:pathLst>
                  <a:path w="49" h="49">
                    <a:moveTo>
                      <a:pt x="0" y="48"/>
                    </a:moveTo>
                    <a:lnTo>
                      <a:pt x="24" y="0"/>
                    </a:lnTo>
                    <a:lnTo>
                      <a:pt x="48" y="48"/>
                    </a:lnTo>
                  </a:path>
                </a:pathLst>
              </a:custGeom>
              <a:grpFill/>
              <a:ln w="25400" cap="rnd">
                <a:solidFill>
                  <a:schemeClr val="tx1"/>
                </a:solidFill>
                <a:round/>
                <a:headEnd/>
                <a:tailEnd/>
              </a:ln>
            </p:spPr>
            <p:txBody>
              <a:bodyPr>
                <a:prstTxWarp prst="textNoShape">
                  <a:avLst/>
                </a:prstTxWarp>
              </a:bodyPr>
              <a:lstStyle/>
              <a:p>
                <a:endParaRPr lang="en-US" sz="1400" b="1">
                  <a:latin typeface="VAGRundschriftDLig" panose="00000400000000000000" pitchFamily="50" charset="0"/>
                </a:endParaRPr>
              </a:p>
            </p:txBody>
          </p:sp>
          <p:sp>
            <p:nvSpPr>
              <p:cNvPr id="327" name="Line 85">
                <a:extLst>
                  <a:ext uri="{FF2B5EF4-FFF2-40B4-BE49-F238E27FC236}">
                    <a16:creationId xmlns:a16="http://schemas.microsoft.com/office/drawing/2014/main" id="{ABF5F852-43E0-42AA-88E3-5E9DA57755E8}"/>
                  </a:ext>
                </a:extLst>
              </p:cNvPr>
              <p:cNvSpPr>
                <a:spLocks noChangeShapeType="1"/>
              </p:cNvSpPr>
              <p:nvPr/>
            </p:nvSpPr>
            <p:spPr bwMode="auto">
              <a:xfrm>
                <a:off x="7759038" y="4917970"/>
                <a:ext cx="0" cy="173990"/>
              </a:xfrm>
              <a:prstGeom prst="line">
                <a:avLst/>
              </a:prstGeom>
              <a:grpFill/>
              <a:ln w="25400">
                <a:solidFill>
                  <a:schemeClr val="tx1"/>
                </a:solidFill>
                <a:round/>
                <a:headEnd/>
                <a:tailEnd/>
              </a:ln>
            </p:spPr>
            <p:txBody>
              <a:bodyPr wrap="none" anchor="ctr">
                <a:prstTxWarp prst="textNoShape">
                  <a:avLst/>
                </a:prstTxWarp>
              </a:bodyPr>
              <a:lstStyle/>
              <a:p>
                <a:endParaRPr lang="en-US" sz="1200">
                  <a:latin typeface="VAGRundschriftDLig" panose="00000400000000000000" pitchFamily="50" charset="0"/>
                </a:endParaRPr>
              </a:p>
            </p:txBody>
          </p:sp>
          <p:sp>
            <p:nvSpPr>
              <p:cNvPr id="328" name="Rectangle 56">
                <a:extLst>
                  <a:ext uri="{FF2B5EF4-FFF2-40B4-BE49-F238E27FC236}">
                    <a16:creationId xmlns:a16="http://schemas.microsoft.com/office/drawing/2014/main" id="{7AAB2C2B-C6DA-4553-AC9C-866809DF37D6}"/>
                  </a:ext>
                </a:extLst>
              </p:cNvPr>
              <p:cNvSpPr>
                <a:spLocks noChangeArrowheads="1"/>
              </p:cNvSpPr>
              <p:nvPr/>
            </p:nvSpPr>
            <p:spPr bwMode="auto">
              <a:xfrm>
                <a:off x="5476361" y="3546370"/>
                <a:ext cx="1032322"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Inst</a:t>
                </a:r>
                <a:r>
                  <a:rPr lang="en-US" sz="800" b="1" dirty="0">
                    <a:latin typeface="VAGRundschriftDLig" panose="00000400000000000000" pitchFamily="50" charset="0"/>
                  </a:rPr>
                  <a:t>[19:15]</a:t>
                </a:r>
              </a:p>
            </p:txBody>
          </p:sp>
          <p:sp>
            <p:nvSpPr>
              <p:cNvPr id="329" name="Rectangle 56">
                <a:extLst>
                  <a:ext uri="{FF2B5EF4-FFF2-40B4-BE49-F238E27FC236}">
                    <a16:creationId xmlns:a16="http://schemas.microsoft.com/office/drawing/2014/main" id="{3F76CC98-5017-4E21-94B2-151D51C9327B}"/>
                  </a:ext>
                </a:extLst>
              </p:cNvPr>
              <p:cNvSpPr>
                <a:spLocks noChangeArrowheads="1"/>
              </p:cNvSpPr>
              <p:nvPr/>
            </p:nvSpPr>
            <p:spPr bwMode="auto">
              <a:xfrm>
                <a:off x="5538941" y="3165368"/>
                <a:ext cx="940112"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Inst</a:t>
                </a:r>
                <a:r>
                  <a:rPr lang="en-US" sz="800" b="1" dirty="0">
                    <a:latin typeface="VAGRundschriftDLig" panose="00000400000000000000" pitchFamily="50" charset="0"/>
                  </a:rPr>
                  <a:t>[11:7]</a:t>
                </a:r>
              </a:p>
            </p:txBody>
          </p:sp>
          <p:sp>
            <p:nvSpPr>
              <p:cNvPr id="330" name="Rectangle 76">
                <a:extLst>
                  <a:ext uri="{FF2B5EF4-FFF2-40B4-BE49-F238E27FC236}">
                    <a16:creationId xmlns:a16="http://schemas.microsoft.com/office/drawing/2014/main" id="{1752A367-D32E-490F-8182-FD60ADB5E76E}"/>
                  </a:ext>
                </a:extLst>
              </p:cNvPr>
              <p:cNvSpPr>
                <a:spLocks noChangeArrowheads="1"/>
              </p:cNvSpPr>
              <p:nvPr/>
            </p:nvSpPr>
            <p:spPr bwMode="auto">
              <a:xfrm>
                <a:off x="6768438" y="4079770"/>
                <a:ext cx="683651"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AddrB</a:t>
                </a:r>
                <a:endParaRPr lang="en-US" sz="800" b="1" dirty="0">
                  <a:latin typeface="VAGRundschriftDLig" panose="00000400000000000000" pitchFamily="50" charset="0"/>
                </a:endParaRPr>
              </a:p>
            </p:txBody>
          </p:sp>
          <p:sp>
            <p:nvSpPr>
              <p:cNvPr id="331" name="Rectangle 76">
                <a:extLst>
                  <a:ext uri="{FF2B5EF4-FFF2-40B4-BE49-F238E27FC236}">
                    <a16:creationId xmlns:a16="http://schemas.microsoft.com/office/drawing/2014/main" id="{0BECA0A6-EE45-4C80-BA7D-F18BD577E54D}"/>
                  </a:ext>
                </a:extLst>
              </p:cNvPr>
              <p:cNvSpPr>
                <a:spLocks noChangeArrowheads="1"/>
              </p:cNvSpPr>
              <p:nvPr/>
            </p:nvSpPr>
            <p:spPr bwMode="auto">
              <a:xfrm>
                <a:off x="6768438" y="3698771"/>
                <a:ext cx="692298"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AddrA</a:t>
                </a:r>
                <a:endParaRPr lang="en-US" sz="800" b="1" dirty="0">
                  <a:latin typeface="VAGRundschriftDLig" panose="00000400000000000000" pitchFamily="50" charset="0"/>
                </a:endParaRPr>
              </a:p>
            </p:txBody>
          </p:sp>
          <p:sp>
            <p:nvSpPr>
              <p:cNvPr id="332" name="Rectangle 76">
                <a:extLst>
                  <a:ext uri="{FF2B5EF4-FFF2-40B4-BE49-F238E27FC236}">
                    <a16:creationId xmlns:a16="http://schemas.microsoft.com/office/drawing/2014/main" id="{D7C654E1-105D-4C48-A821-EEFF82217374}"/>
                  </a:ext>
                </a:extLst>
              </p:cNvPr>
              <p:cNvSpPr>
                <a:spLocks noChangeArrowheads="1"/>
              </p:cNvSpPr>
              <p:nvPr/>
            </p:nvSpPr>
            <p:spPr bwMode="auto">
              <a:xfrm>
                <a:off x="7606638" y="3676885"/>
                <a:ext cx="680772"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DataA</a:t>
                </a:r>
                <a:endParaRPr lang="en-US" sz="800" b="1" dirty="0">
                  <a:latin typeface="VAGRundschriftDLig" panose="00000400000000000000" pitchFamily="50" charset="0"/>
                </a:endParaRPr>
              </a:p>
            </p:txBody>
          </p:sp>
          <p:sp>
            <p:nvSpPr>
              <p:cNvPr id="333" name="Rectangle 76">
                <a:extLst>
                  <a:ext uri="{FF2B5EF4-FFF2-40B4-BE49-F238E27FC236}">
                    <a16:creationId xmlns:a16="http://schemas.microsoft.com/office/drawing/2014/main" id="{D5536D6D-F79E-43DE-B8D6-54232537B291}"/>
                  </a:ext>
                </a:extLst>
              </p:cNvPr>
              <p:cNvSpPr>
                <a:spLocks noChangeArrowheads="1"/>
              </p:cNvSpPr>
              <p:nvPr/>
            </p:nvSpPr>
            <p:spPr bwMode="auto">
              <a:xfrm>
                <a:off x="7606638" y="4147222"/>
                <a:ext cx="672125"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DataB</a:t>
                </a:r>
                <a:endParaRPr lang="en-US" sz="800" b="1" dirty="0">
                  <a:latin typeface="VAGRundschriftDLig" panose="00000400000000000000" pitchFamily="50" charset="0"/>
                </a:endParaRPr>
              </a:p>
            </p:txBody>
          </p:sp>
          <p:sp>
            <p:nvSpPr>
              <p:cNvPr id="334" name="Rectangle 76">
                <a:extLst>
                  <a:ext uri="{FF2B5EF4-FFF2-40B4-BE49-F238E27FC236}">
                    <a16:creationId xmlns:a16="http://schemas.microsoft.com/office/drawing/2014/main" id="{C4EB97A8-450E-4172-9491-789AAA70EFB9}"/>
                  </a:ext>
                </a:extLst>
              </p:cNvPr>
              <p:cNvSpPr>
                <a:spLocks noChangeArrowheads="1"/>
              </p:cNvSpPr>
              <p:nvPr/>
            </p:nvSpPr>
            <p:spPr bwMode="auto">
              <a:xfrm>
                <a:off x="6763412" y="3359858"/>
                <a:ext cx="695178"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AddrD</a:t>
                </a:r>
                <a:endParaRPr lang="en-US" sz="800" b="1" dirty="0">
                  <a:latin typeface="VAGRundschriftDLig" panose="00000400000000000000" pitchFamily="50" charset="0"/>
                </a:endParaRPr>
              </a:p>
            </p:txBody>
          </p:sp>
          <p:sp>
            <p:nvSpPr>
              <p:cNvPr id="335" name="Rectangle 76">
                <a:extLst>
                  <a:ext uri="{FF2B5EF4-FFF2-40B4-BE49-F238E27FC236}">
                    <a16:creationId xmlns:a16="http://schemas.microsoft.com/office/drawing/2014/main" id="{9765C22B-7DA5-4BD1-BAF4-76FB3F1B375C}"/>
                  </a:ext>
                </a:extLst>
              </p:cNvPr>
              <p:cNvSpPr>
                <a:spLocks noChangeArrowheads="1"/>
              </p:cNvSpPr>
              <p:nvPr/>
            </p:nvSpPr>
            <p:spPr bwMode="auto">
              <a:xfrm>
                <a:off x="6768438" y="2861460"/>
                <a:ext cx="683651"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DataD</a:t>
                </a:r>
                <a:endParaRPr lang="en-US" sz="800" b="1" dirty="0">
                  <a:latin typeface="VAGRundschriftDLig" panose="00000400000000000000" pitchFamily="50" charset="0"/>
                </a:endParaRPr>
              </a:p>
            </p:txBody>
          </p:sp>
          <p:sp>
            <p:nvSpPr>
              <p:cNvPr id="336" name="Rectangle 72">
                <a:extLst>
                  <a:ext uri="{FF2B5EF4-FFF2-40B4-BE49-F238E27FC236}">
                    <a16:creationId xmlns:a16="http://schemas.microsoft.com/office/drawing/2014/main" id="{911F6986-4A83-44DD-A30A-2636B6EB72ED}"/>
                  </a:ext>
                </a:extLst>
              </p:cNvPr>
              <p:cNvSpPr>
                <a:spLocks noChangeArrowheads="1"/>
              </p:cNvSpPr>
              <p:nvPr/>
            </p:nvSpPr>
            <p:spPr bwMode="auto">
              <a:xfrm>
                <a:off x="10106657" y="3673405"/>
                <a:ext cx="441601" cy="322157"/>
              </a:xfrm>
              <a:prstGeom prst="rect">
                <a:avLst/>
              </a:prstGeom>
              <a:grp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alu</a:t>
                </a:r>
                <a:endParaRPr lang="en-US" sz="800" b="1" dirty="0">
                  <a:latin typeface="VAGRundschriftDLig" panose="00000400000000000000" pitchFamily="50" charset="0"/>
                </a:endParaRPr>
              </a:p>
            </p:txBody>
          </p:sp>
          <p:sp>
            <p:nvSpPr>
              <p:cNvPr id="337" name="Rectangle 76">
                <a:extLst>
                  <a:ext uri="{FF2B5EF4-FFF2-40B4-BE49-F238E27FC236}">
                    <a16:creationId xmlns:a16="http://schemas.microsoft.com/office/drawing/2014/main" id="{A60F1FB7-834A-43E0-9139-4EBD174324A7}"/>
                  </a:ext>
                </a:extLst>
              </p:cNvPr>
              <p:cNvSpPr>
                <a:spLocks noChangeArrowheads="1"/>
              </p:cNvSpPr>
              <p:nvPr/>
            </p:nvSpPr>
            <p:spPr bwMode="auto">
              <a:xfrm>
                <a:off x="8316853" y="3425321"/>
                <a:ext cx="842139"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Reg</a:t>
                </a:r>
                <a:r>
                  <a:rPr lang="en-US" sz="800" b="1" dirty="0">
                    <a:latin typeface="VAGRundschriftDLig" panose="00000400000000000000" pitchFamily="50" charset="0"/>
                  </a:rPr>
                  <a:t>[rs1]</a:t>
                </a:r>
              </a:p>
            </p:txBody>
          </p:sp>
          <p:sp>
            <p:nvSpPr>
              <p:cNvPr id="338" name="Rectangle 76">
                <a:extLst>
                  <a:ext uri="{FF2B5EF4-FFF2-40B4-BE49-F238E27FC236}">
                    <a16:creationId xmlns:a16="http://schemas.microsoft.com/office/drawing/2014/main" id="{9DF4E812-23CB-4F33-9128-1A68B8CCE5E3}"/>
                  </a:ext>
                </a:extLst>
              </p:cNvPr>
              <p:cNvSpPr>
                <a:spLocks noChangeArrowheads="1"/>
              </p:cNvSpPr>
              <p:nvPr/>
            </p:nvSpPr>
            <p:spPr bwMode="auto">
              <a:xfrm>
                <a:off x="8292438" y="3953654"/>
                <a:ext cx="842139"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Reg</a:t>
                </a:r>
                <a:r>
                  <a:rPr lang="en-US" sz="800" b="1" dirty="0">
                    <a:latin typeface="VAGRundschriftDLig" panose="00000400000000000000" pitchFamily="50" charset="0"/>
                  </a:rPr>
                  <a:t>[rs2]</a:t>
                </a:r>
              </a:p>
            </p:txBody>
          </p:sp>
          <p:sp>
            <p:nvSpPr>
              <p:cNvPr id="339" name="Rectangle 56">
                <a:extLst>
                  <a:ext uri="{FF2B5EF4-FFF2-40B4-BE49-F238E27FC236}">
                    <a16:creationId xmlns:a16="http://schemas.microsoft.com/office/drawing/2014/main" id="{61752CBC-F6CE-4303-912F-C3058F0D7452}"/>
                  </a:ext>
                </a:extLst>
              </p:cNvPr>
              <p:cNvSpPr>
                <a:spLocks noChangeArrowheads="1"/>
              </p:cNvSpPr>
              <p:nvPr/>
            </p:nvSpPr>
            <p:spPr bwMode="auto">
              <a:xfrm>
                <a:off x="5505973" y="5208774"/>
                <a:ext cx="940112" cy="322157"/>
              </a:xfrm>
              <a:prstGeom prst="rect">
                <a:avLst/>
              </a:prstGeom>
              <a:grp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RundschriftDLig" panose="00000400000000000000" pitchFamily="50" charset="0"/>
                  </a:rPr>
                  <a:t>Inst</a:t>
                </a:r>
                <a:r>
                  <a:rPr lang="en-US" sz="800" b="1" dirty="0">
                    <a:latin typeface="VAGRundschriftDLig" panose="00000400000000000000" pitchFamily="50" charset="0"/>
                  </a:rPr>
                  <a:t>[31:0]</a:t>
                </a:r>
              </a:p>
            </p:txBody>
          </p:sp>
          <p:sp>
            <p:nvSpPr>
              <p:cNvPr id="340" name="Freeform 53">
                <a:extLst>
                  <a:ext uri="{FF2B5EF4-FFF2-40B4-BE49-F238E27FC236}">
                    <a16:creationId xmlns:a16="http://schemas.microsoft.com/office/drawing/2014/main" id="{7BB45309-4D6C-45D5-8A8A-481409C47166}"/>
                  </a:ext>
                </a:extLst>
              </p:cNvPr>
              <p:cNvSpPr>
                <a:spLocks/>
              </p:cNvSpPr>
              <p:nvPr/>
            </p:nvSpPr>
            <p:spPr bwMode="auto">
              <a:xfrm flipV="1">
                <a:off x="8321996" y="4322528"/>
                <a:ext cx="1094666" cy="45718"/>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grpFill/>
              <a:ln w="25400" cap="rnd">
                <a:solidFill>
                  <a:schemeClr val="tx1"/>
                </a:solidFill>
                <a:round/>
                <a:headEnd/>
                <a:tailEnd type="triangle" w="med" len="med"/>
              </a:ln>
            </p:spPr>
            <p:txBody>
              <a:bodyPr>
                <a:prstTxWarp prst="textNoShape">
                  <a:avLst/>
                </a:prstTxWarp>
              </a:bodyPr>
              <a:lstStyle/>
              <a:p>
                <a:endParaRPr lang="en-US" sz="1200">
                  <a:latin typeface="VAGRundschriftDLig" panose="00000400000000000000" pitchFamily="50" charset="0"/>
                </a:endParaRPr>
              </a:p>
            </p:txBody>
          </p:sp>
        </p:grpSp>
      </p:grpSp>
      <p:cxnSp>
        <p:nvCxnSpPr>
          <p:cNvPr id="353" name="Straight Arrow Connector 352">
            <a:extLst>
              <a:ext uri="{FF2B5EF4-FFF2-40B4-BE49-F238E27FC236}">
                <a16:creationId xmlns:a16="http://schemas.microsoft.com/office/drawing/2014/main" id="{723E4C11-FBBC-4239-B1BA-2208A88C38F7}"/>
              </a:ext>
            </a:extLst>
          </p:cNvPr>
          <p:cNvCxnSpPr>
            <a:cxnSpLocks/>
          </p:cNvCxnSpPr>
          <p:nvPr/>
        </p:nvCxnSpPr>
        <p:spPr bwMode="auto">
          <a:xfrm flipV="1">
            <a:off x="10202253" y="2463473"/>
            <a:ext cx="0" cy="3021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54" name="TextBox 353">
            <a:extLst>
              <a:ext uri="{FF2B5EF4-FFF2-40B4-BE49-F238E27FC236}">
                <a16:creationId xmlns:a16="http://schemas.microsoft.com/office/drawing/2014/main" id="{8F3442EC-FF47-4EF3-99F6-77E69E31821C}"/>
              </a:ext>
            </a:extLst>
          </p:cNvPr>
          <p:cNvSpPr txBox="1"/>
          <p:nvPr/>
        </p:nvSpPr>
        <p:spPr>
          <a:xfrm>
            <a:off x="10127444" y="2485172"/>
            <a:ext cx="1686105" cy="215444"/>
          </a:xfrm>
          <a:prstGeom prst="rect">
            <a:avLst/>
          </a:prstGeom>
          <a:noFill/>
        </p:spPr>
        <p:txBody>
          <a:bodyPr wrap="square">
            <a:spAutoFit/>
          </a:bodyPr>
          <a:lstStyle/>
          <a:p>
            <a:r>
              <a:rPr lang="en-US" sz="800" b="1" dirty="0" err="1">
                <a:latin typeface="VAGRundschriftDLig" panose="00000400000000000000" pitchFamily="50" charset="0"/>
              </a:rPr>
              <a:t>RegWEn</a:t>
            </a:r>
            <a:endParaRPr lang="en-US" sz="1400" dirty="0">
              <a:latin typeface="VAGRundschriftDLig" panose="00000400000000000000" pitchFamily="50" charset="0"/>
            </a:endParaRPr>
          </a:p>
        </p:txBody>
      </p:sp>
    </p:spTree>
    <p:extLst>
      <p:ext uri="{BB962C8B-B14F-4D97-AF65-F5344CB8AC3E}">
        <p14:creationId xmlns:p14="http://schemas.microsoft.com/office/powerpoint/2010/main" val="282843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4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 grpId="0"/>
      <p:bldP spid="188" grpId="0" animBg="1"/>
      <p:bldP spid="203" grpId="0" animBg="1"/>
      <p:bldP spid="206" grpId="0" animBg="1"/>
      <p:bldP spid="214" grpId="0" animBg="1"/>
      <p:bldP spid="234" grpId="0" animBg="1"/>
      <p:bldP spid="251" grpId="0" animBg="1"/>
      <p:bldP spid="261" grpId="0" animBg="1"/>
      <p:bldP spid="270" grpId="0" animBg="1"/>
      <p:bldP spid="282" grpId="0" animBg="1"/>
      <p:bldP spid="287" grpId="0" animBg="1"/>
      <p:bldP spid="288" grpId="0" animBg="1"/>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38BDF6B-E89E-44E7-9CB8-15CCFE2AD110}"/>
              </a:ext>
            </a:extLst>
          </p:cNvPr>
          <p:cNvSpPr/>
          <p:nvPr/>
        </p:nvSpPr>
        <p:spPr>
          <a:xfrm>
            <a:off x="5565824" y="631449"/>
            <a:ext cx="6393001" cy="6720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p:txBody>
          <a:bodyPr/>
          <a:lstStyle/>
          <a:p>
            <a:r>
              <a:rPr lang="en-US" dirty="0"/>
              <a:t>Add Execution</a:t>
            </a:r>
            <a:endParaRPr lang="en-US" b="1" dirty="0">
              <a:latin typeface="Courier"/>
            </a:endParaRPr>
          </a:p>
        </p:txBody>
      </p:sp>
      <p:grpSp>
        <p:nvGrpSpPr>
          <p:cNvPr id="8" name="Group 7">
            <a:extLst>
              <a:ext uri="{FF2B5EF4-FFF2-40B4-BE49-F238E27FC236}">
                <a16:creationId xmlns:a16="http://schemas.microsoft.com/office/drawing/2014/main" id="{43F917C3-AF3B-4EA0-B42B-FF04F4EDB604}"/>
              </a:ext>
            </a:extLst>
          </p:cNvPr>
          <p:cNvGrpSpPr/>
          <p:nvPr/>
        </p:nvGrpSpPr>
        <p:grpSpPr>
          <a:xfrm>
            <a:off x="5740974" y="129702"/>
            <a:ext cx="6128992" cy="3063199"/>
            <a:chOff x="2438400" y="1121144"/>
            <a:chExt cx="6622666" cy="3508006"/>
          </a:xfrm>
        </p:grpSpPr>
        <p:cxnSp>
          <p:nvCxnSpPr>
            <p:cNvPr id="111" name="Straight Arrow Connector 110"/>
            <p:cNvCxnSpPr>
              <a:cxnSpLocks/>
            </p:cNvCxnSpPr>
            <p:nvPr/>
          </p:nvCxnSpPr>
          <p:spPr bwMode="auto">
            <a:xfrm flipV="1">
              <a:off x="7603114" y="3020534"/>
              <a:ext cx="5568" cy="1038862"/>
            </a:xfrm>
            <a:prstGeom prst="straightConnector1">
              <a:avLst/>
            </a:prstGeom>
            <a:solidFill>
              <a:schemeClr val="accent1"/>
            </a:solidFill>
            <a:ln w="28575" cap="flat" cmpd="sng" algn="ctr">
              <a:solidFill>
                <a:schemeClr val="tx1">
                  <a:lumMod val="95000"/>
                </a:schemeClr>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6" name="Rectangle 39"/>
            <p:cNvSpPr>
              <a:spLocks noChangeArrowheads="1"/>
            </p:cNvSpPr>
            <p:nvPr/>
          </p:nvSpPr>
          <p:spPr bwMode="auto">
            <a:xfrm>
              <a:off x="7449943" y="4106429"/>
              <a:ext cx="445589"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ALUSel</a:t>
              </a:r>
              <a:endParaRPr lang="en-US" sz="800" b="1" dirty="0">
                <a:latin typeface="VAG Rundschrift D Light"/>
              </a:endParaRPr>
            </a:p>
          </p:txBody>
        </p:sp>
        <p:sp>
          <p:nvSpPr>
            <p:cNvPr id="67" name="Line 26">
              <a:extLst>
                <a:ext uri="{FF2B5EF4-FFF2-40B4-BE49-F238E27FC236}">
                  <a16:creationId xmlns:a16="http://schemas.microsoft.com/office/drawing/2014/main" id="{C46246D5-3219-49A4-9CDA-187DCC95DA05}"/>
                </a:ext>
              </a:extLst>
            </p:cNvPr>
            <p:cNvSpPr>
              <a:spLocks noChangeShapeType="1"/>
            </p:cNvSpPr>
            <p:nvPr/>
          </p:nvSpPr>
          <p:spPr bwMode="auto">
            <a:xfrm flipV="1">
              <a:off x="4166345" y="2551681"/>
              <a:ext cx="175952" cy="0"/>
            </a:xfrm>
            <a:prstGeom prst="line">
              <a:avLst/>
            </a:prstGeom>
            <a:noFill/>
            <a:ln w="25400">
              <a:solidFill>
                <a:schemeClr val="tx1"/>
              </a:solidFill>
              <a:round/>
              <a:headEnd/>
              <a:tailEnd/>
            </a:ln>
          </p:spPr>
          <p:txBody>
            <a:bodyPr wrap="none" anchor="ctr">
              <a:prstTxWarp prst="textNoShape">
                <a:avLst/>
              </a:prstTxWarp>
            </a:bodyPr>
            <a:lstStyle/>
            <a:p>
              <a:endParaRPr lang="en-US" sz="1400" b="1">
                <a:latin typeface="VAG Rundschrift D Light"/>
              </a:endParaRPr>
            </a:p>
          </p:txBody>
        </p:sp>
        <p:sp>
          <p:nvSpPr>
            <p:cNvPr id="68" name="Rectangle 27">
              <a:extLst>
                <a:ext uri="{FF2B5EF4-FFF2-40B4-BE49-F238E27FC236}">
                  <a16:creationId xmlns:a16="http://schemas.microsoft.com/office/drawing/2014/main" id="{DD0673BC-FE0E-4E62-9A99-593691CA8306}"/>
                </a:ext>
              </a:extLst>
            </p:cNvPr>
            <p:cNvSpPr>
              <a:spLocks noChangeArrowheads="1"/>
            </p:cNvSpPr>
            <p:nvPr/>
          </p:nvSpPr>
          <p:spPr bwMode="auto">
            <a:xfrm>
              <a:off x="3440443" y="1314274"/>
              <a:ext cx="234270"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+4</a:t>
              </a:r>
            </a:p>
          </p:txBody>
        </p:sp>
        <p:sp>
          <p:nvSpPr>
            <p:cNvPr id="69" name="Freeform 28">
              <a:extLst>
                <a:ext uri="{FF2B5EF4-FFF2-40B4-BE49-F238E27FC236}">
                  <a16:creationId xmlns:a16="http://schemas.microsoft.com/office/drawing/2014/main" id="{C09BEA44-8E69-4E86-B61B-571D49EC563A}"/>
                </a:ext>
              </a:extLst>
            </p:cNvPr>
            <p:cNvSpPr>
              <a:spLocks/>
            </p:cNvSpPr>
            <p:nvPr/>
          </p:nvSpPr>
          <p:spPr bwMode="auto">
            <a:xfrm>
              <a:off x="3778218" y="1307140"/>
              <a:ext cx="388127" cy="652913"/>
            </a:xfrm>
            <a:custGeom>
              <a:avLst/>
              <a:gdLst>
                <a:gd name="T0" fmla="*/ 0 w 241"/>
                <a:gd name="T1" fmla="*/ 0 h 385"/>
                <a:gd name="T2" fmla="*/ 0 w 241"/>
                <a:gd name="T3" fmla="*/ 160 h 385"/>
                <a:gd name="T4" fmla="*/ 48 w 241"/>
                <a:gd name="T5" fmla="*/ 192 h 385"/>
                <a:gd name="T6" fmla="*/ 0 w 241"/>
                <a:gd name="T7" fmla="*/ 224 h 385"/>
                <a:gd name="T8" fmla="*/ 0 w 241"/>
                <a:gd name="T9" fmla="*/ 384 h 385"/>
                <a:gd name="T10" fmla="*/ 240 w 241"/>
                <a:gd name="T11" fmla="*/ 288 h 385"/>
                <a:gd name="T12" fmla="*/ 240 w 241"/>
                <a:gd name="T13" fmla="*/ 96 h 385"/>
                <a:gd name="T14" fmla="*/ 0 w 241"/>
                <a:gd name="T15" fmla="*/ 0 h 385"/>
                <a:gd name="T16" fmla="*/ 0 60000 65536"/>
                <a:gd name="T17" fmla="*/ 0 60000 65536"/>
                <a:gd name="T18" fmla="*/ 0 60000 65536"/>
                <a:gd name="T19" fmla="*/ 0 60000 65536"/>
                <a:gd name="T20" fmla="*/ 0 60000 65536"/>
                <a:gd name="T21" fmla="*/ 0 60000 65536"/>
                <a:gd name="T22" fmla="*/ 0 60000 65536"/>
                <a:gd name="T23" fmla="*/ 0 60000 65536"/>
                <a:gd name="T24" fmla="*/ 0 w 241"/>
                <a:gd name="T25" fmla="*/ 0 h 385"/>
                <a:gd name="T26" fmla="*/ 241 w 241"/>
                <a:gd name="T27" fmla="*/ 385 h 3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1" h="385">
                  <a:moveTo>
                    <a:pt x="0" y="0"/>
                  </a:moveTo>
                  <a:lnTo>
                    <a:pt x="0" y="160"/>
                  </a:lnTo>
                  <a:lnTo>
                    <a:pt x="48" y="192"/>
                  </a:lnTo>
                  <a:lnTo>
                    <a:pt x="0" y="224"/>
                  </a:lnTo>
                  <a:lnTo>
                    <a:pt x="0" y="384"/>
                  </a:lnTo>
                  <a:lnTo>
                    <a:pt x="240" y="288"/>
                  </a:lnTo>
                  <a:lnTo>
                    <a:pt x="240" y="96"/>
                  </a:lnTo>
                  <a:lnTo>
                    <a:pt x="0" y="0"/>
                  </a:lnTo>
                </a:path>
              </a:pathLst>
            </a:custGeom>
            <a:solidFill>
              <a:schemeClr val="bg1"/>
            </a:solidFill>
            <a:ln w="38100" cap="rnd">
              <a:solidFill>
                <a:schemeClr val="tx1"/>
              </a:solidFill>
              <a:round/>
              <a:headEnd/>
              <a:tailEnd/>
            </a:ln>
          </p:spPr>
          <p:txBody>
            <a:bodyPr>
              <a:prstTxWarp prst="textNoShape">
                <a:avLst/>
              </a:prstTxWarp>
            </a:bodyPr>
            <a:lstStyle/>
            <a:p>
              <a:endParaRPr lang="en-US" sz="1400" b="1">
                <a:latin typeface="VAG Rundschrift D Light"/>
              </a:endParaRPr>
            </a:p>
          </p:txBody>
        </p:sp>
        <p:sp>
          <p:nvSpPr>
            <p:cNvPr id="70" name="Line 29">
              <a:extLst>
                <a:ext uri="{FF2B5EF4-FFF2-40B4-BE49-F238E27FC236}">
                  <a16:creationId xmlns:a16="http://schemas.microsoft.com/office/drawing/2014/main" id="{CE61774B-1D4B-48DF-AE52-9FD56A78B580}"/>
                </a:ext>
              </a:extLst>
            </p:cNvPr>
            <p:cNvSpPr>
              <a:spLocks noChangeShapeType="1"/>
            </p:cNvSpPr>
            <p:nvPr/>
          </p:nvSpPr>
          <p:spPr bwMode="auto">
            <a:xfrm>
              <a:off x="3671978" y="1387531"/>
              <a:ext cx="99389" cy="1009"/>
            </a:xfrm>
            <a:prstGeom prst="line">
              <a:avLst/>
            </a:prstGeom>
            <a:noFill/>
            <a:ln w="28575">
              <a:solidFill>
                <a:schemeClr val="tx1"/>
              </a:solidFill>
              <a:round/>
              <a:headEnd/>
              <a:tailEnd/>
            </a:ln>
          </p:spPr>
          <p:txBody>
            <a:bodyPr wrap="none" anchor="ctr">
              <a:prstTxWarp prst="textNoShape">
                <a:avLst/>
              </a:prstTxWarp>
            </a:bodyPr>
            <a:lstStyle/>
            <a:p>
              <a:endParaRPr lang="en-US" sz="1400" b="1">
                <a:latin typeface="VAG Rundschrift D Light"/>
              </a:endParaRPr>
            </a:p>
          </p:txBody>
        </p:sp>
        <p:sp>
          <p:nvSpPr>
            <p:cNvPr id="71" name="Rectangle 30">
              <a:extLst>
                <a:ext uri="{FF2B5EF4-FFF2-40B4-BE49-F238E27FC236}">
                  <a16:creationId xmlns:a16="http://schemas.microsoft.com/office/drawing/2014/main" id="{352DD4BD-29E9-4AAE-B1DB-C3B9A1B5CE56}"/>
                </a:ext>
              </a:extLst>
            </p:cNvPr>
            <p:cNvSpPr>
              <a:spLocks noChangeArrowheads="1"/>
            </p:cNvSpPr>
            <p:nvPr/>
          </p:nvSpPr>
          <p:spPr bwMode="auto">
            <a:xfrm>
              <a:off x="3857797" y="1530996"/>
              <a:ext cx="308751"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Add</a:t>
              </a:r>
            </a:p>
          </p:txBody>
        </p:sp>
        <p:sp>
          <p:nvSpPr>
            <p:cNvPr id="72" name="Rectangle 31">
              <a:extLst>
                <a:ext uri="{FF2B5EF4-FFF2-40B4-BE49-F238E27FC236}">
                  <a16:creationId xmlns:a16="http://schemas.microsoft.com/office/drawing/2014/main" id="{4841AE1E-942D-407F-9F3C-6DE166A69F63}"/>
                </a:ext>
              </a:extLst>
            </p:cNvPr>
            <p:cNvSpPr>
              <a:spLocks noChangeArrowheads="1"/>
            </p:cNvSpPr>
            <p:nvPr/>
          </p:nvSpPr>
          <p:spPr bwMode="auto">
            <a:xfrm>
              <a:off x="3048968" y="2790654"/>
              <a:ext cx="251591"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clk</a:t>
              </a:r>
              <a:endParaRPr lang="en-US" sz="800" b="1" dirty="0">
                <a:latin typeface="VAG Rundschrift D Light"/>
              </a:endParaRPr>
            </a:p>
          </p:txBody>
        </p:sp>
        <p:sp>
          <p:nvSpPr>
            <p:cNvPr id="73" name="Line 32">
              <a:extLst>
                <a:ext uri="{FF2B5EF4-FFF2-40B4-BE49-F238E27FC236}">
                  <a16:creationId xmlns:a16="http://schemas.microsoft.com/office/drawing/2014/main" id="{D9031487-C1D2-48DF-805B-E0D2976410B0}"/>
                </a:ext>
              </a:extLst>
            </p:cNvPr>
            <p:cNvSpPr>
              <a:spLocks noChangeShapeType="1"/>
            </p:cNvSpPr>
            <p:nvPr/>
          </p:nvSpPr>
          <p:spPr bwMode="auto">
            <a:xfrm>
              <a:off x="3250506" y="2704543"/>
              <a:ext cx="0" cy="140758"/>
            </a:xfrm>
            <a:prstGeom prst="line">
              <a:avLst/>
            </a:prstGeom>
            <a:noFill/>
            <a:ln w="28575">
              <a:solidFill>
                <a:schemeClr val="tx1"/>
              </a:solidFill>
              <a:round/>
              <a:headEnd/>
              <a:tailEnd/>
            </a:ln>
          </p:spPr>
          <p:txBody>
            <a:bodyPr wrap="none" anchor="ctr">
              <a:prstTxWarp prst="textNoShape">
                <a:avLst/>
              </a:prstTxWarp>
            </a:bodyPr>
            <a:lstStyle/>
            <a:p>
              <a:endParaRPr lang="en-US" sz="1400" b="1">
                <a:latin typeface="VAG Rundschrift D Light"/>
              </a:endParaRPr>
            </a:p>
          </p:txBody>
        </p:sp>
        <p:sp>
          <p:nvSpPr>
            <p:cNvPr id="74" name="Freeform 34">
              <a:extLst>
                <a:ext uri="{FF2B5EF4-FFF2-40B4-BE49-F238E27FC236}">
                  <a16:creationId xmlns:a16="http://schemas.microsoft.com/office/drawing/2014/main" id="{7C34D209-3B0B-4F78-A1B9-A89F19576764}"/>
                </a:ext>
              </a:extLst>
            </p:cNvPr>
            <p:cNvSpPr>
              <a:spLocks/>
            </p:cNvSpPr>
            <p:nvPr/>
          </p:nvSpPr>
          <p:spPr bwMode="auto">
            <a:xfrm flipV="1">
              <a:off x="3336521" y="2397588"/>
              <a:ext cx="234411" cy="45719"/>
            </a:xfrm>
            <a:custGeom>
              <a:avLst/>
              <a:gdLst>
                <a:gd name="T0" fmla="*/ 0 w 193"/>
                <a:gd name="T1" fmla="*/ 0 h 1"/>
                <a:gd name="T2" fmla="*/ 144 w 193"/>
                <a:gd name="T3" fmla="*/ 0 h 1"/>
                <a:gd name="T4" fmla="*/ 192 w 193"/>
                <a:gd name="T5" fmla="*/ 0 h 1"/>
                <a:gd name="T6" fmla="*/ 0 60000 65536"/>
                <a:gd name="T7" fmla="*/ 0 60000 65536"/>
                <a:gd name="T8" fmla="*/ 0 60000 65536"/>
                <a:gd name="T9" fmla="*/ 0 w 193"/>
                <a:gd name="T10" fmla="*/ 0 h 1"/>
                <a:gd name="T11" fmla="*/ 193 w 193"/>
                <a:gd name="T12" fmla="*/ 1 h 1"/>
              </a:gdLst>
              <a:ahLst/>
              <a:cxnLst>
                <a:cxn ang="T6">
                  <a:pos x="T0" y="T1"/>
                </a:cxn>
                <a:cxn ang="T7">
                  <a:pos x="T2" y="T3"/>
                </a:cxn>
                <a:cxn ang="T8">
                  <a:pos x="T4" y="T5"/>
                </a:cxn>
              </a:cxnLst>
              <a:rect l="T9" t="T10" r="T11" b="T12"/>
              <a:pathLst>
                <a:path w="193" h="1">
                  <a:moveTo>
                    <a:pt x="0" y="0"/>
                  </a:moveTo>
                  <a:lnTo>
                    <a:pt x="144" y="0"/>
                  </a:lnTo>
                  <a:lnTo>
                    <a:pt x="192" y="0"/>
                  </a:lnTo>
                </a:path>
              </a:pathLst>
            </a:custGeom>
            <a:noFill/>
            <a:ln w="25400" cap="rnd">
              <a:solidFill>
                <a:schemeClr val="tx1"/>
              </a:solidFill>
              <a:round/>
              <a:headEnd/>
              <a:tailEnd type="triangle" w="med" len="med"/>
            </a:ln>
          </p:spPr>
          <p:txBody>
            <a:bodyPr>
              <a:prstTxWarp prst="textNoShape">
                <a:avLst/>
              </a:prstTxWarp>
            </a:bodyPr>
            <a:lstStyle/>
            <a:p>
              <a:endParaRPr lang="en-US" sz="1400" b="1">
                <a:latin typeface="VAG Rundschrift D Light"/>
              </a:endParaRPr>
            </a:p>
          </p:txBody>
        </p:sp>
        <p:sp>
          <p:nvSpPr>
            <p:cNvPr id="83" name="Rectangle 36">
              <a:extLst>
                <a:ext uri="{FF2B5EF4-FFF2-40B4-BE49-F238E27FC236}">
                  <a16:creationId xmlns:a16="http://schemas.microsoft.com/office/drawing/2014/main" id="{0B6F0E2C-84FD-44C8-9D8D-D0C5D35218D3}"/>
                </a:ext>
              </a:extLst>
            </p:cNvPr>
            <p:cNvSpPr>
              <a:spLocks noChangeArrowheads="1"/>
            </p:cNvSpPr>
            <p:nvPr/>
          </p:nvSpPr>
          <p:spPr bwMode="auto">
            <a:xfrm>
              <a:off x="3572291" y="2200866"/>
              <a:ext cx="579543" cy="990392"/>
            </a:xfrm>
            <a:prstGeom prst="rect">
              <a:avLst/>
            </a:prstGeom>
            <a:solidFill>
              <a:schemeClr val="bg1"/>
            </a:solidFill>
            <a:ln w="38100">
              <a:solidFill>
                <a:schemeClr val="tx1"/>
              </a:solidFill>
              <a:miter lim="800000"/>
              <a:headEnd/>
              <a:tailEnd/>
            </a:ln>
          </p:spPr>
          <p:txBody>
            <a:bodyPr wrap="none" anchor="ctr">
              <a:prstTxWarp prst="textNoShape">
                <a:avLst/>
              </a:prstTxWarp>
            </a:bodyPr>
            <a:lstStyle/>
            <a:p>
              <a:endParaRPr lang="en-US" sz="1400" b="1">
                <a:latin typeface="VAG Rundschrift D Light"/>
              </a:endParaRPr>
            </a:p>
          </p:txBody>
        </p:sp>
        <p:sp>
          <p:nvSpPr>
            <p:cNvPr id="84" name="Rectangle 37">
              <a:extLst>
                <a:ext uri="{FF2B5EF4-FFF2-40B4-BE49-F238E27FC236}">
                  <a16:creationId xmlns:a16="http://schemas.microsoft.com/office/drawing/2014/main" id="{743FA615-5816-4E9B-A204-C1158117AD8A}"/>
                </a:ext>
              </a:extLst>
            </p:cNvPr>
            <p:cNvSpPr>
              <a:spLocks noChangeArrowheads="1"/>
            </p:cNvSpPr>
            <p:nvPr/>
          </p:nvSpPr>
          <p:spPr bwMode="auto">
            <a:xfrm>
              <a:off x="3710845" y="2298898"/>
              <a:ext cx="336465"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addr</a:t>
              </a:r>
              <a:endParaRPr lang="en-US" sz="800" b="1" dirty="0">
                <a:latin typeface="VAG Rundschrift D Light"/>
              </a:endParaRPr>
            </a:p>
          </p:txBody>
        </p:sp>
        <p:sp>
          <p:nvSpPr>
            <p:cNvPr id="85" name="Rectangle 38">
              <a:extLst>
                <a:ext uri="{FF2B5EF4-FFF2-40B4-BE49-F238E27FC236}">
                  <a16:creationId xmlns:a16="http://schemas.microsoft.com/office/drawing/2014/main" id="{C0C18B3B-8E7B-4265-8E78-6B7E46CC3F73}"/>
                </a:ext>
              </a:extLst>
            </p:cNvPr>
            <p:cNvSpPr>
              <a:spLocks noChangeArrowheads="1"/>
            </p:cNvSpPr>
            <p:nvPr/>
          </p:nvSpPr>
          <p:spPr bwMode="auto">
            <a:xfrm>
              <a:off x="3814417" y="2456943"/>
              <a:ext cx="293162"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inst</a:t>
              </a:r>
              <a:endParaRPr lang="en-US" sz="400" b="1" dirty="0">
                <a:latin typeface="VAG Rundschrift D Light"/>
              </a:endParaRPr>
            </a:p>
          </p:txBody>
        </p:sp>
        <p:sp>
          <p:nvSpPr>
            <p:cNvPr id="86" name="Rectangle 39">
              <a:extLst>
                <a:ext uri="{FF2B5EF4-FFF2-40B4-BE49-F238E27FC236}">
                  <a16:creationId xmlns:a16="http://schemas.microsoft.com/office/drawing/2014/main" id="{EC741D81-FE9D-45B1-A099-441F57ADBBF4}"/>
                </a:ext>
              </a:extLst>
            </p:cNvPr>
            <p:cNvSpPr>
              <a:spLocks noChangeArrowheads="1"/>
            </p:cNvSpPr>
            <p:nvPr/>
          </p:nvSpPr>
          <p:spPr bwMode="auto">
            <a:xfrm>
              <a:off x="3626009" y="2931790"/>
              <a:ext cx="540856" cy="275733"/>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 Rundschrift D Light"/>
                </a:rPr>
                <a:t>IMEM</a:t>
              </a:r>
            </a:p>
          </p:txBody>
        </p:sp>
        <p:sp>
          <p:nvSpPr>
            <p:cNvPr id="87" name="Rectangle 36">
              <a:extLst>
                <a:ext uri="{FF2B5EF4-FFF2-40B4-BE49-F238E27FC236}">
                  <a16:creationId xmlns:a16="http://schemas.microsoft.com/office/drawing/2014/main" id="{392B52C4-4427-4763-B534-39F324320902}"/>
                </a:ext>
              </a:extLst>
            </p:cNvPr>
            <p:cNvSpPr>
              <a:spLocks noChangeArrowheads="1"/>
            </p:cNvSpPr>
            <p:nvPr/>
          </p:nvSpPr>
          <p:spPr bwMode="auto">
            <a:xfrm>
              <a:off x="7925035" y="2361974"/>
              <a:ext cx="645166" cy="990392"/>
            </a:xfrm>
            <a:prstGeom prst="rect">
              <a:avLst/>
            </a:prstGeom>
            <a:solidFill>
              <a:schemeClr val="bg1"/>
            </a:solidFill>
            <a:ln w="38100">
              <a:solidFill>
                <a:schemeClr val="tx1"/>
              </a:solidFill>
              <a:miter lim="800000"/>
              <a:headEnd/>
              <a:tailEnd/>
            </a:ln>
          </p:spPr>
          <p:txBody>
            <a:bodyPr wrap="none" anchor="ctr">
              <a:prstTxWarp prst="textNoShape">
                <a:avLst/>
              </a:prstTxWarp>
            </a:bodyPr>
            <a:lstStyle/>
            <a:p>
              <a:endParaRPr lang="en-US" sz="1400" b="1">
                <a:latin typeface="VAG Rundschrift D Light"/>
              </a:endParaRPr>
            </a:p>
          </p:txBody>
        </p:sp>
        <p:sp>
          <p:nvSpPr>
            <p:cNvPr id="120" name="Rectangle 37">
              <a:extLst>
                <a:ext uri="{FF2B5EF4-FFF2-40B4-BE49-F238E27FC236}">
                  <a16:creationId xmlns:a16="http://schemas.microsoft.com/office/drawing/2014/main" id="{6A77939E-F8C1-41CF-93A2-506BE4C5F833}"/>
                </a:ext>
              </a:extLst>
            </p:cNvPr>
            <p:cNvSpPr>
              <a:spLocks noChangeArrowheads="1"/>
            </p:cNvSpPr>
            <p:nvPr/>
          </p:nvSpPr>
          <p:spPr bwMode="auto">
            <a:xfrm>
              <a:off x="7964429" y="2658753"/>
              <a:ext cx="336465"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addr</a:t>
              </a:r>
              <a:endParaRPr lang="en-US" sz="800" b="1" dirty="0">
                <a:latin typeface="VAG Rundschrift D Light"/>
              </a:endParaRPr>
            </a:p>
          </p:txBody>
        </p:sp>
        <p:sp>
          <p:nvSpPr>
            <p:cNvPr id="123" name="Rectangle 39">
              <a:extLst>
                <a:ext uri="{FF2B5EF4-FFF2-40B4-BE49-F238E27FC236}">
                  <a16:creationId xmlns:a16="http://schemas.microsoft.com/office/drawing/2014/main" id="{6FAA8BAF-A4B5-48F3-9091-0659AA7821FD}"/>
                </a:ext>
              </a:extLst>
            </p:cNvPr>
            <p:cNvSpPr>
              <a:spLocks noChangeArrowheads="1"/>
            </p:cNvSpPr>
            <p:nvPr/>
          </p:nvSpPr>
          <p:spPr bwMode="auto">
            <a:xfrm>
              <a:off x="8001000" y="3042174"/>
              <a:ext cx="601479" cy="275733"/>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 Rundschrift D Light"/>
                </a:rPr>
                <a:t>DMEM</a:t>
              </a:r>
            </a:p>
          </p:txBody>
        </p:sp>
        <p:sp>
          <p:nvSpPr>
            <p:cNvPr id="76" name="Rectangle 40">
              <a:extLst>
                <a:ext uri="{FF2B5EF4-FFF2-40B4-BE49-F238E27FC236}">
                  <a16:creationId xmlns:a16="http://schemas.microsoft.com/office/drawing/2014/main" id="{0260D353-0D8A-480D-9453-9A466D2C554E}"/>
                </a:ext>
              </a:extLst>
            </p:cNvPr>
            <p:cNvSpPr>
              <a:spLocks noChangeArrowheads="1"/>
            </p:cNvSpPr>
            <p:nvPr/>
          </p:nvSpPr>
          <p:spPr bwMode="auto">
            <a:xfrm>
              <a:off x="3147751" y="2083761"/>
              <a:ext cx="219236" cy="624083"/>
            </a:xfrm>
            <a:prstGeom prst="rect">
              <a:avLst/>
            </a:prstGeom>
            <a:solidFill>
              <a:schemeClr val="bg1"/>
            </a:solidFill>
            <a:ln w="38100">
              <a:solidFill>
                <a:schemeClr val="tx1"/>
              </a:solidFill>
              <a:miter lim="800000"/>
              <a:headEnd/>
              <a:tailEnd/>
            </a:ln>
          </p:spPr>
          <p:txBody>
            <a:bodyPr wrap="none" anchor="ctr">
              <a:prstTxWarp prst="textNoShape">
                <a:avLst/>
              </a:prstTxWarp>
            </a:bodyPr>
            <a:lstStyle/>
            <a:p>
              <a:endParaRPr lang="en-US" sz="1400" b="1">
                <a:latin typeface="VAG Rundschrift D Light"/>
              </a:endParaRPr>
            </a:p>
          </p:txBody>
        </p:sp>
        <p:sp>
          <p:nvSpPr>
            <p:cNvPr id="78" name="Rectangle 42">
              <a:extLst>
                <a:ext uri="{FF2B5EF4-FFF2-40B4-BE49-F238E27FC236}">
                  <a16:creationId xmlns:a16="http://schemas.microsoft.com/office/drawing/2014/main" id="{F6A3B51F-83B6-4BA2-84B2-0B64BF346C0F}"/>
                </a:ext>
              </a:extLst>
            </p:cNvPr>
            <p:cNvSpPr>
              <a:spLocks noChangeArrowheads="1"/>
            </p:cNvSpPr>
            <p:nvPr/>
          </p:nvSpPr>
          <p:spPr bwMode="auto">
            <a:xfrm>
              <a:off x="3148516" y="2294508"/>
              <a:ext cx="220413" cy="181815"/>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667" b="1" dirty="0">
                  <a:latin typeface="VAG Rundschrift D Light"/>
                </a:rPr>
                <a:t>PC</a:t>
              </a:r>
            </a:p>
          </p:txBody>
        </p:sp>
        <p:sp>
          <p:nvSpPr>
            <p:cNvPr id="79" name="Freeform 43">
              <a:extLst>
                <a:ext uri="{FF2B5EF4-FFF2-40B4-BE49-F238E27FC236}">
                  <a16:creationId xmlns:a16="http://schemas.microsoft.com/office/drawing/2014/main" id="{405290FD-BF60-48AF-877D-9FEAF9BA268D}"/>
                </a:ext>
              </a:extLst>
            </p:cNvPr>
            <p:cNvSpPr>
              <a:spLocks/>
            </p:cNvSpPr>
            <p:nvPr/>
          </p:nvSpPr>
          <p:spPr bwMode="auto">
            <a:xfrm>
              <a:off x="3192882" y="2626532"/>
              <a:ext cx="83926" cy="83098"/>
            </a:xfrm>
            <a:custGeom>
              <a:avLst/>
              <a:gdLst>
                <a:gd name="T0" fmla="*/ 0 w 49"/>
                <a:gd name="T1" fmla="*/ 48 h 49"/>
                <a:gd name="T2" fmla="*/ 24 w 49"/>
                <a:gd name="T3" fmla="*/ 0 h 49"/>
                <a:gd name="T4" fmla="*/ 48 w 49"/>
                <a:gd name="T5" fmla="*/ 48 h 49"/>
                <a:gd name="T6" fmla="*/ 0 60000 65536"/>
                <a:gd name="T7" fmla="*/ 0 60000 65536"/>
                <a:gd name="T8" fmla="*/ 0 60000 65536"/>
                <a:gd name="T9" fmla="*/ 0 w 49"/>
                <a:gd name="T10" fmla="*/ 0 h 49"/>
                <a:gd name="T11" fmla="*/ 49 w 49"/>
                <a:gd name="T12" fmla="*/ 49 h 49"/>
              </a:gdLst>
              <a:ahLst/>
              <a:cxnLst>
                <a:cxn ang="T6">
                  <a:pos x="T0" y="T1"/>
                </a:cxn>
                <a:cxn ang="T7">
                  <a:pos x="T2" y="T3"/>
                </a:cxn>
                <a:cxn ang="T8">
                  <a:pos x="T4" y="T5"/>
                </a:cxn>
              </a:cxnLst>
              <a:rect l="T9" t="T10" r="T11" b="T12"/>
              <a:pathLst>
                <a:path w="49" h="49">
                  <a:moveTo>
                    <a:pt x="0" y="48"/>
                  </a:moveTo>
                  <a:lnTo>
                    <a:pt x="24" y="0"/>
                  </a:lnTo>
                  <a:lnTo>
                    <a:pt x="48" y="48"/>
                  </a:lnTo>
                </a:path>
              </a:pathLst>
            </a:custGeom>
            <a:noFill/>
            <a:ln w="25400" cap="rnd">
              <a:solidFill>
                <a:schemeClr val="tx1"/>
              </a:solidFill>
              <a:round/>
              <a:headEnd/>
              <a:tailEnd/>
            </a:ln>
          </p:spPr>
          <p:txBody>
            <a:bodyPr>
              <a:prstTxWarp prst="textNoShape">
                <a:avLst/>
              </a:prstTxWarp>
            </a:bodyPr>
            <a:lstStyle/>
            <a:p>
              <a:endParaRPr lang="en-US" sz="1400" b="1">
                <a:latin typeface="VAG Rundschrift D Light"/>
              </a:endParaRPr>
            </a:p>
          </p:txBody>
        </p:sp>
        <p:sp>
          <p:nvSpPr>
            <p:cNvPr id="81" name="Freeform 45">
              <a:extLst>
                <a:ext uri="{FF2B5EF4-FFF2-40B4-BE49-F238E27FC236}">
                  <a16:creationId xmlns:a16="http://schemas.microsoft.com/office/drawing/2014/main" id="{61B644E4-9004-44AC-8B4E-CFC2F884DC0D}"/>
                </a:ext>
              </a:extLst>
            </p:cNvPr>
            <p:cNvSpPr>
              <a:spLocks/>
            </p:cNvSpPr>
            <p:nvPr/>
          </p:nvSpPr>
          <p:spPr bwMode="auto">
            <a:xfrm>
              <a:off x="3432349" y="1839645"/>
              <a:ext cx="343106" cy="596259"/>
            </a:xfrm>
            <a:custGeom>
              <a:avLst/>
              <a:gdLst>
                <a:gd name="T0" fmla="*/ 1 w 168"/>
                <a:gd name="T1" fmla="*/ 333 h 333"/>
                <a:gd name="T2" fmla="*/ 0 w 168"/>
                <a:gd name="T3" fmla="*/ 5 h 333"/>
                <a:gd name="T4" fmla="*/ 5 w 168"/>
                <a:gd name="T5" fmla="*/ 0 h 333"/>
                <a:gd name="T6" fmla="*/ 168 w 168"/>
                <a:gd name="T7" fmla="*/ 4 h 333"/>
                <a:gd name="T8" fmla="*/ 0 60000 65536"/>
                <a:gd name="T9" fmla="*/ 0 60000 65536"/>
                <a:gd name="T10" fmla="*/ 0 60000 65536"/>
                <a:gd name="T11" fmla="*/ 0 60000 65536"/>
                <a:gd name="T12" fmla="*/ 0 w 168"/>
                <a:gd name="T13" fmla="*/ 0 h 333"/>
                <a:gd name="T14" fmla="*/ 168 w 168"/>
                <a:gd name="T15" fmla="*/ 333 h 333"/>
              </a:gdLst>
              <a:ahLst/>
              <a:cxnLst>
                <a:cxn ang="T8">
                  <a:pos x="T0" y="T1"/>
                </a:cxn>
                <a:cxn ang="T9">
                  <a:pos x="T2" y="T3"/>
                </a:cxn>
                <a:cxn ang="T10">
                  <a:pos x="T4" y="T5"/>
                </a:cxn>
                <a:cxn ang="T11">
                  <a:pos x="T6" y="T7"/>
                </a:cxn>
              </a:cxnLst>
              <a:rect l="T12" t="T13" r="T14" b="T15"/>
              <a:pathLst>
                <a:path w="168" h="333">
                  <a:moveTo>
                    <a:pt x="1" y="333"/>
                  </a:moveTo>
                  <a:lnTo>
                    <a:pt x="0" y="5"/>
                  </a:lnTo>
                  <a:lnTo>
                    <a:pt x="5" y="0"/>
                  </a:lnTo>
                  <a:lnTo>
                    <a:pt x="168" y="4"/>
                  </a:lnTo>
                </a:path>
              </a:pathLst>
            </a:custGeom>
            <a:noFill/>
            <a:ln w="25400">
              <a:solidFill>
                <a:schemeClr val="tx1"/>
              </a:solidFill>
              <a:round/>
              <a:headEnd/>
              <a:tailEnd type="triangle" w="med" len="med"/>
            </a:ln>
          </p:spPr>
          <p:txBody>
            <a:bodyPr wrap="none" anchor="ctr">
              <a:prstTxWarp prst="textNoShape">
                <a:avLst/>
              </a:prstTxWarp>
            </a:bodyPr>
            <a:lstStyle/>
            <a:p>
              <a:endParaRPr lang="en-US" sz="1400" b="1">
                <a:latin typeface="VAG Rundschrift D Light"/>
              </a:endParaRPr>
            </a:p>
          </p:txBody>
        </p:sp>
        <p:sp>
          <p:nvSpPr>
            <p:cNvPr id="82" name="Rectangle 42">
              <a:extLst>
                <a:ext uri="{FF2B5EF4-FFF2-40B4-BE49-F238E27FC236}">
                  <a16:creationId xmlns:a16="http://schemas.microsoft.com/office/drawing/2014/main" id="{11D6AB96-FD6E-4C80-9A3E-06E6339BAD37}"/>
                </a:ext>
              </a:extLst>
            </p:cNvPr>
            <p:cNvSpPr>
              <a:spLocks noChangeArrowheads="1"/>
            </p:cNvSpPr>
            <p:nvPr/>
          </p:nvSpPr>
          <p:spPr bwMode="auto">
            <a:xfrm>
              <a:off x="2665319" y="1913472"/>
              <a:ext cx="339929"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pc+4</a:t>
              </a:r>
            </a:p>
          </p:txBody>
        </p:sp>
        <p:sp>
          <p:nvSpPr>
            <p:cNvPr id="88" name="Freeform 48">
              <a:extLst>
                <a:ext uri="{FF2B5EF4-FFF2-40B4-BE49-F238E27FC236}">
                  <a16:creationId xmlns:a16="http://schemas.microsoft.com/office/drawing/2014/main" id="{025F4AC0-1F57-483B-B4C8-6BEC3D2E2934}"/>
                </a:ext>
              </a:extLst>
            </p:cNvPr>
            <p:cNvSpPr>
              <a:spLocks/>
            </p:cNvSpPr>
            <p:nvPr/>
          </p:nvSpPr>
          <p:spPr bwMode="auto">
            <a:xfrm>
              <a:off x="4343401" y="2348910"/>
              <a:ext cx="897416" cy="233196"/>
            </a:xfrm>
            <a:custGeom>
              <a:avLst/>
              <a:gdLst>
                <a:gd name="T0" fmla="*/ 0 w 817"/>
                <a:gd name="T1" fmla="*/ 192 h 193"/>
                <a:gd name="T2" fmla="*/ 0 w 817"/>
                <a:gd name="T3" fmla="*/ 0 h 193"/>
                <a:gd name="T4" fmla="*/ 816 w 817"/>
                <a:gd name="T5" fmla="*/ 0 h 193"/>
                <a:gd name="T6" fmla="*/ 0 60000 65536"/>
                <a:gd name="T7" fmla="*/ 0 60000 65536"/>
                <a:gd name="T8" fmla="*/ 0 60000 65536"/>
                <a:gd name="T9" fmla="*/ 0 w 817"/>
                <a:gd name="T10" fmla="*/ 0 h 193"/>
                <a:gd name="T11" fmla="*/ 817 w 817"/>
                <a:gd name="T12" fmla="*/ 193 h 193"/>
              </a:gdLst>
              <a:ahLst/>
              <a:cxnLst>
                <a:cxn ang="T6">
                  <a:pos x="T0" y="T1"/>
                </a:cxn>
                <a:cxn ang="T7">
                  <a:pos x="T2" y="T3"/>
                </a:cxn>
                <a:cxn ang="T8">
                  <a:pos x="T4" y="T5"/>
                </a:cxn>
              </a:cxnLst>
              <a:rect l="T9" t="T10" r="T11" b="T12"/>
              <a:pathLst>
                <a:path w="817" h="193">
                  <a:moveTo>
                    <a:pt x="0" y="192"/>
                  </a:moveTo>
                  <a:lnTo>
                    <a:pt x="0" y="0"/>
                  </a:lnTo>
                  <a:lnTo>
                    <a:pt x="816"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89" name="Freeform 49">
              <a:extLst>
                <a:ext uri="{FF2B5EF4-FFF2-40B4-BE49-F238E27FC236}">
                  <a16:creationId xmlns:a16="http://schemas.microsoft.com/office/drawing/2014/main" id="{082656B7-C425-4423-B0D6-AE354E75728B}"/>
                </a:ext>
              </a:extLst>
            </p:cNvPr>
            <p:cNvSpPr>
              <a:spLocks/>
            </p:cNvSpPr>
            <p:nvPr/>
          </p:nvSpPr>
          <p:spPr bwMode="auto">
            <a:xfrm>
              <a:off x="4343400" y="2571846"/>
              <a:ext cx="897416" cy="1208"/>
            </a:xfrm>
            <a:custGeom>
              <a:avLst/>
              <a:gdLst>
                <a:gd name="T0" fmla="*/ 0 w 817"/>
                <a:gd name="T1" fmla="*/ 0 h 1"/>
                <a:gd name="T2" fmla="*/ 816 w 817"/>
                <a:gd name="T3" fmla="*/ 0 h 1"/>
                <a:gd name="T4" fmla="*/ 0 60000 65536"/>
                <a:gd name="T5" fmla="*/ 0 60000 65536"/>
                <a:gd name="T6" fmla="*/ 0 w 817"/>
                <a:gd name="T7" fmla="*/ 0 h 1"/>
                <a:gd name="T8" fmla="*/ 817 w 817"/>
                <a:gd name="T9" fmla="*/ 1 h 1"/>
              </a:gdLst>
              <a:ahLst/>
              <a:cxnLst>
                <a:cxn ang="T4">
                  <a:pos x="T0" y="T1"/>
                </a:cxn>
                <a:cxn ang="T5">
                  <a:pos x="T2" y="T3"/>
                </a:cxn>
              </a:cxnLst>
              <a:rect l="T6" t="T7" r="T8" b="T9"/>
              <a:pathLst>
                <a:path w="817" h="1">
                  <a:moveTo>
                    <a:pt x="0" y="0"/>
                  </a:moveTo>
                  <a:lnTo>
                    <a:pt x="816"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90" name="Rectangle 56">
              <a:extLst>
                <a:ext uri="{FF2B5EF4-FFF2-40B4-BE49-F238E27FC236}">
                  <a16:creationId xmlns:a16="http://schemas.microsoft.com/office/drawing/2014/main" id="{68E37CBC-F7CE-4FE7-A1AF-00E0F7DBEC59}"/>
                </a:ext>
              </a:extLst>
            </p:cNvPr>
            <p:cNvSpPr>
              <a:spLocks noChangeArrowheads="1"/>
            </p:cNvSpPr>
            <p:nvPr/>
          </p:nvSpPr>
          <p:spPr bwMode="auto">
            <a:xfrm>
              <a:off x="4431941" y="2571750"/>
              <a:ext cx="620533"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Inst</a:t>
              </a:r>
              <a:r>
                <a:rPr lang="en-US" sz="800" b="1" dirty="0">
                  <a:latin typeface="VAG Rundschrift D Light"/>
                </a:rPr>
                <a:t>[24:20]</a:t>
              </a:r>
            </a:p>
          </p:txBody>
        </p:sp>
        <p:sp>
          <p:nvSpPr>
            <p:cNvPr id="91" name="Line 58">
              <a:extLst>
                <a:ext uri="{FF2B5EF4-FFF2-40B4-BE49-F238E27FC236}">
                  <a16:creationId xmlns:a16="http://schemas.microsoft.com/office/drawing/2014/main" id="{A0C77963-B73E-493B-BC4D-9360CE77557F}"/>
                </a:ext>
              </a:extLst>
            </p:cNvPr>
            <p:cNvSpPr>
              <a:spLocks noChangeShapeType="1"/>
            </p:cNvSpPr>
            <p:nvPr/>
          </p:nvSpPr>
          <p:spPr bwMode="auto">
            <a:xfrm>
              <a:off x="4343401" y="2353742"/>
              <a:ext cx="6094" cy="1746571"/>
            </a:xfrm>
            <a:prstGeom prst="line">
              <a:avLst/>
            </a:prstGeom>
            <a:noFill/>
            <a:ln w="28575">
              <a:solidFill>
                <a:schemeClr val="tx1"/>
              </a:solidFill>
              <a:round/>
              <a:headEnd/>
              <a:tailEnd type="triangle" w="med" len="med"/>
            </a:ln>
          </p:spPr>
          <p:txBody>
            <a:bodyPr wrap="none" anchor="ctr">
              <a:prstTxWarp prst="textNoShape">
                <a:avLst/>
              </a:prstTxWarp>
            </a:bodyPr>
            <a:lstStyle/>
            <a:p>
              <a:endParaRPr lang="en-US" sz="1200">
                <a:latin typeface="VAG Rundschrift D Light"/>
              </a:endParaRPr>
            </a:p>
          </p:txBody>
        </p:sp>
        <p:sp>
          <p:nvSpPr>
            <p:cNvPr id="92" name="Freeform 61">
              <a:extLst>
                <a:ext uri="{FF2B5EF4-FFF2-40B4-BE49-F238E27FC236}">
                  <a16:creationId xmlns:a16="http://schemas.microsoft.com/office/drawing/2014/main" id="{506DAC58-778E-434D-B838-C46DE7C812C1}"/>
                </a:ext>
              </a:extLst>
            </p:cNvPr>
            <p:cNvSpPr>
              <a:spLocks/>
            </p:cNvSpPr>
            <p:nvPr/>
          </p:nvSpPr>
          <p:spPr bwMode="auto">
            <a:xfrm>
              <a:off x="4345872" y="2750401"/>
              <a:ext cx="886158" cy="45719"/>
            </a:xfrm>
            <a:custGeom>
              <a:avLst/>
              <a:gdLst>
                <a:gd name="T0" fmla="*/ 0 w 817"/>
                <a:gd name="T1" fmla="*/ 0 h 1"/>
                <a:gd name="T2" fmla="*/ 816 w 817"/>
                <a:gd name="T3" fmla="*/ 0 h 1"/>
                <a:gd name="T4" fmla="*/ 0 60000 65536"/>
                <a:gd name="T5" fmla="*/ 0 60000 65536"/>
                <a:gd name="T6" fmla="*/ 0 w 817"/>
                <a:gd name="T7" fmla="*/ 0 h 1"/>
                <a:gd name="T8" fmla="*/ 817 w 817"/>
                <a:gd name="T9" fmla="*/ 1 h 1"/>
              </a:gdLst>
              <a:ahLst/>
              <a:cxnLst>
                <a:cxn ang="T4">
                  <a:pos x="T0" y="T1"/>
                </a:cxn>
                <a:cxn ang="T5">
                  <a:pos x="T2" y="T3"/>
                </a:cxn>
              </a:cxnLst>
              <a:rect l="T6" t="T7" r="T8" b="T9"/>
              <a:pathLst>
                <a:path w="817" h="1">
                  <a:moveTo>
                    <a:pt x="0" y="0"/>
                  </a:moveTo>
                  <a:lnTo>
                    <a:pt x="816"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grpSp>
          <p:nvGrpSpPr>
            <p:cNvPr id="93" name="Group 62">
              <a:extLst>
                <a:ext uri="{FF2B5EF4-FFF2-40B4-BE49-F238E27FC236}">
                  <a16:creationId xmlns:a16="http://schemas.microsoft.com/office/drawing/2014/main" id="{26CE999E-97CD-419B-8041-C80556536956}"/>
                </a:ext>
              </a:extLst>
            </p:cNvPr>
            <p:cNvGrpSpPr>
              <a:grpSpLocks/>
            </p:cNvGrpSpPr>
            <p:nvPr/>
          </p:nvGrpSpPr>
          <p:grpSpPr bwMode="auto">
            <a:xfrm>
              <a:off x="7366799" y="2374529"/>
              <a:ext cx="406214" cy="730621"/>
              <a:chOff x="4085" y="1630"/>
              <a:chExt cx="294" cy="385"/>
            </a:xfrm>
            <a:noFill/>
          </p:grpSpPr>
          <p:sp>
            <p:nvSpPr>
              <p:cNvPr id="152" name="Freeform 65">
                <a:extLst>
                  <a:ext uri="{FF2B5EF4-FFF2-40B4-BE49-F238E27FC236}">
                    <a16:creationId xmlns:a16="http://schemas.microsoft.com/office/drawing/2014/main" id="{44BFF6C2-7A1C-4DE7-9168-AEF95EE26CDD}"/>
                  </a:ext>
                </a:extLst>
              </p:cNvPr>
              <p:cNvSpPr>
                <a:spLocks/>
              </p:cNvSpPr>
              <p:nvPr/>
            </p:nvSpPr>
            <p:spPr bwMode="auto">
              <a:xfrm>
                <a:off x="4085" y="1630"/>
                <a:ext cx="241" cy="385"/>
              </a:xfrm>
              <a:custGeom>
                <a:avLst/>
                <a:gdLst>
                  <a:gd name="T0" fmla="*/ 0 w 241"/>
                  <a:gd name="T1" fmla="*/ 0 h 385"/>
                  <a:gd name="T2" fmla="*/ 0 w 241"/>
                  <a:gd name="T3" fmla="*/ 160 h 385"/>
                  <a:gd name="T4" fmla="*/ 48 w 241"/>
                  <a:gd name="T5" fmla="*/ 192 h 385"/>
                  <a:gd name="T6" fmla="*/ 0 w 241"/>
                  <a:gd name="T7" fmla="*/ 224 h 385"/>
                  <a:gd name="T8" fmla="*/ 0 w 241"/>
                  <a:gd name="T9" fmla="*/ 384 h 385"/>
                  <a:gd name="T10" fmla="*/ 240 w 241"/>
                  <a:gd name="T11" fmla="*/ 288 h 385"/>
                  <a:gd name="T12" fmla="*/ 240 w 241"/>
                  <a:gd name="T13" fmla="*/ 96 h 385"/>
                  <a:gd name="T14" fmla="*/ 0 w 241"/>
                  <a:gd name="T15" fmla="*/ 0 h 385"/>
                  <a:gd name="T16" fmla="*/ 0 60000 65536"/>
                  <a:gd name="T17" fmla="*/ 0 60000 65536"/>
                  <a:gd name="T18" fmla="*/ 0 60000 65536"/>
                  <a:gd name="T19" fmla="*/ 0 60000 65536"/>
                  <a:gd name="T20" fmla="*/ 0 60000 65536"/>
                  <a:gd name="T21" fmla="*/ 0 60000 65536"/>
                  <a:gd name="T22" fmla="*/ 0 60000 65536"/>
                  <a:gd name="T23" fmla="*/ 0 60000 65536"/>
                  <a:gd name="T24" fmla="*/ 0 w 241"/>
                  <a:gd name="T25" fmla="*/ 0 h 385"/>
                  <a:gd name="T26" fmla="*/ 241 w 241"/>
                  <a:gd name="T27" fmla="*/ 385 h 3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1" h="385">
                    <a:moveTo>
                      <a:pt x="0" y="0"/>
                    </a:moveTo>
                    <a:lnTo>
                      <a:pt x="0" y="160"/>
                    </a:lnTo>
                    <a:lnTo>
                      <a:pt x="48" y="192"/>
                    </a:lnTo>
                    <a:lnTo>
                      <a:pt x="0" y="224"/>
                    </a:lnTo>
                    <a:lnTo>
                      <a:pt x="0" y="384"/>
                    </a:lnTo>
                    <a:lnTo>
                      <a:pt x="240" y="288"/>
                    </a:lnTo>
                    <a:lnTo>
                      <a:pt x="240" y="96"/>
                    </a:lnTo>
                    <a:lnTo>
                      <a:pt x="0" y="0"/>
                    </a:lnTo>
                  </a:path>
                </a:pathLst>
              </a:custGeom>
              <a:grpFill/>
              <a:ln w="38100" cap="rnd">
                <a:solidFill>
                  <a:schemeClr val="tx1"/>
                </a:solidFill>
                <a:round/>
                <a:headEnd/>
                <a:tailEnd/>
              </a:ln>
            </p:spPr>
            <p:txBody>
              <a:bodyPr>
                <a:prstTxWarp prst="textNoShape">
                  <a:avLst/>
                </a:prstTxWarp>
              </a:bodyPr>
              <a:lstStyle/>
              <a:p>
                <a:endParaRPr lang="en-US" sz="1200">
                  <a:latin typeface="VAG Rundschrift D Light"/>
                </a:endParaRPr>
              </a:p>
            </p:txBody>
          </p:sp>
          <p:sp>
            <p:nvSpPr>
              <p:cNvPr id="153" name="Rectangle 66">
                <a:extLst>
                  <a:ext uri="{FF2B5EF4-FFF2-40B4-BE49-F238E27FC236}">
                    <a16:creationId xmlns:a16="http://schemas.microsoft.com/office/drawing/2014/main" id="{8B63DB52-687F-4FCB-B1B9-D25FA1D366B5}"/>
                  </a:ext>
                </a:extLst>
              </p:cNvPr>
              <p:cNvSpPr>
                <a:spLocks noChangeArrowheads="1"/>
              </p:cNvSpPr>
              <p:nvPr/>
            </p:nvSpPr>
            <p:spPr bwMode="auto">
              <a:xfrm>
                <a:off x="4090" y="1711"/>
                <a:ext cx="289" cy="145"/>
              </a:xfrm>
              <a:prstGeom prst="rect">
                <a:avLst/>
              </a:prstGeom>
              <a:grpFill/>
              <a:ln w="381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 Rundschrift D Light"/>
                  </a:rPr>
                  <a:t>ALU</a:t>
                </a:r>
              </a:p>
            </p:txBody>
          </p:sp>
        </p:grpSp>
        <p:sp>
          <p:nvSpPr>
            <p:cNvPr id="94" name="Rectangle 72">
              <a:extLst>
                <a:ext uri="{FF2B5EF4-FFF2-40B4-BE49-F238E27FC236}">
                  <a16:creationId xmlns:a16="http://schemas.microsoft.com/office/drawing/2014/main" id="{E11E2148-3E95-4976-A151-72F2C32A1068}"/>
                </a:ext>
              </a:extLst>
            </p:cNvPr>
            <p:cNvSpPr>
              <a:spLocks noChangeArrowheads="1"/>
            </p:cNvSpPr>
            <p:nvPr/>
          </p:nvSpPr>
          <p:spPr bwMode="auto">
            <a:xfrm>
              <a:off x="5874740" y="3218568"/>
              <a:ext cx="251591"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clk</a:t>
              </a:r>
              <a:endParaRPr lang="en-US" sz="800" b="1" dirty="0">
                <a:latin typeface="VAG Rundschrift D Light"/>
              </a:endParaRPr>
            </a:p>
          </p:txBody>
        </p:sp>
        <p:sp>
          <p:nvSpPr>
            <p:cNvPr id="95" name="Rectangle 74">
              <a:extLst>
                <a:ext uri="{FF2B5EF4-FFF2-40B4-BE49-F238E27FC236}">
                  <a16:creationId xmlns:a16="http://schemas.microsoft.com/office/drawing/2014/main" id="{2A4904DD-5982-4DDC-9DA8-54C055606DA2}"/>
                </a:ext>
              </a:extLst>
            </p:cNvPr>
            <p:cNvSpPr>
              <a:spLocks noChangeArrowheads="1"/>
            </p:cNvSpPr>
            <p:nvPr/>
          </p:nvSpPr>
          <p:spPr bwMode="auto">
            <a:xfrm>
              <a:off x="5253998" y="1784959"/>
              <a:ext cx="877380" cy="1439786"/>
            </a:xfrm>
            <a:prstGeom prst="rect">
              <a:avLst/>
            </a:prstGeom>
            <a:noFill/>
            <a:ln w="38100">
              <a:solidFill>
                <a:schemeClr val="tx1"/>
              </a:solidFill>
              <a:miter lim="800000"/>
              <a:headEnd/>
              <a:tailEnd/>
            </a:ln>
          </p:spPr>
          <p:txBody>
            <a:bodyPr wrap="none" anchor="ctr">
              <a:prstTxWarp prst="textNoShape">
                <a:avLst/>
              </a:prstTxWarp>
            </a:bodyPr>
            <a:lstStyle/>
            <a:p>
              <a:endParaRPr lang="en-US" sz="1200">
                <a:latin typeface="VAG Rundschrift D Light"/>
              </a:endParaRPr>
            </a:p>
          </p:txBody>
        </p:sp>
        <p:sp>
          <p:nvSpPr>
            <p:cNvPr id="96" name="Rectangle 76">
              <a:extLst>
                <a:ext uri="{FF2B5EF4-FFF2-40B4-BE49-F238E27FC236}">
                  <a16:creationId xmlns:a16="http://schemas.microsoft.com/office/drawing/2014/main" id="{10E551AE-6B38-41FA-A060-FE91ED813149}"/>
                </a:ext>
              </a:extLst>
            </p:cNvPr>
            <p:cNvSpPr>
              <a:spLocks noChangeArrowheads="1"/>
            </p:cNvSpPr>
            <p:nvPr/>
          </p:nvSpPr>
          <p:spPr bwMode="auto">
            <a:xfrm>
              <a:off x="5296665" y="3006235"/>
              <a:ext cx="560949" cy="275733"/>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1200" b="1" dirty="0" err="1">
                  <a:latin typeface="VAG Rundschrift D Light"/>
                </a:rPr>
                <a:t>Reg</a:t>
              </a:r>
              <a:r>
                <a:rPr lang="en-US" sz="1200" b="1" dirty="0">
                  <a:latin typeface="VAG Rundschrift D Light"/>
                </a:rPr>
                <a:t> [ ]</a:t>
              </a:r>
            </a:p>
          </p:txBody>
        </p:sp>
        <p:sp>
          <p:nvSpPr>
            <p:cNvPr id="98" name="Freeform 53">
              <a:extLst>
                <a:ext uri="{FF2B5EF4-FFF2-40B4-BE49-F238E27FC236}">
                  <a16:creationId xmlns:a16="http://schemas.microsoft.com/office/drawing/2014/main" id="{0D7ABEF3-269C-4686-ACE9-FE165FBC7E3A}"/>
                </a:ext>
              </a:extLst>
            </p:cNvPr>
            <p:cNvSpPr>
              <a:spLocks/>
            </p:cNvSpPr>
            <p:nvPr/>
          </p:nvSpPr>
          <p:spPr bwMode="auto">
            <a:xfrm>
              <a:off x="6129667" y="2519569"/>
              <a:ext cx="22108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99" name="Line 86">
              <a:extLst>
                <a:ext uri="{FF2B5EF4-FFF2-40B4-BE49-F238E27FC236}">
                  <a16:creationId xmlns:a16="http://schemas.microsoft.com/office/drawing/2014/main" id="{511E4E4F-3048-429D-AD59-0478ACE20E6D}"/>
                </a:ext>
              </a:extLst>
            </p:cNvPr>
            <p:cNvSpPr>
              <a:spLocks noChangeShapeType="1"/>
            </p:cNvSpPr>
            <p:nvPr/>
          </p:nvSpPr>
          <p:spPr bwMode="auto">
            <a:xfrm flipH="1">
              <a:off x="9015276" y="1326057"/>
              <a:ext cx="4184" cy="1017091"/>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00" name="Line 86">
              <a:extLst>
                <a:ext uri="{FF2B5EF4-FFF2-40B4-BE49-F238E27FC236}">
                  <a16:creationId xmlns:a16="http://schemas.microsoft.com/office/drawing/2014/main" id="{D0718223-F6CD-4103-9563-9D20251BA2AA}"/>
                </a:ext>
              </a:extLst>
            </p:cNvPr>
            <p:cNvSpPr>
              <a:spLocks noChangeShapeType="1"/>
            </p:cNvSpPr>
            <p:nvPr/>
          </p:nvSpPr>
          <p:spPr bwMode="auto">
            <a:xfrm>
              <a:off x="4614093" y="1306136"/>
              <a:ext cx="4405368" cy="9924"/>
            </a:xfrm>
            <a:prstGeom prst="line">
              <a:avLst/>
            </a:prstGeom>
            <a:noFill/>
            <a:ln w="28575"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01" name="Line 86">
              <a:extLst>
                <a:ext uri="{FF2B5EF4-FFF2-40B4-BE49-F238E27FC236}">
                  <a16:creationId xmlns:a16="http://schemas.microsoft.com/office/drawing/2014/main" id="{91EC750C-5FFE-4772-A5BF-B858E2EC9515}"/>
                </a:ext>
              </a:extLst>
            </p:cNvPr>
            <p:cNvSpPr>
              <a:spLocks noChangeShapeType="1"/>
            </p:cNvSpPr>
            <p:nvPr/>
          </p:nvSpPr>
          <p:spPr bwMode="auto">
            <a:xfrm>
              <a:off x="4601180" y="1304531"/>
              <a:ext cx="5656" cy="730811"/>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02" name="Freeform 53">
              <a:extLst>
                <a:ext uri="{FF2B5EF4-FFF2-40B4-BE49-F238E27FC236}">
                  <a16:creationId xmlns:a16="http://schemas.microsoft.com/office/drawing/2014/main" id="{06052B64-C7FC-409C-8330-D3B41C34C934}"/>
                </a:ext>
              </a:extLst>
            </p:cNvPr>
            <p:cNvSpPr>
              <a:spLocks/>
            </p:cNvSpPr>
            <p:nvPr/>
          </p:nvSpPr>
          <p:spPr bwMode="auto">
            <a:xfrm flipV="1">
              <a:off x="4614092" y="2005856"/>
              <a:ext cx="627556" cy="29488"/>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03" name="Freeform 43">
              <a:extLst>
                <a:ext uri="{FF2B5EF4-FFF2-40B4-BE49-F238E27FC236}">
                  <a16:creationId xmlns:a16="http://schemas.microsoft.com/office/drawing/2014/main" id="{7FE222B9-AE92-4F55-B75A-B1A08A58FB6D}"/>
                </a:ext>
              </a:extLst>
            </p:cNvPr>
            <p:cNvSpPr>
              <a:spLocks/>
            </p:cNvSpPr>
            <p:nvPr/>
          </p:nvSpPr>
          <p:spPr bwMode="auto">
            <a:xfrm>
              <a:off x="5825010" y="3138899"/>
              <a:ext cx="83926" cy="83098"/>
            </a:xfrm>
            <a:custGeom>
              <a:avLst/>
              <a:gdLst>
                <a:gd name="T0" fmla="*/ 0 w 49"/>
                <a:gd name="T1" fmla="*/ 48 h 49"/>
                <a:gd name="T2" fmla="*/ 24 w 49"/>
                <a:gd name="T3" fmla="*/ 0 h 49"/>
                <a:gd name="T4" fmla="*/ 48 w 49"/>
                <a:gd name="T5" fmla="*/ 48 h 49"/>
                <a:gd name="T6" fmla="*/ 0 60000 65536"/>
                <a:gd name="T7" fmla="*/ 0 60000 65536"/>
                <a:gd name="T8" fmla="*/ 0 60000 65536"/>
                <a:gd name="T9" fmla="*/ 0 w 49"/>
                <a:gd name="T10" fmla="*/ 0 h 49"/>
                <a:gd name="T11" fmla="*/ 49 w 49"/>
                <a:gd name="T12" fmla="*/ 49 h 49"/>
              </a:gdLst>
              <a:ahLst/>
              <a:cxnLst>
                <a:cxn ang="T6">
                  <a:pos x="T0" y="T1"/>
                </a:cxn>
                <a:cxn ang="T7">
                  <a:pos x="T2" y="T3"/>
                </a:cxn>
                <a:cxn ang="T8">
                  <a:pos x="T4" y="T5"/>
                </a:cxn>
              </a:cxnLst>
              <a:rect l="T9" t="T10" r="T11" b="T12"/>
              <a:pathLst>
                <a:path w="49" h="49">
                  <a:moveTo>
                    <a:pt x="0" y="48"/>
                  </a:moveTo>
                  <a:lnTo>
                    <a:pt x="24" y="0"/>
                  </a:lnTo>
                  <a:lnTo>
                    <a:pt x="48" y="48"/>
                  </a:lnTo>
                </a:path>
              </a:pathLst>
            </a:custGeom>
            <a:noFill/>
            <a:ln w="25400" cap="rnd">
              <a:solidFill>
                <a:schemeClr val="tx1"/>
              </a:solidFill>
              <a:round/>
              <a:headEnd/>
              <a:tailEnd/>
            </a:ln>
          </p:spPr>
          <p:txBody>
            <a:bodyPr>
              <a:prstTxWarp prst="textNoShape">
                <a:avLst/>
              </a:prstTxWarp>
            </a:bodyPr>
            <a:lstStyle/>
            <a:p>
              <a:endParaRPr lang="en-US" sz="1400" b="1">
                <a:latin typeface="VAG Rundschrift D Light"/>
              </a:endParaRPr>
            </a:p>
          </p:txBody>
        </p:sp>
        <p:sp>
          <p:nvSpPr>
            <p:cNvPr id="129" name="Line 85">
              <a:extLst>
                <a:ext uri="{FF2B5EF4-FFF2-40B4-BE49-F238E27FC236}">
                  <a16:creationId xmlns:a16="http://schemas.microsoft.com/office/drawing/2014/main" id="{2FAB5AEE-1C73-47C5-A2C2-CCB8E298CF56}"/>
                </a:ext>
              </a:extLst>
            </p:cNvPr>
            <p:cNvSpPr>
              <a:spLocks noChangeShapeType="1"/>
            </p:cNvSpPr>
            <p:nvPr/>
          </p:nvSpPr>
          <p:spPr bwMode="auto">
            <a:xfrm flipH="1">
              <a:off x="5866972" y="3238303"/>
              <a:ext cx="0" cy="143669"/>
            </a:xfrm>
            <a:prstGeom prst="line">
              <a:avLst/>
            </a:prstGeom>
            <a:noFill/>
            <a:ln w="25400">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30" name="Rectangle 56">
              <a:extLst>
                <a:ext uri="{FF2B5EF4-FFF2-40B4-BE49-F238E27FC236}">
                  <a16:creationId xmlns:a16="http://schemas.microsoft.com/office/drawing/2014/main" id="{4FB05D05-78A7-439F-9B29-CBB7FA472E0C}"/>
                </a:ext>
              </a:extLst>
            </p:cNvPr>
            <p:cNvSpPr>
              <a:spLocks noChangeArrowheads="1"/>
            </p:cNvSpPr>
            <p:nvPr/>
          </p:nvSpPr>
          <p:spPr bwMode="auto">
            <a:xfrm>
              <a:off x="4431941" y="2367494"/>
              <a:ext cx="620533"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Inst</a:t>
              </a:r>
              <a:r>
                <a:rPr lang="en-US" sz="800" b="1" dirty="0">
                  <a:latin typeface="VAG Rundschrift D Light"/>
                </a:rPr>
                <a:t>[19:15]</a:t>
              </a:r>
            </a:p>
          </p:txBody>
        </p:sp>
        <p:sp>
          <p:nvSpPr>
            <p:cNvPr id="131" name="Rectangle 56">
              <a:extLst>
                <a:ext uri="{FF2B5EF4-FFF2-40B4-BE49-F238E27FC236}">
                  <a16:creationId xmlns:a16="http://schemas.microsoft.com/office/drawing/2014/main" id="{0D5748A3-0C90-4C5F-A672-B64CBE67BBAA}"/>
                </a:ext>
              </a:extLst>
            </p:cNvPr>
            <p:cNvSpPr>
              <a:spLocks noChangeArrowheads="1"/>
            </p:cNvSpPr>
            <p:nvPr/>
          </p:nvSpPr>
          <p:spPr bwMode="auto">
            <a:xfrm>
              <a:off x="4471052" y="2147183"/>
              <a:ext cx="565106"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Inst</a:t>
              </a:r>
              <a:r>
                <a:rPr lang="en-US" sz="800" b="1" dirty="0">
                  <a:latin typeface="VAG Rundschrift D Light"/>
                </a:rPr>
                <a:t>[11:7]</a:t>
              </a:r>
            </a:p>
          </p:txBody>
        </p:sp>
        <p:sp>
          <p:nvSpPr>
            <p:cNvPr id="133" name="Rectangle 76">
              <a:extLst>
                <a:ext uri="{FF2B5EF4-FFF2-40B4-BE49-F238E27FC236}">
                  <a16:creationId xmlns:a16="http://schemas.microsoft.com/office/drawing/2014/main" id="{B0AC7351-7FB7-40CD-9034-592301F62247}"/>
                </a:ext>
              </a:extLst>
            </p:cNvPr>
            <p:cNvSpPr>
              <a:spLocks noChangeArrowheads="1"/>
            </p:cNvSpPr>
            <p:nvPr/>
          </p:nvSpPr>
          <p:spPr bwMode="auto">
            <a:xfrm>
              <a:off x="5239489" y="2700869"/>
              <a:ext cx="410946"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AddrB</a:t>
              </a:r>
              <a:endParaRPr lang="en-US" sz="800" b="1" dirty="0">
                <a:latin typeface="VAG Rundschrift D Light"/>
              </a:endParaRPr>
            </a:p>
          </p:txBody>
        </p:sp>
        <p:sp>
          <p:nvSpPr>
            <p:cNvPr id="134" name="Rectangle 76">
              <a:extLst>
                <a:ext uri="{FF2B5EF4-FFF2-40B4-BE49-F238E27FC236}">
                  <a16:creationId xmlns:a16="http://schemas.microsoft.com/office/drawing/2014/main" id="{BEBE2F27-9BA7-4A07-9739-CDD3C31C3D65}"/>
                </a:ext>
              </a:extLst>
            </p:cNvPr>
            <p:cNvSpPr>
              <a:spLocks noChangeArrowheads="1"/>
            </p:cNvSpPr>
            <p:nvPr/>
          </p:nvSpPr>
          <p:spPr bwMode="auto">
            <a:xfrm>
              <a:off x="5239489" y="2462745"/>
              <a:ext cx="416144"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AddrA</a:t>
              </a:r>
              <a:endParaRPr lang="en-US" sz="800" b="1" dirty="0">
                <a:latin typeface="VAG Rundschrift D Light"/>
              </a:endParaRPr>
            </a:p>
          </p:txBody>
        </p:sp>
        <p:sp>
          <p:nvSpPr>
            <p:cNvPr id="136" name="Rectangle 76">
              <a:extLst>
                <a:ext uri="{FF2B5EF4-FFF2-40B4-BE49-F238E27FC236}">
                  <a16:creationId xmlns:a16="http://schemas.microsoft.com/office/drawing/2014/main" id="{80869AEB-098A-4ACF-933F-6CF11442029D}"/>
                </a:ext>
              </a:extLst>
            </p:cNvPr>
            <p:cNvSpPr>
              <a:spLocks noChangeArrowheads="1"/>
            </p:cNvSpPr>
            <p:nvPr/>
          </p:nvSpPr>
          <p:spPr bwMode="auto">
            <a:xfrm>
              <a:off x="5715001" y="2449068"/>
              <a:ext cx="409215"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DataA</a:t>
              </a:r>
              <a:endParaRPr lang="en-US" sz="800" b="1" dirty="0">
                <a:latin typeface="VAG Rundschrift D Light"/>
              </a:endParaRPr>
            </a:p>
          </p:txBody>
        </p:sp>
        <p:sp>
          <p:nvSpPr>
            <p:cNvPr id="138" name="Rectangle 76">
              <a:extLst>
                <a:ext uri="{FF2B5EF4-FFF2-40B4-BE49-F238E27FC236}">
                  <a16:creationId xmlns:a16="http://schemas.microsoft.com/office/drawing/2014/main" id="{B8EFE784-8671-421E-AA55-30B7A0C367BC}"/>
                </a:ext>
              </a:extLst>
            </p:cNvPr>
            <p:cNvSpPr>
              <a:spLocks noChangeArrowheads="1"/>
            </p:cNvSpPr>
            <p:nvPr/>
          </p:nvSpPr>
          <p:spPr bwMode="auto">
            <a:xfrm>
              <a:off x="5715001" y="2743027"/>
              <a:ext cx="404018"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DataB</a:t>
              </a:r>
              <a:endParaRPr lang="en-US" sz="800" b="1" dirty="0">
                <a:latin typeface="VAG Rundschrift D Light"/>
              </a:endParaRPr>
            </a:p>
          </p:txBody>
        </p:sp>
        <p:sp>
          <p:nvSpPr>
            <p:cNvPr id="139" name="Rectangle 76">
              <a:extLst>
                <a:ext uri="{FF2B5EF4-FFF2-40B4-BE49-F238E27FC236}">
                  <a16:creationId xmlns:a16="http://schemas.microsoft.com/office/drawing/2014/main" id="{5B9E3BDB-7878-404E-8CE9-C90D6DCECB61}"/>
                </a:ext>
              </a:extLst>
            </p:cNvPr>
            <p:cNvSpPr>
              <a:spLocks noChangeArrowheads="1"/>
            </p:cNvSpPr>
            <p:nvPr/>
          </p:nvSpPr>
          <p:spPr bwMode="auto">
            <a:xfrm>
              <a:off x="5236345" y="2250927"/>
              <a:ext cx="417875"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AddrD</a:t>
              </a:r>
              <a:endParaRPr lang="en-US" sz="800" b="1" dirty="0">
                <a:latin typeface="VAG Rundschrift D Light"/>
              </a:endParaRPr>
            </a:p>
          </p:txBody>
        </p:sp>
        <p:sp>
          <p:nvSpPr>
            <p:cNvPr id="142" name="Rectangle 76">
              <a:extLst>
                <a:ext uri="{FF2B5EF4-FFF2-40B4-BE49-F238E27FC236}">
                  <a16:creationId xmlns:a16="http://schemas.microsoft.com/office/drawing/2014/main" id="{842CC90C-1869-4F95-88CB-CB0BB95BF066}"/>
                </a:ext>
              </a:extLst>
            </p:cNvPr>
            <p:cNvSpPr>
              <a:spLocks noChangeArrowheads="1"/>
            </p:cNvSpPr>
            <p:nvPr/>
          </p:nvSpPr>
          <p:spPr bwMode="auto">
            <a:xfrm>
              <a:off x="5239489" y="1939427"/>
              <a:ext cx="410946"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DataD</a:t>
              </a:r>
              <a:endParaRPr lang="en-US" sz="800" b="1" dirty="0">
                <a:latin typeface="VAG Rundschrift D Light"/>
              </a:endParaRPr>
            </a:p>
          </p:txBody>
        </p:sp>
        <p:sp>
          <p:nvSpPr>
            <p:cNvPr id="143" name="Rectangle 72">
              <a:extLst>
                <a:ext uri="{FF2B5EF4-FFF2-40B4-BE49-F238E27FC236}">
                  <a16:creationId xmlns:a16="http://schemas.microsoft.com/office/drawing/2014/main" id="{15CCE4F7-851D-4A77-8654-0352F472D368}"/>
                </a:ext>
              </a:extLst>
            </p:cNvPr>
            <p:cNvSpPr>
              <a:spLocks noChangeArrowheads="1"/>
            </p:cNvSpPr>
            <p:nvPr/>
          </p:nvSpPr>
          <p:spPr bwMode="auto">
            <a:xfrm>
              <a:off x="7578201" y="2146999"/>
              <a:ext cx="265448"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alu</a:t>
              </a:r>
              <a:endParaRPr lang="en-US" sz="800" b="1" dirty="0">
                <a:latin typeface="VAG Rundschrift D Light"/>
              </a:endParaRPr>
            </a:p>
          </p:txBody>
        </p:sp>
        <p:sp>
          <p:nvSpPr>
            <p:cNvPr id="145" name="Rectangle 76">
              <a:extLst>
                <a:ext uri="{FF2B5EF4-FFF2-40B4-BE49-F238E27FC236}">
                  <a16:creationId xmlns:a16="http://schemas.microsoft.com/office/drawing/2014/main" id="{D0936E18-FFDA-4F03-833B-71551A07EC72}"/>
                </a:ext>
              </a:extLst>
            </p:cNvPr>
            <p:cNvSpPr>
              <a:spLocks noChangeArrowheads="1"/>
            </p:cNvSpPr>
            <p:nvPr/>
          </p:nvSpPr>
          <p:spPr bwMode="auto">
            <a:xfrm>
              <a:off x="6133905" y="1851604"/>
              <a:ext cx="398822"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R[rs1]</a:t>
              </a:r>
            </a:p>
          </p:txBody>
        </p:sp>
        <p:sp>
          <p:nvSpPr>
            <p:cNvPr id="147" name="Rectangle 76">
              <a:extLst>
                <a:ext uri="{FF2B5EF4-FFF2-40B4-BE49-F238E27FC236}">
                  <a16:creationId xmlns:a16="http://schemas.microsoft.com/office/drawing/2014/main" id="{E734EC37-4805-4659-87EC-34591014981E}"/>
                </a:ext>
              </a:extLst>
            </p:cNvPr>
            <p:cNvSpPr>
              <a:spLocks noChangeArrowheads="1"/>
            </p:cNvSpPr>
            <p:nvPr/>
          </p:nvSpPr>
          <p:spPr bwMode="auto">
            <a:xfrm>
              <a:off x="6021868" y="3402131"/>
              <a:ext cx="398822"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R[rs2]</a:t>
              </a:r>
            </a:p>
          </p:txBody>
        </p:sp>
        <p:sp>
          <p:nvSpPr>
            <p:cNvPr id="149" name="Rectangle 56">
              <a:extLst>
                <a:ext uri="{FF2B5EF4-FFF2-40B4-BE49-F238E27FC236}">
                  <a16:creationId xmlns:a16="http://schemas.microsoft.com/office/drawing/2014/main" id="{349084F9-9B1F-47E8-B209-9030D0489030}"/>
                </a:ext>
              </a:extLst>
            </p:cNvPr>
            <p:cNvSpPr>
              <a:spLocks noChangeArrowheads="1"/>
            </p:cNvSpPr>
            <p:nvPr/>
          </p:nvSpPr>
          <p:spPr bwMode="auto">
            <a:xfrm>
              <a:off x="4036992" y="4108139"/>
              <a:ext cx="565106"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Inst</a:t>
              </a:r>
              <a:r>
                <a:rPr lang="en-US" sz="800" b="1" dirty="0">
                  <a:latin typeface="VAG Rundschrift D Light"/>
                </a:rPr>
                <a:t>[31:0]</a:t>
              </a:r>
            </a:p>
          </p:txBody>
        </p:sp>
        <p:sp>
          <p:nvSpPr>
            <p:cNvPr id="151" name="Freeform 53">
              <a:extLst>
                <a:ext uri="{FF2B5EF4-FFF2-40B4-BE49-F238E27FC236}">
                  <a16:creationId xmlns:a16="http://schemas.microsoft.com/office/drawing/2014/main" id="{2F97B989-C9BE-4B1C-81F7-39C537E85170}"/>
                </a:ext>
              </a:extLst>
            </p:cNvPr>
            <p:cNvSpPr>
              <a:spLocks/>
            </p:cNvSpPr>
            <p:nvPr/>
          </p:nvSpPr>
          <p:spPr bwMode="auto">
            <a:xfrm>
              <a:off x="6140917" y="2879877"/>
              <a:ext cx="211501" cy="53913"/>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grpSp>
          <p:nvGrpSpPr>
            <p:cNvPr id="155" name="Group 154">
              <a:extLst>
                <a:ext uri="{FF2B5EF4-FFF2-40B4-BE49-F238E27FC236}">
                  <a16:creationId xmlns:a16="http://schemas.microsoft.com/office/drawing/2014/main" id="{CD285805-23B3-4B9E-B1A8-68D5489D9B73}"/>
                </a:ext>
              </a:extLst>
            </p:cNvPr>
            <p:cNvGrpSpPr/>
            <p:nvPr/>
          </p:nvGrpSpPr>
          <p:grpSpPr>
            <a:xfrm>
              <a:off x="2438400" y="3221436"/>
              <a:ext cx="6622666" cy="1407714"/>
              <a:chOff x="1442576" y="4181155"/>
              <a:chExt cx="10596266" cy="2252342"/>
            </a:xfrm>
            <a:noFill/>
          </p:grpSpPr>
          <p:sp>
            <p:nvSpPr>
              <p:cNvPr id="156" name="Rectangle 74">
                <a:extLst>
                  <a:ext uri="{FF2B5EF4-FFF2-40B4-BE49-F238E27FC236}">
                    <a16:creationId xmlns:a16="http://schemas.microsoft.com/office/drawing/2014/main" id="{EEB79B59-4862-4AFE-9178-8FA7B8F331E1}"/>
                  </a:ext>
                </a:extLst>
              </p:cNvPr>
              <p:cNvSpPr>
                <a:spLocks noChangeArrowheads="1"/>
              </p:cNvSpPr>
              <p:nvPr/>
            </p:nvSpPr>
            <p:spPr bwMode="auto">
              <a:xfrm>
                <a:off x="1442576" y="5548410"/>
                <a:ext cx="10596266" cy="885087"/>
              </a:xfrm>
              <a:prstGeom prst="rect">
                <a:avLst/>
              </a:prstGeom>
              <a:grpFill/>
              <a:ln w="38100">
                <a:solidFill>
                  <a:schemeClr val="tx1"/>
                </a:solidFill>
                <a:miter lim="800000"/>
                <a:headEnd/>
                <a:tailEnd/>
              </a:ln>
            </p:spPr>
            <p:txBody>
              <a:bodyPr wrap="none" anchor="ctr">
                <a:prstTxWarp prst="textNoShape">
                  <a:avLst/>
                </a:prstTxWarp>
              </a:bodyPr>
              <a:lstStyle/>
              <a:p>
                <a:endParaRPr lang="en-US" sz="1200">
                  <a:latin typeface="VAG Rundschrift D Light"/>
                </a:endParaRPr>
              </a:p>
            </p:txBody>
          </p:sp>
          <p:sp>
            <p:nvSpPr>
              <p:cNvPr id="157" name="Rectangle 39">
                <a:extLst>
                  <a:ext uri="{FF2B5EF4-FFF2-40B4-BE49-F238E27FC236}">
                    <a16:creationId xmlns:a16="http://schemas.microsoft.com/office/drawing/2014/main" id="{DBBFBA2A-FF83-409C-97E7-E677BD5ABE17}"/>
                  </a:ext>
                </a:extLst>
              </p:cNvPr>
              <p:cNvSpPr>
                <a:spLocks noChangeArrowheads="1"/>
              </p:cNvSpPr>
              <p:nvPr/>
            </p:nvSpPr>
            <p:spPr bwMode="auto">
              <a:xfrm>
                <a:off x="4246218" y="5991246"/>
                <a:ext cx="1594134" cy="441173"/>
              </a:xfrm>
              <a:prstGeom prst="rect">
                <a:avLst/>
              </a:prstGeom>
              <a:grpFill/>
              <a:ln w="25400">
                <a:noFill/>
                <a:miter lim="800000"/>
                <a:headEnd/>
                <a:tailEnd/>
              </a:ln>
            </p:spPr>
            <p:txBody>
              <a:bodyPr wrap="none" lIns="56555" tIns="27781" rIns="56555" bIns="27781">
                <a:prstTxWarp prst="textNoShape">
                  <a:avLst/>
                </a:prstTxWarp>
                <a:spAutoFit/>
              </a:bodyPr>
              <a:lstStyle/>
              <a:p>
                <a:pPr>
                  <a:spcBef>
                    <a:spcPct val="0"/>
                  </a:spcBef>
                </a:pPr>
                <a:r>
                  <a:rPr lang="en-US" sz="1200" b="1" dirty="0">
                    <a:latin typeface="VAG Rundschrift D Light"/>
                  </a:rPr>
                  <a:t>Control logic</a:t>
                </a:r>
              </a:p>
            </p:txBody>
          </p:sp>
          <p:sp>
            <p:nvSpPr>
              <p:cNvPr id="158" name="Rectangle 39">
                <a:extLst>
                  <a:ext uri="{FF2B5EF4-FFF2-40B4-BE49-F238E27FC236}">
                    <a16:creationId xmlns:a16="http://schemas.microsoft.com/office/drawing/2014/main" id="{C05216CA-CA60-48AC-AE26-86A01215DDA3}"/>
                  </a:ext>
                </a:extLst>
              </p:cNvPr>
              <p:cNvSpPr>
                <a:spLocks noChangeArrowheads="1"/>
              </p:cNvSpPr>
              <p:nvPr/>
            </p:nvSpPr>
            <p:spPr bwMode="auto">
              <a:xfrm>
                <a:off x="6490430" y="5597595"/>
                <a:ext cx="809942" cy="328382"/>
              </a:xfrm>
              <a:prstGeom prst="rect">
                <a:avLst/>
              </a:prstGeom>
              <a:grpFill/>
              <a:ln w="25400">
                <a:noFill/>
                <a:miter lim="800000"/>
                <a:headEnd/>
                <a:tailEnd/>
              </a:ln>
            </p:spPr>
            <p:txBody>
              <a:bodyPr wrap="none" lIns="56555" tIns="27781" rIns="56555" bIns="27781">
                <a:prstTxWarp prst="textNoShape">
                  <a:avLst/>
                </a:prstTxWarp>
                <a:spAutoFit/>
              </a:bodyPr>
              <a:lstStyle/>
              <a:p>
                <a:pPr algn="ctr">
                  <a:spcBef>
                    <a:spcPct val="0"/>
                  </a:spcBef>
                </a:pPr>
                <a:r>
                  <a:rPr lang="en-US" sz="800" b="1" dirty="0" err="1">
                    <a:latin typeface="VAG Rundschrift D Light"/>
                  </a:rPr>
                  <a:t>RegWEn</a:t>
                </a:r>
                <a:endParaRPr lang="en-US" sz="800" b="1" dirty="0">
                  <a:latin typeface="VAG Rundschrift D Light"/>
                </a:endParaRPr>
              </a:p>
            </p:txBody>
          </p:sp>
          <p:cxnSp>
            <p:nvCxnSpPr>
              <p:cNvPr id="159" name="Straight Arrow Connector 158">
                <a:extLst>
                  <a:ext uri="{FF2B5EF4-FFF2-40B4-BE49-F238E27FC236}">
                    <a16:creationId xmlns:a16="http://schemas.microsoft.com/office/drawing/2014/main" id="{F46B2570-F707-4A3E-9A57-919613BFF4F9}"/>
                  </a:ext>
                </a:extLst>
              </p:cNvPr>
              <p:cNvCxnSpPr>
                <a:cxnSpLocks/>
              </p:cNvCxnSpPr>
              <p:nvPr/>
            </p:nvCxnSpPr>
            <p:spPr bwMode="auto">
              <a:xfrm flipV="1">
                <a:off x="6928976" y="4181155"/>
                <a:ext cx="0" cy="1306503"/>
              </a:xfrm>
              <a:prstGeom prst="straightConnector1">
                <a:avLst/>
              </a:prstGeom>
              <a:grp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104" name="Group 103">
              <a:extLst>
                <a:ext uri="{FF2B5EF4-FFF2-40B4-BE49-F238E27FC236}">
                  <a16:creationId xmlns:a16="http://schemas.microsoft.com/office/drawing/2014/main" id="{6AF3EB63-580D-4265-98D4-D7C0A4A53A43}"/>
                </a:ext>
              </a:extLst>
            </p:cNvPr>
            <p:cNvGrpSpPr/>
            <p:nvPr/>
          </p:nvGrpSpPr>
          <p:grpSpPr>
            <a:xfrm>
              <a:off x="7065704" y="2797994"/>
              <a:ext cx="173296" cy="458658"/>
              <a:chOff x="5791200" y="1352550"/>
              <a:chExt cx="152400" cy="533400"/>
            </a:xfrm>
          </p:grpSpPr>
          <p:sp>
            <p:nvSpPr>
              <p:cNvPr id="105" name="Trapezoid 104">
                <a:extLst>
                  <a:ext uri="{FF2B5EF4-FFF2-40B4-BE49-F238E27FC236}">
                    <a16:creationId xmlns:a16="http://schemas.microsoft.com/office/drawing/2014/main" id="{18ADDF91-FB7E-4640-8CB1-5EA94638B1A7}"/>
                  </a:ext>
                </a:extLst>
              </p:cNvPr>
              <p:cNvSpPr/>
              <p:nvPr/>
            </p:nvSpPr>
            <p:spPr>
              <a:xfrm rot="5400000">
                <a:off x="5600700" y="1543050"/>
                <a:ext cx="533400" cy="152400"/>
              </a:xfrm>
              <a:prstGeom prst="trapezoid">
                <a:avLst>
                  <a:gd name="adj" fmla="val 62709"/>
                </a:avLst>
              </a:prstGeom>
              <a:noFill/>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2667">
                  <a:latin typeface="VAG Rundschrift D Light"/>
                </a:endParaRPr>
              </a:p>
            </p:txBody>
          </p:sp>
          <p:sp>
            <p:nvSpPr>
              <p:cNvPr id="106" name="TextBox 105">
                <a:extLst>
                  <a:ext uri="{FF2B5EF4-FFF2-40B4-BE49-F238E27FC236}">
                    <a16:creationId xmlns:a16="http://schemas.microsoft.com/office/drawing/2014/main" id="{C5AE6B79-F2FB-4EE4-95D7-8E26017BC478}"/>
                  </a:ext>
                </a:extLst>
              </p:cNvPr>
              <p:cNvSpPr txBox="1"/>
              <p:nvPr/>
            </p:nvSpPr>
            <p:spPr>
              <a:xfrm>
                <a:off x="5807076" y="1390648"/>
                <a:ext cx="76201" cy="136722"/>
              </a:xfrm>
              <a:prstGeom prst="rect">
                <a:avLst/>
              </a:prstGeom>
              <a:noFill/>
              <a:ln>
                <a:noFill/>
              </a:ln>
            </p:spPr>
            <p:txBody>
              <a:bodyPr wrap="square" lIns="0" tIns="0" rIns="0" bIns="0" rtlCol="0">
                <a:spAutoFit/>
              </a:bodyPr>
              <a:lstStyle/>
              <a:p>
                <a:r>
                  <a:rPr lang="en-US" sz="667" dirty="0">
                    <a:latin typeface="VAG Rundschrift D Light"/>
                  </a:rPr>
                  <a:t>0</a:t>
                </a:r>
              </a:p>
            </p:txBody>
          </p:sp>
          <p:sp>
            <p:nvSpPr>
              <p:cNvPr id="107" name="TextBox 106">
                <a:extLst>
                  <a:ext uri="{FF2B5EF4-FFF2-40B4-BE49-F238E27FC236}">
                    <a16:creationId xmlns:a16="http://schemas.microsoft.com/office/drawing/2014/main" id="{12EE3FAD-7B79-4A07-B9F8-A46307B0CB49}"/>
                  </a:ext>
                </a:extLst>
              </p:cNvPr>
              <p:cNvSpPr txBox="1"/>
              <p:nvPr/>
            </p:nvSpPr>
            <p:spPr>
              <a:xfrm>
                <a:off x="5821935" y="1638301"/>
                <a:ext cx="41129" cy="136722"/>
              </a:xfrm>
              <a:prstGeom prst="rect">
                <a:avLst/>
              </a:prstGeom>
              <a:noFill/>
              <a:ln>
                <a:noFill/>
              </a:ln>
            </p:spPr>
            <p:txBody>
              <a:bodyPr wrap="none" lIns="0" tIns="0" rIns="0" bIns="0" rtlCol="0">
                <a:spAutoFit/>
              </a:bodyPr>
              <a:lstStyle/>
              <a:p>
                <a:r>
                  <a:rPr lang="en-US" sz="667" dirty="0">
                    <a:latin typeface="VAG Rundschrift D Light"/>
                  </a:rPr>
                  <a:t>1</a:t>
                </a:r>
              </a:p>
            </p:txBody>
          </p:sp>
        </p:grpSp>
        <p:sp>
          <p:nvSpPr>
            <p:cNvPr id="108" name="Freeform 53">
              <a:extLst>
                <a:ext uri="{FF2B5EF4-FFF2-40B4-BE49-F238E27FC236}">
                  <a16:creationId xmlns:a16="http://schemas.microsoft.com/office/drawing/2014/main" id="{2E7DA787-8E69-4B24-BB67-8D5C09A4779B}"/>
                </a:ext>
              </a:extLst>
            </p:cNvPr>
            <p:cNvSpPr>
              <a:spLocks/>
            </p:cNvSpPr>
            <p:nvPr/>
          </p:nvSpPr>
          <p:spPr bwMode="auto">
            <a:xfrm flipV="1">
              <a:off x="6956945" y="3095805"/>
              <a:ext cx="12318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09" name="Line 86">
              <a:extLst>
                <a:ext uri="{FF2B5EF4-FFF2-40B4-BE49-F238E27FC236}">
                  <a16:creationId xmlns:a16="http://schemas.microsoft.com/office/drawing/2014/main" id="{32C18C58-FEB1-4AB0-AEF5-262D760AF47D}"/>
                </a:ext>
              </a:extLst>
            </p:cNvPr>
            <p:cNvSpPr>
              <a:spLocks noChangeShapeType="1"/>
            </p:cNvSpPr>
            <p:nvPr/>
          </p:nvSpPr>
          <p:spPr bwMode="auto">
            <a:xfrm flipH="1">
              <a:off x="6943684" y="3156274"/>
              <a:ext cx="4" cy="438695"/>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10" name="Freeform 53">
              <a:extLst>
                <a:ext uri="{FF2B5EF4-FFF2-40B4-BE49-F238E27FC236}">
                  <a16:creationId xmlns:a16="http://schemas.microsoft.com/office/drawing/2014/main" id="{55F78D96-4983-4084-9955-EE2C7CFA2811}"/>
                </a:ext>
              </a:extLst>
            </p:cNvPr>
            <p:cNvSpPr>
              <a:spLocks/>
            </p:cNvSpPr>
            <p:nvPr/>
          </p:nvSpPr>
          <p:spPr bwMode="auto">
            <a:xfrm>
              <a:off x="7261364" y="2998676"/>
              <a:ext cx="108617"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5" name="Rectangle 76">
              <a:extLst>
                <a:ext uri="{FF2B5EF4-FFF2-40B4-BE49-F238E27FC236}">
                  <a16:creationId xmlns:a16="http://schemas.microsoft.com/office/drawing/2014/main" id="{C9ED7DEE-75BE-49F7-9186-92C60B8EF527}"/>
                </a:ext>
              </a:extLst>
            </p:cNvPr>
            <p:cNvSpPr>
              <a:spLocks noChangeArrowheads="1"/>
            </p:cNvSpPr>
            <p:nvPr/>
          </p:nvSpPr>
          <p:spPr bwMode="auto">
            <a:xfrm>
              <a:off x="5235359" y="3580167"/>
              <a:ext cx="603212" cy="205239"/>
            </a:xfrm>
            <a:prstGeom prst="rect">
              <a:avLst/>
            </a:prstGeom>
            <a:noFill/>
            <a:ln w="28575">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Imm</a:t>
              </a:r>
              <a:r>
                <a:rPr lang="en-US" sz="800" b="1" dirty="0">
                  <a:latin typeface="VAG Rundschrift D Light"/>
                </a:rPr>
                <a:t>[31:0]</a:t>
              </a:r>
            </a:p>
          </p:txBody>
        </p:sp>
        <p:cxnSp>
          <p:nvCxnSpPr>
            <p:cNvPr id="119" name="Straight Arrow Connector 118">
              <a:extLst>
                <a:ext uri="{FF2B5EF4-FFF2-40B4-BE49-F238E27FC236}">
                  <a16:creationId xmlns:a16="http://schemas.microsoft.com/office/drawing/2014/main" id="{1A866699-37AD-47C7-ADE3-3570AD42108C}"/>
                </a:ext>
              </a:extLst>
            </p:cNvPr>
            <p:cNvCxnSpPr>
              <a:cxnSpLocks/>
            </p:cNvCxnSpPr>
            <p:nvPr/>
          </p:nvCxnSpPr>
          <p:spPr bwMode="auto">
            <a:xfrm flipV="1">
              <a:off x="7146502" y="3212637"/>
              <a:ext cx="5850" cy="846374"/>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 name="Rectangle 39">
              <a:extLst>
                <a:ext uri="{FF2B5EF4-FFF2-40B4-BE49-F238E27FC236}">
                  <a16:creationId xmlns:a16="http://schemas.microsoft.com/office/drawing/2014/main" id="{6A9E40A1-4BFA-4670-9061-920A4875E287}"/>
                </a:ext>
              </a:extLst>
            </p:cNvPr>
            <p:cNvSpPr>
              <a:spLocks noChangeArrowheads="1"/>
            </p:cNvSpPr>
            <p:nvPr/>
          </p:nvSpPr>
          <p:spPr bwMode="auto">
            <a:xfrm>
              <a:off x="6915567" y="4071145"/>
              <a:ext cx="338197"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Bsel</a:t>
              </a:r>
              <a:r>
                <a:rPr lang="en-US" sz="800" b="1" dirty="0">
                  <a:latin typeface="VAG Rundschrift D Light"/>
                </a:rPr>
                <a:t> </a:t>
              </a:r>
            </a:p>
          </p:txBody>
        </p:sp>
        <p:grpSp>
          <p:nvGrpSpPr>
            <p:cNvPr id="112" name="Group 111">
              <a:extLst>
                <a:ext uri="{FF2B5EF4-FFF2-40B4-BE49-F238E27FC236}">
                  <a16:creationId xmlns:a16="http://schemas.microsoft.com/office/drawing/2014/main" id="{4C2EC051-7E6C-4880-81E9-5628FAEB3331}"/>
                </a:ext>
              </a:extLst>
            </p:cNvPr>
            <p:cNvGrpSpPr/>
            <p:nvPr/>
          </p:nvGrpSpPr>
          <p:grpSpPr>
            <a:xfrm>
              <a:off x="4700865" y="3228757"/>
              <a:ext cx="560661" cy="717808"/>
              <a:chOff x="3749367" y="3105151"/>
              <a:chExt cx="573438" cy="762000"/>
            </a:xfrm>
          </p:grpSpPr>
          <p:sp>
            <p:nvSpPr>
              <p:cNvPr id="113" name="Trapezoid 112">
                <a:extLst>
                  <a:ext uri="{FF2B5EF4-FFF2-40B4-BE49-F238E27FC236}">
                    <a16:creationId xmlns:a16="http://schemas.microsoft.com/office/drawing/2014/main" id="{E7D1C109-C137-4804-B832-2BBC518CCECD}"/>
                  </a:ext>
                </a:extLst>
              </p:cNvPr>
              <p:cNvSpPr/>
              <p:nvPr/>
            </p:nvSpPr>
            <p:spPr>
              <a:xfrm rot="5400000">
                <a:off x="3675105" y="3219451"/>
                <a:ext cx="762000" cy="533400"/>
              </a:xfrm>
              <a:prstGeom prst="trapezoid">
                <a:avLst>
                  <a:gd name="adj" fmla="val 30656"/>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US" sz="4800" dirty="0">
                  <a:latin typeface="VAG Rundschrift D Light"/>
                </a:endParaRPr>
              </a:p>
            </p:txBody>
          </p:sp>
          <p:sp>
            <p:nvSpPr>
              <p:cNvPr id="114" name="TextBox 113">
                <a:extLst>
                  <a:ext uri="{FF2B5EF4-FFF2-40B4-BE49-F238E27FC236}">
                    <a16:creationId xmlns:a16="http://schemas.microsoft.com/office/drawing/2014/main" id="{5AF28F40-BC89-43E7-986F-17C0BB46A989}"/>
                  </a:ext>
                </a:extLst>
              </p:cNvPr>
              <p:cNvSpPr txBox="1"/>
              <p:nvPr/>
            </p:nvSpPr>
            <p:spPr>
              <a:xfrm>
                <a:off x="3749367" y="3209743"/>
                <a:ext cx="572580" cy="561253"/>
              </a:xfrm>
              <a:prstGeom prst="rect">
                <a:avLst/>
              </a:prstGeom>
              <a:noFill/>
              <a:ln>
                <a:noFill/>
              </a:ln>
            </p:spPr>
            <p:txBody>
              <a:bodyPr wrap="none" rtlCol="0">
                <a:spAutoFit/>
              </a:bodyPr>
              <a:lstStyle/>
              <a:p>
                <a:r>
                  <a:rPr lang="en-US" sz="1200" b="1" dirty="0" err="1">
                    <a:latin typeface="VAG Rundschrift D Light"/>
                  </a:rPr>
                  <a:t>Imm</a:t>
                </a:r>
                <a:r>
                  <a:rPr lang="en-US" sz="1200" b="1" dirty="0">
                    <a:latin typeface="VAG Rundschrift D Light"/>
                  </a:rPr>
                  <a:t>.</a:t>
                </a:r>
              </a:p>
              <a:p>
                <a:r>
                  <a:rPr lang="en-US" sz="1200" b="1" dirty="0">
                    <a:latin typeface="VAG Rundschrift D Light"/>
                  </a:rPr>
                  <a:t>Gen</a:t>
                </a:r>
              </a:p>
            </p:txBody>
          </p:sp>
        </p:grpSp>
        <p:sp>
          <p:nvSpPr>
            <p:cNvPr id="117" name="Rectangle 56">
              <a:extLst>
                <a:ext uri="{FF2B5EF4-FFF2-40B4-BE49-F238E27FC236}">
                  <a16:creationId xmlns:a16="http://schemas.microsoft.com/office/drawing/2014/main" id="{2249A50E-7A3E-4E2E-ADAB-AEDBD4796222}"/>
                </a:ext>
              </a:extLst>
            </p:cNvPr>
            <p:cNvSpPr>
              <a:spLocks noChangeArrowheads="1"/>
            </p:cNvSpPr>
            <p:nvPr/>
          </p:nvSpPr>
          <p:spPr bwMode="auto">
            <a:xfrm>
              <a:off x="3917924" y="3305554"/>
              <a:ext cx="449053" cy="346227"/>
            </a:xfrm>
            <a:prstGeom prst="rect">
              <a:avLst/>
            </a:prstGeom>
            <a:noFill/>
            <a:ln w="12700">
              <a:noFill/>
              <a:miter lim="800000"/>
              <a:headEnd/>
              <a:tailEnd/>
            </a:ln>
          </p:spPr>
          <p:txBody>
            <a:bodyPr wrap="none" lIns="56555" tIns="27781" rIns="56555" bIns="27781">
              <a:prstTxWarp prst="textNoShape">
                <a:avLst/>
              </a:prstTxWarp>
              <a:spAutoFit/>
            </a:bodyPr>
            <a:lstStyle/>
            <a:p>
              <a:pPr algn="l">
                <a:spcBef>
                  <a:spcPct val="0"/>
                </a:spcBef>
              </a:pPr>
              <a:r>
                <a:rPr lang="en-US" sz="800" b="1" dirty="0" err="1">
                  <a:latin typeface="VAG Rundschrift D Light"/>
                </a:rPr>
                <a:t>Inst</a:t>
              </a:r>
              <a:br>
                <a:rPr lang="en-US" sz="800" b="1" dirty="0">
                  <a:latin typeface="VAG Rundschrift D Light"/>
                </a:rPr>
              </a:br>
              <a:r>
                <a:rPr lang="en-US" sz="800" b="1" dirty="0">
                  <a:latin typeface="VAG Rundschrift D Light"/>
                </a:rPr>
                <a:t>[31:20]</a:t>
              </a:r>
            </a:p>
          </p:txBody>
        </p:sp>
        <p:cxnSp>
          <p:nvCxnSpPr>
            <p:cNvPr id="118" name="Straight Arrow Connector 117">
              <a:extLst>
                <a:ext uri="{FF2B5EF4-FFF2-40B4-BE49-F238E27FC236}">
                  <a16:creationId xmlns:a16="http://schemas.microsoft.com/office/drawing/2014/main" id="{05CBFAB8-68CC-4C39-9B66-F81892878DC4}"/>
                </a:ext>
              </a:extLst>
            </p:cNvPr>
            <p:cNvCxnSpPr>
              <a:cxnSpLocks/>
              <a:endCxn id="113" idx="3"/>
            </p:cNvCxnSpPr>
            <p:nvPr/>
          </p:nvCxnSpPr>
          <p:spPr bwMode="auto">
            <a:xfrm flipH="1" flipV="1">
              <a:off x="5000769" y="3866628"/>
              <a:ext cx="5942" cy="171374"/>
            </a:xfrm>
            <a:prstGeom prst="straightConnector1">
              <a:avLst/>
            </a:prstGeom>
            <a:solidFill>
              <a:schemeClr val="accent1"/>
            </a:solid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1" name="Rectangle 39">
              <a:extLst>
                <a:ext uri="{FF2B5EF4-FFF2-40B4-BE49-F238E27FC236}">
                  <a16:creationId xmlns:a16="http://schemas.microsoft.com/office/drawing/2014/main" id="{2AAE59D5-8D07-45E8-A576-A1A1288164BD}"/>
                </a:ext>
              </a:extLst>
            </p:cNvPr>
            <p:cNvSpPr>
              <a:spLocks noChangeArrowheads="1"/>
            </p:cNvSpPr>
            <p:nvPr/>
          </p:nvSpPr>
          <p:spPr bwMode="auto">
            <a:xfrm>
              <a:off x="4822017" y="4118333"/>
              <a:ext cx="468107" cy="346227"/>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ImmSel</a:t>
              </a:r>
              <a:br>
                <a:rPr lang="en-US" sz="800" b="1" dirty="0">
                  <a:latin typeface="VAG Rundschrift D Light"/>
                </a:rPr>
              </a:br>
              <a:endParaRPr lang="en-US" sz="800" b="1" dirty="0">
                <a:latin typeface="VAG Rundschrift D Light"/>
              </a:endParaRPr>
            </a:p>
          </p:txBody>
        </p:sp>
        <p:sp>
          <p:nvSpPr>
            <p:cNvPr id="121" name="Freeform 61">
              <a:extLst>
                <a:ext uri="{FF2B5EF4-FFF2-40B4-BE49-F238E27FC236}">
                  <a16:creationId xmlns:a16="http://schemas.microsoft.com/office/drawing/2014/main" id="{561FDB16-26A8-4D93-A7EA-91551376733D}"/>
                </a:ext>
              </a:extLst>
            </p:cNvPr>
            <p:cNvSpPr>
              <a:spLocks/>
            </p:cNvSpPr>
            <p:nvPr/>
          </p:nvSpPr>
          <p:spPr bwMode="auto">
            <a:xfrm>
              <a:off x="4357910" y="3587660"/>
              <a:ext cx="382101" cy="45719"/>
            </a:xfrm>
            <a:custGeom>
              <a:avLst/>
              <a:gdLst>
                <a:gd name="T0" fmla="*/ 0 w 817"/>
                <a:gd name="T1" fmla="*/ 0 h 1"/>
                <a:gd name="T2" fmla="*/ 816 w 817"/>
                <a:gd name="T3" fmla="*/ 0 h 1"/>
                <a:gd name="T4" fmla="*/ 0 60000 65536"/>
                <a:gd name="T5" fmla="*/ 0 60000 65536"/>
                <a:gd name="T6" fmla="*/ 0 w 817"/>
                <a:gd name="T7" fmla="*/ 0 h 1"/>
                <a:gd name="T8" fmla="*/ 817 w 817"/>
                <a:gd name="T9" fmla="*/ 1 h 1"/>
              </a:gdLst>
              <a:ahLst/>
              <a:cxnLst>
                <a:cxn ang="T4">
                  <a:pos x="T0" y="T1"/>
                </a:cxn>
                <a:cxn ang="T5">
                  <a:pos x="T2" y="T3"/>
                </a:cxn>
              </a:cxnLst>
              <a:rect l="T6" t="T7" r="T8" b="T9"/>
              <a:pathLst>
                <a:path w="817" h="1">
                  <a:moveTo>
                    <a:pt x="0" y="0"/>
                  </a:moveTo>
                  <a:lnTo>
                    <a:pt x="816"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22" name="Line 85">
              <a:extLst>
                <a:ext uri="{FF2B5EF4-FFF2-40B4-BE49-F238E27FC236}">
                  <a16:creationId xmlns:a16="http://schemas.microsoft.com/office/drawing/2014/main" id="{3F1BF7E2-7C78-4F8B-9A36-3519990D5153}"/>
                </a:ext>
              </a:extLst>
            </p:cNvPr>
            <p:cNvSpPr>
              <a:spLocks noChangeShapeType="1"/>
            </p:cNvSpPr>
            <p:nvPr/>
          </p:nvSpPr>
          <p:spPr bwMode="auto">
            <a:xfrm>
              <a:off x="5273411" y="3589761"/>
              <a:ext cx="1663521" cy="5208"/>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15" name="Rectangle 76">
              <a:extLst>
                <a:ext uri="{FF2B5EF4-FFF2-40B4-BE49-F238E27FC236}">
                  <a16:creationId xmlns:a16="http://schemas.microsoft.com/office/drawing/2014/main" id="{A5647F8A-FB34-4267-AAF7-A2E76C642825}"/>
                </a:ext>
              </a:extLst>
            </p:cNvPr>
            <p:cNvSpPr>
              <a:spLocks noChangeArrowheads="1"/>
            </p:cNvSpPr>
            <p:nvPr/>
          </p:nvSpPr>
          <p:spPr bwMode="auto">
            <a:xfrm>
              <a:off x="8174222" y="2428255"/>
              <a:ext cx="404018"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DataB</a:t>
              </a:r>
              <a:endParaRPr lang="en-US" sz="800" b="1" dirty="0">
                <a:latin typeface="VAG Rundschrift D Light"/>
              </a:endParaRPr>
            </a:p>
          </p:txBody>
        </p:sp>
        <p:sp>
          <p:nvSpPr>
            <p:cNvPr id="116" name="Line 86">
              <a:extLst>
                <a:ext uri="{FF2B5EF4-FFF2-40B4-BE49-F238E27FC236}">
                  <a16:creationId xmlns:a16="http://schemas.microsoft.com/office/drawing/2014/main" id="{D81ADB33-0737-4505-86BF-6075792AEA04}"/>
                </a:ext>
              </a:extLst>
            </p:cNvPr>
            <p:cNvSpPr>
              <a:spLocks noChangeShapeType="1"/>
            </p:cNvSpPr>
            <p:nvPr/>
          </p:nvSpPr>
          <p:spPr bwMode="auto">
            <a:xfrm>
              <a:off x="8936296" y="2343150"/>
              <a:ext cx="78980" cy="0"/>
            </a:xfrm>
            <a:prstGeom prst="line">
              <a:avLst/>
            </a:prstGeom>
            <a:noFill/>
            <a:ln w="28575"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cxnSp>
          <p:nvCxnSpPr>
            <p:cNvPr id="124" name="Straight Arrow Connector 123">
              <a:extLst>
                <a:ext uri="{FF2B5EF4-FFF2-40B4-BE49-F238E27FC236}">
                  <a16:creationId xmlns:a16="http://schemas.microsoft.com/office/drawing/2014/main" id="{94D355E3-C505-42B1-8BF7-7EEE182B682E}"/>
                </a:ext>
              </a:extLst>
            </p:cNvPr>
            <p:cNvCxnSpPr>
              <a:cxnSpLocks/>
            </p:cNvCxnSpPr>
            <p:nvPr/>
          </p:nvCxnSpPr>
          <p:spPr bwMode="auto">
            <a:xfrm flipV="1">
              <a:off x="8153400" y="3362681"/>
              <a:ext cx="6734" cy="696330"/>
            </a:xfrm>
            <a:prstGeom prst="straightConnector1">
              <a:avLst/>
            </a:prstGeom>
            <a:solidFill>
              <a:schemeClr val="accent1"/>
            </a:solidFill>
            <a:ln w="28575" cap="flat" cmpd="sng" algn="ctr">
              <a:solidFill>
                <a:schemeClr val="tx1">
                  <a:lumMod val="95000"/>
                </a:schemeClr>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25" name="Rectangle 39">
              <a:extLst>
                <a:ext uri="{FF2B5EF4-FFF2-40B4-BE49-F238E27FC236}">
                  <a16:creationId xmlns:a16="http://schemas.microsoft.com/office/drawing/2014/main" id="{F439F464-9A64-4DB9-B566-D2B0B2979FD7}"/>
                </a:ext>
              </a:extLst>
            </p:cNvPr>
            <p:cNvSpPr>
              <a:spLocks noChangeArrowheads="1"/>
            </p:cNvSpPr>
            <p:nvPr/>
          </p:nvSpPr>
          <p:spPr bwMode="auto">
            <a:xfrm>
              <a:off x="8635774" y="4105031"/>
              <a:ext cx="421339"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WBSel</a:t>
              </a:r>
              <a:endParaRPr lang="en-US" sz="800" b="1" dirty="0">
                <a:latin typeface="VAG Rundschrift D Light"/>
              </a:endParaRPr>
            </a:p>
          </p:txBody>
        </p:sp>
        <p:sp>
          <p:nvSpPr>
            <p:cNvPr id="128" name="Trapezoid 127">
              <a:extLst>
                <a:ext uri="{FF2B5EF4-FFF2-40B4-BE49-F238E27FC236}">
                  <a16:creationId xmlns:a16="http://schemas.microsoft.com/office/drawing/2014/main" id="{EFB53943-9D5C-441E-9153-FEBBA539F621}"/>
                </a:ext>
              </a:extLst>
            </p:cNvPr>
            <p:cNvSpPr/>
            <p:nvPr/>
          </p:nvSpPr>
          <p:spPr>
            <a:xfrm rot="5400000">
              <a:off x="8462372" y="2107661"/>
              <a:ext cx="778862" cy="181697"/>
            </a:xfrm>
            <a:prstGeom prst="trapezoid">
              <a:avLst>
                <a:gd name="adj" fmla="val 62709"/>
              </a:avLst>
            </a:prstGeom>
            <a:noFill/>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2667">
                <a:latin typeface="VAG Rundschrift D Light"/>
              </a:endParaRPr>
            </a:p>
          </p:txBody>
        </p:sp>
        <p:sp>
          <p:nvSpPr>
            <p:cNvPr id="132" name="TextBox 131">
              <a:extLst>
                <a:ext uri="{FF2B5EF4-FFF2-40B4-BE49-F238E27FC236}">
                  <a16:creationId xmlns:a16="http://schemas.microsoft.com/office/drawing/2014/main" id="{2F3EBA22-51DF-47CF-85F0-CFCAFA0BF558}"/>
                </a:ext>
              </a:extLst>
            </p:cNvPr>
            <p:cNvSpPr txBox="1"/>
            <p:nvPr/>
          </p:nvSpPr>
          <p:spPr>
            <a:xfrm>
              <a:off x="8793338" y="2374378"/>
              <a:ext cx="86648" cy="117564"/>
            </a:xfrm>
            <a:prstGeom prst="rect">
              <a:avLst/>
            </a:prstGeom>
            <a:noFill/>
            <a:ln>
              <a:noFill/>
            </a:ln>
          </p:spPr>
          <p:txBody>
            <a:bodyPr wrap="square" lIns="0" tIns="0" rIns="0" bIns="0" rtlCol="0">
              <a:spAutoFit/>
            </a:bodyPr>
            <a:lstStyle/>
            <a:p>
              <a:r>
                <a:rPr lang="en-US" sz="667" dirty="0">
                  <a:latin typeface="VAG Rundschrift D Light"/>
                </a:rPr>
                <a:t>0</a:t>
              </a:r>
            </a:p>
          </p:txBody>
        </p:sp>
        <p:sp>
          <p:nvSpPr>
            <p:cNvPr id="135" name="TextBox 134">
              <a:extLst>
                <a:ext uri="{FF2B5EF4-FFF2-40B4-BE49-F238E27FC236}">
                  <a16:creationId xmlns:a16="http://schemas.microsoft.com/office/drawing/2014/main" id="{909BB171-C87D-4A89-B6D1-3A7C9C58284D}"/>
                </a:ext>
              </a:extLst>
            </p:cNvPr>
            <p:cNvSpPr txBox="1"/>
            <p:nvPr/>
          </p:nvSpPr>
          <p:spPr>
            <a:xfrm>
              <a:off x="8793338" y="2152754"/>
              <a:ext cx="46768" cy="117564"/>
            </a:xfrm>
            <a:prstGeom prst="rect">
              <a:avLst/>
            </a:prstGeom>
            <a:noFill/>
            <a:ln>
              <a:noFill/>
            </a:ln>
          </p:spPr>
          <p:txBody>
            <a:bodyPr wrap="none" lIns="0" tIns="0" rIns="0" bIns="0" rtlCol="0">
              <a:spAutoFit/>
            </a:bodyPr>
            <a:lstStyle/>
            <a:p>
              <a:r>
                <a:rPr lang="en-US" sz="667" dirty="0">
                  <a:latin typeface="VAG Rundschrift D Light"/>
                </a:rPr>
                <a:t>1</a:t>
              </a:r>
            </a:p>
          </p:txBody>
        </p:sp>
        <p:sp>
          <p:nvSpPr>
            <p:cNvPr id="137" name="Line 86">
              <a:extLst>
                <a:ext uri="{FF2B5EF4-FFF2-40B4-BE49-F238E27FC236}">
                  <a16:creationId xmlns:a16="http://schemas.microsoft.com/office/drawing/2014/main" id="{2EA22C46-0124-4DA4-B204-7AA1DCDA365A}"/>
                </a:ext>
              </a:extLst>
            </p:cNvPr>
            <p:cNvSpPr>
              <a:spLocks noChangeShapeType="1"/>
            </p:cNvSpPr>
            <p:nvPr/>
          </p:nvSpPr>
          <p:spPr bwMode="auto">
            <a:xfrm flipV="1">
              <a:off x="8579925" y="2446890"/>
              <a:ext cx="183075" cy="2"/>
            </a:xfrm>
            <a:prstGeom prst="line">
              <a:avLst/>
            </a:prstGeom>
            <a:noFill/>
            <a:ln w="28575" cap="rnd">
              <a:solidFill>
                <a:schemeClr val="tx1"/>
              </a:solidFill>
              <a:round/>
              <a:headEnd/>
              <a:tailEnd type="triangle"/>
            </a:ln>
          </p:spPr>
          <p:txBody>
            <a:bodyPr wrap="none" anchor="ctr">
              <a:prstTxWarp prst="textNoShape">
                <a:avLst/>
              </a:prstTxWarp>
            </a:bodyPr>
            <a:lstStyle/>
            <a:p>
              <a:endParaRPr lang="en-US" sz="1200">
                <a:latin typeface="VAG Rundschrift D Light"/>
              </a:endParaRPr>
            </a:p>
          </p:txBody>
        </p:sp>
        <p:sp>
          <p:nvSpPr>
            <p:cNvPr id="140" name="Line 86">
              <a:extLst>
                <a:ext uri="{FF2B5EF4-FFF2-40B4-BE49-F238E27FC236}">
                  <a16:creationId xmlns:a16="http://schemas.microsoft.com/office/drawing/2014/main" id="{740B9511-F327-46DC-B0FE-EEA617577E64}"/>
                </a:ext>
              </a:extLst>
            </p:cNvPr>
            <p:cNvSpPr>
              <a:spLocks noChangeShapeType="1"/>
            </p:cNvSpPr>
            <p:nvPr/>
          </p:nvSpPr>
          <p:spPr bwMode="auto">
            <a:xfrm>
              <a:off x="7803895" y="1123950"/>
              <a:ext cx="1542" cy="1629043"/>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41" name="Line 86">
              <a:extLst>
                <a:ext uri="{FF2B5EF4-FFF2-40B4-BE49-F238E27FC236}">
                  <a16:creationId xmlns:a16="http://schemas.microsoft.com/office/drawing/2014/main" id="{A7F2C532-A968-4CAD-9F64-C2763865714C}"/>
                </a:ext>
              </a:extLst>
            </p:cNvPr>
            <p:cNvSpPr>
              <a:spLocks noChangeShapeType="1"/>
            </p:cNvSpPr>
            <p:nvPr/>
          </p:nvSpPr>
          <p:spPr bwMode="auto">
            <a:xfrm>
              <a:off x="7818763" y="2196462"/>
              <a:ext cx="932468" cy="3099"/>
            </a:xfrm>
            <a:prstGeom prst="line">
              <a:avLst/>
            </a:prstGeom>
            <a:noFill/>
            <a:ln w="28575" cap="rnd">
              <a:solidFill>
                <a:schemeClr val="tx1"/>
              </a:solidFill>
              <a:round/>
              <a:headEnd/>
              <a:tailEnd type="triangle"/>
            </a:ln>
          </p:spPr>
          <p:txBody>
            <a:bodyPr wrap="none" anchor="ctr">
              <a:prstTxWarp prst="textNoShape">
                <a:avLst/>
              </a:prstTxWarp>
            </a:bodyPr>
            <a:lstStyle/>
            <a:p>
              <a:endParaRPr lang="en-US" sz="1200">
                <a:latin typeface="VAG Rundschrift D Light"/>
              </a:endParaRPr>
            </a:p>
          </p:txBody>
        </p:sp>
        <p:sp>
          <p:nvSpPr>
            <p:cNvPr id="144" name="Rectangle 39">
              <a:extLst>
                <a:ext uri="{FF2B5EF4-FFF2-40B4-BE49-F238E27FC236}">
                  <a16:creationId xmlns:a16="http://schemas.microsoft.com/office/drawing/2014/main" id="{4E2EB9BB-0452-464A-85CC-9C8CEE538745}"/>
                </a:ext>
              </a:extLst>
            </p:cNvPr>
            <p:cNvSpPr>
              <a:spLocks noChangeArrowheads="1"/>
            </p:cNvSpPr>
            <p:nvPr/>
          </p:nvSpPr>
          <p:spPr bwMode="auto">
            <a:xfrm>
              <a:off x="8037888" y="4115746"/>
              <a:ext cx="528730" cy="205239"/>
            </a:xfrm>
            <a:prstGeom prst="rect">
              <a:avLst/>
            </a:prstGeom>
            <a:noFill/>
            <a:ln w="25400">
              <a:noFill/>
              <a:miter lim="800000"/>
              <a:headEnd/>
              <a:tailEnd/>
            </a:ln>
          </p:spPr>
          <p:txBody>
            <a:bodyPr wrap="none" lIns="56555" tIns="27781" rIns="56555" bIns="27781">
              <a:prstTxWarp prst="textNoShape">
                <a:avLst/>
              </a:prstTxWarp>
              <a:spAutoFit/>
            </a:bodyPr>
            <a:lstStyle/>
            <a:p>
              <a:pPr algn="ctr">
                <a:spcBef>
                  <a:spcPct val="0"/>
                </a:spcBef>
              </a:pPr>
              <a:r>
                <a:rPr lang="en-US" sz="800" b="1" dirty="0" err="1">
                  <a:latin typeface="VAG Rundschrift D Light"/>
                </a:rPr>
                <a:t>MemRW</a:t>
              </a:r>
              <a:endParaRPr lang="en-US" sz="800" b="1" dirty="0">
                <a:latin typeface="VAG Rundschrift D Light"/>
              </a:endParaRPr>
            </a:p>
          </p:txBody>
        </p:sp>
        <p:sp>
          <p:nvSpPr>
            <p:cNvPr id="3" name="Rectangle 72">
              <a:extLst>
                <a:ext uri="{FF2B5EF4-FFF2-40B4-BE49-F238E27FC236}">
                  <a16:creationId xmlns:a16="http://schemas.microsoft.com/office/drawing/2014/main" id="{935851EE-D663-4C9C-9CF4-2B23F49EBE21}"/>
                </a:ext>
              </a:extLst>
            </p:cNvPr>
            <p:cNvSpPr>
              <a:spLocks noChangeArrowheads="1"/>
            </p:cNvSpPr>
            <p:nvPr/>
          </p:nvSpPr>
          <p:spPr bwMode="auto">
            <a:xfrm>
              <a:off x="8458474" y="3337217"/>
              <a:ext cx="251591"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err="1">
                  <a:latin typeface="VAG Rundschrift D Light"/>
                </a:rPr>
                <a:t>clk</a:t>
              </a:r>
              <a:endParaRPr lang="en-US" sz="800" b="1" dirty="0">
                <a:latin typeface="VAG Rundschrift D Light"/>
              </a:endParaRPr>
            </a:p>
          </p:txBody>
        </p:sp>
        <p:sp>
          <p:nvSpPr>
            <p:cNvPr id="4" name="Freeform 43">
              <a:extLst>
                <a:ext uri="{FF2B5EF4-FFF2-40B4-BE49-F238E27FC236}">
                  <a16:creationId xmlns:a16="http://schemas.microsoft.com/office/drawing/2014/main" id="{25970377-6E78-48A2-9C9A-6DAFC5D5988E}"/>
                </a:ext>
              </a:extLst>
            </p:cNvPr>
            <p:cNvSpPr>
              <a:spLocks/>
            </p:cNvSpPr>
            <p:nvPr/>
          </p:nvSpPr>
          <p:spPr bwMode="auto">
            <a:xfrm>
              <a:off x="8408743" y="3257550"/>
              <a:ext cx="83926" cy="83098"/>
            </a:xfrm>
            <a:custGeom>
              <a:avLst/>
              <a:gdLst>
                <a:gd name="T0" fmla="*/ 0 w 49"/>
                <a:gd name="T1" fmla="*/ 48 h 49"/>
                <a:gd name="T2" fmla="*/ 24 w 49"/>
                <a:gd name="T3" fmla="*/ 0 h 49"/>
                <a:gd name="T4" fmla="*/ 48 w 49"/>
                <a:gd name="T5" fmla="*/ 48 h 49"/>
                <a:gd name="T6" fmla="*/ 0 60000 65536"/>
                <a:gd name="T7" fmla="*/ 0 60000 65536"/>
                <a:gd name="T8" fmla="*/ 0 60000 65536"/>
                <a:gd name="T9" fmla="*/ 0 w 49"/>
                <a:gd name="T10" fmla="*/ 0 h 49"/>
                <a:gd name="T11" fmla="*/ 49 w 49"/>
                <a:gd name="T12" fmla="*/ 49 h 49"/>
              </a:gdLst>
              <a:ahLst/>
              <a:cxnLst>
                <a:cxn ang="T6">
                  <a:pos x="T0" y="T1"/>
                </a:cxn>
                <a:cxn ang="T7">
                  <a:pos x="T2" y="T3"/>
                </a:cxn>
                <a:cxn ang="T8">
                  <a:pos x="T4" y="T5"/>
                </a:cxn>
              </a:cxnLst>
              <a:rect l="T9" t="T10" r="T11" b="T12"/>
              <a:pathLst>
                <a:path w="49" h="49">
                  <a:moveTo>
                    <a:pt x="0" y="48"/>
                  </a:moveTo>
                  <a:lnTo>
                    <a:pt x="24" y="0"/>
                  </a:lnTo>
                  <a:lnTo>
                    <a:pt x="48" y="48"/>
                  </a:lnTo>
                </a:path>
              </a:pathLst>
            </a:custGeom>
            <a:noFill/>
            <a:ln w="25400" cap="rnd">
              <a:solidFill>
                <a:schemeClr val="tx1"/>
              </a:solidFill>
              <a:round/>
              <a:headEnd/>
              <a:tailEnd/>
            </a:ln>
          </p:spPr>
          <p:txBody>
            <a:bodyPr>
              <a:prstTxWarp prst="textNoShape">
                <a:avLst/>
              </a:prstTxWarp>
            </a:bodyPr>
            <a:lstStyle/>
            <a:p>
              <a:endParaRPr lang="en-US" sz="1400" b="1">
                <a:latin typeface="VAG Rundschrift D Light"/>
              </a:endParaRPr>
            </a:p>
          </p:txBody>
        </p:sp>
        <p:sp>
          <p:nvSpPr>
            <p:cNvPr id="6" name="Line 85">
              <a:extLst>
                <a:ext uri="{FF2B5EF4-FFF2-40B4-BE49-F238E27FC236}">
                  <a16:creationId xmlns:a16="http://schemas.microsoft.com/office/drawing/2014/main" id="{7AB62058-19FC-4A3F-BBB3-6ED42AF96F81}"/>
                </a:ext>
              </a:extLst>
            </p:cNvPr>
            <p:cNvSpPr>
              <a:spLocks noChangeShapeType="1"/>
            </p:cNvSpPr>
            <p:nvPr/>
          </p:nvSpPr>
          <p:spPr bwMode="auto">
            <a:xfrm flipH="1">
              <a:off x="8458200" y="3333750"/>
              <a:ext cx="0" cy="143669"/>
            </a:xfrm>
            <a:prstGeom prst="line">
              <a:avLst/>
            </a:prstGeom>
            <a:noFill/>
            <a:ln w="25400">
              <a:solidFill>
                <a:schemeClr val="tx1"/>
              </a:solidFill>
              <a:round/>
              <a:headEnd/>
              <a:tailEnd/>
            </a:ln>
          </p:spPr>
          <p:txBody>
            <a:bodyPr wrap="none" anchor="ctr">
              <a:prstTxWarp prst="textNoShape">
                <a:avLst/>
              </a:prstTxWarp>
            </a:bodyPr>
            <a:lstStyle/>
            <a:p>
              <a:endParaRPr lang="en-US" sz="1200">
                <a:latin typeface="VAG Rundschrift D Light"/>
              </a:endParaRPr>
            </a:p>
          </p:txBody>
        </p:sp>
        <p:cxnSp>
          <p:nvCxnSpPr>
            <p:cNvPr id="150" name="Straight Arrow Connector 149">
              <a:extLst>
                <a:ext uri="{FF2B5EF4-FFF2-40B4-BE49-F238E27FC236}">
                  <a16:creationId xmlns:a16="http://schemas.microsoft.com/office/drawing/2014/main" id="{CDCAE83F-2209-4EC0-878A-785CF6AB7EC1}"/>
                </a:ext>
              </a:extLst>
            </p:cNvPr>
            <p:cNvCxnSpPr>
              <a:cxnSpLocks/>
            </p:cNvCxnSpPr>
            <p:nvPr/>
          </p:nvCxnSpPr>
          <p:spPr bwMode="auto">
            <a:xfrm flipV="1">
              <a:off x="8849104" y="2512908"/>
              <a:ext cx="9724" cy="1546103"/>
            </a:xfrm>
            <a:prstGeom prst="straightConnector1">
              <a:avLst/>
            </a:prstGeom>
            <a:solidFill>
              <a:schemeClr val="accent1"/>
            </a:solidFill>
            <a:ln w="28575" cap="flat" cmpd="sng" algn="ctr">
              <a:solidFill>
                <a:schemeClr val="tx1">
                  <a:lumMod val="95000"/>
                </a:schemeClr>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6" name="Trapezoid 145">
              <a:extLst>
                <a:ext uri="{FF2B5EF4-FFF2-40B4-BE49-F238E27FC236}">
                  <a16:creationId xmlns:a16="http://schemas.microsoft.com/office/drawing/2014/main" id="{7EFFA162-8B82-4164-9164-F9F0F719FB72}"/>
                </a:ext>
              </a:extLst>
            </p:cNvPr>
            <p:cNvSpPr/>
            <p:nvPr/>
          </p:nvSpPr>
          <p:spPr>
            <a:xfrm rot="5400000">
              <a:off x="6917374" y="2408173"/>
              <a:ext cx="458658" cy="173296"/>
            </a:xfrm>
            <a:prstGeom prst="trapezoid">
              <a:avLst>
                <a:gd name="adj" fmla="val 62709"/>
              </a:avLst>
            </a:prstGeom>
            <a:noFill/>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2667">
                <a:latin typeface="VAG Rundschrift D Light"/>
              </a:endParaRPr>
            </a:p>
          </p:txBody>
        </p:sp>
        <p:sp>
          <p:nvSpPr>
            <p:cNvPr id="148" name="TextBox 147">
              <a:extLst>
                <a:ext uri="{FF2B5EF4-FFF2-40B4-BE49-F238E27FC236}">
                  <a16:creationId xmlns:a16="http://schemas.microsoft.com/office/drawing/2014/main" id="{256D9889-5B10-49F6-BC6A-F968CDEE142E}"/>
                </a:ext>
              </a:extLst>
            </p:cNvPr>
            <p:cNvSpPr txBox="1"/>
            <p:nvPr/>
          </p:nvSpPr>
          <p:spPr>
            <a:xfrm>
              <a:off x="7090396" y="2526779"/>
              <a:ext cx="86648" cy="117564"/>
            </a:xfrm>
            <a:prstGeom prst="rect">
              <a:avLst/>
            </a:prstGeom>
            <a:noFill/>
            <a:ln>
              <a:noFill/>
            </a:ln>
          </p:spPr>
          <p:txBody>
            <a:bodyPr wrap="square" lIns="0" tIns="0" rIns="0" bIns="0" rtlCol="0">
              <a:spAutoFit/>
            </a:bodyPr>
            <a:lstStyle/>
            <a:p>
              <a:r>
                <a:rPr lang="en-US" sz="667" dirty="0">
                  <a:latin typeface="VAG Rundschrift D Light"/>
                </a:rPr>
                <a:t>0</a:t>
              </a:r>
            </a:p>
          </p:txBody>
        </p:sp>
        <p:sp>
          <p:nvSpPr>
            <p:cNvPr id="154" name="TextBox 153">
              <a:extLst>
                <a:ext uri="{FF2B5EF4-FFF2-40B4-BE49-F238E27FC236}">
                  <a16:creationId xmlns:a16="http://schemas.microsoft.com/office/drawing/2014/main" id="{56469D3A-2243-482E-B687-BCAE3AA4767B}"/>
                </a:ext>
              </a:extLst>
            </p:cNvPr>
            <p:cNvSpPr txBox="1"/>
            <p:nvPr/>
          </p:nvSpPr>
          <p:spPr>
            <a:xfrm>
              <a:off x="7090396" y="2305153"/>
              <a:ext cx="46768" cy="117564"/>
            </a:xfrm>
            <a:prstGeom prst="rect">
              <a:avLst/>
            </a:prstGeom>
            <a:noFill/>
            <a:ln>
              <a:noFill/>
            </a:ln>
          </p:spPr>
          <p:txBody>
            <a:bodyPr wrap="none" lIns="0" tIns="0" rIns="0" bIns="0" rtlCol="0">
              <a:spAutoFit/>
            </a:bodyPr>
            <a:lstStyle/>
            <a:p>
              <a:r>
                <a:rPr lang="en-US" sz="667" dirty="0">
                  <a:latin typeface="VAG Rundschrift D Light"/>
                </a:rPr>
                <a:t>1</a:t>
              </a:r>
            </a:p>
          </p:txBody>
        </p:sp>
        <p:sp>
          <p:nvSpPr>
            <p:cNvPr id="160" name="Freeform 53">
              <a:extLst>
                <a:ext uri="{FF2B5EF4-FFF2-40B4-BE49-F238E27FC236}">
                  <a16:creationId xmlns:a16="http://schemas.microsoft.com/office/drawing/2014/main" id="{142AEEA9-ADFD-4868-90C9-B836F1202178}"/>
                </a:ext>
              </a:extLst>
            </p:cNvPr>
            <p:cNvSpPr>
              <a:spLocks/>
            </p:cNvSpPr>
            <p:nvPr/>
          </p:nvSpPr>
          <p:spPr bwMode="auto">
            <a:xfrm>
              <a:off x="7261350" y="2516665"/>
              <a:ext cx="108617"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grpSp>
          <p:nvGrpSpPr>
            <p:cNvPr id="161" name="Group 160">
              <a:extLst>
                <a:ext uri="{FF2B5EF4-FFF2-40B4-BE49-F238E27FC236}">
                  <a16:creationId xmlns:a16="http://schemas.microsoft.com/office/drawing/2014/main" id="{22AA3D17-1E0F-4D80-9074-04964FEE358C}"/>
                </a:ext>
              </a:extLst>
            </p:cNvPr>
            <p:cNvGrpSpPr/>
            <p:nvPr/>
          </p:nvGrpSpPr>
          <p:grpSpPr>
            <a:xfrm>
              <a:off x="6298994" y="2337322"/>
              <a:ext cx="575411" cy="694020"/>
              <a:chOff x="3504668" y="4010988"/>
              <a:chExt cx="615385" cy="433763"/>
            </a:xfrm>
            <a:effectLst/>
          </p:grpSpPr>
          <p:sp>
            <p:nvSpPr>
              <p:cNvPr id="162" name="Trapezoid 161">
                <a:extLst>
                  <a:ext uri="{FF2B5EF4-FFF2-40B4-BE49-F238E27FC236}">
                    <a16:creationId xmlns:a16="http://schemas.microsoft.com/office/drawing/2014/main" id="{17A7729A-7AB4-48B6-8598-A42FE979B235}"/>
                  </a:ext>
                </a:extLst>
              </p:cNvPr>
              <p:cNvSpPr/>
              <p:nvPr/>
            </p:nvSpPr>
            <p:spPr>
              <a:xfrm rot="5400000">
                <a:off x="3583284" y="4000115"/>
                <a:ext cx="433763" cy="455509"/>
              </a:xfrm>
              <a:prstGeom prst="trapezoid">
                <a:avLst>
                  <a:gd name="adj" fmla="val 30656"/>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195072" tIns="97536" rIns="195072" bIns="97536" numCol="1" spcCol="0" rtlCol="0" fromWordArt="0" anchor="ctr" anchorCtr="0" forceAA="0" compatLnSpc="1">
                <a:prstTxWarp prst="textNoShape">
                  <a:avLst/>
                </a:prstTxWarp>
                <a:noAutofit/>
              </a:bodyPr>
              <a:lstStyle/>
              <a:p>
                <a:pPr algn="ctr"/>
                <a:endParaRPr lang="en-US" sz="5867" dirty="0">
                  <a:latin typeface="VAG Rundschrift D Light"/>
                </a:endParaRPr>
              </a:p>
            </p:txBody>
          </p:sp>
          <p:sp>
            <p:nvSpPr>
              <p:cNvPr id="163" name="TextBox 162">
                <a:extLst>
                  <a:ext uri="{FF2B5EF4-FFF2-40B4-BE49-F238E27FC236}">
                    <a16:creationId xmlns:a16="http://schemas.microsoft.com/office/drawing/2014/main" id="{2429C3E4-6D69-4A88-A93D-4629E93DFF7A}"/>
                  </a:ext>
                </a:extLst>
              </p:cNvPr>
              <p:cNvSpPr txBox="1"/>
              <p:nvPr/>
            </p:nvSpPr>
            <p:spPr>
              <a:xfrm>
                <a:off x="3504668" y="4108644"/>
                <a:ext cx="615385" cy="271603"/>
              </a:xfrm>
              <a:prstGeom prst="rect">
                <a:avLst/>
              </a:prstGeom>
              <a:noFill/>
              <a:ln>
                <a:noFill/>
              </a:ln>
            </p:spPr>
            <p:txBody>
              <a:bodyPr wrap="none" rtlCol="0">
                <a:spAutoFit/>
              </a:bodyPr>
              <a:lstStyle/>
              <a:p>
                <a:r>
                  <a:rPr lang="en-US" sz="933" b="1" dirty="0">
                    <a:latin typeface="VAG Rundschrift D Light"/>
                  </a:rPr>
                  <a:t>Branch</a:t>
                </a:r>
              </a:p>
              <a:p>
                <a:r>
                  <a:rPr lang="en-US" sz="933" b="1" dirty="0">
                    <a:latin typeface="VAG Rundschrift D Light"/>
                  </a:rPr>
                  <a:t>Comp</a:t>
                </a:r>
              </a:p>
            </p:txBody>
          </p:sp>
        </p:grpSp>
        <p:sp>
          <p:nvSpPr>
            <p:cNvPr id="7" name="Line 86">
              <a:extLst>
                <a:ext uri="{FF2B5EF4-FFF2-40B4-BE49-F238E27FC236}">
                  <a16:creationId xmlns:a16="http://schemas.microsoft.com/office/drawing/2014/main" id="{C4CDA898-50BA-451E-8728-55ACF98E1961}"/>
                </a:ext>
              </a:extLst>
            </p:cNvPr>
            <p:cNvSpPr>
              <a:spLocks noChangeShapeType="1"/>
            </p:cNvSpPr>
            <p:nvPr/>
          </p:nvSpPr>
          <p:spPr bwMode="auto">
            <a:xfrm>
              <a:off x="6219108" y="2902414"/>
              <a:ext cx="4073" cy="504311"/>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66" name="Line 85">
              <a:extLst>
                <a:ext uri="{FF2B5EF4-FFF2-40B4-BE49-F238E27FC236}">
                  <a16:creationId xmlns:a16="http://schemas.microsoft.com/office/drawing/2014/main" id="{F44784CA-431D-4DAA-A34E-DA467676D109}"/>
                </a:ext>
              </a:extLst>
            </p:cNvPr>
            <p:cNvSpPr>
              <a:spLocks noChangeShapeType="1"/>
            </p:cNvSpPr>
            <p:nvPr/>
          </p:nvSpPr>
          <p:spPr bwMode="auto">
            <a:xfrm>
              <a:off x="6230123" y="3408875"/>
              <a:ext cx="1542277" cy="13321"/>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67" name="Line 86">
              <a:extLst>
                <a:ext uri="{FF2B5EF4-FFF2-40B4-BE49-F238E27FC236}">
                  <a16:creationId xmlns:a16="http://schemas.microsoft.com/office/drawing/2014/main" id="{26DCC4E3-F924-4B31-9631-0693FC5E3F0E}"/>
                </a:ext>
              </a:extLst>
            </p:cNvPr>
            <p:cNvSpPr>
              <a:spLocks noChangeShapeType="1"/>
            </p:cNvSpPr>
            <p:nvPr/>
          </p:nvSpPr>
          <p:spPr bwMode="auto">
            <a:xfrm>
              <a:off x="7779151" y="3138899"/>
              <a:ext cx="2212" cy="275635"/>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68" name="Freeform 53">
              <a:extLst>
                <a:ext uri="{FF2B5EF4-FFF2-40B4-BE49-F238E27FC236}">
                  <a16:creationId xmlns:a16="http://schemas.microsoft.com/office/drawing/2014/main" id="{740A9671-1E3A-46CC-B45B-984544841F82}"/>
                </a:ext>
              </a:extLst>
            </p:cNvPr>
            <p:cNvSpPr>
              <a:spLocks/>
            </p:cNvSpPr>
            <p:nvPr/>
          </p:nvSpPr>
          <p:spPr bwMode="auto">
            <a:xfrm>
              <a:off x="7779151" y="3135631"/>
              <a:ext cx="14507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69" name="Freeform 53">
              <a:extLst>
                <a:ext uri="{FF2B5EF4-FFF2-40B4-BE49-F238E27FC236}">
                  <a16:creationId xmlns:a16="http://schemas.microsoft.com/office/drawing/2014/main" id="{FBBFD2BF-2B47-4405-8F8B-431B16B02C70}"/>
                </a:ext>
              </a:extLst>
            </p:cNvPr>
            <p:cNvSpPr>
              <a:spLocks/>
            </p:cNvSpPr>
            <p:nvPr/>
          </p:nvSpPr>
          <p:spPr bwMode="auto">
            <a:xfrm>
              <a:off x="7713803" y="2769953"/>
              <a:ext cx="229465" cy="48738"/>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5400"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70" name="Line 86">
              <a:extLst>
                <a:ext uri="{FF2B5EF4-FFF2-40B4-BE49-F238E27FC236}">
                  <a16:creationId xmlns:a16="http://schemas.microsoft.com/office/drawing/2014/main" id="{657CC48C-40C1-41BF-B79D-828815656E3A}"/>
                </a:ext>
              </a:extLst>
            </p:cNvPr>
            <p:cNvSpPr>
              <a:spLocks noChangeShapeType="1"/>
            </p:cNvSpPr>
            <p:nvPr/>
          </p:nvSpPr>
          <p:spPr bwMode="auto">
            <a:xfrm flipH="1">
              <a:off x="6226374" y="2132870"/>
              <a:ext cx="3749" cy="383795"/>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71" name="Line 85">
              <a:extLst>
                <a:ext uri="{FF2B5EF4-FFF2-40B4-BE49-F238E27FC236}">
                  <a16:creationId xmlns:a16="http://schemas.microsoft.com/office/drawing/2014/main" id="{E4F01C06-4B75-48D5-A1CC-3DF47A0DDAA2}"/>
                </a:ext>
              </a:extLst>
            </p:cNvPr>
            <p:cNvSpPr>
              <a:spLocks noChangeShapeType="1"/>
            </p:cNvSpPr>
            <p:nvPr/>
          </p:nvSpPr>
          <p:spPr bwMode="auto">
            <a:xfrm flipV="1">
              <a:off x="6236709" y="2125748"/>
              <a:ext cx="617544" cy="1254"/>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73" name="Freeform 53">
              <a:extLst>
                <a:ext uri="{FF2B5EF4-FFF2-40B4-BE49-F238E27FC236}">
                  <a16:creationId xmlns:a16="http://schemas.microsoft.com/office/drawing/2014/main" id="{4C634BBB-B75C-4986-A086-63F234F291F2}"/>
                </a:ext>
              </a:extLst>
            </p:cNvPr>
            <p:cNvSpPr>
              <a:spLocks/>
            </p:cNvSpPr>
            <p:nvPr/>
          </p:nvSpPr>
          <p:spPr bwMode="auto">
            <a:xfrm flipV="1">
              <a:off x="6858001" y="2571749"/>
              <a:ext cx="21907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74" name="Line 86">
              <a:extLst>
                <a:ext uri="{FF2B5EF4-FFF2-40B4-BE49-F238E27FC236}">
                  <a16:creationId xmlns:a16="http://schemas.microsoft.com/office/drawing/2014/main" id="{17A5FA9C-70A9-47AD-B1E3-BC13AA7F76FE}"/>
                </a:ext>
              </a:extLst>
            </p:cNvPr>
            <p:cNvSpPr>
              <a:spLocks noChangeShapeType="1"/>
            </p:cNvSpPr>
            <p:nvPr/>
          </p:nvSpPr>
          <p:spPr bwMode="auto">
            <a:xfrm>
              <a:off x="6858001" y="2135393"/>
              <a:ext cx="0" cy="472562"/>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75" name="Freeform 53">
              <a:extLst>
                <a:ext uri="{FF2B5EF4-FFF2-40B4-BE49-F238E27FC236}">
                  <a16:creationId xmlns:a16="http://schemas.microsoft.com/office/drawing/2014/main" id="{CE303E76-34DF-4EE1-ACD6-21E1B2D8F337}"/>
                </a:ext>
              </a:extLst>
            </p:cNvPr>
            <p:cNvSpPr>
              <a:spLocks/>
            </p:cNvSpPr>
            <p:nvPr/>
          </p:nvSpPr>
          <p:spPr bwMode="auto">
            <a:xfrm flipV="1">
              <a:off x="6956944" y="2342442"/>
              <a:ext cx="12318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76" name="Line 86">
              <a:extLst>
                <a:ext uri="{FF2B5EF4-FFF2-40B4-BE49-F238E27FC236}">
                  <a16:creationId xmlns:a16="http://schemas.microsoft.com/office/drawing/2014/main" id="{62921AA0-99FB-4B44-B0D7-79BCB480553C}"/>
                </a:ext>
              </a:extLst>
            </p:cNvPr>
            <p:cNvSpPr>
              <a:spLocks noChangeShapeType="1"/>
            </p:cNvSpPr>
            <p:nvPr/>
          </p:nvSpPr>
          <p:spPr bwMode="auto">
            <a:xfrm>
              <a:off x="6956944" y="1657350"/>
              <a:ext cx="0" cy="730811"/>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77" name="Freeform 53">
              <a:extLst>
                <a:ext uri="{FF2B5EF4-FFF2-40B4-BE49-F238E27FC236}">
                  <a16:creationId xmlns:a16="http://schemas.microsoft.com/office/drawing/2014/main" id="{68870AF6-CC61-41F1-997D-87881F6189E0}"/>
                </a:ext>
              </a:extLst>
            </p:cNvPr>
            <p:cNvSpPr>
              <a:spLocks/>
            </p:cNvSpPr>
            <p:nvPr/>
          </p:nvSpPr>
          <p:spPr bwMode="auto">
            <a:xfrm flipV="1">
              <a:off x="6864277" y="2846425"/>
              <a:ext cx="21907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178" name="Line 86">
              <a:extLst>
                <a:ext uri="{FF2B5EF4-FFF2-40B4-BE49-F238E27FC236}">
                  <a16:creationId xmlns:a16="http://schemas.microsoft.com/office/drawing/2014/main" id="{35578188-7DDC-4AF1-A3B8-158F23925FA6}"/>
                </a:ext>
              </a:extLst>
            </p:cNvPr>
            <p:cNvSpPr>
              <a:spLocks noChangeShapeType="1"/>
            </p:cNvSpPr>
            <p:nvPr/>
          </p:nvSpPr>
          <p:spPr bwMode="auto">
            <a:xfrm>
              <a:off x="6862662" y="2897278"/>
              <a:ext cx="728" cy="491282"/>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79" name="Line 85">
              <a:extLst>
                <a:ext uri="{FF2B5EF4-FFF2-40B4-BE49-F238E27FC236}">
                  <a16:creationId xmlns:a16="http://schemas.microsoft.com/office/drawing/2014/main" id="{5C101DBD-B20C-4615-818E-7AC79DA52A5E}"/>
                </a:ext>
              </a:extLst>
            </p:cNvPr>
            <p:cNvSpPr>
              <a:spLocks noChangeShapeType="1"/>
            </p:cNvSpPr>
            <p:nvPr/>
          </p:nvSpPr>
          <p:spPr bwMode="auto">
            <a:xfrm>
              <a:off x="4471053" y="1636021"/>
              <a:ext cx="2488505" cy="2467"/>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80" name="Line 86">
              <a:extLst>
                <a:ext uri="{FF2B5EF4-FFF2-40B4-BE49-F238E27FC236}">
                  <a16:creationId xmlns:a16="http://schemas.microsoft.com/office/drawing/2014/main" id="{103114CD-3F21-40D6-8340-293BDC087823}"/>
                </a:ext>
              </a:extLst>
            </p:cNvPr>
            <p:cNvSpPr>
              <a:spLocks noChangeShapeType="1"/>
            </p:cNvSpPr>
            <p:nvPr/>
          </p:nvSpPr>
          <p:spPr bwMode="auto">
            <a:xfrm flipH="1">
              <a:off x="4465551" y="1644248"/>
              <a:ext cx="3749" cy="383795"/>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81" name="Line 85">
              <a:extLst>
                <a:ext uri="{FF2B5EF4-FFF2-40B4-BE49-F238E27FC236}">
                  <a16:creationId xmlns:a16="http://schemas.microsoft.com/office/drawing/2014/main" id="{9035C5E4-F0E6-46FB-9DC2-CC05946378CF}"/>
                </a:ext>
              </a:extLst>
            </p:cNvPr>
            <p:cNvSpPr>
              <a:spLocks noChangeShapeType="1"/>
            </p:cNvSpPr>
            <p:nvPr/>
          </p:nvSpPr>
          <p:spPr bwMode="auto">
            <a:xfrm flipV="1">
              <a:off x="3447943" y="2045902"/>
              <a:ext cx="1011514" cy="977"/>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cxnSp>
          <p:nvCxnSpPr>
            <p:cNvPr id="182" name="Straight Arrow Connector 181">
              <a:extLst>
                <a:ext uri="{FF2B5EF4-FFF2-40B4-BE49-F238E27FC236}">
                  <a16:creationId xmlns:a16="http://schemas.microsoft.com/office/drawing/2014/main" id="{4780ED4E-0E35-44F7-A459-55C6A6E7CA14}"/>
                </a:ext>
              </a:extLst>
            </p:cNvPr>
            <p:cNvCxnSpPr>
              <a:cxnSpLocks/>
            </p:cNvCxnSpPr>
            <p:nvPr/>
          </p:nvCxnSpPr>
          <p:spPr bwMode="auto">
            <a:xfrm flipV="1">
              <a:off x="7165016" y="2660700"/>
              <a:ext cx="0" cy="107017"/>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3" name="Line 85">
              <a:extLst>
                <a:ext uri="{FF2B5EF4-FFF2-40B4-BE49-F238E27FC236}">
                  <a16:creationId xmlns:a16="http://schemas.microsoft.com/office/drawing/2014/main" id="{1B357AEA-7FA9-451B-AC0B-BBEB52A4A634}"/>
                </a:ext>
              </a:extLst>
            </p:cNvPr>
            <p:cNvSpPr>
              <a:spLocks noChangeShapeType="1"/>
            </p:cNvSpPr>
            <p:nvPr/>
          </p:nvSpPr>
          <p:spPr bwMode="auto">
            <a:xfrm>
              <a:off x="7178627" y="2769090"/>
              <a:ext cx="108617" cy="0"/>
            </a:xfrm>
            <a:prstGeom prst="line">
              <a:avLst/>
            </a:prstGeom>
            <a:noFill/>
            <a:ln w="25400"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184" name="Line 86">
              <a:extLst>
                <a:ext uri="{FF2B5EF4-FFF2-40B4-BE49-F238E27FC236}">
                  <a16:creationId xmlns:a16="http://schemas.microsoft.com/office/drawing/2014/main" id="{FCDF9C8F-C8C1-4179-BA2D-E1A18F45DB28}"/>
                </a:ext>
              </a:extLst>
            </p:cNvPr>
            <p:cNvSpPr>
              <a:spLocks noChangeShapeType="1"/>
            </p:cNvSpPr>
            <p:nvPr/>
          </p:nvSpPr>
          <p:spPr bwMode="auto">
            <a:xfrm flipH="1">
              <a:off x="7289326" y="2772405"/>
              <a:ext cx="4426" cy="1294197"/>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cxnSp>
          <p:nvCxnSpPr>
            <p:cNvPr id="186" name="Straight Arrow Connector 185">
              <a:extLst>
                <a:ext uri="{FF2B5EF4-FFF2-40B4-BE49-F238E27FC236}">
                  <a16:creationId xmlns:a16="http://schemas.microsoft.com/office/drawing/2014/main" id="{4A52E58E-2811-4FA1-A0F7-211E8320801B}"/>
                </a:ext>
              </a:extLst>
            </p:cNvPr>
            <p:cNvCxnSpPr>
              <a:cxnSpLocks/>
            </p:cNvCxnSpPr>
            <p:nvPr/>
          </p:nvCxnSpPr>
          <p:spPr bwMode="auto">
            <a:xfrm flipV="1">
              <a:off x="6463327" y="3025288"/>
              <a:ext cx="5850" cy="1041314"/>
            </a:xfrm>
            <a:prstGeom prst="straightConnector1">
              <a:avLst/>
            </a:prstGeom>
            <a:solidFill>
              <a:schemeClr val="accent1"/>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7" name="Straight Arrow Connector 186">
              <a:extLst>
                <a:ext uri="{FF2B5EF4-FFF2-40B4-BE49-F238E27FC236}">
                  <a16:creationId xmlns:a16="http://schemas.microsoft.com/office/drawing/2014/main" id="{DA2F972D-B3A1-4E61-96C3-8F2D4827BA00}"/>
                </a:ext>
              </a:extLst>
            </p:cNvPr>
            <p:cNvCxnSpPr>
              <a:cxnSpLocks/>
            </p:cNvCxnSpPr>
            <p:nvPr/>
          </p:nvCxnSpPr>
          <p:spPr bwMode="auto">
            <a:xfrm flipH="1">
              <a:off x="6612480" y="2966427"/>
              <a:ext cx="1" cy="1092584"/>
            </a:xfrm>
            <a:prstGeom prst="straightConnector1">
              <a:avLst/>
            </a:prstGeom>
            <a:solidFill>
              <a:schemeClr val="accent1"/>
            </a:solidFill>
            <a:ln w="28575" cap="rnd"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88" name="Straight Arrow Connector 187">
              <a:extLst>
                <a:ext uri="{FF2B5EF4-FFF2-40B4-BE49-F238E27FC236}">
                  <a16:creationId xmlns:a16="http://schemas.microsoft.com/office/drawing/2014/main" id="{F3AE3C03-5A56-414B-AAC7-96DA3C9C7AF9}"/>
                </a:ext>
              </a:extLst>
            </p:cNvPr>
            <p:cNvCxnSpPr>
              <a:cxnSpLocks/>
            </p:cNvCxnSpPr>
            <p:nvPr/>
          </p:nvCxnSpPr>
          <p:spPr bwMode="auto">
            <a:xfrm>
              <a:off x="6726327" y="2934190"/>
              <a:ext cx="5151" cy="1124821"/>
            </a:xfrm>
            <a:prstGeom prst="straightConnector1">
              <a:avLst/>
            </a:prstGeom>
            <a:solidFill>
              <a:schemeClr val="accent1"/>
            </a:solidFill>
            <a:ln w="28575" cap="rnd"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9" name="Rectangle 72">
              <a:extLst>
                <a:ext uri="{FF2B5EF4-FFF2-40B4-BE49-F238E27FC236}">
                  <a16:creationId xmlns:a16="http://schemas.microsoft.com/office/drawing/2014/main" id="{D02842DD-6F42-47E4-AFDE-926DB4FFD3FD}"/>
                </a:ext>
              </a:extLst>
            </p:cNvPr>
            <p:cNvSpPr>
              <a:spLocks noChangeArrowheads="1"/>
            </p:cNvSpPr>
            <p:nvPr/>
          </p:nvSpPr>
          <p:spPr bwMode="auto">
            <a:xfrm>
              <a:off x="8534789" y="2571578"/>
              <a:ext cx="358983" cy="205239"/>
            </a:xfrm>
            <a:prstGeom prst="rect">
              <a:avLst/>
            </a:prstGeom>
            <a:noFill/>
            <a:ln w="254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mem</a:t>
              </a:r>
            </a:p>
          </p:txBody>
        </p:sp>
        <p:sp>
          <p:nvSpPr>
            <p:cNvPr id="24" name="Trapezoid 23">
              <a:extLst>
                <a:ext uri="{FF2B5EF4-FFF2-40B4-BE49-F238E27FC236}">
                  <a16:creationId xmlns:a16="http://schemas.microsoft.com/office/drawing/2014/main" id="{F1FDA431-B56D-4D46-8D03-412DDF1B2C5A}"/>
                </a:ext>
              </a:extLst>
            </p:cNvPr>
            <p:cNvSpPr/>
            <p:nvPr/>
          </p:nvSpPr>
          <p:spPr>
            <a:xfrm rot="5400000">
              <a:off x="2726373" y="2301777"/>
              <a:ext cx="458658" cy="173296"/>
            </a:xfrm>
            <a:prstGeom prst="trapezoid">
              <a:avLst>
                <a:gd name="adj" fmla="val 62709"/>
              </a:avLst>
            </a:prstGeom>
            <a:noFill/>
            <a:ln w="28575" cmpd="sng">
              <a:solidFill>
                <a:schemeClr val="tx1"/>
              </a:solidFill>
            </a:ln>
            <a:effectLst/>
          </p:spPr>
          <p:style>
            <a:lnRef idx="2">
              <a:schemeClr val="accent1"/>
            </a:lnRef>
            <a:fillRef idx="0">
              <a:schemeClr val="accent1"/>
            </a:fillRef>
            <a:effectRef idx="1">
              <a:schemeClr val="accent1"/>
            </a:effectRef>
            <a:fontRef idx="minor">
              <a:schemeClr val="tx1"/>
            </a:fontRef>
          </p:style>
          <p:txBody>
            <a:bodyPr rot="0" spcFirstLastPara="0" vertOverflow="overflow" horzOverflow="overflow" vert="horz" wrap="square" lIns="76200" tIns="38100" rIns="76200" bIns="38100" numCol="1" spcCol="0" rtlCol="0" fromWordArt="0" anchor="ctr" anchorCtr="0" forceAA="0" compatLnSpc="1">
              <a:prstTxWarp prst="textNoShape">
                <a:avLst/>
              </a:prstTxWarp>
              <a:noAutofit/>
            </a:bodyPr>
            <a:lstStyle/>
            <a:p>
              <a:pPr algn="ctr"/>
              <a:endParaRPr lang="en-US" sz="2667">
                <a:latin typeface="VAG Rundschrift D Light"/>
              </a:endParaRPr>
            </a:p>
          </p:txBody>
        </p:sp>
        <p:sp>
          <p:nvSpPr>
            <p:cNvPr id="25" name="TextBox 24">
              <a:extLst>
                <a:ext uri="{FF2B5EF4-FFF2-40B4-BE49-F238E27FC236}">
                  <a16:creationId xmlns:a16="http://schemas.microsoft.com/office/drawing/2014/main" id="{1E0518C3-7A65-433C-8741-2B1B35740251}"/>
                </a:ext>
              </a:extLst>
            </p:cNvPr>
            <p:cNvSpPr txBox="1"/>
            <p:nvPr/>
          </p:nvSpPr>
          <p:spPr>
            <a:xfrm>
              <a:off x="2895992" y="2227183"/>
              <a:ext cx="86648" cy="117564"/>
            </a:xfrm>
            <a:prstGeom prst="rect">
              <a:avLst/>
            </a:prstGeom>
            <a:noFill/>
            <a:ln>
              <a:noFill/>
            </a:ln>
          </p:spPr>
          <p:txBody>
            <a:bodyPr wrap="square" lIns="0" tIns="0" rIns="0" bIns="0" rtlCol="0">
              <a:spAutoFit/>
            </a:bodyPr>
            <a:lstStyle/>
            <a:p>
              <a:r>
                <a:rPr lang="en-US" sz="667" dirty="0">
                  <a:latin typeface="VAG Rundschrift D Light"/>
                </a:rPr>
                <a:t>0</a:t>
              </a:r>
            </a:p>
          </p:txBody>
        </p:sp>
        <p:sp>
          <p:nvSpPr>
            <p:cNvPr id="26" name="TextBox 25">
              <a:extLst>
                <a:ext uri="{FF2B5EF4-FFF2-40B4-BE49-F238E27FC236}">
                  <a16:creationId xmlns:a16="http://schemas.microsoft.com/office/drawing/2014/main" id="{4AC9DF3E-9A27-4460-B1CD-ED14FDB35EE6}"/>
                </a:ext>
              </a:extLst>
            </p:cNvPr>
            <p:cNvSpPr txBox="1"/>
            <p:nvPr/>
          </p:nvSpPr>
          <p:spPr>
            <a:xfrm>
              <a:off x="2887977" y="2423747"/>
              <a:ext cx="46768" cy="117564"/>
            </a:xfrm>
            <a:prstGeom prst="rect">
              <a:avLst/>
            </a:prstGeom>
            <a:noFill/>
            <a:ln>
              <a:noFill/>
            </a:ln>
          </p:spPr>
          <p:txBody>
            <a:bodyPr wrap="none" lIns="0" tIns="0" rIns="0" bIns="0" rtlCol="0">
              <a:spAutoFit/>
            </a:bodyPr>
            <a:lstStyle/>
            <a:p>
              <a:r>
                <a:rPr lang="en-US" sz="667" dirty="0">
                  <a:latin typeface="VAG Rundschrift D Light"/>
                </a:rPr>
                <a:t>1</a:t>
              </a:r>
            </a:p>
          </p:txBody>
        </p:sp>
        <p:sp>
          <p:nvSpPr>
            <p:cNvPr id="27" name="Freeform 53">
              <a:extLst>
                <a:ext uri="{FF2B5EF4-FFF2-40B4-BE49-F238E27FC236}">
                  <a16:creationId xmlns:a16="http://schemas.microsoft.com/office/drawing/2014/main" id="{F6D7A59B-DEEE-48D0-9710-3B61D5DB5FA6}"/>
                </a:ext>
              </a:extLst>
            </p:cNvPr>
            <p:cNvSpPr>
              <a:spLocks/>
            </p:cNvSpPr>
            <p:nvPr/>
          </p:nvSpPr>
          <p:spPr bwMode="auto">
            <a:xfrm flipV="1">
              <a:off x="2672836" y="2247867"/>
              <a:ext cx="21907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28" name="Line 86">
              <a:extLst>
                <a:ext uri="{FF2B5EF4-FFF2-40B4-BE49-F238E27FC236}">
                  <a16:creationId xmlns:a16="http://schemas.microsoft.com/office/drawing/2014/main" id="{8A93C7F9-883E-450A-A667-A96D2F8A138F}"/>
                </a:ext>
              </a:extLst>
            </p:cNvPr>
            <p:cNvSpPr>
              <a:spLocks noChangeShapeType="1"/>
            </p:cNvSpPr>
            <p:nvPr/>
          </p:nvSpPr>
          <p:spPr bwMode="auto">
            <a:xfrm flipH="1">
              <a:off x="2670349" y="1227201"/>
              <a:ext cx="7030" cy="1061311"/>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29" name="Freeform 53">
              <a:extLst>
                <a:ext uri="{FF2B5EF4-FFF2-40B4-BE49-F238E27FC236}">
                  <a16:creationId xmlns:a16="http://schemas.microsoft.com/office/drawing/2014/main" id="{250067ED-DD8A-4633-9F3F-009C62DEED97}"/>
                </a:ext>
              </a:extLst>
            </p:cNvPr>
            <p:cNvSpPr>
              <a:spLocks/>
            </p:cNvSpPr>
            <p:nvPr/>
          </p:nvSpPr>
          <p:spPr bwMode="auto">
            <a:xfrm flipV="1">
              <a:off x="2548451" y="2439806"/>
              <a:ext cx="332275" cy="56132"/>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202" name="Rectangle 31">
              <a:extLst>
                <a:ext uri="{FF2B5EF4-FFF2-40B4-BE49-F238E27FC236}">
                  <a16:creationId xmlns:a16="http://schemas.microsoft.com/office/drawing/2014/main" id="{F6703989-B3FD-4988-89AB-F6A120551783}"/>
                </a:ext>
              </a:extLst>
            </p:cNvPr>
            <p:cNvSpPr>
              <a:spLocks noChangeArrowheads="1"/>
            </p:cNvSpPr>
            <p:nvPr/>
          </p:nvSpPr>
          <p:spPr bwMode="auto">
            <a:xfrm>
              <a:off x="3338889" y="2436659"/>
              <a:ext cx="229074" cy="205239"/>
            </a:xfrm>
            <a:prstGeom prst="rect">
              <a:avLst/>
            </a:prstGeom>
            <a:noFill/>
            <a:ln w="12700">
              <a:noFill/>
              <a:miter lim="800000"/>
              <a:headEnd/>
              <a:tailEnd/>
            </a:ln>
          </p:spPr>
          <p:txBody>
            <a:bodyPr wrap="none" lIns="56555" tIns="27781" rIns="56555" bIns="27781">
              <a:prstTxWarp prst="textNoShape">
                <a:avLst/>
              </a:prstTxWarp>
              <a:spAutoFit/>
            </a:bodyPr>
            <a:lstStyle/>
            <a:p>
              <a:pPr>
                <a:spcBef>
                  <a:spcPct val="0"/>
                </a:spcBef>
              </a:pPr>
              <a:r>
                <a:rPr lang="en-US" sz="800" b="1" dirty="0">
                  <a:latin typeface="VAG Rundschrift D Light"/>
                </a:rPr>
                <a:t>pc</a:t>
              </a:r>
            </a:p>
          </p:txBody>
        </p:sp>
        <p:sp>
          <p:nvSpPr>
            <p:cNvPr id="203" name="Freeform 53">
              <a:extLst>
                <a:ext uri="{FF2B5EF4-FFF2-40B4-BE49-F238E27FC236}">
                  <a16:creationId xmlns:a16="http://schemas.microsoft.com/office/drawing/2014/main" id="{70ED40A3-7BCD-4E14-89B0-F8A1BC98090A}"/>
                </a:ext>
              </a:extLst>
            </p:cNvPr>
            <p:cNvSpPr>
              <a:spLocks/>
            </p:cNvSpPr>
            <p:nvPr/>
          </p:nvSpPr>
          <p:spPr bwMode="auto">
            <a:xfrm flipV="1">
              <a:off x="3048000" y="2343150"/>
              <a:ext cx="123183" cy="45719"/>
            </a:xfrm>
            <a:custGeom>
              <a:avLst/>
              <a:gdLst>
                <a:gd name="T0" fmla="*/ 0 w 873"/>
                <a:gd name="T1" fmla="*/ 0 h 1"/>
                <a:gd name="T2" fmla="*/ 872 w 873"/>
                <a:gd name="T3" fmla="*/ 0 h 1"/>
                <a:gd name="T4" fmla="*/ 0 60000 65536"/>
                <a:gd name="T5" fmla="*/ 0 60000 65536"/>
                <a:gd name="T6" fmla="*/ 0 w 873"/>
                <a:gd name="T7" fmla="*/ 0 h 1"/>
                <a:gd name="T8" fmla="*/ 873 w 873"/>
                <a:gd name="T9" fmla="*/ 1 h 1"/>
              </a:gdLst>
              <a:ahLst/>
              <a:cxnLst>
                <a:cxn ang="T4">
                  <a:pos x="T0" y="T1"/>
                </a:cxn>
                <a:cxn ang="T5">
                  <a:pos x="T2" y="T3"/>
                </a:cxn>
              </a:cxnLst>
              <a:rect l="T6" t="T7" r="T8" b="T9"/>
              <a:pathLst>
                <a:path w="873" h="1">
                  <a:moveTo>
                    <a:pt x="0" y="0"/>
                  </a:moveTo>
                  <a:lnTo>
                    <a:pt x="872" y="0"/>
                  </a:lnTo>
                </a:path>
              </a:pathLst>
            </a:custGeom>
            <a:noFill/>
            <a:ln w="28575" cap="rnd">
              <a:solidFill>
                <a:schemeClr val="tx1"/>
              </a:solidFill>
              <a:round/>
              <a:headEnd/>
              <a:tailEnd type="triangle" w="med" len="med"/>
            </a:ln>
          </p:spPr>
          <p:txBody>
            <a:bodyPr>
              <a:prstTxWarp prst="textNoShape">
                <a:avLst/>
              </a:prstTxWarp>
            </a:bodyPr>
            <a:lstStyle/>
            <a:p>
              <a:endParaRPr lang="en-US" sz="1200">
                <a:latin typeface="VAG Rundschrift D Light"/>
              </a:endParaRPr>
            </a:p>
          </p:txBody>
        </p:sp>
        <p:sp>
          <p:nvSpPr>
            <p:cNvPr id="204" name="Line 86">
              <a:extLst>
                <a:ext uri="{FF2B5EF4-FFF2-40B4-BE49-F238E27FC236}">
                  <a16:creationId xmlns:a16="http://schemas.microsoft.com/office/drawing/2014/main" id="{C904B6EF-F57C-486F-ADCC-DE1CA929B3E7}"/>
                </a:ext>
              </a:extLst>
            </p:cNvPr>
            <p:cNvSpPr>
              <a:spLocks noChangeShapeType="1"/>
            </p:cNvSpPr>
            <p:nvPr/>
          </p:nvSpPr>
          <p:spPr bwMode="auto">
            <a:xfrm flipH="1">
              <a:off x="4263450" y="1233947"/>
              <a:ext cx="3749" cy="383795"/>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205" name="Line 86">
              <a:extLst>
                <a:ext uri="{FF2B5EF4-FFF2-40B4-BE49-F238E27FC236}">
                  <a16:creationId xmlns:a16="http://schemas.microsoft.com/office/drawing/2014/main" id="{8253448A-1806-4E53-9FCD-B7933E7610F5}"/>
                </a:ext>
              </a:extLst>
            </p:cNvPr>
            <p:cNvSpPr>
              <a:spLocks noChangeShapeType="1"/>
            </p:cNvSpPr>
            <p:nvPr/>
          </p:nvSpPr>
          <p:spPr bwMode="auto">
            <a:xfrm flipH="1">
              <a:off x="4263450" y="1196740"/>
              <a:ext cx="4306750" cy="3776"/>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206" name="Line 86">
              <a:extLst>
                <a:ext uri="{FF2B5EF4-FFF2-40B4-BE49-F238E27FC236}">
                  <a16:creationId xmlns:a16="http://schemas.microsoft.com/office/drawing/2014/main" id="{5E790511-532F-4B40-B7A6-B6531E428686}"/>
                </a:ext>
              </a:extLst>
            </p:cNvPr>
            <p:cNvSpPr>
              <a:spLocks noChangeShapeType="1"/>
            </p:cNvSpPr>
            <p:nvPr/>
          </p:nvSpPr>
          <p:spPr bwMode="auto">
            <a:xfrm>
              <a:off x="4173196" y="1620265"/>
              <a:ext cx="90254" cy="977"/>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207" name="Line 86">
              <a:extLst>
                <a:ext uri="{FF2B5EF4-FFF2-40B4-BE49-F238E27FC236}">
                  <a16:creationId xmlns:a16="http://schemas.microsoft.com/office/drawing/2014/main" id="{EB7D75FF-5827-4066-B92F-08A163F87354}"/>
                </a:ext>
              </a:extLst>
            </p:cNvPr>
            <p:cNvSpPr>
              <a:spLocks noChangeShapeType="1"/>
            </p:cNvSpPr>
            <p:nvPr/>
          </p:nvSpPr>
          <p:spPr bwMode="auto">
            <a:xfrm>
              <a:off x="2526936" y="1121144"/>
              <a:ext cx="5278285" cy="2806"/>
            </a:xfrm>
            <a:prstGeom prst="line">
              <a:avLst/>
            </a:prstGeom>
            <a:noFill/>
            <a:ln w="28575" cap="rnd">
              <a:solidFill>
                <a:schemeClr val="tx1"/>
              </a:solidFill>
              <a:round/>
              <a:headEnd/>
              <a:tailEnd/>
            </a:ln>
          </p:spPr>
          <p:txBody>
            <a:bodyPr wrap="none" anchor="ctr">
              <a:prstTxWarp prst="textNoShape">
                <a:avLst/>
              </a:prstTxWarp>
            </a:bodyPr>
            <a:lstStyle/>
            <a:p>
              <a:endParaRPr lang="en-US" sz="1200">
                <a:latin typeface="VAG Rundschrift D Light"/>
              </a:endParaRPr>
            </a:p>
          </p:txBody>
        </p:sp>
        <p:sp>
          <p:nvSpPr>
            <p:cNvPr id="208" name="Line 86">
              <a:extLst>
                <a:ext uri="{FF2B5EF4-FFF2-40B4-BE49-F238E27FC236}">
                  <a16:creationId xmlns:a16="http://schemas.microsoft.com/office/drawing/2014/main" id="{C06246E2-5C92-4544-95F8-4ABD6AFBC7B9}"/>
                </a:ext>
              </a:extLst>
            </p:cNvPr>
            <p:cNvSpPr>
              <a:spLocks noChangeShapeType="1"/>
            </p:cNvSpPr>
            <p:nvPr/>
          </p:nvSpPr>
          <p:spPr bwMode="auto">
            <a:xfrm flipH="1">
              <a:off x="2524917" y="1126694"/>
              <a:ext cx="1986" cy="1366877"/>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cxnSp>
          <p:nvCxnSpPr>
            <p:cNvPr id="209" name="Straight Arrow Connector 208">
              <a:extLst>
                <a:ext uri="{FF2B5EF4-FFF2-40B4-BE49-F238E27FC236}">
                  <a16:creationId xmlns:a16="http://schemas.microsoft.com/office/drawing/2014/main" id="{B53549EB-63D4-48A0-8F5C-01CD5110EFDD}"/>
                </a:ext>
              </a:extLst>
            </p:cNvPr>
            <p:cNvCxnSpPr>
              <a:cxnSpLocks/>
            </p:cNvCxnSpPr>
            <p:nvPr/>
          </p:nvCxnSpPr>
          <p:spPr bwMode="auto">
            <a:xfrm flipV="1">
              <a:off x="2954952" y="2553194"/>
              <a:ext cx="11644" cy="1495742"/>
            </a:xfrm>
            <a:prstGeom prst="straightConnector1">
              <a:avLst/>
            </a:prstGeom>
            <a:solidFill>
              <a:schemeClr val="accent1"/>
            </a:solidFill>
            <a:ln w="28575" cap="flat" cmpd="sng" algn="ctr">
              <a:solidFill>
                <a:schemeClr val="tx1">
                  <a:lumMod val="95000"/>
                </a:schemeClr>
              </a:solidFill>
              <a:prstDash val="solid"/>
              <a:round/>
              <a:headEnd type="none" w="med" len="med"/>
              <a:tailEnd type="triangle"/>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1" name="Rectangle 30">
              <a:extLst>
                <a:ext uri="{FF2B5EF4-FFF2-40B4-BE49-F238E27FC236}">
                  <a16:creationId xmlns:a16="http://schemas.microsoft.com/office/drawing/2014/main" id="{0E16544A-10BD-4F1B-B8D0-1A9B7CA102CE}"/>
                </a:ext>
              </a:extLst>
            </p:cNvPr>
            <p:cNvSpPr>
              <a:spLocks noChangeArrowheads="1"/>
            </p:cNvSpPr>
            <p:nvPr/>
          </p:nvSpPr>
          <p:spPr bwMode="auto">
            <a:xfrm>
              <a:off x="2600218" y="4070869"/>
              <a:ext cx="533494" cy="290863"/>
            </a:xfrm>
            <a:prstGeom prst="rect">
              <a:avLst/>
            </a:prstGeom>
            <a:noFill/>
            <a:ln w="12700">
              <a:noFill/>
              <a:miter lim="800000"/>
              <a:headEnd/>
              <a:tailEnd/>
            </a:ln>
          </p:spPr>
          <p:txBody>
            <a:bodyPr wrap="none" lIns="90488" tIns="44451" rIns="90488" bIns="44451">
              <a:prstTxWarp prst="textNoShape">
                <a:avLst/>
              </a:prstTxWarp>
              <a:spAutoFit/>
            </a:bodyPr>
            <a:lstStyle/>
            <a:p>
              <a:pPr>
                <a:spcBef>
                  <a:spcPct val="0"/>
                </a:spcBef>
              </a:pPr>
              <a:r>
                <a:rPr lang="en-US" sz="1067" b="1" dirty="0" err="1">
                  <a:latin typeface="VAG Rundschrift D Light"/>
                </a:rPr>
                <a:t>PCSel</a:t>
              </a:r>
              <a:endParaRPr lang="en-US" sz="1067" b="1" dirty="0">
                <a:latin typeface="VAG Rundschrift D Light"/>
              </a:endParaRPr>
            </a:p>
          </p:txBody>
        </p:sp>
        <p:sp>
          <p:nvSpPr>
            <p:cNvPr id="32" name="TextBox 31">
              <a:extLst>
                <a:ext uri="{FF2B5EF4-FFF2-40B4-BE49-F238E27FC236}">
                  <a16:creationId xmlns:a16="http://schemas.microsoft.com/office/drawing/2014/main" id="{E28C23AE-8052-4B5C-923A-5ED2190C6B03}"/>
                </a:ext>
              </a:extLst>
            </p:cNvPr>
            <p:cNvSpPr txBox="1"/>
            <p:nvPr/>
          </p:nvSpPr>
          <p:spPr>
            <a:xfrm>
              <a:off x="6245596" y="4100945"/>
              <a:ext cx="273675" cy="164412"/>
            </a:xfrm>
            <a:prstGeom prst="rect">
              <a:avLst/>
            </a:prstGeom>
            <a:noFill/>
          </p:spPr>
          <p:txBody>
            <a:bodyPr wrap="none" lIns="0" tIns="0" rIns="0" bIns="0" rtlCol="0">
              <a:spAutoFit/>
            </a:bodyPr>
            <a:lstStyle/>
            <a:p>
              <a:r>
                <a:rPr lang="en-US" sz="933" b="1" dirty="0" err="1">
                  <a:latin typeface="VAG Rundschrift D Light"/>
                </a:rPr>
                <a:t>BrUn</a:t>
              </a:r>
              <a:endParaRPr lang="en-US" sz="933" b="1" dirty="0">
                <a:latin typeface="VAG Rundschrift D Light"/>
              </a:endParaRPr>
            </a:p>
          </p:txBody>
        </p:sp>
        <p:sp>
          <p:nvSpPr>
            <p:cNvPr id="33" name="TextBox 32">
              <a:extLst>
                <a:ext uri="{FF2B5EF4-FFF2-40B4-BE49-F238E27FC236}">
                  <a16:creationId xmlns:a16="http://schemas.microsoft.com/office/drawing/2014/main" id="{CB67FD7E-D109-4FC7-A5D4-46A4588F2385}"/>
                </a:ext>
              </a:extLst>
            </p:cNvPr>
            <p:cNvSpPr txBox="1"/>
            <p:nvPr/>
          </p:nvSpPr>
          <p:spPr>
            <a:xfrm>
              <a:off x="6493391" y="4324350"/>
              <a:ext cx="251157" cy="164412"/>
            </a:xfrm>
            <a:prstGeom prst="rect">
              <a:avLst/>
            </a:prstGeom>
            <a:noFill/>
          </p:spPr>
          <p:txBody>
            <a:bodyPr wrap="none" lIns="0" tIns="0" rIns="0" bIns="0" rtlCol="0">
              <a:spAutoFit/>
            </a:bodyPr>
            <a:lstStyle/>
            <a:p>
              <a:pPr algn="ctr"/>
              <a:r>
                <a:rPr lang="en-US" sz="933" b="1" dirty="0" err="1">
                  <a:latin typeface="VAG Rundschrift D Light"/>
                </a:rPr>
                <a:t>BrEq</a:t>
              </a:r>
              <a:endParaRPr lang="en-US" sz="933" b="1" dirty="0">
                <a:latin typeface="VAG Rundschrift D Light"/>
              </a:endParaRPr>
            </a:p>
          </p:txBody>
        </p:sp>
        <p:sp>
          <p:nvSpPr>
            <p:cNvPr id="34" name="TextBox 33">
              <a:extLst>
                <a:ext uri="{FF2B5EF4-FFF2-40B4-BE49-F238E27FC236}">
                  <a16:creationId xmlns:a16="http://schemas.microsoft.com/office/drawing/2014/main" id="{DC7158BF-CAA2-499F-98FF-6128FBF0F698}"/>
                </a:ext>
              </a:extLst>
            </p:cNvPr>
            <p:cNvSpPr txBox="1"/>
            <p:nvPr/>
          </p:nvSpPr>
          <p:spPr>
            <a:xfrm>
              <a:off x="6670515" y="4112164"/>
              <a:ext cx="239032" cy="164412"/>
            </a:xfrm>
            <a:prstGeom prst="rect">
              <a:avLst/>
            </a:prstGeom>
            <a:noFill/>
          </p:spPr>
          <p:txBody>
            <a:bodyPr wrap="none" lIns="0" tIns="0" rIns="0" bIns="0" rtlCol="0">
              <a:spAutoFit/>
            </a:bodyPr>
            <a:lstStyle/>
            <a:p>
              <a:r>
                <a:rPr lang="en-US" sz="933" b="1" dirty="0" err="1">
                  <a:latin typeface="VAG Rundschrift D Light"/>
                </a:rPr>
                <a:t>BrLT</a:t>
              </a:r>
              <a:endParaRPr lang="en-US" sz="933" b="1" dirty="0">
                <a:latin typeface="VAG Rundschrift D Light"/>
              </a:endParaRPr>
            </a:p>
          </p:txBody>
        </p:sp>
        <p:sp>
          <p:nvSpPr>
            <p:cNvPr id="214" name="Rectangle 39">
              <a:extLst>
                <a:ext uri="{FF2B5EF4-FFF2-40B4-BE49-F238E27FC236}">
                  <a16:creationId xmlns:a16="http://schemas.microsoft.com/office/drawing/2014/main" id="{BF69195C-865C-4FE3-8B46-CF092082268C}"/>
                </a:ext>
              </a:extLst>
            </p:cNvPr>
            <p:cNvSpPr>
              <a:spLocks noChangeArrowheads="1"/>
            </p:cNvSpPr>
            <p:nvPr/>
          </p:nvSpPr>
          <p:spPr bwMode="auto">
            <a:xfrm>
              <a:off x="7180792" y="4066534"/>
              <a:ext cx="338497" cy="205239"/>
            </a:xfrm>
            <a:prstGeom prst="rect">
              <a:avLst/>
            </a:prstGeom>
            <a:noFill/>
            <a:ln w="25400">
              <a:noFill/>
              <a:miter lim="800000"/>
              <a:headEnd/>
              <a:tailEnd/>
            </a:ln>
          </p:spPr>
          <p:txBody>
            <a:bodyPr wrap="square" lIns="56555" tIns="27781" rIns="56555" bIns="27781">
              <a:prstTxWarp prst="textNoShape">
                <a:avLst/>
              </a:prstTxWarp>
              <a:spAutoFit/>
            </a:bodyPr>
            <a:lstStyle/>
            <a:p>
              <a:pPr>
                <a:spcBef>
                  <a:spcPct val="0"/>
                </a:spcBef>
              </a:pPr>
              <a:r>
                <a:rPr lang="en-US" sz="800" b="1" dirty="0" err="1">
                  <a:latin typeface="VAG Rundschrift D Light"/>
                </a:rPr>
                <a:t>Asel</a:t>
              </a:r>
              <a:endParaRPr lang="en-US" sz="800" b="1" dirty="0">
                <a:latin typeface="VAG Rundschrift D Light"/>
              </a:endParaRPr>
            </a:p>
          </p:txBody>
        </p:sp>
        <p:sp>
          <p:nvSpPr>
            <p:cNvPr id="164" name="Line 86">
              <a:extLst>
                <a:ext uri="{FF2B5EF4-FFF2-40B4-BE49-F238E27FC236}">
                  <a16:creationId xmlns:a16="http://schemas.microsoft.com/office/drawing/2014/main" id="{A73D360A-F681-4507-BF82-3B2FE4C125F4}"/>
                </a:ext>
              </a:extLst>
            </p:cNvPr>
            <p:cNvSpPr>
              <a:spLocks noChangeShapeType="1"/>
            </p:cNvSpPr>
            <p:nvPr/>
          </p:nvSpPr>
          <p:spPr bwMode="auto">
            <a:xfrm flipV="1">
              <a:off x="8579923" y="1962150"/>
              <a:ext cx="215728" cy="7684"/>
            </a:xfrm>
            <a:prstGeom prst="line">
              <a:avLst/>
            </a:prstGeom>
            <a:noFill/>
            <a:ln w="28575" cap="rnd">
              <a:solidFill>
                <a:schemeClr val="tx1"/>
              </a:solidFill>
              <a:round/>
              <a:headEnd/>
              <a:tailEnd type="triangle"/>
            </a:ln>
          </p:spPr>
          <p:txBody>
            <a:bodyPr wrap="none" anchor="ctr">
              <a:prstTxWarp prst="textNoShape">
                <a:avLst/>
              </a:prstTxWarp>
            </a:bodyPr>
            <a:lstStyle/>
            <a:p>
              <a:endParaRPr lang="en-US" sz="1200">
                <a:latin typeface="VAG Rundschrift D Light"/>
              </a:endParaRPr>
            </a:p>
          </p:txBody>
        </p:sp>
        <p:sp>
          <p:nvSpPr>
            <p:cNvPr id="165" name="Line 86">
              <a:extLst>
                <a:ext uri="{FF2B5EF4-FFF2-40B4-BE49-F238E27FC236}">
                  <a16:creationId xmlns:a16="http://schemas.microsoft.com/office/drawing/2014/main" id="{23EFFA0D-085E-412F-AC33-C38DE8FC2758}"/>
                </a:ext>
              </a:extLst>
            </p:cNvPr>
            <p:cNvSpPr>
              <a:spLocks noChangeShapeType="1"/>
            </p:cNvSpPr>
            <p:nvPr/>
          </p:nvSpPr>
          <p:spPr bwMode="auto">
            <a:xfrm>
              <a:off x="8567888" y="1210248"/>
              <a:ext cx="2312" cy="749806"/>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sp>
          <p:nvSpPr>
            <p:cNvPr id="172" name="TextBox 171">
              <a:extLst>
                <a:ext uri="{FF2B5EF4-FFF2-40B4-BE49-F238E27FC236}">
                  <a16:creationId xmlns:a16="http://schemas.microsoft.com/office/drawing/2014/main" id="{2297BF6A-F5DE-4257-8DAB-B9E5CA015300}"/>
                </a:ext>
              </a:extLst>
            </p:cNvPr>
            <p:cNvSpPr txBox="1"/>
            <p:nvPr/>
          </p:nvSpPr>
          <p:spPr>
            <a:xfrm>
              <a:off x="8783093" y="1885950"/>
              <a:ext cx="46768" cy="117564"/>
            </a:xfrm>
            <a:prstGeom prst="rect">
              <a:avLst/>
            </a:prstGeom>
            <a:noFill/>
            <a:ln>
              <a:noFill/>
            </a:ln>
          </p:spPr>
          <p:txBody>
            <a:bodyPr wrap="none" lIns="0" tIns="0" rIns="0" bIns="0" rtlCol="0">
              <a:spAutoFit/>
            </a:bodyPr>
            <a:lstStyle/>
            <a:p>
              <a:r>
                <a:rPr lang="en-US" sz="667" dirty="0">
                  <a:latin typeface="VAG Rundschrift D Light"/>
                </a:rPr>
                <a:t>2</a:t>
              </a:r>
            </a:p>
          </p:txBody>
        </p:sp>
        <p:sp>
          <p:nvSpPr>
            <p:cNvPr id="185" name="Line 86">
              <a:extLst>
                <a:ext uri="{FF2B5EF4-FFF2-40B4-BE49-F238E27FC236}">
                  <a16:creationId xmlns:a16="http://schemas.microsoft.com/office/drawing/2014/main" id="{37684DCD-D56B-4871-B0CC-88DE1CF26CDD}"/>
                </a:ext>
              </a:extLst>
            </p:cNvPr>
            <p:cNvSpPr>
              <a:spLocks noChangeShapeType="1"/>
            </p:cNvSpPr>
            <p:nvPr/>
          </p:nvSpPr>
          <p:spPr bwMode="auto">
            <a:xfrm flipH="1" flipV="1">
              <a:off x="2679865" y="1201961"/>
              <a:ext cx="1570183" cy="2868"/>
            </a:xfrm>
            <a:prstGeom prst="line">
              <a:avLst/>
            </a:prstGeom>
            <a:noFill/>
            <a:ln w="28575" cap="rnd">
              <a:solidFill>
                <a:schemeClr val="tx1"/>
              </a:solidFill>
              <a:round/>
              <a:headEnd/>
              <a:tailEnd/>
            </a:ln>
          </p:spPr>
          <p:txBody>
            <a:bodyPr wrap="none" anchor="ctr">
              <a:prstTxWarp prst="textNoShape">
                <a:avLst/>
              </a:prstTxWarp>
            </a:bodyPr>
            <a:lstStyle/>
            <a:p>
              <a:pPr algn="r"/>
              <a:endParaRPr lang="en-US" sz="1200" dirty="0">
                <a:latin typeface="VAG Rundschrift D Light"/>
              </a:endParaRPr>
            </a:p>
          </p:txBody>
        </p:sp>
      </p:grpSp>
      <p:grpSp>
        <p:nvGrpSpPr>
          <p:cNvPr id="190" name="Group 189">
            <a:extLst>
              <a:ext uri="{FF2B5EF4-FFF2-40B4-BE49-F238E27FC236}">
                <a16:creationId xmlns:a16="http://schemas.microsoft.com/office/drawing/2014/main" id="{E320E284-5199-4715-A88F-308857B457B0}"/>
              </a:ext>
            </a:extLst>
          </p:cNvPr>
          <p:cNvGrpSpPr/>
          <p:nvPr/>
        </p:nvGrpSpPr>
        <p:grpSpPr>
          <a:xfrm>
            <a:off x="3227971" y="3543316"/>
            <a:ext cx="8128563" cy="223416"/>
            <a:chOff x="723175" y="4579478"/>
            <a:chExt cx="7354025" cy="320863"/>
          </a:xfrm>
        </p:grpSpPr>
        <p:cxnSp>
          <p:nvCxnSpPr>
            <p:cNvPr id="191" name="Straight Connector 190">
              <a:extLst>
                <a:ext uri="{FF2B5EF4-FFF2-40B4-BE49-F238E27FC236}">
                  <a16:creationId xmlns:a16="http://schemas.microsoft.com/office/drawing/2014/main" id="{052C727D-9CEB-4E09-B81D-F41C6A0AE259}"/>
                </a:ext>
              </a:extLst>
            </p:cNvPr>
            <p:cNvCxnSpPr/>
            <p:nvPr/>
          </p:nvCxnSpPr>
          <p:spPr>
            <a:xfrm>
              <a:off x="1066800" y="4857750"/>
              <a:ext cx="7010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2" name="Straight Connector 191">
              <a:extLst>
                <a:ext uri="{FF2B5EF4-FFF2-40B4-BE49-F238E27FC236}">
                  <a16:creationId xmlns:a16="http://schemas.microsoft.com/office/drawing/2014/main" id="{54AAC290-4701-4566-8089-3FC43CFA16B1}"/>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3" name="Straight Connector 192">
              <a:extLst>
                <a:ext uri="{FF2B5EF4-FFF2-40B4-BE49-F238E27FC236}">
                  <a16:creationId xmlns:a16="http://schemas.microsoft.com/office/drawing/2014/main" id="{92106D6C-1BAB-4EAF-B786-6D8C9391E824}"/>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4" name="Straight Connector 193">
              <a:extLst>
                <a:ext uri="{FF2B5EF4-FFF2-40B4-BE49-F238E27FC236}">
                  <a16:creationId xmlns:a16="http://schemas.microsoft.com/office/drawing/2014/main" id="{4B10FE0F-4CD0-48A3-B0C0-02BB26264640}"/>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5" name="TextBox 194">
              <a:extLst>
                <a:ext uri="{FF2B5EF4-FFF2-40B4-BE49-F238E27FC236}">
                  <a16:creationId xmlns:a16="http://schemas.microsoft.com/office/drawing/2014/main" id="{10E49547-EAD5-4A72-A91D-D27853628C1C}"/>
                </a:ext>
              </a:extLst>
            </p:cNvPr>
            <p:cNvSpPr txBox="1"/>
            <p:nvPr/>
          </p:nvSpPr>
          <p:spPr>
            <a:xfrm>
              <a:off x="3276600" y="4586461"/>
              <a:ext cx="330659" cy="309414"/>
            </a:xfrm>
            <a:prstGeom prst="rect">
              <a:avLst/>
            </a:prstGeom>
            <a:noFill/>
            <a:ln>
              <a:noFill/>
            </a:ln>
          </p:spPr>
          <p:txBody>
            <a:bodyPr wrap="none" lIns="0" tIns="0" rIns="0" bIns="0" rtlCol="0">
              <a:spAutoFit/>
            </a:bodyPr>
            <a:lstStyle/>
            <a:p>
              <a:r>
                <a:rPr lang="en-US" sz="1400" dirty="0">
                  <a:latin typeface="VAG Rundschrift D Light"/>
                </a:rPr>
                <a:t>1000</a:t>
              </a:r>
            </a:p>
          </p:txBody>
        </p:sp>
        <p:cxnSp>
          <p:nvCxnSpPr>
            <p:cNvPr id="196" name="Straight Connector 195">
              <a:extLst>
                <a:ext uri="{FF2B5EF4-FFF2-40B4-BE49-F238E27FC236}">
                  <a16:creationId xmlns:a16="http://schemas.microsoft.com/office/drawing/2014/main" id="{ED30BE21-C0AD-444E-81B2-DB6F55230AA7}"/>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7" name="Straight Connector 196">
              <a:extLst>
                <a:ext uri="{FF2B5EF4-FFF2-40B4-BE49-F238E27FC236}">
                  <a16:creationId xmlns:a16="http://schemas.microsoft.com/office/drawing/2014/main" id="{41B52980-AA1D-46E6-9445-81A3EDE5C383}"/>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8" name="Straight Connector 197">
              <a:extLst>
                <a:ext uri="{FF2B5EF4-FFF2-40B4-BE49-F238E27FC236}">
                  <a16:creationId xmlns:a16="http://schemas.microsoft.com/office/drawing/2014/main" id="{00CA1CE1-1B01-43D1-B9C0-B177242F91C5}"/>
                </a:ext>
              </a:extLst>
            </p:cNvPr>
            <p:cNvCxnSpPr/>
            <p:nvPr/>
          </p:nvCxnSpPr>
          <p:spPr>
            <a:xfrm flipH="1" flipV="1">
              <a:off x="7472594" y="4643159"/>
              <a:ext cx="152400" cy="228599"/>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9" name="Straight Connector 198">
              <a:extLst>
                <a:ext uri="{FF2B5EF4-FFF2-40B4-BE49-F238E27FC236}">
                  <a16:creationId xmlns:a16="http://schemas.microsoft.com/office/drawing/2014/main" id="{CB32FE40-4D17-4C92-BA7B-ECB3892F44FE}"/>
                </a:ext>
              </a:extLst>
            </p:cNvPr>
            <p:cNvCxnSpPr/>
            <p:nvPr/>
          </p:nvCxnSpPr>
          <p:spPr>
            <a:xfrm>
              <a:off x="1066800" y="4629150"/>
              <a:ext cx="7010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00" name="TextBox 199">
              <a:extLst>
                <a:ext uri="{FF2B5EF4-FFF2-40B4-BE49-F238E27FC236}">
                  <a16:creationId xmlns:a16="http://schemas.microsoft.com/office/drawing/2014/main" id="{D66DC01C-9985-4627-BD71-A61F642DE0D9}"/>
                </a:ext>
              </a:extLst>
            </p:cNvPr>
            <p:cNvSpPr txBox="1"/>
            <p:nvPr/>
          </p:nvSpPr>
          <p:spPr>
            <a:xfrm>
              <a:off x="5175705" y="4579478"/>
              <a:ext cx="330659" cy="309414"/>
            </a:xfrm>
            <a:prstGeom prst="rect">
              <a:avLst/>
            </a:prstGeom>
            <a:noFill/>
            <a:ln>
              <a:noFill/>
            </a:ln>
          </p:spPr>
          <p:txBody>
            <a:bodyPr wrap="none" lIns="0" tIns="0" rIns="0" bIns="0" rtlCol="0">
              <a:spAutoFit/>
            </a:bodyPr>
            <a:lstStyle/>
            <a:p>
              <a:r>
                <a:rPr lang="en-US" sz="1400" dirty="0">
                  <a:latin typeface="VAG Rundschrift D Light"/>
                </a:rPr>
                <a:t>1004</a:t>
              </a:r>
            </a:p>
          </p:txBody>
        </p:sp>
        <p:sp>
          <p:nvSpPr>
            <p:cNvPr id="201" name="TextBox 200">
              <a:extLst>
                <a:ext uri="{FF2B5EF4-FFF2-40B4-BE49-F238E27FC236}">
                  <a16:creationId xmlns:a16="http://schemas.microsoft.com/office/drawing/2014/main" id="{3665A8F7-0F74-4396-BE3C-D7AC62680EF9}"/>
                </a:ext>
              </a:extLst>
            </p:cNvPr>
            <p:cNvSpPr txBox="1"/>
            <p:nvPr/>
          </p:nvSpPr>
          <p:spPr>
            <a:xfrm>
              <a:off x="723175" y="4590927"/>
              <a:ext cx="171130" cy="309414"/>
            </a:xfrm>
            <a:prstGeom prst="rect">
              <a:avLst/>
            </a:prstGeom>
            <a:noFill/>
            <a:ln>
              <a:noFill/>
            </a:ln>
          </p:spPr>
          <p:txBody>
            <a:bodyPr wrap="none" lIns="0" tIns="0" rIns="0" bIns="0" rtlCol="0">
              <a:spAutoFit/>
            </a:bodyPr>
            <a:lstStyle/>
            <a:p>
              <a:r>
                <a:rPr lang="en-US" sz="1400" dirty="0">
                  <a:latin typeface="VAG Rundschrift D Light"/>
                </a:rPr>
                <a:t>PC</a:t>
              </a:r>
            </a:p>
          </p:txBody>
        </p:sp>
      </p:grpSp>
      <p:grpSp>
        <p:nvGrpSpPr>
          <p:cNvPr id="210" name="Group 209">
            <a:extLst>
              <a:ext uri="{FF2B5EF4-FFF2-40B4-BE49-F238E27FC236}">
                <a16:creationId xmlns:a16="http://schemas.microsoft.com/office/drawing/2014/main" id="{03F7419F-D0F6-4B8E-A97A-DB00BFCB9AC7}"/>
              </a:ext>
            </a:extLst>
          </p:cNvPr>
          <p:cNvGrpSpPr/>
          <p:nvPr/>
        </p:nvGrpSpPr>
        <p:grpSpPr>
          <a:xfrm>
            <a:off x="3221351" y="3911826"/>
            <a:ext cx="8387859" cy="236826"/>
            <a:chOff x="259986" y="4586208"/>
            <a:chExt cx="7588614" cy="340124"/>
          </a:xfrm>
        </p:grpSpPr>
        <p:cxnSp>
          <p:nvCxnSpPr>
            <p:cNvPr id="211" name="Straight Connector 210">
              <a:extLst>
                <a:ext uri="{FF2B5EF4-FFF2-40B4-BE49-F238E27FC236}">
                  <a16:creationId xmlns:a16="http://schemas.microsoft.com/office/drawing/2014/main" id="{244BC25E-93CC-47AD-A6B9-878EC6AB3969}"/>
                </a:ext>
              </a:extLst>
            </p:cNvPr>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2" name="Straight Connector 211">
              <a:extLst>
                <a:ext uri="{FF2B5EF4-FFF2-40B4-BE49-F238E27FC236}">
                  <a16:creationId xmlns:a16="http://schemas.microsoft.com/office/drawing/2014/main" id="{2C69FFC9-0639-4559-9F6A-F8185B7E8CA1}"/>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3" name="Straight Connector 212">
              <a:extLst>
                <a:ext uri="{FF2B5EF4-FFF2-40B4-BE49-F238E27FC236}">
                  <a16:creationId xmlns:a16="http://schemas.microsoft.com/office/drawing/2014/main" id="{A0469F03-2083-46E3-86C7-41D42EBF6019}"/>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5" name="Straight Connector 214">
              <a:extLst>
                <a:ext uri="{FF2B5EF4-FFF2-40B4-BE49-F238E27FC236}">
                  <a16:creationId xmlns:a16="http://schemas.microsoft.com/office/drawing/2014/main" id="{2C3B5749-2D1B-47AC-B320-47DDDDFB6BDD}"/>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16" name="TextBox 215">
              <a:extLst>
                <a:ext uri="{FF2B5EF4-FFF2-40B4-BE49-F238E27FC236}">
                  <a16:creationId xmlns:a16="http://schemas.microsoft.com/office/drawing/2014/main" id="{51994FB3-B5B8-48FC-BFF1-8DC1BEDF0237}"/>
                </a:ext>
              </a:extLst>
            </p:cNvPr>
            <p:cNvSpPr txBox="1"/>
            <p:nvPr/>
          </p:nvSpPr>
          <p:spPr>
            <a:xfrm>
              <a:off x="3129528" y="4592780"/>
              <a:ext cx="330659" cy="309416"/>
            </a:xfrm>
            <a:prstGeom prst="rect">
              <a:avLst/>
            </a:prstGeom>
            <a:noFill/>
            <a:ln>
              <a:noFill/>
            </a:ln>
          </p:spPr>
          <p:txBody>
            <a:bodyPr wrap="none" lIns="0" tIns="0" rIns="0" bIns="0" rtlCol="0">
              <a:spAutoFit/>
            </a:bodyPr>
            <a:lstStyle/>
            <a:p>
              <a:r>
                <a:rPr lang="en-US" sz="1400" dirty="0">
                  <a:latin typeface="VAG Rundschrift D Light"/>
                </a:rPr>
                <a:t>1004</a:t>
              </a:r>
            </a:p>
          </p:txBody>
        </p:sp>
        <p:cxnSp>
          <p:nvCxnSpPr>
            <p:cNvPr id="217" name="Straight Connector 216">
              <a:extLst>
                <a:ext uri="{FF2B5EF4-FFF2-40B4-BE49-F238E27FC236}">
                  <a16:creationId xmlns:a16="http://schemas.microsoft.com/office/drawing/2014/main" id="{91344476-69D9-47EF-A85F-9F4354EB747B}"/>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8" name="Straight Connector 217">
              <a:extLst>
                <a:ext uri="{FF2B5EF4-FFF2-40B4-BE49-F238E27FC236}">
                  <a16:creationId xmlns:a16="http://schemas.microsoft.com/office/drawing/2014/main" id="{281E9961-1E9A-496F-AEFF-53FE4388BDC9}"/>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19" name="Straight Connector 218">
              <a:extLst>
                <a:ext uri="{FF2B5EF4-FFF2-40B4-BE49-F238E27FC236}">
                  <a16:creationId xmlns:a16="http://schemas.microsoft.com/office/drawing/2014/main" id="{9A03E8EB-9766-4D3E-8A9A-3DF4E487A678}"/>
                </a:ext>
              </a:extLst>
            </p:cNvPr>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0" name="Straight Connector 219">
              <a:extLst>
                <a:ext uri="{FF2B5EF4-FFF2-40B4-BE49-F238E27FC236}">
                  <a16:creationId xmlns:a16="http://schemas.microsoft.com/office/drawing/2014/main" id="{BE15122D-0586-4F38-92BF-7C427E1B9CF3}"/>
                </a:ext>
              </a:extLst>
            </p:cNvPr>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1" name="TextBox 220">
              <a:extLst>
                <a:ext uri="{FF2B5EF4-FFF2-40B4-BE49-F238E27FC236}">
                  <a16:creationId xmlns:a16="http://schemas.microsoft.com/office/drawing/2014/main" id="{CB8C31E3-D4C7-49FD-A276-C5B71B5F5E61}"/>
                </a:ext>
              </a:extLst>
            </p:cNvPr>
            <p:cNvSpPr txBox="1"/>
            <p:nvPr/>
          </p:nvSpPr>
          <p:spPr>
            <a:xfrm>
              <a:off x="5545151" y="4586208"/>
              <a:ext cx="330659" cy="309416"/>
            </a:xfrm>
            <a:prstGeom prst="rect">
              <a:avLst/>
            </a:prstGeom>
            <a:noFill/>
            <a:ln>
              <a:noFill/>
            </a:ln>
          </p:spPr>
          <p:txBody>
            <a:bodyPr wrap="none" lIns="0" tIns="0" rIns="0" bIns="0" rtlCol="0">
              <a:spAutoFit/>
            </a:bodyPr>
            <a:lstStyle/>
            <a:p>
              <a:r>
                <a:rPr lang="en-US" sz="1400" dirty="0">
                  <a:latin typeface="VAG Rundschrift D Light"/>
                </a:rPr>
                <a:t>1008</a:t>
              </a:r>
            </a:p>
          </p:txBody>
        </p:sp>
        <p:sp>
          <p:nvSpPr>
            <p:cNvPr id="222" name="TextBox 221">
              <a:extLst>
                <a:ext uri="{FF2B5EF4-FFF2-40B4-BE49-F238E27FC236}">
                  <a16:creationId xmlns:a16="http://schemas.microsoft.com/office/drawing/2014/main" id="{7B112F04-5C51-41FA-A465-B5B2C0C9B07D}"/>
                </a:ext>
              </a:extLst>
            </p:cNvPr>
            <p:cNvSpPr txBox="1"/>
            <p:nvPr/>
          </p:nvSpPr>
          <p:spPr>
            <a:xfrm>
              <a:off x="259986" y="4616916"/>
              <a:ext cx="335010" cy="309416"/>
            </a:xfrm>
            <a:prstGeom prst="rect">
              <a:avLst/>
            </a:prstGeom>
            <a:noFill/>
            <a:ln>
              <a:noFill/>
            </a:ln>
          </p:spPr>
          <p:txBody>
            <a:bodyPr wrap="none" lIns="0" tIns="0" rIns="0" bIns="0" rtlCol="0">
              <a:spAutoFit/>
            </a:bodyPr>
            <a:lstStyle/>
            <a:p>
              <a:r>
                <a:rPr lang="en-US" sz="1400" dirty="0">
                  <a:latin typeface="VAG Rundschrift D Light"/>
                </a:rPr>
                <a:t>PC+4</a:t>
              </a:r>
            </a:p>
          </p:txBody>
        </p:sp>
      </p:grpSp>
      <p:grpSp>
        <p:nvGrpSpPr>
          <p:cNvPr id="223" name="Group 222">
            <a:extLst>
              <a:ext uri="{FF2B5EF4-FFF2-40B4-BE49-F238E27FC236}">
                <a16:creationId xmlns:a16="http://schemas.microsoft.com/office/drawing/2014/main" id="{388CD06D-8FA2-418A-8D9F-577726D4F03F}"/>
              </a:ext>
            </a:extLst>
          </p:cNvPr>
          <p:cNvGrpSpPr/>
          <p:nvPr/>
        </p:nvGrpSpPr>
        <p:grpSpPr>
          <a:xfrm>
            <a:off x="3216533" y="4269004"/>
            <a:ext cx="8308451" cy="246796"/>
            <a:chOff x="331827" y="4576666"/>
            <a:chExt cx="7516773" cy="354441"/>
          </a:xfrm>
        </p:grpSpPr>
        <p:cxnSp>
          <p:nvCxnSpPr>
            <p:cNvPr id="224" name="Straight Connector 223">
              <a:extLst>
                <a:ext uri="{FF2B5EF4-FFF2-40B4-BE49-F238E27FC236}">
                  <a16:creationId xmlns:a16="http://schemas.microsoft.com/office/drawing/2014/main" id="{00EE4134-217A-4226-A612-A1A61AECCB65}"/>
                </a:ext>
              </a:extLst>
            </p:cNvPr>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5" name="Straight Connector 224">
              <a:extLst>
                <a:ext uri="{FF2B5EF4-FFF2-40B4-BE49-F238E27FC236}">
                  <a16:creationId xmlns:a16="http://schemas.microsoft.com/office/drawing/2014/main" id="{9348FAA6-389E-45C5-97CC-C1AE3D8D48BC}"/>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6" name="Straight Connector 225">
              <a:extLst>
                <a:ext uri="{FF2B5EF4-FFF2-40B4-BE49-F238E27FC236}">
                  <a16:creationId xmlns:a16="http://schemas.microsoft.com/office/drawing/2014/main" id="{89B03288-C7F4-4CF7-9712-50865F4EB554}"/>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7" name="Straight Connector 226">
              <a:extLst>
                <a:ext uri="{FF2B5EF4-FFF2-40B4-BE49-F238E27FC236}">
                  <a16:creationId xmlns:a16="http://schemas.microsoft.com/office/drawing/2014/main" id="{AD8A4105-FAF1-4145-9540-CD843E6B6F75}"/>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8" name="TextBox 227">
              <a:extLst>
                <a:ext uri="{FF2B5EF4-FFF2-40B4-BE49-F238E27FC236}">
                  <a16:creationId xmlns:a16="http://schemas.microsoft.com/office/drawing/2014/main" id="{1DCF42A4-2F36-490B-97B2-56A3C34B379B}"/>
                </a:ext>
              </a:extLst>
            </p:cNvPr>
            <p:cNvSpPr txBox="1"/>
            <p:nvPr/>
          </p:nvSpPr>
          <p:spPr>
            <a:xfrm>
              <a:off x="2809399" y="4576666"/>
              <a:ext cx="844051" cy="309414"/>
            </a:xfrm>
            <a:prstGeom prst="rect">
              <a:avLst/>
            </a:prstGeom>
            <a:noFill/>
            <a:ln>
              <a:noFill/>
            </a:ln>
          </p:spPr>
          <p:txBody>
            <a:bodyPr wrap="none" lIns="0" tIns="0" rIns="0" bIns="0" rtlCol="0">
              <a:spAutoFit/>
            </a:bodyPr>
            <a:lstStyle/>
            <a:p>
              <a:r>
                <a:rPr lang="en-US" sz="1400" b="1" dirty="0">
                  <a:latin typeface="VAG Rundschrift D Light"/>
                  <a:cs typeface="Courier New"/>
                </a:rPr>
                <a:t>add x1,x2,x3</a:t>
              </a:r>
            </a:p>
          </p:txBody>
        </p:sp>
        <p:cxnSp>
          <p:nvCxnSpPr>
            <p:cNvPr id="229" name="Straight Connector 228">
              <a:extLst>
                <a:ext uri="{FF2B5EF4-FFF2-40B4-BE49-F238E27FC236}">
                  <a16:creationId xmlns:a16="http://schemas.microsoft.com/office/drawing/2014/main" id="{8DFCB752-E25B-4AFE-9A35-F7E69FF3763A}"/>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0" name="Straight Connector 229">
              <a:extLst>
                <a:ext uri="{FF2B5EF4-FFF2-40B4-BE49-F238E27FC236}">
                  <a16:creationId xmlns:a16="http://schemas.microsoft.com/office/drawing/2014/main" id="{72984B9E-F1DD-4F0E-AF37-6BB11F3F0A36}"/>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1" name="Straight Connector 230">
              <a:extLst>
                <a:ext uri="{FF2B5EF4-FFF2-40B4-BE49-F238E27FC236}">
                  <a16:creationId xmlns:a16="http://schemas.microsoft.com/office/drawing/2014/main" id="{B2A88E78-1833-42FB-8061-714A2F3B729D}"/>
                </a:ext>
              </a:extLst>
            </p:cNvPr>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2" name="Straight Connector 231">
              <a:extLst>
                <a:ext uri="{FF2B5EF4-FFF2-40B4-BE49-F238E27FC236}">
                  <a16:creationId xmlns:a16="http://schemas.microsoft.com/office/drawing/2014/main" id="{F2AF4CD3-BBCC-496D-8A18-F66693B676D7}"/>
                </a:ext>
              </a:extLst>
            </p:cNvPr>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3" name="TextBox 232">
              <a:extLst>
                <a:ext uri="{FF2B5EF4-FFF2-40B4-BE49-F238E27FC236}">
                  <a16:creationId xmlns:a16="http://schemas.microsoft.com/office/drawing/2014/main" id="{3F2E7ABC-7F78-4734-80C8-212CCABD349F}"/>
                </a:ext>
              </a:extLst>
            </p:cNvPr>
            <p:cNvSpPr txBox="1"/>
            <p:nvPr/>
          </p:nvSpPr>
          <p:spPr>
            <a:xfrm>
              <a:off x="5599733" y="4577941"/>
              <a:ext cx="844051" cy="309414"/>
            </a:xfrm>
            <a:prstGeom prst="rect">
              <a:avLst/>
            </a:prstGeom>
            <a:noFill/>
            <a:ln>
              <a:noFill/>
            </a:ln>
          </p:spPr>
          <p:txBody>
            <a:bodyPr wrap="none" lIns="0" tIns="0" rIns="0" bIns="0" rtlCol="0">
              <a:spAutoFit/>
            </a:bodyPr>
            <a:lstStyle/>
            <a:p>
              <a:r>
                <a:rPr lang="en-US" sz="1400" b="1" dirty="0">
                  <a:latin typeface="VAG Rundschrift D Light"/>
                  <a:cs typeface="Courier New"/>
                </a:rPr>
                <a:t>add x6,x7,x9</a:t>
              </a:r>
            </a:p>
          </p:txBody>
        </p:sp>
        <p:sp>
          <p:nvSpPr>
            <p:cNvPr id="234" name="TextBox 233">
              <a:extLst>
                <a:ext uri="{FF2B5EF4-FFF2-40B4-BE49-F238E27FC236}">
                  <a16:creationId xmlns:a16="http://schemas.microsoft.com/office/drawing/2014/main" id="{EEE8E07A-80C3-41FB-8196-FBA8C65572D2}"/>
                </a:ext>
              </a:extLst>
            </p:cNvPr>
            <p:cNvSpPr txBox="1"/>
            <p:nvPr/>
          </p:nvSpPr>
          <p:spPr>
            <a:xfrm>
              <a:off x="331827" y="4621693"/>
              <a:ext cx="630515" cy="309414"/>
            </a:xfrm>
            <a:prstGeom prst="rect">
              <a:avLst/>
            </a:prstGeom>
            <a:noFill/>
            <a:ln>
              <a:noFill/>
            </a:ln>
          </p:spPr>
          <p:txBody>
            <a:bodyPr wrap="none" lIns="0" tIns="0" rIns="0" bIns="0" rtlCol="0">
              <a:spAutoFit/>
            </a:bodyPr>
            <a:lstStyle/>
            <a:p>
              <a:r>
                <a:rPr lang="en-US" sz="1400" dirty="0" err="1">
                  <a:latin typeface="VAG Rundschrift D Light"/>
                </a:rPr>
                <a:t>inst</a:t>
              </a:r>
              <a:r>
                <a:rPr lang="en-US" sz="1400" dirty="0">
                  <a:latin typeface="VAG Rundschrift D Light"/>
                </a:rPr>
                <a:t>[31:0]</a:t>
              </a:r>
            </a:p>
          </p:txBody>
        </p:sp>
      </p:grpSp>
      <p:grpSp>
        <p:nvGrpSpPr>
          <p:cNvPr id="235" name="Group 234">
            <a:extLst>
              <a:ext uri="{FF2B5EF4-FFF2-40B4-BE49-F238E27FC236}">
                <a16:creationId xmlns:a16="http://schemas.microsoft.com/office/drawing/2014/main" id="{42936544-2757-487D-ABAB-6EFC6D9A199D}"/>
              </a:ext>
            </a:extLst>
          </p:cNvPr>
          <p:cNvGrpSpPr/>
          <p:nvPr/>
        </p:nvGrpSpPr>
        <p:grpSpPr>
          <a:xfrm>
            <a:off x="3227972" y="3224479"/>
            <a:ext cx="8549689" cy="228365"/>
            <a:chOff x="723175" y="3081983"/>
            <a:chExt cx="7735025" cy="327969"/>
          </a:xfrm>
        </p:grpSpPr>
        <p:grpSp>
          <p:nvGrpSpPr>
            <p:cNvPr id="236" name="Group 235">
              <a:extLst>
                <a:ext uri="{FF2B5EF4-FFF2-40B4-BE49-F238E27FC236}">
                  <a16:creationId xmlns:a16="http://schemas.microsoft.com/office/drawing/2014/main" id="{4C9C2EF0-4DF3-40BD-9DC6-C9EE2D38416F}"/>
                </a:ext>
              </a:extLst>
            </p:cNvPr>
            <p:cNvGrpSpPr/>
            <p:nvPr/>
          </p:nvGrpSpPr>
          <p:grpSpPr>
            <a:xfrm>
              <a:off x="723175" y="3081983"/>
              <a:ext cx="4001225" cy="327968"/>
              <a:chOff x="875575" y="4529784"/>
              <a:chExt cx="4001225" cy="327968"/>
            </a:xfrm>
          </p:grpSpPr>
          <p:cxnSp>
            <p:nvCxnSpPr>
              <p:cNvPr id="244" name="Straight Connector 243">
                <a:extLst>
                  <a:ext uri="{FF2B5EF4-FFF2-40B4-BE49-F238E27FC236}">
                    <a16:creationId xmlns:a16="http://schemas.microsoft.com/office/drawing/2014/main" id="{30FF5777-2B72-4B24-ACFE-76D5B2D8F26B}"/>
                  </a:ext>
                </a:extLst>
              </p:cNvPr>
              <p:cNvCxnSpPr/>
              <p:nvPr/>
            </p:nvCxnSpPr>
            <p:spPr>
              <a:xfrm>
                <a:off x="1066800" y="4857750"/>
                <a:ext cx="914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5" name="Straight Connector 244">
                <a:extLst>
                  <a:ext uri="{FF2B5EF4-FFF2-40B4-BE49-F238E27FC236}">
                    <a16:creationId xmlns:a16="http://schemas.microsoft.com/office/drawing/2014/main" id="{DCC5A75D-5865-4AB4-AC0A-904639B4E6B7}"/>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6" name="Straight Connector 245">
                <a:extLst>
                  <a:ext uri="{FF2B5EF4-FFF2-40B4-BE49-F238E27FC236}">
                    <a16:creationId xmlns:a16="http://schemas.microsoft.com/office/drawing/2014/main" id="{46CB15ED-F38C-490E-9DE7-B467CD439703}"/>
                  </a:ext>
                </a:extLst>
              </p:cNvPr>
              <p:cNvCxnSpPr/>
              <p:nvPr/>
            </p:nvCxnSpPr>
            <p:spPr>
              <a:xfrm>
                <a:off x="2133600" y="4629150"/>
                <a:ext cx="1295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7" name="Straight Connector 246">
                <a:extLst>
                  <a:ext uri="{FF2B5EF4-FFF2-40B4-BE49-F238E27FC236}">
                    <a16:creationId xmlns:a16="http://schemas.microsoft.com/office/drawing/2014/main" id="{FA3E14E3-61A2-4327-BF80-0C6D3C42D025}"/>
                  </a:ext>
                </a:extLst>
              </p:cNvPr>
              <p:cNvCxnSpPr/>
              <p:nvPr/>
            </p:nvCxnSpPr>
            <p:spPr>
              <a:xfrm flipH="1" flipV="1">
                <a:off x="3429000" y="46291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8" name="Straight Connector 247">
                <a:extLst>
                  <a:ext uri="{FF2B5EF4-FFF2-40B4-BE49-F238E27FC236}">
                    <a16:creationId xmlns:a16="http://schemas.microsoft.com/office/drawing/2014/main" id="{92816069-DA0E-4C48-9B66-78803C484975}"/>
                  </a:ext>
                </a:extLst>
              </p:cNvPr>
              <p:cNvCxnSpPr/>
              <p:nvPr/>
            </p:nvCxnSpPr>
            <p:spPr>
              <a:xfrm>
                <a:off x="3581400" y="4857751"/>
                <a:ext cx="11430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9" name="Straight Connector 248">
                <a:extLst>
                  <a:ext uri="{FF2B5EF4-FFF2-40B4-BE49-F238E27FC236}">
                    <a16:creationId xmlns:a16="http://schemas.microsoft.com/office/drawing/2014/main" id="{E1732B0E-81DF-46AE-A86B-0244A55C7C24}"/>
                  </a:ext>
                </a:extLst>
              </p:cNvPr>
              <p:cNvCxnSpPr/>
              <p:nvPr/>
            </p:nvCxnSpPr>
            <p:spPr>
              <a:xfrm flipV="1">
                <a:off x="4724400" y="46291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50" name="TextBox 249">
                <a:extLst>
                  <a:ext uri="{FF2B5EF4-FFF2-40B4-BE49-F238E27FC236}">
                    <a16:creationId xmlns:a16="http://schemas.microsoft.com/office/drawing/2014/main" id="{C4F80DE7-EB28-494A-B0AA-C31FADFC6C6A}"/>
                  </a:ext>
                </a:extLst>
              </p:cNvPr>
              <p:cNvSpPr txBox="1"/>
              <p:nvPr/>
            </p:nvSpPr>
            <p:spPr>
              <a:xfrm>
                <a:off x="875575" y="4529784"/>
                <a:ext cx="352413" cy="309412"/>
              </a:xfrm>
              <a:prstGeom prst="rect">
                <a:avLst/>
              </a:prstGeom>
              <a:noFill/>
              <a:ln>
                <a:noFill/>
              </a:ln>
            </p:spPr>
            <p:txBody>
              <a:bodyPr wrap="none" lIns="0" tIns="0" rIns="0" bIns="0" rtlCol="0">
                <a:spAutoFit/>
              </a:bodyPr>
              <a:lstStyle/>
              <a:p>
                <a:r>
                  <a:rPr lang="en-US" sz="1400" dirty="0">
                    <a:latin typeface="VAG Rundschrift D Light"/>
                  </a:rPr>
                  <a:t>Clock</a:t>
                </a:r>
              </a:p>
            </p:txBody>
          </p:sp>
          <p:cxnSp>
            <p:nvCxnSpPr>
              <p:cNvPr id="251" name="Straight Connector 250">
                <a:extLst>
                  <a:ext uri="{FF2B5EF4-FFF2-40B4-BE49-F238E27FC236}">
                    <a16:creationId xmlns:a16="http://schemas.microsoft.com/office/drawing/2014/main" id="{8680597A-6D89-4553-BEE5-E17749130699}"/>
                  </a:ext>
                </a:extLst>
              </p:cNvPr>
              <p:cNvCxnSpPr/>
              <p:nvPr/>
            </p:nvCxnSpPr>
            <p:spPr>
              <a:xfrm flipV="1">
                <a:off x="1962693" y="4698506"/>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2" name="Straight Connector 251">
                <a:extLst>
                  <a:ext uri="{FF2B5EF4-FFF2-40B4-BE49-F238E27FC236}">
                    <a16:creationId xmlns:a16="http://schemas.microsoft.com/office/drawing/2014/main" id="{15B54856-9D6A-4096-9153-E0D705DC3D41}"/>
                  </a:ext>
                </a:extLst>
              </p:cNvPr>
              <p:cNvCxnSpPr/>
              <p:nvPr/>
            </p:nvCxnSpPr>
            <p:spPr>
              <a:xfrm flipH="1" flipV="1">
                <a:off x="2084560" y="4698506"/>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3" name="Straight Connector 252">
                <a:extLst>
                  <a:ext uri="{FF2B5EF4-FFF2-40B4-BE49-F238E27FC236}">
                    <a16:creationId xmlns:a16="http://schemas.microsoft.com/office/drawing/2014/main" id="{D0C99B07-8788-4EFA-8E2D-9C6060DBE06C}"/>
                  </a:ext>
                </a:extLst>
              </p:cNvPr>
              <p:cNvCxnSpPr/>
              <p:nvPr/>
            </p:nvCxnSpPr>
            <p:spPr>
              <a:xfrm flipV="1">
                <a:off x="4701951" y="4700170"/>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4" name="Straight Connector 253">
                <a:extLst>
                  <a:ext uri="{FF2B5EF4-FFF2-40B4-BE49-F238E27FC236}">
                    <a16:creationId xmlns:a16="http://schemas.microsoft.com/office/drawing/2014/main" id="{301918A6-BA00-498D-B620-11EC80B33BE7}"/>
                  </a:ext>
                </a:extLst>
              </p:cNvPr>
              <p:cNvCxnSpPr/>
              <p:nvPr/>
            </p:nvCxnSpPr>
            <p:spPr>
              <a:xfrm flipH="1" flipV="1">
                <a:off x="4823818" y="4700170"/>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grpSp>
        <p:cxnSp>
          <p:nvCxnSpPr>
            <p:cNvPr id="237" name="Straight Connector 236">
              <a:extLst>
                <a:ext uri="{FF2B5EF4-FFF2-40B4-BE49-F238E27FC236}">
                  <a16:creationId xmlns:a16="http://schemas.microsoft.com/office/drawing/2014/main" id="{8745A5E5-876E-4D0C-BF43-B6A1F443E724}"/>
                </a:ext>
              </a:extLst>
            </p:cNvPr>
            <p:cNvCxnSpPr/>
            <p:nvPr/>
          </p:nvCxnSpPr>
          <p:spPr>
            <a:xfrm>
              <a:off x="4724400" y="3181350"/>
              <a:ext cx="12954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8" name="Straight Connector 237">
              <a:extLst>
                <a:ext uri="{FF2B5EF4-FFF2-40B4-BE49-F238E27FC236}">
                  <a16:creationId xmlns:a16="http://schemas.microsoft.com/office/drawing/2014/main" id="{22CAE003-67F3-484A-A9B8-AC9DC52A14BC}"/>
                </a:ext>
              </a:extLst>
            </p:cNvPr>
            <p:cNvCxnSpPr/>
            <p:nvPr/>
          </p:nvCxnSpPr>
          <p:spPr>
            <a:xfrm flipH="1" flipV="1">
              <a:off x="6019800" y="31813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39" name="Straight Connector 238">
              <a:extLst>
                <a:ext uri="{FF2B5EF4-FFF2-40B4-BE49-F238E27FC236}">
                  <a16:creationId xmlns:a16="http://schemas.microsoft.com/office/drawing/2014/main" id="{B48B23D0-838A-465B-B3F1-EC7A38E85E95}"/>
                </a:ext>
              </a:extLst>
            </p:cNvPr>
            <p:cNvCxnSpPr/>
            <p:nvPr/>
          </p:nvCxnSpPr>
          <p:spPr>
            <a:xfrm>
              <a:off x="6172200" y="3409951"/>
              <a:ext cx="1143000" cy="1"/>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0" name="Straight Connector 239">
              <a:extLst>
                <a:ext uri="{FF2B5EF4-FFF2-40B4-BE49-F238E27FC236}">
                  <a16:creationId xmlns:a16="http://schemas.microsoft.com/office/drawing/2014/main" id="{5F7B24E5-E3FB-4097-B19B-8F5BC9657617}"/>
                </a:ext>
              </a:extLst>
            </p:cNvPr>
            <p:cNvCxnSpPr/>
            <p:nvPr/>
          </p:nvCxnSpPr>
          <p:spPr>
            <a:xfrm flipV="1">
              <a:off x="7315200" y="3181351"/>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1" name="Straight Connector 240">
              <a:extLst>
                <a:ext uri="{FF2B5EF4-FFF2-40B4-BE49-F238E27FC236}">
                  <a16:creationId xmlns:a16="http://schemas.microsoft.com/office/drawing/2014/main" id="{08F26335-E6FE-452C-939E-E0D3CF99D0AC}"/>
                </a:ext>
              </a:extLst>
            </p:cNvPr>
            <p:cNvCxnSpPr/>
            <p:nvPr/>
          </p:nvCxnSpPr>
          <p:spPr>
            <a:xfrm flipV="1">
              <a:off x="7292751" y="3252370"/>
              <a:ext cx="125073" cy="3207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2" name="Straight Connector 241">
              <a:extLst>
                <a:ext uri="{FF2B5EF4-FFF2-40B4-BE49-F238E27FC236}">
                  <a16:creationId xmlns:a16="http://schemas.microsoft.com/office/drawing/2014/main" id="{E6B4008D-C19F-44FE-8DBA-B1AFC579E8EF}"/>
                </a:ext>
              </a:extLst>
            </p:cNvPr>
            <p:cNvCxnSpPr/>
            <p:nvPr/>
          </p:nvCxnSpPr>
          <p:spPr>
            <a:xfrm flipH="1" flipV="1">
              <a:off x="7414618" y="3252370"/>
              <a:ext cx="16034" cy="109043"/>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43" name="Straight Connector 242">
              <a:extLst>
                <a:ext uri="{FF2B5EF4-FFF2-40B4-BE49-F238E27FC236}">
                  <a16:creationId xmlns:a16="http://schemas.microsoft.com/office/drawing/2014/main" id="{0722849C-8224-4414-9378-7D4E21985493}"/>
                </a:ext>
              </a:extLst>
            </p:cNvPr>
            <p:cNvCxnSpPr/>
            <p:nvPr/>
          </p:nvCxnSpPr>
          <p:spPr>
            <a:xfrm>
              <a:off x="7467600" y="3181349"/>
              <a:ext cx="990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grpSp>
      <p:grpSp>
        <p:nvGrpSpPr>
          <p:cNvPr id="255" name="Group 254">
            <a:extLst>
              <a:ext uri="{FF2B5EF4-FFF2-40B4-BE49-F238E27FC236}">
                <a16:creationId xmlns:a16="http://schemas.microsoft.com/office/drawing/2014/main" id="{3420E411-C933-470B-9B08-37EE1271E038}"/>
              </a:ext>
            </a:extLst>
          </p:cNvPr>
          <p:cNvGrpSpPr/>
          <p:nvPr/>
        </p:nvGrpSpPr>
        <p:grpSpPr>
          <a:xfrm>
            <a:off x="3206973" y="4821534"/>
            <a:ext cx="8907591" cy="233448"/>
            <a:chOff x="-210222" y="4589292"/>
            <a:chExt cx="8058822" cy="335271"/>
          </a:xfrm>
        </p:grpSpPr>
        <p:cxnSp>
          <p:nvCxnSpPr>
            <p:cNvPr id="256" name="Straight Connector 255">
              <a:extLst>
                <a:ext uri="{FF2B5EF4-FFF2-40B4-BE49-F238E27FC236}">
                  <a16:creationId xmlns:a16="http://schemas.microsoft.com/office/drawing/2014/main" id="{7B9567C5-ECEC-495C-8C64-275723647D20}"/>
                </a:ext>
              </a:extLst>
            </p:cNvPr>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7" name="Straight Connector 256">
              <a:extLst>
                <a:ext uri="{FF2B5EF4-FFF2-40B4-BE49-F238E27FC236}">
                  <a16:creationId xmlns:a16="http://schemas.microsoft.com/office/drawing/2014/main" id="{60AF8BC1-2EEA-4C15-901A-17DCE92FB797}"/>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8" name="Straight Connector 257">
              <a:extLst>
                <a:ext uri="{FF2B5EF4-FFF2-40B4-BE49-F238E27FC236}">
                  <a16:creationId xmlns:a16="http://schemas.microsoft.com/office/drawing/2014/main" id="{66147D33-4505-4F72-ACBB-1FB5853F4B29}"/>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9" name="Straight Connector 258">
              <a:extLst>
                <a:ext uri="{FF2B5EF4-FFF2-40B4-BE49-F238E27FC236}">
                  <a16:creationId xmlns:a16="http://schemas.microsoft.com/office/drawing/2014/main" id="{5EF145A8-2BB3-4E68-8273-238C76049D4E}"/>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60" name="TextBox 259">
              <a:extLst>
                <a:ext uri="{FF2B5EF4-FFF2-40B4-BE49-F238E27FC236}">
                  <a16:creationId xmlns:a16="http://schemas.microsoft.com/office/drawing/2014/main" id="{5E71FA15-810E-4EBB-B5B7-E2CC4155762D}"/>
                </a:ext>
              </a:extLst>
            </p:cNvPr>
            <p:cNvSpPr txBox="1"/>
            <p:nvPr/>
          </p:nvSpPr>
          <p:spPr>
            <a:xfrm>
              <a:off x="2797415" y="4589292"/>
              <a:ext cx="434150" cy="309414"/>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[2]</a:t>
              </a:r>
            </a:p>
          </p:txBody>
        </p:sp>
        <p:cxnSp>
          <p:nvCxnSpPr>
            <p:cNvPr id="261" name="Straight Connector 260">
              <a:extLst>
                <a:ext uri="{FF2B5EF4-FFF2-40B4-BE49-F238E27FC236}">
                  <a16:creationId xmlns:a16="http://schemas.microsoft.com/office/drawing/2014/main" id="{86352D26-32DD-48BB-BF71-FA1FABA4EC2F}"/>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2" name="Straight Connector 261">
              <a:extLst>
                <a:ext uri="{FF2B5EF4-FFF2-40B4-BE49-F238E27FC236}">
                  <a16:creationId xmlns:a16="http://schemas.microsoft.com/office/drawing/2014/main" id="{D5DBA1BF-BB7D-4C7B-9976-3FA9C590EDD3}"/>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3" name="Straight Connector 262">
              <a:extLst>
                <a:ext uri="{FF2B5EF4-FFF2-40B4-BE49-F238E27FC236}">
                  <a16:creationId xmlns:a16="http://schemas.microsoft.com/office/drawing/2014/main" id="{962AC669-9A17-498E-99F4-972A929DBC4D}"/>
                </a:ext>
              </a:extLst>
            </p:cNvPr>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4" name="Straight Connector 263">
              <a:extLst>
                <a:ext uri="{FF2B5EF4-FFF2-40B4-BE49-F238E27FC236}">
                  <a16:creationId xmlns:a16="http://schemas.microsoft.com/office/drawing/2014/main" id="{0F03D767-E796-4D10-8AE0-C44C41E51797}"/>
                </a:ext>
              </a:extLst>
            </p:cNvPr>
            <p:cNvCxnSpPr/>
            <p:nvPr/>
          </p:nvCxnSpPr>
          <p:spPr>
            <a:xfrm>
              <a:off x="1066800" y="4629157"/>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65" name="TextBox 264">
              <a:extLst>
                <a:ext uri="{FF2B5EF4-FFF2-40B4-BE49-F238E27FC236}">
                  <a16:creationId xmlns:a16="http://schemas.microsoft.com/office/drawing/2014/main" id="{AF54C875-C5DF-4C96-BB5C-BCE06A4A601F}"/>
                </a:ext>
              </a:extLst>
            </p:cNvPr>
            <p:cNvSpPr txBox="1"/>
            <p:nvPr/>
          </p:nvSpPr>
          <p:spPr>
            <a:xfrm>
              <a:off x="5587571" y="4594681"/>
              <a:ext cx="434150" cy="309414"/>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[7]</a:t>
              </a:r>
            </a:p>
          </p:txBody>
        </p:sp>
        <p:sp>
          <p:nvSpPr>
            <p:cNvPr id="266" name="TextBox 265">
              <a:extLst>
                <a:ext uri="{FF2B5EF4-FFF2-40B4-BE49-F238E27FC236}">
                  <a16:creationId xmlns:a16="http://schemas.microsoft.com/office/drawing/2014/main" id="{D8DFA1AB-36F1-4FF5-8086-518A4F0B2FB4}"/>
                </a:ext>
              </a:extLst>
            </p:cNvPr>
            <p:cNvSpPr txBox="1"/>
            <p:nvPr/>
          </p:nvSpPr>
          <p:spPr>
            <a:xfrm>
              <a:off x="-210222" y="4615149"/>
              <a:ext cx="542571" cy="309414"/>
            </a:xfrm>
            <a:prstGeom prst="rect">
              <a:avLst/>
            </a:prstGeom>
            <a:noFill/>
            <a:ln>
              <a:noFill/>
            </a:ln>
          </p:spPr>
          <p:txBody>
            <a:bodyPr wrap="none" lIns="0" tIns="0" rIns="0" bIns="0" rtlCol="0">
              <a:spAutoFit/>
            </a:bodyPr>
            <a:lstStyle/>
            <a:p>
              <a:r>
                <a:rPr lang="en-US" sz="1400" dirty="0" err="1">
                  <a:latin typeface="VAG Rundschrift D Light"/>
                </a:rPr>
                <a:t>Reg</a:t>
              </a:r>
              <a:r>
                <a:rPr lang="en-US" sz="1400" dirty="0">
                  <a:latin typeface="VAG Rundschrift D Light"/>
                </a:rPr>
                <a:t>[rs1]</a:t>
              </a:r>
            </a:p>
          </p:txBody>
        </p:sp>
      </p:grpSp>
      <p:grpSp>
        <p:nvGrpSpPr>
          <p:cNvPr id="267" name="Group 266">
            <a:extLst>
              <a:ext uri="{FF2B5EF4-FFF2-40B4-BE49-F238E27FC236}">
                <a16:creationId xmlns:a16="http://schemas.microsoft.com/office/drawing/2014/main" id="{34B757F1-0BF5-4CDF-86BD-656194DE726A}"/>
              </a:ext>
            </a:extLst>
          </p:cNvPr>
          <p:cNvGrpSpPr/>
          <p:nvPr/>
        </p:nvGrpSpPr>
        <p:grpSpPr>
          <a:xfrm>
            <a:off x="3226597" y="5476384"/>
            <a:ext cx="8635288" cy="221674"/>
            <a:chOff x="-1259268" y="4579838"/>
            <a:chExt cx="7812468" cy="318362"/>
          </a:xfrm>
        </p:grpSpPr>
        <p:cxnSp>
          <p:nvCxnSpPr>
            <p:cNvPr id="268" name="Straight Connector 267">
              <a:extLst>
                <a:ext uri="{FF2B5EF4-FFF2-40B4-BE49-F238E27FC236}">
                  <a16:creationId xmlns:a16="http://schemas.microsoft.com/office/drawing/2014/main" id="{3B09AB82-29B1-4808-B1D9-0743023BDE06}"/>
                </a:ext>
              </a:extLst>
            </p:cNvPr>
            <p:cNvCxnSpPr/>
            <p:nvPr/>
          </p:nvCxnSpPr>
          <p:spPr>
            <a:xfrm>
              <a:off x="1066800" y="48577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9" name="Straight Connector 268">
              <a:extLst>
                <a:ext uri="{FF2B5EF4-FFF2-40B4-BE49-F238E27FC236}">
                  <a16:creationId xmlns:a16="http://schemas.microsoft.com/office/drawing/2014/main" id="{A7E02519-CB1A-49E7-81A1-7D0BA5448F6C}"/>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0" name="Straight Connector 269">
              <a:extLst>
                <a:ext uri="{FF2B5EF4-FFF2-40B4-BE49-F238E27FC236}">
                  <a16:creationId xmlns:a16="http://schemas.microsoft.com/office/drawing/2014/main" id="{6084EE23-6B35-468D-AC36-F39D8CE37621}"/>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71" name="TextBox 270">
              <a:extLst>
                <a:ext uri="{FF2B5EF4-FFF2-40B4-BE49-F238E27FC236}">
                  <a16:creationId xmlns:a16="http://schemas.microsoft.com/office/drawing/2014/main" id="{D8491070-7624-462A-BACF-DD0B6FCBA12C}"/>
                </a:ext>
              </a:extLst>
            </p:cNvPr>
            <p:cNvSpPr txBox="1"/>
            <p:nvPr/>
          </p:nvSpPr>
          <p:spPr>
            <a:xfrm>
              <a:off x="2815600" y="4584279"/>
              <a:ext cx="949514"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[2]+</a:t>
              </a:r>
              <a:r>
                <a:rPr lang="en-US" sz="1400" b="1" dirty="0" err="1">
                  <a:latin typeface="VAG Rundschrift D Light"/>
                  <a:cs typeface="Courier New"/>
                </a:rPr>
                <a:t>Reg</a:t>
              </a:r>
              <a:r>
                <a:rPr lang="en-US" sz="1400" b="1" dirty="0">
                  <a:latin typeface="VAG Rundschrift D Light"/>
                  <a:cs typeface="Courier New"/>
                </a:rPr>
                <a:t>[3]</a:t>
              </a:r>
            </a:p>
          </p:txBody>
        </p:sp>
        <p:cxnSp>
          <p:nvCxnSpPr>
            <p:cNvPr id="272" name="Straight Connector 271">
              <a:extLst>
                <a:ext uri="{FF2B5EF4-FFF2-40B4-BE49-F238E27FC236}">
                  <a16:creationId xmlns:a16="http://schemas.microsoft.com/office/drawing/2014/main" id="{1CF0610B-0275-4519-BCDA-F8CC0552AA3C}"/>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3" name="Straight Connector 272">
              <a:extLst>
                <a:ext uri="{FF2B5EF4-FFF2-40B4-BE49-F238E27FC236}">
                  <a16:creationId xmlns:a16="http://schemas.microsoft.com/office/drawing/2014/main" id="{C926BE44-9C42-48A5-A703-99F5C51224B3}"/>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4" name="Straight Connector 273">
              <a:extLst>
                <a:ext uri="{FF2B5EF4-FFF2-40B4-BE49-F238E27FC236}">
                  <a16:creationId xmlns:a16="http://schemas.microsoft.com/office/drawing/2014/main" id="{8EFEBBC5-A935-416A-8CA3-76F9867844DF}"/>
                </a:ext>
              </a:extLst>
            </p:cNvPr>
            <p:cNvCxnSpPr/>
            <p:nvPr/>
          </p:nvCxnSpPr>
          <p:spPr>
            <a:xfrm>
              <a:off x="1066800" y="46291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75" name="TextBox 274">
              <a:extLst>
                <a:ext uri="{FF2B5EF4-FFF2-40B4-BE49-F238E27FC236}">
                  <a16:creationId xmlns:a16="http://schemas.microsoft.com/office/drawing/2014/main" id="{FB572781-F9B7-4CBD-A7BF-22ED34465D2C}"/>
                </a:ext>
              </a:extLst>
            </p:cNvPr>
            <p:cNvSpPr txBox="1"/>
            <p:nvPr/>
          </p:nvSpPr>
          <p:spPr>
            <a:xfrm>
              <a:off x="-1259268" y="4579838"/>
              <a:ext cx="201587" cy="309415"/>
            </a:xfrm>
            <a:prstGeom prst="rect">
              <a:avLst/>
            </a:prstGeom>
            <a:noFill/>
            <a:ln>
              <a:noFill/>
            </a:ln>
          </p:spPr>
          <p:txBody>
            <a:bodyPr wrap="none" lIns="0" tIns="0" rIns="0" bIns="0" rtlCol="0">
              <a:spAutoFit/>
            </a:bodyPr>
            <a:lstStyle/>
            <a:p>
              <a:r>
                <a:rPr lang="en-US" sz="1400" dirty="0" err="1">
                  <a:latin typeface="VAG Rundschrift D Light"/>
                </a:rPr>
                <a:t>alu</a:t>
              </a:r>
              <a:endParaRPr lang="en-US" sz="1400" dirty="0">
                <a:latin typeface="VAG Rundschrift D Light"/>
              </a:endParaRPr>
            </a:p>
          </p:txBody>
        </p:sp>
        <p:sp>
          <p:nvSpPr>
            <p:cNvPr id="276" name="TextBox 275">
              <a:extLst>
                <a:ext uri="{FF2B5EF4-FFF2-40B4-BE49-F238E27FC236}">
                  <a16:creationId xmlns:a16="http://schemas.microsoft.com/office/drawing/2014/main" id="{E24210A4-2DEC-4703-AA77-02D870F6FBF4}"/>
                </a:ext>
              </a:extLst>
            </p:cNvPr>
            <p:cNvSpPr txBox="1"/>
            <p:nvPr/>
          </p:nvSpPr>
          <p:spPr>
            <a:xfrm>
              <a:off x="5075335" y="4588785"/>
              <a:ext cx="949514"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[7]+</a:t>
              </a:r>
              <a:r>
                <a:rPr lang="en-US" sz="1400" b="1" dirty="0" err="1">
                  <a:latin typeface="VAG Rundschrift D Light"/>
                  <a:cs typeface="Courier New"/>
                </a:rPr>
                <a:t>Reg</a:t>
              </a:r>
              <a:r>
                <a:rPr lang="en-US" sz="1400" b="1" dirty="0">
                  <a:latin typeface="VAG Rundschrift D Light"/>
                  <a:cs typeface="Courier New"/>
                </a:rPr>
                <a:t>[9]</a:t>
              </a:r>
            </a:p>
          </p:txBody>
        </p:sp>
      </p:grpSp>
      <p:grpSp>
        <p:nvGrpSpPr>
          <p:cNvPr id="277" name="Group 276">
            <a:extLst>
              <a:ext uri="{FF2B5EF4-FFF2-40B4-BE49-F238E27FC236}">
                <a16:creationId xmlns:a16="http://schemas.microsoft.com/office/drawing/2014/main" id="{3E02169D-302F-4927-913D-FE9B7564E6C7}"/>
              </a:ext>
            </a:extLst>
          </p:cNvPr>
          <p:cNvGrpSpPr/>
          <p:nvPr/>
        </p:nvGrpSpPr>
        <p:grpSpPr>
          <a:xfrm>
            <a:off x="3226598" y="5157962"/>
            <a:ext cx="8887965" cy="225109"/>
            <a:chOff x="-192468" y="4566293"/>
            <a:chExt cx="8041068" cy="323296"/>
          </a:xfrm>
        </p:grpSpPr>
        <p:cxnSp>
          <p:nvCxnSpPr>
            <p:cNvPr id="278" name="Straight Connector 277">
              <a:extLst>
                <a:ext uri="{FF2B5EF4-FFF2-40B4-BE49-F238E27FC236}">
                  <a16:creationId xmlns:a16="http://schemas.microsoft.com/office/drawing/2014/main" id="{1EBB145E-EF26-4A28-BAB6-0DCE1FB08F80}"/>
                </a:ext>
              </a:extLst>
            </p:cNvPr>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79" name="Straight Connector 278">
              <a:extLst>
                <a:ext uri="{FF2B5EF4-FFF2-40B4-BE49-F238E27FC236}">
                  <a16:creationId xmlns:a16="http://schemas.microsoft.com/office/drawing/2014/main" id="{659D9199-6E61-44D4-BD91-53CDDC18A3BF}"/>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0" name="Straight Connector 279">
              <a:extLst>
                <a:ext uri="{FF2B5EF4-FFF2-40B4-BE49-F238E27FC236}">
                  <a16:creationId xmlns:a16="http://schemas.microsoft.com/office/drawing/2014/main" id="{A805D089-1420-4046-AC9E-EC61A2532ED6}"/>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1" name="Straight Connector 280">
              <a:extLst>
                <a:ext uri="{FF2B5EF4-FFF2-40B4-BE49-F238E27FC236}">
                  <a16:creationId xmlns:a16="http://schemas.microsoft.com/office/drawing/2014/main" id="{E39314F9-0790-4891-A19C-27F20179327C}"/>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2" name="TextBox 281">
              <a:extLst>
                <a:ext uri="{FF2B5EF4-FFF2-40B4-BE49-F238E27FC236}">
                  <a16:creationId xmlns:a16="http://schemas.microsoft.com/office/drawing/2014/main" id="{B1AD86C3-F160-469C-9C42-E04D8D66A064}"/>
                </a:ext>
              </a:extLst>
            </p:cNvPr>
            <p:cNvSpPr txBox="1"/>
            <p:nvPr/>
          </p:nvSpPr>
          <p:spPr>
            <a:xfrm>
              <a:off x="2801021" y="4580174"/>
              <a:ext cx="434150"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[3]</a:t>
              </a:r>
            </a:p>
          </p:txBody>
        </p:sp>
        <p:cxnSp>
          <p:nvCxnSpPr>
            <p:cNvPr id="283" name="Straight Connector 282">
              <a:extLst>
                <a:ext uri="{FF2B5EF4-FFF2-40B4-BE49-F238E27FC236}">
                  <a16:creationId xmlns:a16="http://schemas.microsoft.com/office/drawing/2014/main" id="{329B21DD-BFA4-422C-A4E4-C3DE1D53EA77}"/>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4" name="Straight Connector 283">
              <a:extLst>
                <a:ext uri="{FF2B5EF4-FFF2-40B4-BE49-F238E27FC236}">
                  <a16:creationId xmlns:a16="http://schemas.microsoft.com/office/drawing/2014/main" id="{83E71739-3796-4EDD-B964-C15C2AA3B086}"/>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5" name="Straight Connector 284">
              <a:extLst>
                <a:ext uri="{FF2B5EF4-FFF2-40B4-BE49-F238E27FC236}">
                  <a16:creationId xmlns:a16="http://schemas.microsoft.com/office/drawing/2014/main" id="{A1D7D099-16A5-48AA-B3E3-55CB7818A06B}"/>
                </a:ext>
              </a:extLst>
            </p:cNvPr>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86" name="Straight Connector 285">
              <a:extLst>
                <a:ext uri="{FF2B5EF4-FFF2-40B4-BE49-F238E27FC236}">
                  <a16:creationId xmlns:a16="http://schemas.microsoft.com/office/drawing/2014/main" id="{82CE9DE4-FE12-495D-9A7A-BAFA6E4A8895}"/>
                </a:ext>
              </a:extLst>
            </p:cNvPr>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7" name="TextBox 286">
              <a:extLst>
                <a:ext uri="{FF2B5EF4-FFF2-40B4-BE49-F238E27FC236}">
                  <a16:creationId xmlns:a16="http://schemas.microsoft.com/office/drawing/2014/main" id="{5D6672D9-D64F-493A-9F78-F6F864A8C732}"/>
                </a:ext>
              </a:extLst>
            </p:cNvPr>
            <p:cNvSpPr txBox="1"/>
            <p:nvPr/>
          </p:nvSpPr>
          <p:spPr>
            <a:xfrm>
              <a:off x="5587570" y="4573192"/>
              <a:ext cx="434150"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[9]</a:t>
              </a:r>
            </a:p>
          </p:txBody>
        </p:sp>
        <p:sp>
          <p:nvSpPr>
            <p:cNvPr id="288" name="TextBox 287">
              <a:extLst>
                <a:ext uri="{FF2B5EF4-FFF2-40B4-BE49-F238E27FC236}">
                  <a16:creationId xmlns:a16="http://schemas.microsoft.com/office/drawing/2014/main" id="{0C387472-CF35-4016-8020-0B00B521970C}"/>
                </a:ext>
              </a:extLst>
            </p:cNvPr>
            <p:cNvSpPr txBox="1"/>
            <p:nvPr/>
          </p:nvSpPr>
          <p:spPr>
            <a:xfrm>
              <a:off x="-192468" y="4566293"/>
              <a:ext cx="542572" cy="309415"/>
            </a:xfrm>
            <a:prstGeom prst="rect">
              <a:avLst/>
            </a:prstGeom>
            <a:noFill/>
            <a:ln>
              <a:noFill/>
            </a:ln>
          </p:spPr>
          <p:txBody>
            <a:bodyPr wrap="none" lIns="0" tIns="0" rIns="0" bIns="0" rtlCol="0">
              <a:spAutoFit/>
            </a:bodyPr>
            <a:lstStyle/>
            <a:p>
              <a:r>
                <a:rPr lang="en-US" sz="1400" dirty="0" err="1">
                  <a:latin typeface="VAG Rundschrift D Light"/>
                </a:rPr>
                <a:t>Reg</a:t>
              </a:r>
              <a:r>
                <a:rPr lang="en-US" sz="1400" dirty="0">
                  <a:latin typeface="VAG Rundschrift D Light"/>
                </a:rPr>
                <a:t>[rs2]</a:t>
              </a:r>
            </a:p>
          </p:txBody>
        </p:sp>
      </p:grpSp>
      <p:grpSp>
        <p:nvGrpSpPr>
          <p:cNvPr id="289" name="Group 288">
            <a:extLst>
              <a:ext uri="{FF2B5EF4-FFF2-40B4-BE49-F238E27FC236}">
                <a16:creationId xmlns:a16="http://schemas.microsoft.com/office/drawing/2014/main" id="{427A702E-0E04-4812-89D3-42FE8273E621}"/>
              </a:ext>
            </a:extLst>
          </p:cNvPr>
          <p:cNvGrpSpPr/>
          <p:nvPr/>
        </p:nvGrpSpPr>
        <p:grpSpPr>
          <a:xfrm>
            <a:off x="3131161" y="6103729"/>
            <a:ext cx="8730727" cy="268513"/>
            <a:chOff x="635589" y="4781534"/>
            <a:chExt cx="7898811" cy="385629"/>
          </a:xfrm>
        </p:grpSpPr>
        <p:grpSp>
          <p:nvGrpSpPr>
            <p:cNvPr id="290" name="Group 289">
              <a:extLst>
                <a:ext uri="{FF2B5EF4-FFF2-40B4-BE49-F238E27FC236}">
                  <a16:creationId xmlns:a16="http://schemas.microsoft.com/office/drawing/2014/main" id="{E77C0621-5742-40B8-8462-4879AE4ED689}"/>
                </a:ext>
              </a:extLst>
            </p:cNvPr>
            <p:cNvGrpSpPr/>
            <p:nvPr/>
          </p:nvGrpSpPr>
          <p:grpSpPr>
            <a:xfrm>
              <a:off x="635589" y="4781534"/>
              <a:ext cx="7898811" cy="385629"/>
              <a:chOff x="635589" y="4552934"/>
              <a:chExt cx="7898811" cy="385629"/>
            </a:xfrm>
          </p:grpSpPr>
          <p:cxnSp>
            <p:nvCxnSpPr>
              <p:cNvPr id="292" name="Straight Connector 291">
                <a:extLst>
                  <a:ext uri="{FF2B5EF4-FFF2-40B4-BE49-F238E27FC236}">
                    <a16:creationId xmlns:a16="http://schemas.microsoft.com/office/drawing/2014/main" id="{D3F5A31D-E978-464C-BAA2-17E169BE81D1}"/>
                  </a:ext>
                </a:extLst>
              </p:cNvPr>
              <p:cNvCxnSpPr/>
              <p:nvPr/>
            </p:nvCxnSpPr>
            <p:spPr>
              <a:xfrm>
                <a:off x="1066800" y="4857750"/>
                <a:ext cx="7467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3" name="Straight Connector 292">
                <a:extLst>
                  <a:ext uri="{FF2B5EF4-FFF2-40B4-BE49-F238E27FC236}">
                    <a16:creationId xmlns:a16="http://schemas.microsoft.com/office/drawing/2014/main" id="{4877383F-3433-4988-A841-E74FFBB06613}"/>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94" name="TextBox 293">
                <a:extLst>
                  <a:ext uri="{FF2B5EF4-FFF2-40B4-BE49-F238E27FC236}">
                    <a16:creationId xmlns:a16="http://schemas.microsoft.com/office/drawing/2014/main" id="{9EBA6F90-98F1-4AF9-A1E2-DE7A1F673CB7}"/>
                  </a:ext>
                </a:extLst>
              </p:cNvPr>
              <p:cNvSpPr txBox="1"/>
              <p:nvPr/>
            </p:nvSpPr>
            <p:spPr>
              <a:xfrm>
                <a:off x="3263338" y="4629150"/>
                <a:ext cx="226240" cy="309413"/>
              </a:xfrm>
              <a:prstGeom prst="rect">
                <a:avLst/>
              </a:prstGeom>
              <a:noFill/>
              <a:ln>
                <a:noFill/>
              </a:ln>
            </p:spPr>
            <p:txBody>
              <a:bodyPr wrap="none" lIns="0" tIns="0" rIns="0" bIns="0" rtlCol="0">
                <a:spAutoFit/>
              </a:bodyPr>
              <a:lstStyle/>
              <a:p>
                <a:r>
                  <a:rPr lang="en-US" sz="1400" dirty="0">
                    <a:latin typeface="VAG Rundschrift D Light"/>
                  </a:rPr>
                  <a:t>???</a:t>
                </a:r>
              </a:p>
            </p:txBody>
          </p:sp>
          <p:cxnSp>
            <p:nvCxnSpPr>
              <p:cNvPr id="295" name="Straight Connector 294">
                <a:extLst>
                  <a:ext uri="{FF2B5EF4-FFF2-40B4-BE49-F238E27FC236}">
                    <a16:creationId xmlns:a16="http://schemas.microsoft.com/office/drawing/2014/main" id="{D0A0C3B9-1426-469F-A452-9EA46CB25D32}"/>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96" name="Straight Connector 295">
                <a:extLst>
                  <a:ext uri="{FF2B5EF4-FFF2-40B4-BE49-F238E27FC236}">
                    <a16:creationId xmlns:a16="http://schemas.microsoft.com/office/drawing/2014/main" id="{1516BD33-2347-4FB9-AD78-8EA9605C4F57}"/>
                  </a:ext>
                </a:extLst>
              </p:cNvPr>
              <p:cNvCxnSpPr/>
              <p:nvPr/>
            </p:nvCxnSpPr>
            <p:spPr>
              <a:xfrm>
                <a:off x="1066800" y="4629150"/>
                <a:ext cx="74676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97" name="TextBox 296">
                <a:extLst>
                  <a:ext uri="{FF2B5EF4-FFF2-40B4-BE49-F238E27FC236}">
                    <a16:creationId xmlns:a16="http://schemas.microsoft.com/office/drawing/2014/main" id="{29E28E08-2948-4A98-B0D4-68CB416D8D7E}"/>
                  </a:ext>
                </a:extLst>
              </p:cNvPr>
              <p:cNvSpPr txBox="1"/>
              <p:nvPr/>
            </p:nvSpPr>
            <p:spPr>
              <a:xfrm>
                <a:off x="635589" y="4552934"/>
                <a:ext cx="424984" cy="309413"/>
              </a:xfrm>
              <a:prstGeom prst="rect">
                <a:avLst/>
              </a:prstGeom>
              <a:noFill/>
              <a:ln>
                <a:noFill/>
              </a:ln>
            </p:spPr>
            <p:txBody>
              <a:bodyPr wrap="none" lIns="0" tIns="0" rIns="0" bIns="0" rtlCol="0">
                <a:spAutoFit/>
              </a:bodyPr>
              <a:lstStyle/>
              <a:p>
                <a:r>
                  <a:rPr lang="en-US" sz="1400" dirty="0" err="1">
                    <a:latin typeface="VAG Rundschrift D Light"/>
                  </a:rPr>
                  <a:t>Reg</a:t>
                </a:r>
                <a:r>
                  <a:rPr lang="en-US" sz="1400" dirty="0">
                    <a:latin typeface="VAG Rundschrift D Light"/>
                  </a:rPr>
                  <a:t>[1]</a:t>
                </a:r>
              </a:p>
            </p:txBody>
          </p:sp>
        </p:grpSp>
        <p:sp>
          <p:nvSpPr>
            <p:cNvPr id="291" name="TextBox 290">
              <a:extLst>
                <a:ext uri="{FF2B5EF4-FFF2-40B4-BE49-F238E27FC236}">
                  <a16:creationId xmlns:a16="http://schemas.microsoft.com/office/drawing/2014/main" id="{C3BAAC78-8332-4A88-A4B8-C1510C5A9819}"/>
                </a:ext>
              </a:extLst>
            </p:cNvPr>
            <p:cNvSpPr txBox="1"/>
            <p:nvPr/>
          </p:nvSpPr>
          <p:spPr>
            <a:xfrm>
              <a:off x="5476306" y="4815068"/>
              <a:ext cx="949514" cy="309413"/>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[2]+</a:t>
              </a:r>
              <a:r>
                <a:rPr lang="en-US" sz="1400" b="1" dirty="0" err="1">
                  <a:latin typeface="VAG Rundschrift D Light"/>
                  <a:cs typeface="Courier New"/>
                </a:rPr>
                <a:t>Reg</a:t>
              </a:r>
              <a:r>
                <a:rPr lang="en-US" sz="1400" b="1" dirty="0">
                  <a:latin typeface="VAG Rundschrift D Light"/>
                  <a:cs typeface="Courier New"/>
                </a:rPr>
                <a:t>[3]</a:t>
              </a:r>
            </a:p>
          </p:txBody>
        </p:sp>
      </p:grpSp>
      <p:grpSp>
        <p:nvGrpSpPr>
          <p:cNvPr id="298" name="Group 297">
            <a:extLst>
              <a:ext uri="{FF2B5EF4-FFF2-40B4-BE49-F238E27FC236}">
                <a16:creationId xmlns:a16="http://schemas.microsoft.com/office/drawing/2014/main" id="{3F758314-FA8B-4CD7-A4D6-BEB60E935C38}"/>
              </a:ext>
            </a:extLst>
          </p:cNvPr>
          <p:cNvGrpSpPr/>
          <p:nvPr/>
        </p:nvGrpSpPr>
        <p:grpSpPr>
          <a:xfrm>
            <a:off x="3226598" y="5799837"/>
            <a:ext cx="8863025" cy="231303"/>
            <a:chOff x="-1465305" y="4554505"/>
            <a:chExt cx="8018505" cy="332191"/>
          </a:xfrm>
        </p:grpSpPr>
        <p:cxnSp>
          <p:nvCxnSpPr>
            <p:cNvPr id="299" name="Straight Connector 298">
              <a:extLst>
                <a:ext uri="{FF2B5EF4-FFF2-40B4-BE49-F238E27FC236}">
                  <a16:creationId xmlns:a16="http://schemas.microsoft.com/office/drawing/2014/main" id="{4C4C8A6A-5F4D-4503-B57F-0E9978D1207A}"/>
                </a:ext>
              </a:extLst>
            </p:cNvPr>
            <p:cNvCxnSpPr/>
            <p:nvPr/>
          </p:nvCxnSpPr>
          <p:spPr>
            <a:xfrm>
              <a:off x="1066800" y="48577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0" name="Straight Connector 299">
              <a:extLst>
                <a:ext uri="{FF2B5EF4-FFF2-40B4-BE49-F238E27FC236}">
                  <a16:creationId xmlns:a16="http://schemas.microsoft.com/office/drawing/2014/main" id="{B748A835-7890-41CA-A1A4-6C567E158110}"/>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1" name="Straight Connector 300">
              <a:extLst>
                <a:ext uri="{FF2B5EF4-FFF2-40B4-BE49-F238E27FC236}">
                  <a16:creationId xmlns:a16="http://schemas.microsoft.com/office/drawing/2014/main" id="{C466CE58-2DCD-4B61-8320-293E4590351E}"/>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F89D18BC-7904-41DE-A187-E0D5B15FDDDE}"/>
                </a:ext>
              </a:extLst>
            </p:cNvPr>
            <p:cNvSpPr txBox="1"/>
            <p:nvPr/>
          </p:nvSpPr>
          <p:spPr>
            <a:xfrm>
              <a:off x="2805227" y="4570517"/>
              <a:ext cx="949514"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[2]+</a:t>
              </a:r>
              <a:r>
                <a:rPr lang="en-US" sz="1400" b="1" dirty="0" err="1">
                  <a:latin typeface="VAG Rundschrift D Light"/>
                  <a:cs typeface="Courier New"/>
                </a:rPr>
                <a:t>Reg</a:t>
              </a:r>
              <a:r>
                <a:rPr lang="en-US" sz="1400" b="1" dirty="0">
                  <a:latin typeface="VAG Rundschrift D Light"/>
                  <a:cs typeface="Courier New"/>
                </a:rPr>
                <a:t>[3]</a:t>
              </a:r>
            </a:p>
          </p:txBody>
        </p:sp>
        <p:cxnSp>
          <p:nvCxnSpPr>
            <p:cNvPr id="303" name="Straight Connector 302">
              <a:extLst>
                <a:ext uri="{FF2B5EF4-FFF2-40B4-BE49-F238E27FC236}">
                  <a16:creationId xmlns:a16="http://schemas.microsoft.com/office/drawing/2014/main" id="{6D3423BE-394F-4E02-A971-BC989A58DAE2}"/>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4" name="Straight Connector 303">
              <a:extLst>
                <a:ext uri="{FF2B5EF4-FFF2-40B4-BE49-F238E27FC236}">
                  <a16:creationId xmlns:a16="http://schemas.microsoft.com/office/drawing/2014/main" id="{CC4365B7-AB7A-4FCF-AB91-4A598BC05514}"/>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05" name="Straight Connector 304">
              <a:extLst>
                <a:ext uri="{FF2B5EF4-FFF2-40B4-BE49-F238E27FC236}">
                  <a16:creationId xmlns:a16="http://schemas.microsoft.com/office/drawing/2014/main" id="{462A90B6-65FD-48B0-95F1-6802D80633B8}"/>
                </a:ext>
              </a:extLst>
            </p:cNvPr>
            <p:cNvCxnSpPr/>
            <p:nvPr/>
          </p:nvCxnSpPr>
          <p:spPr>
            <a:xfrm>
              <a:off x="1066800" y="4629150"/>
              <a:ext cx="54864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06" name="TextBox 305">
              <a:extLst>
                <a:ext uri="{FF2B5EF4-FFF2-40B4-BE49-F238E27FC236}">
                  <a16:creationId xmlns:a16="http://schemas.microsoft.com/office/drawing/2014/main" id="{7934BE09-BE84-47B7-9597-07F89F326112}"/>
                </a:ext>
              </a:extLst>
            </p:cNvPr>
            <p:cNvSpPr txBox="1"/>
            <p:nvPr/>
          </p:nvSpPr>
          <p:spPr>
            <a:xfrm>
              <a:off x="-1465305" y="4554505"/>
              <a:ext cx="201587" cy="309415"/>
            </a:xfrm>
            <a:prstGeom prst="rect">
              <a:avLst/>
            </a:prstGeom>
            <a:noFill/>
            <a:ln>
              <a:noFill/>
            </a:ln>
          </p:spPr>
          <p:txBody>
            <a:bodyPr wrap="none" lIns="0" tIns="0" rIns="0" bIns="0" rtlCol="0">
              <a:spAutoFit/>
            </a:bodyPr>
            <a:lstStyle/>
            <a:p>
              <a:r>
                <a:rPr lang="en-US" sz="1400" dirty="0" err="1">
                  <a:latin typeface="VAG Rundschrift D Light"/>
                </a:rPr>
                <a:t>wb</a:t>
              </a:r>
              <a:endParaRPr lang="en-US" sz="1400" dirty="0">
                <a:latin typeface="VAG Rundschrift D Light"/>
              </a:endParaRPr>
            </a:p>
          </p:txBody>
        </p:sp>
        <p:sp>
          <p:nvSpPr>
            <p:cNvPr id="307" name="TextBox 306">
              <a:extLst>
                <a:ext uri="{FF2B5EF4-FFF2-40B4-BE49-F238E27FC236}">
                  <a16:creationId xmlns:a16="http://schemas.microsoft.com/office/drawing/2014/main" id="{39CEC142-3104-4412-93A7-1583399D3998}"/>
                </a:ext>
              </a:extLst>
            </p:cNvPr>
            <p:cNvSpPr txBox="1"/>
            <p:nvPr/>
          </p:nvSpPr>
          <p:spPr>
            <a:xfrm>
              <a:off x="5073030" y="4577281"/>
              <a:ext cx="949514" cy="309415"/>
            </a:xfrm>
            <a:prstGeom prst="rect">
              <a:avLst/>
            </a:prstGeom>
            <a:noFill/>
            <a:ln>
              <a:noFill/>
            </a:ln>
          </p:spPr>
          <p:txBody>
            <a:bodyPr wrap="none" lIns="0" tIns="0" rIns="0" bIns="0" rtlCol="0">
              <a:spAutoFit/>
            </a:bodyPr>
            <a:lstStyle/>
            <a:p>
              <a:r>
                <a:rPr lang="en-US" sz="1400" b="1" dirty="0" err="1">
                  <a:latin typeface="VAG Rundschrift D Light"/>
                  <a:cs typeface="Courier New"/>
                </a:rPr>
                <a:t>Reg</a:t>
              </a:r>
              <a:r>
                <a:rPr lang="en-US" sz="1400" b="1" dirty="0">
                  <a:latin typeface="VAG Rundschrift D Light"/>
                  <a:cs typeface="Courier New"/>
                </a:rPr>
                <a:t>[7]+</a:t>
              </a:r>
              <a:r>
                <a:rPr lang="en-US" sz="1400" b="1" dirty="0" err="1">
                  <a:latin typeface="VAG Rundschrift D Light"/>
                  <a:cs typeface="Courier New"/>
                </a:rPr>
                <a:t>Reg</a:t>
              </a:r>
              <a:r>
                <a:rPr lang="en-US" sz="1400" b="1" dirty="0">
                  <a:latin typeface="VAG Rundschrift D Light"/>
                  <a:cs typeface="Courier New"/>
                </a:rPr>
                <a:t>[9]</a:t>
              </a:r>
            </a:p>
          </p:txBody>
        </p:sp>
      </p:grpSp>
      <p:grpSp>
        <p:nvGrpSpPr>
          <p:cNvPr id="308" name="Group 307">
            <a:extLst>
              <a:ext uri="{FF2B5EF4-FFF2-40B4-BE49-F238E27FC236}">
                <a16:creationId xmlns:a16="http://schemas.microsoft.com/office/drawing/2014/main" id="{F5A198EB-21D0-4F5A-8E42-AC57CC5926C2}"/>
              </a:ext>
            </a:extLst>
          </p:cNvPr>
          <p:cNvGrpSpPr/>
          <p:nvPr/>
        </p:nvGrpSpPr>
        <p:grpSpPr>
          <a:xfrm>
            <a:off x="2997375" y="4562457"/>
            <a:ext cx="8959264" cy="244872"/>
            <a:chOff x="-256973" y="4573572"/>
            <a:chExt cx="8105573" cy="351679"/>
          </a:xfrm>
        </p:grpSpPr>
        <p:cxnSp>
          <p:nvCxnSpPr>
            <p:cNvPr id="309" name="Straight Connector 308">
              <a:extLst>
                <a:ext uri="{FF2B5EF4-FFF2-40B4-BE49-F238E27FC236}">
                  <a16:creationId xmlns:a16="http://schemas.microsoft.com/office/drawing/2014/main" id="{EF4862BE-7266-4771-826A-02BF876CD0C4}"/>
                </a:ext>
              </a:extLst>
            </p:cNvPr>
            <p:cNvCxnSpPr/>
            <p:nvPr/>
          </p:nvCxnSpPr>
          <p:spPr>
            <a:xfrm>
              <a:off x="1066800" y="48577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0" name="Straight Connector 309">
              <a:extLst>
                <a:ext uri="{FF2B5EF4-FFF2-40B4-BE49-F238E27FC236}">
                  <a16:creationId xmlns:a16="http://schemas.microsoft.com/office/drawing/2014/main" id="{53B8B736-A41D-42A5-AA38-075C95219772}"/>
                </a:ext>
              </a:extLst>
            </p:cNvPr>
            <p:cNvCxnSpPr/>
            <p:nvPr/>
          </p:nvCxnSpPr>
          <p:spPr>
            <a:xfrm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1" name="Straight Connector 310">
              <a:extLst>
                <a:ext uri="{FF2B5EF4-FFF2-40B4-BE49-F238E27FC236}">
                  <a16:creationId xmlns:a16="http://schemas.microsoft.com/office/drawing/2014/main" id="{0A92DA6B-681F-437A-B637-DB87AEE95CB8}"/>
                </a:ext>
              </a:extLst>
            </p:cNvPr>
            <p:cNvCxnSpPr/>
            <p:nvPr/>
          </p:nvCxnSpPr>
          <p:spPr>
            <a:xfrm flipH="1"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2" name="Straight Connector 311">
              <a:extLst>
                <a:ext uri="{FF2B5EF4-FFF2-40B4-BE49-F238E27FC236}">
                  <a16:creationId xmlns:a16="http://schemas.microsoft.com/office/drawing/2014/main" id="{4B8B0439-2E67-4E7E-AE29-1E2190F1DA12}"/>
                </a:ext>
              </a:extLst>
            </p:cNvPr>
            <p:cNvCxnSpPr/>
            <p:nvPr/>
          </p:nvCxnSpPr>
          <p:spPr>
            <a:xfrm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13" name="TextBox 312">
              <a:extLst>
                <a:ext uri="{FF2B5EF4-FFF2-40B4-BE49-F238E27FC236}">
                  <a16:creationId xmlns:a16="http://schemas.microsoft.com/office/drawing/2014/main" id="{47B19E03-37AC-45C7-8BC0-81BE51007A33}"/>
                </a:ext>
              </a:extLst>
            </p:cNvPr>
            <p:cNvSpPr txBox="1"/>
            <p:nvPr/>
          </p:nvSpPr>
          <p:spPr>
            <a:xfrm>
              <a:off x="2586314" y="4573572"/>
              <a:ext cx="770146" cy="309415"/>
            </a:xfrm>
            <a:prstGeom prst="rect">
              <a:avLst/>
            </a:prstGeom>
            <a:noFill/>
            <a:ln>
              <a:noFill/>
            </a:ln>
          </p:spPr>
          <p:txBody>
            <a:bodyPr wrap="none" lIns="0" tIns="0" rIns="0" bIns="0" rtlCol="0">
              <a:spAutoFit/>
            </a:bodyPr>
            <a:lstStyle/>
            <a:p>
              <a:r>
                <a:rPr lang="en-US" sz="1400" b="1" dirty="0">
                  <a:latin typeface="VAG Rundschrift D Light"/>
                  <a:cs typeface="Courier New"/>
                </a:rPr>
                <a:t>add control</a:t>
              </a:r>
            </a:p>
          </p:txBody>
        </p:sp>
        <p:cxnSp>
          <p:nvCxnSpPr>
            <p:cNvPr id="314" name="Straight Connector 313">
              <a:extLst>
                <a:ext uri="{FF2B5EF4-FFF2-40B4-BE49-F238E27FC236}">
                  <a16:creationId xmlns:a16="http://schemas.microsoft.com/office/drawing/2014/main" id="{540026F2-BB68-4611-A11E-91D450B85636}"/>
                </a:ext>
              </a:extLst>
            </p:cNvPr>
            <p:cNvCxnSpPr/>
            <p:nvPr/>
          </p:nvCxnSpPr>
          <p:spPr>
            <a:xfrm flipH="1" flipV="1">
              <a:off x="19812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5" name="Straight Connector 314">
              <a:extLst>
                <a:ext uri="{FF2B5EF4-FFF2-40B4-BE49-F238E27FC236}">
                  <a16:creationId xmlns:a16="http://schemas.microsoft.com/office/drawing/2014/main" id="{353D4859-34B0-407C-92C9-6FEBBADDE27E}"/>
                </a:ext>
              </a:extLst>
            </p:cNvPr>
            <p:cNvCxnSpPr/>
            <p:nvPr/>
          </p:nvCxnSpPr>
          <p:spPr>
            <a:xfrm flipV="1">
              <a:off x="47244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6" name="Straight Connector 315">
              <a:extLst>
                <a:ext uri="{FF2B5EF4-FFF2-40B4-BE49-F238E27FC236}">
                  <a16:creationId xmlns:a16="http://schemas.microsoft.com/office/drawing/2014/main" id="{F13B2FE7-7199-4C03-A7B3-EAA9BDBDE7AB}"/>
                </a:ext>
              </a:extLst>
            </p:cNvPr>
            <p:cNvCxnSpPr/>
            <p:nvPr/>
          </p:nvCxnSpPr>
          <p:spPr>
            <a:xfrm flipH="1" flipV="1">
              <a:off x="7467600" y="4629150"/>
              <a:ext cx="152400" cy="22860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17" name="Straight Connector 316">
              <a:extLst>
                <a:ext uri="{FF2B5EF4-FFF2-40B4-BE49-F238E27FC236}">
                  <a16:creationId xmlns:a16="http://schemas.microsoft.com/office/drawing/2014/main" id="{80C8D073-F6A2-4724-9CD9-21655B644EEE}"/>
                </a:ext>
              </a:extLst>
            </p:cNvPr>
            <p:cNvCxnSpPr/>
            <p:nvPr/>
          </p:nvCxnSpPr>
          <p:spPr>
            <a:xfrm>
              <a:off x="1066800" y="4629150"/>
              <a:ext cx="6781800" cy="0"/>
            </a:xfrm>
            <a:prstGeom prst="line">
              <a:avLst/>
            </a:prstGeom>
            <a:ln w="28575" cap="rnd"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18" name="TextBox 317">
              <a:extLst>
                <a:ext uri="{FF2B5EF4-FFF2-40B4-BE49-F238E27FC236}">
                  <a16:creationId xmlns:a16="http://schemas.microsoft.com/office/drawing/2014/main" id="{7E3404D2-D655-4445-9631-4D702B7DCA67}"/>
                </a:ext>
              </a:extLst>
            </p:cNvPr>
            <p:cNvSpPr txBox="1"/>
            <p:nvPr/>
          </p:nvSpPr>
          <p:spPr>
            <a:xfrm>
              <a:off x="5375067" y="4573572"/>
              <a:ext cx="770146" cy="309415"/>
            </a:xfrm>
            <a:prstGeom prst="rect">
              <a:avLst/>
            </a:prstGeom>
            <a:noFill/>
            <a:ln>
              <a:noFill/>
            </a:ln>
          </p:spPr>
          <p:txBody>
            <a:bodyPr wrap="none" lIns="0" tIns="0" rIns="0" bIns="0" rtlCol="0">
              <a:spAutoFit/>
            </a:bodyPr>
            <a:lstStyle/>
            <a:p>
              <a:r>
                <a:rPr lang="en-US" sz="1400" b="1" dirty="0">
                  <a:latin typeface="VAG Rundschrift D Light"/>
                  <a:cs typeface="Courier New"/>
                </a:rPr>
                <a:t>add control</a:t>
              </a:r>
            </a:p>
          </p:txBody>
        </p:sp>
        <p:sp>
          <p:nvSpPr>
            <p:cNvPr id="319" name="TextBox 318">
              <a:extLst>
                <a:ext uri="{FF2B5EF4-FFF2-40B4-BE49-F238E27FC236}">
                  <a16:creationId xmlns:a16="http://schemas.microsoft.com/office/drawing/2014/main" id="{4139766D-6D74-4111-9B47-BAAB02B25D80}"/>
                </a:ext>
              </a:extLst>
            </p:cNvPr>
            <p:cNvSpPr txBox="1"/>
            <p:nvPr/>
          </p:nvSpPr>
          <p:spPr>
            <a:xfrm>
              <a:off x="-256973" y="4615836"/>
              <a:ext cx="1249391" cy="309415"/>
            </a:xfrm>
            <a:prstGeom prst="rect">
              <a:avLst/>
            </a:prstGeom>
            <a:noFill/>
            <a:ln>
              <a:noFill/>
            </a:ln>
          </p:spPr>
          <p:txBody>
            <a:bodyPr wrap="square" lIns="0" tIns="0" rIns="0" bIns="0" rtlCol="0">
              <a:spAutoFit/>
            </a:bodyPr>
            <a:lstStyle/>
            <a:p>
              <a:r>
                <a:rPr lang="en-US" sz="1400" dirty="0">
                  <a:latin typeface="VAG Rundschrift D Light"/>
                </a:rPr>
                <a:t>     Control logic</a:t>
              </a:r>
            </a:p>
          </p:txBody>
        </p:sp>
      </p:grpSp>
    </p:spTree>
    <p:extLst>
      <p:ext uri="{BB962C8B-B14F-4D97-AF65-F5344CB8AC3E}">
        <p14:creationId xmlns:p14="http://schemas.microsoft.com/office/powerpoint/2010/main" val="39685560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9"/>
          <p:cNvSpPr txBox="1">
            <a:spLocks noGrp="1"/>
          </p:cNvSpPr>
          <p:nvPr>
            <p:ph type="title"/>
          </p:nvPr>
        </p:nvSpPr>
        <p:spPr>
          <a:xfrm>
            <a:off x="1109400" y="134767"/>
            <a:ext cx="10667200" cy="763600"/>
          </a:xfrm>
          <a:prstGeom prst="rect">
            <a:avLst/>
          </a:prstGeom>
        </p:spPr>
        <p:txBody>
          <a:bodyPr spcFirstLastPara="1" wrap="square" lIns="121900" tIns="121900" rIns="121900" bIns="121900" anchor="t" anchorCtr="0">
            <a:noAutofit/>
          </a:bodyPr>
          <a:lstStyle/>
          <a:p>
            <a:r>
              <a:rPr lang="en-US" sz="3600" dirty="0"/>
              <a:t>Waveform Diagram: add</a:t>
            </a:r>
            <a:endParaRPr sz="3600" dirty="0"/>
          </a:p>
        </p:txBody>
      </p:sp>
      <p:sp>
        <p:nvSpPr>
          <p:cNvPr id="539" name="Google Shape;539;p29"/>
          <p:cNvSpPr txBox="1"/>
          <p:nvPr/>
        </p:nvSpPr>
        <p:spPr>
          <a:xfrm>
            <a:off x="546132" y="1471248"/>
            <a:ext cx="8436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Courier New" panose="02070309020205020404" pitchFamily="49" charset="0"/>
                <a:ea typeface="Inter"/>
                <a:cs typeface="Courier New" panose="02070309020205020404" pitchFamily="49" charset="0"/>
                <a:sym typeface="Inter"/>
              </a:rPr>
              <a:t>pc</a:t>
            </a:r>
            <a:endParaRPr sz="1867" kern="0" dirty="0">
              <a:solidFill>
                <a:srgbClr val="F2F2F2"/>
              </a:solidFill>
              <a:latin typeface="Courier New" panose="02070309020205020404" pitchFamily="49" charset="0"/>
              <a:ea typeface="Inter"/>
              <a:cs typeface="Courier New" panose="02070309020205020404" pitchFamily="49" charset="0"/>
              <a:sym typeface="Inter"/>
            </a:endParaRPr>
          </a:p>
        </p:txBody>
      </p:sp>
      <p:sp>
        <p:nvSpPr>
          <p:cNvPr id="540" name="Google Shape;540;p29"/>
          <p:cNvSpPr txBox="1"/>
          <p:nvPr/>
        </p:nvSpPr>
        <p:spPr>
          <a:xfrm>
            <a:off x="546132" y="946628"/>
            <a:ext cx="12956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Inter"/>
                <a:ea typeface="Inter"/>
                <a:cs typeface="Inter"/>
                <a:sym typeface="Inter"/>
              </a:rPr>
              <a:t>clock</a:t>
            </a:r>
            <a:endParaRPr sz="1867" kern="0" dirty="0">
              <a:solidFill>
                <a:srgbClr val="F2F2F2"/>
              </a:solidFill>
              <a:latin typeface="Inter"/>
              <a:ea typeface="Inter"/>
              <a:cs typeface="Inter"/>
              <a:sym typeface="Inter"/>
            </a:endParaRPr>
          </a:p>
        </p:txBody>
      </p:sp>
      <p:sp>
        <p:nvSpPr>
          <p:cNvPr id="549" name="Google Shape;549;p29"/>
          <p:cNvSpPr txBox="1"/>
          <p:nvPr/>
        </p:nvSpPr>
        <p:spPr>
          <a:xfrm>
            <a:off x="546132" y="2449874"/>
            <a:ext cx="23024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err="1">
                <a:solidFill>
                  <a:srgbClr val="F2F2F2"/>
                </a:solidFill>
                <a:latin typeface="Courier New" panose="02070309020205020404" pitchFamily="49" charset="0"/>
                <a:ea typeface="Inter"/>
                <a:cs typeface="Courier New" panose="02070309020205020404" pitchFamily="49" charset="0"/>
                <a:sym typeface="Inter"/>
              </a:rPr>
              <a:t>inst</a:t>
            </a:r>
            <a:r>
              <a:rPr lang="en" sz="2667" kern="0" dirty="0">
                <a:solidFill>
                  <a:srgbClr val="F2F2F2"/>
                </a:solidFill>
                <a:latin typeface="Courier New" panose="02070309020205020404" pitchFamily="49" charset="0"/>
                <a:ea typeface="Inter"/>
                <a:cs typeface="Courier New" panose="02070309020205020404" pitchFamily="49" charset="0"/>
                <a:sym typeface="Inter"/>
              </a:rPr>
              <a:t>[31:0]</a:t>
            </a:r>
            <a:endParaRPr sz="1867" kern="0" dirty="0">
              <a:solidFill>
                <a:srgbClr val="F2F2F2"/>
              </a:solidFill>
              <a:latin typeface="Courier New" panose="02070309020205020404" pitchFamily="49" charset="0"/>
              <a:ea typeface="Inter"/>
              <a:cs typeface="Courier New" panose="02070309020205020404" pitchFamily="49" charset="0"/>
              <a:sym typeface="Inter"/>
            </a:endParaRPr>
          </a:p>
        </p:txBody>
      </p:sp>
      <p:sp>
        <p:nvSpPr>
          <p:cNvPr id="550" name="Google Shape;550;p29"/>
          <p:cNvSpPr txBox="1"/>
          <p:nvPr/>
        </p:nvSpPr>
        <p:spPr>
          <a:xfrm>
            <a:off x="546132" y="3515255"/>
            <a:ext cx="2815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Courier New" panose="02070309020205020404" pitchFamily="49" charset="0"/>
                <a:ea typeface="Inter"/>
                <a:cs typeface="Courier New" panose="02070309020205020404" pitchFamily="49" charset="0"/>
                <a:sym typeface="Inter"/>
              </a:rPr>
              <a:t>R[rs1]</a:t>
            </a:r>
            <a:endParaRPr sz="1867" kern="0" dirty="0">
              <a:solidFill>
                <a:srgbClr val="F2F2F2"/>
              </a:solidFill>
              <a:latin typeface="Courier New" panose="02070309020205020404" pitchFamily="49" charset="0"/>
              <a:ea typeface="Inter"/>
              <a:cs typeface="Courier New" panose="02070309020205020404" pitchFamily="49" charset="0"/>
              <a:sym typeface="Inter"/>
            </a:endParaRPr>
          </a:p>
        </p:txBody>
      </p:sp>
      <p:sp>
        <p:nvSpPr>
          <p:cNvPr id="551" name="Google Shape;551;p29"/>
          <p:cNvSpPr txBox="1"/>
          <p:nvPr/>
        </p:nvSpPr>
        <p:spPr>
          <a:xfrm>
            <a:off x="546132" y="4526617"/>
            <a:ext cx="1799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US" sz="2667" kern="0" dirty="0">
                <a:solidFill>
                  <a:srgbClr val="F2F2F2"/>
                </a:solidFill>
                <a:latin typeface="Courier New" panose="02070309020205020404" pitchFamily="49" charset="0"/>
                <a:ea typeface="Inter"/>
                <a:cs typeface="Courier New" panose="02070309020205020404" pitchFamily="49" charset="0"/>
                <a:sym typeface="Inter"/>
              </a:rPr>
              <a:t>alu</a:t>
            </a:r>
            <a:endParaRPr lang="en-US" sz="1867" kern="0" dirty="0">
              <a:solidFill>
                <a:srgbClr val="F2F2F2"/>
              </a:solidFill>
              <a:latin typeface="Courier New" panose="02070309020205020404" pitchFamily="49" charset="0"/>
              <a:ea typeface="Inter"/>
              <a:cs typeface="Courier New" panose="02070309020205020404" pitchFamily="49" charset="0"/>
              <a:sym typeface="Inter"/>
            </a:endParaRPr>
          </a:p>
        </p:txBody>
      </p:sp>
      <p:sp>
        <p:nvSpPr>
          <p:cNvPr id="3" name="Google Shape;550;p29">
            <a:extLst>
              <a:ext uri="{FF2B5EF4-FFF2-40B4-BE49-F238E27FC236}">
                <a16:creationId xmlns:a16="http://schemas.microsoft.com/office/drawing/2014/main" id="{FBE62EA8-41EA-AD35-3B2B-9C736B6D9AF7}"/>
              </a:ext>
            </a:extLst>
          </p:cNvPr>
          <p:cNvSpPr txBox="1"/>
          <p:nvPr/>
        </p:nvSpPr>
        <p:spPr>
          <a:xfrm>
            <a:off x="548057" y="4026463"/>
            <a:ext cx="2815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Courier New" panose="02070309020205020404" pitchFamily="49" charset="0"/>
                <a:ea typeface="Inter"/>
                <a:cs typeface="Courier New" panose="02070309020205020404" pitchFamily="49" charset="0"/>
                <a:sym typeface="Inter"/>
              </a:rPr>
              <a:t>R[rs2]</a:t>
            </a:r>
            <a:endParaRPr sz="1867" kern="0" dirty="0">
              <a:solidFill>
                <a:srgbClr val="F2F2F2"/>
              </a:solidFill>
              <a:latin typeface="Courier New" panose="02070309020205020404" pitchFamily="49" charset="0"/>
              <a:ea typeface="Inter"/>
              <a:cs typeface="Courier New" panose="02070309020205020404" pitchFamily="49" charset="0"/>
              <a:sym typeface="Inter"/>
            </a:endParaRPr>
          </a:p>
        </p:txBody>
      </p:sp>
      <p:sp>
        <p:nvSpPr>
          <p:cNvPr id="15" name="Google Shape;551;p29">
            <a:extLst>
              <a:ext uri="{FF2B5EF4-FFF2-40B4-BE49-F238E27FC236}">
                <a16:creationId xmlns:a16="http://schemas.microsoft.com/office/drawing/2014/main" id="{5E1FDBC7-4B03-8118-E10A-E20B2A7E3CA4}"/>
              </a:ext>
            </a:extLst>
          </p:cNvPr>
          <p:cNvSpPr txBox="1"/>
          <p:nvPr/>
        </p:nvSpPr>
        <p:spPr>
          <a:xfrm>
            <a:off x="546132" y="5068980"/>
            <a:ext cx="1799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US" sz="2667" kern="0" dirty="0" err="1">
                <a:solidFill>
                  <a:srgbClr val="F2F2F2"/>
                </a:solidFill>
                <a:latin typeface="Courier New" panose="02070309020205020404" pitchFamily="49" charset="0"/>
                <a:ea typeface="Inter"/>
                <a:cs typeface="Courier New" panose="02070309020205020404" pitchFamily="49" charset="0"/>
                <a:sym typeface="Inter"/>
              </a:rPr>
              <a:t>wb</a:t>
            </a:r>
            <a:endParaRPr lang="en-US" sz="1867" kern="0" dirty="0">
              <a:solidFill>
                <a:srgbClr val="F2F2F2"/>
              </a:solidFill>
              <a:latin typeface="Courier New" panose="02070309020205020404" pitchFamily="49" charset="0"/>
              <a:ea typeface="Inter"/>
              <a:cs typeface="Courier New" panose="02070309020205020404" pitchFamily="49" charset="0"/>
              <a:sym typeface="Inter"/>
            </a:endParaRPr>
          </a:p>
        </p:txBody>
      </p:sp>
      <p:graphicFrame>
        <p:nvGraphicFramePr>
          <p:cNvPr id="44" name="Table 9">
            <a:extLst>
              <a:ext uri="{FF2B5EF4-FFF2-40B4-BE49-F238E27FC236}">
                <a16:creationId xmlns:a16="http://schemas.microsoft.com/office/drawing/2014/main" id="{D863C14E-542D-AE31-59DC-91F81B2DC22E}"/>
              </a:ext>
            </a:extLst>
          </p:cNvPr>
          <p:cNvGraphicFramePr>
            <a:graphicFrameLocks noGrp="1"/>
          </p:cNvGraphicFramePr>
          <p:nvPr>
            <p:extLst>
              <p:ext uri="{D42A27DB-BD31-4B8C-83A1-F6EECF244321}">
                <p14:modId xmlns:p14="http://schemas.microsoft.com/office/powerpoint/2010/main" val="1809600669"/>
              </p:ext>
            </p:extLst>
          </p:nvPr>
        </p:nvGraphicFramePr>
        <p:xfrm>
          <a:off x="8614999" y="94660"/>
          <a:ext cx="3396335" cy="687960"/>
        </p:xfrm>
        <a:graphic>
          <a:graphicData uri="http://schemas.openxmlformats.org/drawingml/2006/table">
            <a:tbl>
              <a:tblPr/>
              <a:tblGrid>
                <a:gridCol w="998823">
                  <a:extLst>
                    <a:ext uri="{9D8B030D-6E8A-4147-A177-3AD203B41FA5}">
                      <a16:colId xmlns:a16="http://schemas.microsoft.com/office/drawing/2014/main" val="491599937"/>
                    </a:ext>
                  </a:extLst>
                </a:gridCol>
                <a:gridCol w="2397512">
                  <a:extLst>
                    <a:ext uri="{9D8B030D-6E8A-4147-A177-3AD203B41FA5}">
                      <a16:colId xmlns:a16="http://schemas.microsoft.com/office/drawing/2014/main" val="4089413441"/>
                    </a:ext>
                  </a:extLst>
                </a:gridCol>
              </a:tblGrid>
              <a:tr h="275058">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9pPr>
                    </a:lstStyle>
                    <a:p>
                      <a:pPr algn="r" fontAlgn="t">
                        <a:lnSpc>
                          <a:spcPct val="85000"/>
                        </a:lnSpc>
                      </a:pPr>
                      <a:r>
                        <a:rPr lang="en-US" b="1" i="0" dirty="0">
                          <a:solidFill>
                            <a:schemeClr val="tx1"/>
                          </a:solidFill>
                          <a:effectLst/>
                          <a:latin typeface="Consolas" panose="020B0609020204030204" pitchFamily="49" charset="0"/>
                          <a:cs typeface="Consolas" panose="020B0609020204030204" pitchFamily="49" charset="0"/>
                        </a:rPr>
                        <a:t>0x100</a:t>
                      </a:r>
                    </a:p>
                  </a:txBody>
                  <a:tcPr marL="45720" marR="45720">
                    <a:lnL w="12700" cmpd="sng">
                      <a:noFill/>
                    </a:lnL>
                    <a:lnR w="28575" cap="flat" cmpd="sng" algn="ctr">
                      <a:solidFill>
                        <a:srgbClr val="000000">
                          <a:lumMod val="50000"/>
                          <a:lumOff val="50000"/>
                        </a:srgb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9pPr>
                    </a:lstStyle>
                    <a:p>
                      <a:pPr algn="l" fontAlgn="t">
                        <a:lnSpc>
                          <a:spcPct val="85000"/>
                        </a:lnSpc>
                      </a:pPr>
                      <a:r>
                        <a:rPr lang="en-US" b="1" i="0" dirty="0">
                          <a:solidFill>
                            <a:schemeClr val="tx1"/>
                          </a:solidFill>
                          <a:effectLst/>
                          <a:latin typeface="Consolas" panose="020B0609020204030204" pitchFamily="49" charset="0"/>
                          <a:cs typeface="Consolas" panose="020B0609020204030204" pitchFamily="49" charset="0"/>
                        </a:rPr>
                        <a:t>add x1 x2 x3</a:t>
                      </a:r>
                    </a:p>
                  </a:txBody>
                  <a:tcPr marL="45720" marR="45720">
                    <a:lnL w="28575" cap="flat" cmpd="sng" algn="ctr">
                      <a:solidFill>
                        <a:srgbClr val="000000">
                          <a:lumMod val="50000"/>
                          <a:lumOff val="50000"/>
                        </a:srgb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28456703"/>
                  </a:ext>
                </a:extLst>
              </a:tr>
              <a:tr h="275058">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9pPr>
                    </a:lstStyle>
                    <a:p>
                      <a:pPr algn="r" fontAlgn="t">
                        <a:lnSpc>
                          <a:spcPct val="85000"/>
                        </a:lnSpc>
                      </a:pPr>
                      <a:r>
                        <a:rPr lang="en-US" b="1" i="0" dirty="0">
                          <a:solidFill>
                            <a:schemeClr val="tx1"/>
                          </a:solidFill>
                          <a:effectLst/>
                          <a:latin typeface="Consolas" panose="020B0609020204030204" pitchFamily="49" charset="0"/>
                          <a:cs typeface="Consolas" panose="020B0609020204030204" pitchFamily="49" charset="0"/>
                        </a:rPr>
                        <a:t>0x104</a:t>
                      </a:r>
                    </a:p>
                  </a:txBody>
                  <a:tcPr marL="45720" marR="45720">
                    <a:lnL w="12700" cmpd="sng">
                      <a:noFill/>
                    </a:lnL>
                    <a:lnR w="28575" cap="flat" cmpd="sng" algn="ctr">
                      <a:solidFill>
                        <a:srgbClr val="000000">
                          <a:lumMod val="50000"/>
                          <a:lumOff val="50000"/>
                        </a:srgb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1pPr>
                      <a:lvl2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2pPr>
                      <a:lvl3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3pPr>
                      <a:lvl4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4pPr>
                      <a:lvl5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5pPr>
                      <a:lvl6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6pPr>
                      <a:lvl7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7pPr>
                      <a:lvl8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8pPr>
                      <a:lvl9pPr marR="0" algn="l" rtl="0">
                        <a:lnSpc>
                          <a:spcPct val="100000"/>
                        </a:lnSpc>
                        <a:spcBef>
                          <a:spcPts val="0"/>
                        </a:spcBef>
                        <a:spcAft>
                          <a:spcPts val="0"/>
                        </a:spcAft>
                        <a:buClr>
                          <a:srgbClr val="000000"/>
                        </a:buClr>
                        <a:buFont typeface="Arial"/>
                        <a:defRPr sz="1867" b="0" i="0" u="none" strike="noStrike" cap="none">
                          <a:solidFill>
                            <a:schemeClr val="dk1"/>
                          </a:solidFill>
                          <a:latin typeface="Calibri" panose="020F0502020204030204"/>
                          <a:sym typeface="Arial"/>
                        </a:defRPr>
                      </a:lvl9pPr>
                    </a:lstStyle>
                    <a:p>
                      <a:pPr algn="l" fontAlgn="t">
                        <a:lnSpc>
                          <a:spcPct val="85000"/>
                        </a:lnSpc>
                      </a:pPr>
                      <a:r>
                        <a:rPr lang="en-US" b="1" i="0" dirty="0">
                          <a:solidFill>
                            <a:schemeClr val="tx1"/>
                          </a:solidFill>
                          <a:effectLst/>
                          <a:latin typeface="Consolas" panose="020B0609020204030204" pitchFamily="49" charset="0"/>
                          <a:cs typeface="Consolas" panose="020B0609020204030204" pitchFamily="49" charset="0"/>
                        </a:rPr>
                        <a:t>add x6 x7 x9</a:t>
                      </a:r>
                    </a:p>
                  </a:txBody>
                  <a:tcPr marL="45720" marR="45720">
                    <a:lnL w="28575" cap="flat" cmpd="sng" algn="ctr">
                      <a:solidFill>
                        <a:srgbClr val="000000">
                          <a:lumMod val="50000"/>
                          <a:lumOff val="50000"/>
                        </a:srgb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51892227"/>
                  </a:ext>
                </a:extLst>
              </a:tr>
            </a:tbl>
          </a:graphicData>
        </a:graphic>
      </p:graphicFrame>
      <p:sp>
        <p:nvSpPr>
          <p:cNvPr id="45" name="Google Shape;550;p29">
            <a:extLst>
              <a:ext uri="{FF2B5EF4-FFF2-40B4-BE49-F238E27FC236}">
                <a16:creationId xmlns:a16="http://schemas.microsoft.com/office/drawing/2014/main" id="{A09D58F8-57C0-1CD2-738C-883F6DE74AD5}"/>
              </a:ext>
            </a:extLst>
          </p:cNvPr>
          <p:cNvSpPr txBox="1"/>
          <p:nvPr/>
        </p:nvSpPr>
        <p:spPr>
          <a:xfrm>
            <a:off x="537168" y="2968411"/>
            <a:ext cx="2815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US" sz="2667" kern="0" dirty="0">
                <a:solidFill>
                  <a:srgbClr val="F2F2F2"/>
                </a:solidFill>
                <a:latin typeface="Inter"/>
                <a:ea typeface="Inter"/>
                <a:cs typeface="Inter"/>
                <a:sym typeface="Inter"/>
              </a:rPr>
              <a:t>control logic</a:t>
            </a:r>
            <a:endParaRPr lang="en-US" sz="1867" kern="0" dirty="0">
              <a:solidFill>
                <a:srgbClr val="F2F2F2"/>
              </a:solidFill>
              <a:latin typeface="Inter"/>
              <a:ea typeface="Inter"/>
              <a:cs typeface="Inter"/>
              <a:sym typeface="Inter"/>
            </a:endParaRPr>
          </a:p>
        </p:txBody>
      </p:sp>
      <p:cxnSp>
        <p:nvCxnSpPr>
          <p:cNvPr id="503" name="Google Shape;503;p29"/>
          <p:cNvCxnSpPr/>
          <p:nvPr/>
        </p:nvCxnSpPr>
        <p:spPr>
          <a:xfrm>
            <a:off x="2338379" y="1509061"/>
            <a:ext cx="354298" cy="0"/>
          </a:xfrm>
          <a:prstGeom prst="straightConnector1">
            <a:avLst/>
          </a:prstGeom>
          <a:noFill/>
          <a:ln w="28575" cap="rnd" cmpd="sng">
            <a:solidFill>
              <a:schemeClr val="dk1"/>
            </a:solidFill>
            <a:prstDash val="solid"/>
            <a:round/>
            <a:headEnd type="none" w="sm" len="sm"/>
            <a:tailEnd type="none" w="sm" len="sm"/>
          </a:ln>
        </p:spPr>
      </p:cxnSp>
      <p:cxnSp>
        <p:nvCxnSpPr>
          <p:cNvPr id="504" name="Google Shape;504;p29"/>
          <p:cNvCxnSpPr/>
          <p:nvPr/>
        </p:nvCxnSpPr>
        <p:spPr>
          <a:xfrm rot="10800000" flipH="1">
            <a:off x="2692757" y="1204261"/>
            <a:ext cx="59091" cy="304800"/>
          </a:xfrm>
          <a:prstGeom prst="straightConnector1">
            <a:avLst/>
          </a:prstGeom>
          <a:noFill/>
          <a:ln w="28575" cap="rnd" cmpd="sng">
            <a:solidFill>
              <a:schemeClr val="dk1"/>
            </a:solidFill>
            <a:prstDash val="solid"/>
            <a:round/>
            <a:headEnd type="none" w="sm" len="sm"/>
            <a:tailEnd type="none" w="sm" len="sm"/>
          </a:ln>
        </p:spPr>
      </p:cxnSp>
      <p:cxnSp>
        <p:nvCxnSpPr>
          <p:cNvPr id="505" name="Google Shape;505;p29"/>
          <p:cNvCxnSpPr>
            <a:cxnSpLocks/>
          </p:cNvCxnSpPr>
          <p:nvPr/>
        </p:nvCxnSpPr>
        <p:spPr>
          <a:xfrm>
            <a:off x="2751820" y="1204261"/>
            <a:ext cx="1949011" cy="0"/>
          </a:xfrm>
          <a:prstGeom prst="straightConnector1">
            <a:avLst/>
          </a:prstGeom>
          <a:noFill/>
          <a:ln w="28575" cap="rnd" cmpd="sng">
            <a:solidFill>
              <a:schemeClr val="dk1"/>
            </a:solidFill>
            <a:prstDash val="solid"/>
            <a:round/>
            <a:headEnd type="none" w="sm" len="sm"/>
            <a:tailEnd type="none" w="sm" len="sm"/>
          </a:ln>
        </p:spPr>
      </p:cxnSp>
      <p:cxnSp>
        <p:nvCxnSpPr>
          <p:cNvPr id="506" name="Google Shape;506;p29"/>
          <p:cNvCxnSpPr/>
          <p:nvPr/>
        </p:nvCxnSpPr>
        <p:spPr>
          <a:xfrm rot="10800000">
            <a:off x="4700870" y="1204625"/>
            <a:ext cx="59091" cy="304800"/>
          </a:xfrm>
          <a:prstGeom prst="straightConnector1">
            <a:avLst/>
          </a:prstGeom>
          <a:noFill/>
          <a:ln w="28575" cap="rnd" cmpd="sng">
            <a:solidFill>
              <a:schemeClr val="dk1"/>
            </a:solidFill>
            <a:prstDash val="solid"/>
            <a:round/>
            <a:headEnd type="none" w="sm" len="sm"/>
            <a:tailEnd type="none" w="sm" len="sm"/>
          </a:ln>
        </p:spPr>
      </p:cxnSp>
      <p:cxnSp>
        <p:nvCxnSpPr>
          <p:cNvPr id="507" name="Google Shape;507;p29"/>
          <p:cNvCxnSpPr/>
          <p:nvPr/>
        </p:nvCxnSpPr>
        <p:spPr>
          <a:xfrm>
            <a:off x="4759960" y="1509061"/>
            <a:ext cx="1949011" cy="0"/>
          </a:xfrm>
          <a:prstGeom prst="straightConnector1">
            <a:avLst/>
          </a:prstGeom>
          <a:noFill/>
          <a:ln w="28575" cap="rnd" cmpd="sng">
            <a:solidFill>
              <a:schemeClr val="dk1"/>
            </a:solidFill>
            <a:prstDash val="solid"/>
            <a:round/>
            <a:headEnd type="none" w="sm" len="sm"/>
            <a:tailEnd type="none" w="sm" len="sm"/>
          </a:ln>
        </p:spPr>
      </p:cxnSp>
      <p:cxnSp>
        <p:nvCxnSpPr>
          <p:cNvPr id="508" name="Google Shape;508;p29"/>
          <p:cNvCxnSpPr/>
          <p:nvPr/>
        </p:nvCxnSpPr>
        <p:spPr>
          <a:xfrm rot="10800000" flipH="1">
            <a:off x="6709037" y="1204261"/>
            <a:ext cx="59091" cy="304800"/>
          </a:xfrm>
          <a:prstGeom prst="straightConnector1">
            <a:avLst/>
          </a:prstGeom>
          <a:noFill/>
          <a:ln w="28575" cap="rnd" cmpd="sng">
            <a:solidFill>
              <a:schemeClr val="dk1"/>
            </a:solidFill>
            <a:prstDash val="solid"/>
            <a:round/>
            <a:headEnd type="none" w="sm" len="sm"/>
            <a:tailEnd type="none" w="sm" len="sm"/>
          </a:ln>
        </p:spPr>
      </p:cxnSp>
      <p:cxnSp>
        <p:nvCxnSpPr>
          <p:cNvPr id="510" name="Google Shape;510;p29"/>
          <p:cNvCxnSpPr>
            <a:cxnSpLocks/>
          </p:cNvCxnSpPr>
          <p:nvPr/>
        </p:nvCxnSpPr>
        <p:spPr>
          <a:xfrm>
            <a:off x="2891510" y="1610661"/>
            <a:ext cx="3910258" cy="0"/>
          </a:xfrm>
          <a:prstGeom prst="straightConnector1">
            <a:avLst/>
          </a:prstGeom>
          <a:noFill/>
          <a:ln w="28575" cap="rnd" cmpd="sng">
            <a:solidFill>
              <a:schemeClr val="dk1"/>
            </a:solidFill>
            <a:prstDash val="solid"/>
            <a:round/>
            <a:headEnd type="none" w="sm" len="sm"/>
            <a:tailEnd type="none" w="sm" len="sm"/>
          </a:ln>
        </p:spPr>
      </p:cxnSp>
      <p:cxnSp>
        <p:nvCxnSpPr>
          <p:cNvPr id="511" name="Google Shape;511;p29"/>
          <p:cNvCxnSpPr>
            <a:cxnSpLocks/>
          </p:cNvCxnSpPr>
          <p:nvPr/>
        </p:nvCxnSpPr>
        <p:spPr>
          <a:xfrm>
            <a:off x="2891510" y="1915461"/>
            <a:ext cx="3910258" cy="0"/>
          </a:xfrm>
          <a:prstGeom prst="straightConnector1">
            <a:avLst/>
          </a:prstGeom>
          <a:noFill/>
          <a:ln w="28575" cap="rnd" cmpd="sng">
            <a:solidFill>
              <a:schemeClr val="dk1"/>
            </a:solidFill>
            <a:prstDash val="solid"/>
            <a:round/>
            <a:headEnd type="none" w="sm" len="sm"/>
            <a:tailEnd type="none" w="sm" len="sm"/>
          </a:ln>
        </p:spPr>
      </p:cxnSp>
      <p:cxnSp>
        <p:nvCxnSpPr>
          <p:cNvPr id="515" name="Google Shape;515;p29"/>
          <p:cNvCxnSpPr>
            <a:cxnSpLocks/>
          </p:cNvCxnSpPr>
          <p:nvPr/>
        </p:nvCxnSpPr>
        <p:spPr>
          <a:xfrm>
            <a:off x="2338379" y="1611846"/>
            <a:ext cx="450984" cy="0"/>
          </a:xfrm>
          <a:prstGeom prst="straightConnector1">
            <a:avLst/>
          </a:prstGeom>
          <a:noFill/>
          <a:ln w="28575" cap="rnd" cmpd="sng">
            <a:solidFill>
              <a:schemeClr val="dk1"/>
            </a:solidFill>
            <a:prstDash val="solid"/>
            <a:round/>
            <a:headEnd type="none" w="sm" len="sm"/>
            <a:tailEnd type="none" w="sm" len="sm"/>
          </a:ln>
        </p:spPr>
      </p:cxnSp>
      <p:cxnSp>
        <p:nvCxnSpPr>
          <p:cNvPr id="516" name="Google Shape;516;p29"/>
          <p:cNvCxnSpPr>
            <a:cxnSpLocks/>
          </p:cNvCxnSpPr>
          <p:nvPr/>
        </p:nvCxnSpPr>
        <p:spPr>
          <a:xfrm>
            <a:off x="2338379" y="1916646"/>
            <a:ext cx="450984" cy="0"/>
          </a:xfrm>
          <a:prstGeom prst="straightConnector1">
            <a:avLst/>
          </a:prstGeom>
          <a:noFill/>
          <a:ln w="28575" cap="rnd" cmpd="sng">
            <a:solidFill>
              <a:schemeClr val="dk1"/>
            </a:solidFill>
            <a:prstDash val="solid"/>
            <a:round/>
            <a:headEnd type="none" w="sm" len="sm"/>
            <a:tailEnd type="none" w="sm" len="sm"/>
          </a:ln>
        </p:spPr>
      </p:cxnSp>
      <p:cxnSp>
        <p:nvCxnSpPr>
          <p:cNvPr id="521" name="Google Shape;521;p29"/>
          <p:cNvCxnSpPr>
            <a:cxnSpLocks/>
          </p:cNvCxnSpPr>
          <p:nvPr/>
        </p:nvCxnSpPr>
        <p:spPr>
          <a:xfrm>
            <a:off x="3528615" y="2570525"/>
            <a:ext cx="3239485" cy="0"/>
          </a:xfrm>
          <a:prstGeom prst="straightConnector1">
            <a:avLst/>
          </a:prstGeom>
          <a:noFill/>
          <a:ln w="28575" cap="rnd" cmpd="sng">
            <a:solidFill>
              <a:schemeClr val="dk1"/>
            </a:solidFill>
            <a:prstDash val="solid"/>
            <a:round/>
            <a:headEnd type="none" w="sm" len="sm"/>
            <a:tailEnd type="none" w="sm" len="sm"/>
          </a:ln>
        </p:spPr>
      </p:cxnSp>
      <p:cxnSp>
        <p:nvCxnSpPr>
          <p:cNvPr id="522" name="Google Shape;522;p29"/>
          <p:cNvCxnSpPr>
            <a:cxnSpLocks/>
          </p:cNvCxnSpPr>
          <p:nvPr/>
        </p:nvCxnSpPr>
        <p:spPr>
          <a:xfrm>
            <a:off x="3528615" y="2879638"/>
            <a:ext cx="3239485" cy="0"/>
          </a:xfrm>
          <a:prstGeom prst="straightConnector1">
            <a:avLst/>
          </a:prstGeom>
          <a:noFill/>
          <a:ln w="28575" cap="rnd" cmpd="sng">
            <a:solidFill>
              <a:schemeClr val="dk1"/>
            </a:solidFill>
            <a:prstDash val="solid"/>
            <a:round/>
            <a:headEnd type="none" w="sm" len="sm"/>
            <a:tailEnd type="none" w="sm" len="sm"/>
          </a:ln>
        </p:spPr>
      </p:cxnSp>
      <p:cxnSp>
        <p:nvCxnSpPr>
          <p:cNvPr id="525" name="Google Shape;525;p29"/>
          <p:cNvCxnSpPr>
            <a:cxnSpLocks/>
          </p:cNvCxnSpPr>
          <p:nvPr/>
        </p:nvCxnSpPr>
        <p:spPr>
          <a:xfrm>
            <a:off x="2709763" y="2570525"/>
            <a:ext cx="720013" cy="0"/>
          </a:xfrm>
          <a:prstGeom prst="straightConnector1">
            <a:avLst/>
          </a:prstGeom>
          <a:noFill/>
          <a:ln w="28575" cap="rnd" cmpd="sng">
            <a:solidFill>
              <a:schemeClr val="dk1"/>
            </a:solidFill>
            <a:prstDash val="solid"/>
            <a:round/>
            <a:headEnd type="none" w="sm" len="sm"/>
            <a:tailEnd type="none" w="sm" len="sm"/>
          </a:ln>
        </p:spPr>
      </p:cxnSp>
      <p:cxnSp>
        <p:nvCxnSpPr>
          <p:cNvPr id="526" name="Google Shape;526;p29"/>
          <p:cNvCxnSpPr>
            <a:cxnSpLocks/>
          </p:cNvCxnSpPr>
          <p:nvPr/>
        </p:nvCxnSpPr>
        <p:spPr>
          <a:xfrm>
            <a:off x="2709763" y="2879638"/>
            <a:ext cx="720013" cy="0"/>
          </a:xfrm>
          <a:prstGeom prst="straightConnector1">
            <a:avLst/>
          </a:prstGeom>
          <a:noFill/>
          <a:ln w="28575" cap="rnd" cmpd="sng">
            <a:solidFill>
              <a:schemeClr val="dk1"/>
            </a:solidFill>
            <a:prstDash val="solid"/>
            <a:round/>
            <a:headEnd type="none" w="sm" len="sm"/>
            <a:tailEnd type="none" w="sm" len="sm"/>
          </a:ln>
        </p:spPr>
      </p:cxnSp>
      <p:cxnSp>
        <p:nvCxnSpPr>
          <p:cNvPr id="529" name="Google Shape;529;p29"/>
          <p:cNvCxnSpPr>
            <a:cxnSpLocks/>
          </p:cNvCxnSpPr>
          <p:nvPr/>
        </p:nvCxnSpPr>
        <p:spPr>
          <a:xfrm>
            <a:off x="4401679" y="3637148"/>
            <a:ext cx="2366421" cy="0"/>
          </a:xfrm>
          <a:prstGeom prst="straightConnector1">
            <a:avLst/>
          </a:prstGeom>
          <a:noFill/>
          <a:ln w="28575" cap="rnd" cmpd="sng">
            <a:solidFill>
              <a:schemeClr val="dk1"/>
            </a:solidFill>
            <a:prstDash val="solid"/>
            <a:round/>
            <a:headEnd type="none" w="sm" len="sm"/>
            <a:tailEnd type="none" w="sm" len="sm"/>
          </a:ln>
        </p:spPr>
      </p:cxnSp>
      <p:cxnSp>
        <p:nvCxnSpPr>
          <p:cNvPr id="530" name="Google Shape;530;p29"/>
          <p:cNvCxnSpPr>
            <a:cxnSpLocks/>
          </p:cNvCxnSpPr>
          <p:nvPr/>
        </p:nvCxnSpPr>
        <p:spPr>
          <a:xfrm>
            <a:off x="4401679" y="3946261"/>
            <a:ext cx="2366421" cy="0"/>
          </a:xfrm>
          <a:prstGeom prst="straightConnector1">
            <a:avLst/>
          </a:prstGeom>
          <a:noFill/>
          <a:ln w="28575" cap="rnd" cmpd="sng">
            <a:solidFill>
              <a:schemeClr val="dk1"/>
            </a:solidFill>
            <a:prstDash val="solid"/>
            <a:round/>
            <a:headEnd type="none" w="sm" len="sm"/>
            <a:tailEnd type="none" w="sm" len="sm"/>
          </a:ln>
        </p:spPr>
      </p:cxnSp>
      <p:cxnSp>
        <p:nvCxnSpPr>
          <p:cNvPr id="533" name="Google Shape;533;p29"/>
          <p:cNvCxnSpPr>
            <a:cxnSpLocks/>
          </p:cNvCxnSpPr>
          <p:nvPr/>
        </p:nvCxnSpPr>
        <p:spPr>
          <a:xfrm>
            <a:off x="2718389" y="3637148"/>
            <a:ext cx="1587736" cy="0"/>
          </a:xfrm>
          <a:prstGeom prst="straightConnector1">
            <a:avLst/>
          </a:prstGeom>
          <a:noFill/>
          <a:ln w="28575" cap="rnd" cmpd="sng">
            <a:solidFill>
              <a:schemeClr val="dk1"/>
            </a:solidFill>
            <a:prstDash val="solid"/>
            <a:round/>
            <a:headEnd type="none" w="sm" len="sm"/>
            <a:tailEnd type="none" w="sm" len="sm"/>
          </a:ln>
        </p:spPr>
      </p:cxnSp>
      <p:cxnSp>
        <p:nvCxnSpPr>
          <p:cNvPr id="534" name="Google Shape;534;p29"/>
          <p:cNvCxnSpPr>
            <a:cxnSpLocks/>
          </p:cNvCxnSpPr>
          <p:nvPr/>
        </p:nvCxnSpPr>
        <p:spPr>
          <a:xfrm>
            <a:off x="2718389" y="3946261"/>
            <a:ext cx="1587736" cy="0"/>
          </a:xfrm>
          <a:prstGeom prst="straightConnector1">
            <a:avLst/>
          </a:prstGeom>
          <a:noFill/>
          <a:ln w="28575" cap="rnd" cmpd="sng">
            <a:solidFill>
              <a:schemeClr val="dk1"/>
            </a:solidFill>
            <a:prstDash val="solid"/>
            <a:round/>
            <a:headEnd type="none" w="sm" len="sm"/>
            <a:tailEnd type="none" w="sm" len="sm"/>
          </a:ln>
        </p:spPr>
      </p:cxnSp>
      <p:cxnSp>
        <p:nvCxnSpPr>
          <p:cNvPr id="535" name="Google Shape;535;p29"/>
          <p:cNvCxnSpPr>
            <a:cxnSpLocks/>
          </p:cNvCxnSpPr>
          <p:nvPr/>
        </p:nvCxnSpPr>
        <p:spPr>
          <a:xfrm>
            <a:off x="5325994" y="4665243"/>
            <a:ext cx="1442106" cy="0"/>
          </a:xfrm>
          <a:prstGeom prst="straightConnector1">
            <a:avLst/>
          </a:prstGeom>
          <a:noFill/>
          <a:ln w="28575" cap="rnd" cmpd="sng">
            <a:solidFill>
              <a:schemeClr val="dk1"/>
            </a:solidFill>
            <a:prstDash val="solid"/>
            <a:round/>
            <a:headEnd type="none" w="sm" len="sm"/>
            <a:tailEnd type="none" w="sm" len="sm"/>
          </a:ln>
        </p:spPr>
      </p:cxnSp>
      <p:cxnSp>
        <p:nvCxnSpPr>
          <p:cNvPr id="536" name="Google Shape;536;p29"/>
          <p:cNvCxnSpPr>
            <a:cxnSpLocks/>
          </p:cNvCxnSpPr>
          <p:nvPr/>
        </p:nvCxnSpPr>
        <p:spPr>
          <a:xfrm>
            <a:off x="5325994" y="4970043"/>
            <a:ext cx="1442106" cy="0"/>
          </a:xfrm>
          <a:prstGeom prst="straightConnector1">
            <a:avLst/>
          </a:prstGeom>
          <a:noFill/>
          <a:ln w="28575" cap="rnd" cmpd="sng">
            <a:solidFill>
              <a:schemeClr val="dk1"/>
            </a:solidFill>
            <a:prstDash val="solid"/>
            <a:round/>
            <a:headEnd type="none" w="sm" len="sm"/>
            <a:tailEnd type="none" w="sm" len="sm"/>
          </a:ln>
        </p:spPr>
      </p:cxnSp>
      <p:cxnSp>
        <p:nvCxnSpPr>
          <p:cNvPr id="547" name="Google Shape;547;p29"/>
          <p:cNvCxnSpPr>
            <a:cxnSpLocks/>
          </p:cNvCxnSpPr>
          <p:nvPr/>
        </p:nvCxnSpPr>
        <p:spPr>
          <a:xfrm>
            <a:off x="2709763" y="4665394"/>
            <a:ext cx="2518569" cy="0"/>
          </a:xfrm>
          <a:prstGeom prst="straightConnector1">
            <a:avLst/>
          </a:prstGeom>
          <a:noFill/>
          <a:ln w="28575" cap="rnd" cmpd="sng">
            <a:solidFill>
              <a:schemeClr val="dk1"/>
            </a:solidFill>
            <a:prstDash val="solid"/>
            <a:round/>
            <a:headEnd type="none" w="sm" len="sm"/>
            <a:tailEnd type="none" w="sm" len="sm"/>
          </a:ln>
        </p:spPr>
      </p:cxnSp>
      <p:cxnSp>
        <p:nvCxnSpPr>
          <p:cNvPr id="548" name="Google Shape;548;p29"/>
          <p:cNvCxnSpPr>
            <a:cxnSpLocks/>
          </p:cNvCxnSpPr>
          <p:nvPr/>
        </p:nvCxnSpPr>
        <p:spPr>
          <a:xfrm>
            <a:off x="2711871" y="4970043"/>
            <a:ext cx="2518569" cy="0"/>
          </a:xfrm>
          <a:prstGeom prst="straightConnector1">
            <a:avLst/>
          </a:prstGeom>
          <a:noFill/>
          <a:ln w="28575" cap="rnd" cmpd="sng">
            <a:solidFill>
              <a:schemeClr val="dk1"/>
            </a:solidFill>
            <a:prstDash val="solid"/>
            <a:round/>
            <a:headEnd type="none" w="sm" len="sm"/>
            <a:tailEnd type="none" w="sm" len="sm"/>
          </a:ln>
        </p:spPr>
      </p:cxnSp>
      <p:sp>
        <p:nvSpPr>
          <p:cNvPr id="553" name="Google Shape;553;p29"/>
          <p:cNvSpPr txBox="1"/>
          <p:nvPr/>
        </p:nvSpPr>
        <p:spPr>
          <a:xfrm>
            <a:off x="3426090" y="1540960"/>
            <a:ext cx="1145528"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0x100</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568" name="Google Shape;568;p29"/>
          <p:cNvSpPr txBox="1"/>
          <p:nvPr/>
        </p:nvSpPr>
        <p:spPr>
          <a:xfrm>
            <a:off x="2718389" y="3604562"/>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p>
        </p:txBody>
      </p:sp>
      <p:sp>
        <p:nvSpPr>
          <p:cNvPr id="569" name="Google Shape;569;p29"/>
          <p:cNvSpPr txBox="1"/>
          <p:nvPr/>
        </p:nvSpPr>
        <p:spPr>
          <a:xfrm>
            <a:off x="2718389" y="4630955"/>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endParaRPr sz="2000" kern="0" dirty="0">
              <a:solidFill>
                <a:srgbClr val="F2F2F2"/>
              </a:solidFill>
              <a:latin typeface="Inter"/>
              <a:ea typeface="Inter"/>
              <a:cs typeface="Inter"/>
              <a:sym typeface="Inter"/>
            </a:endParaRPr>
          </a:p>
        </p:txBody>
      </p:sp>
      <p:sp>
        <p:nvSpPr>
          <p:cNvPr id="571" name="Google Shape;571;p29"/>
          <p:cNvSpPr txBox="1"/>
          <p:nvPr/>
        </p:nvSpPr>
        <p:spPr>
          <a:xfrm>
            <a:off x="4156487" y="2510660"/>
            <a:ext cx="2552484"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add x1 x2 x3</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572" name="Google Shape;572;p29"/>
          <p:cNvSpPr txBox="1"/>
          <p:nvPr/>
        </p:nvSpPr>
        <p:spPr>
          <a:xfrm>
            <a:off x="5303437" y="3554398"/>
            <a:ext cx="1464663"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R[2]</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573" name="Google Shape;573;p29"/>
          <p:cNvSpPr txBox="1"/>
          <p:nvPr/>
        </p:nvSpPr>
        <p:spPr>
          <a:xfrm>
            <a:off x="6008863" y="4587483"/>
            <a:ext cx="260613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R[2] + R[3]</a:t>
            </a:r>
          </a:p>
        </p:txBody>
      </p:sp>
      <p:cxnSp>
        <p:nvCxnSpPr>
          <p:cNvPr id="16" name="Google Shape;535;p29">
            <a:extLst>
              <a:ext uri="{FF2B5EF4-FFF2-40B4-BE49-F238E27FC236}">
                <a16:creationId xmlns:a16="http://schemas.microsoft.com/office/drawing/2014/main" id="{B7DDAB7E-96A4-2482-7CFB-1E958894DE6F}"/>
              </a:ext>
            </a:extLst>
          </p:cNvPr>
          <p:cNvCxnSpPr>
            <a:cxnSpLocks/>
          </p:cNvCxnSpPr>
          <p:nvPr/>
        </p:nvCxnSpPr>
        <p:spPr>
          <a:xfrm>
            <a:off x="5586235" y="5207606"/>
            <a:ext cx="1181865" cy="0"/>
          </a:xfrm>
          <a:prstGeom prst="straightConnector1">
            <a:avLst/>
          </a:prstGeom>
          <a:noFill/>
          <a:ln w="28575" cap="rnd" cmpd="sng">
            <a:solidFill>
              <a:schemeClr val="dk1"/>
            </a:solidFill>
            <a:prstDash val="solid"/>
            <a:round/>
            <a:headEnd type="none" w="sm" len="sm"/>
            <a:tailEnd type="none" w="sm" len="sm"/>
          </a:ln>
        </p:spPr>
      </p:cxnSp>
      <p:cxnSp>
        <p:nvCxnSpPr>
          <p:cNvPr id="17" name="Google Shape;536;p29">
            <a:extLst>
              <a:ext uri="{FF2B5EF4-FFF2-40B4-BE49-F238E27FC236}">
                <a16:creationId xmlns:a16="http://schemas.microsoft.com/office/drawing/2014/main" id="{37BB827C-4399-E01F-26F2-39716011DE87}"/>
              </a:ext>
            </a:extLst>
          </p:cNvPr>
          <p:cNvCxnSpPr>
            <a:cxnSpLocks/>
          </p:cNvCxnSpPr>
          <p:nvPr/>
        </p:nvCxnSpPr>
        <p:spPr>
          <a:xfrm>
            <a:off x="5586235" y="5512406"/>
            <a:ext cx="1181865" cy="0"/>
          </a:xfrm>
          <a:prstGeom prst="straightConnector1">
            <a:avLst/>
          </a:prstGeom>
          <a:noFill/>
          <a:ln w="28575" cap="rnd" cmpd="sng">
            <a:solidFill>
              <a:schemeClr val="dk1"/>
            </a:solidFill>
            <a:prstDash val="solid"/>
            <a:round/>
            <a:headEnd type="none" w="sm" len="sm"/>
            <a:tailEnd type="none" w="sm" len="sm"/>
          </a:ln>
        </p:spPr>
      </p:cxnSp>
      <p:cxnSp>
        <p:nvCxnSpPr>
          <p:cNvPr id="20" name="Google Shape;547;p29">
            <a:extLst>
              <a:ext uri="{FF2B5EF4-FFF2-40B4-BE49-F238E27FC236}">
                <a16:creationId xmlns:a16="http://schemas.microsoft.com/office/drawing/2014/main" id="{3F8D9772-40CD-A216-73BC-1B705ADCA40C}"/>
              </a:ext>
            </a:extLst>
          </p:cNvPr>
          <p:cNvCxnSpPr>
            <a:cxnSpLocks/>
          </p:cNvCxnSpPr>
          <p:nvPr/>
        </p:nvCxnSpPr>
        <p:spPr>
          <a:xfrm>
            <a:off x="2718389" y="5207606"/>
            <a:ext cx="2772292" cy="0"/>
          </a:xfrm>
          <a:prstGeom prst="straightConnector1">
            <a:avLst/>
          </a:prstGeom>
          <a:noFill/>
          <a:ln w="28575" cap="rnd" cmpd="sng">
            <a:solidFill>
              <a:schemeClr val="dk1"/>
            </a:solidFill>
            <a:prstDash val="solid"/>
            <a:round/>
            <a:headEnd type="none" w="sm" len="sm"/>
            <a:tailEnd type="none" w="sm" len="sm"/>
          </a:ln>
        </p:spPr>
      </p:cxnSp>
      <p:cxnSp>
        <p:nvCxnSpPr>
          <p:cNvPr id="21" name="Google Shape;548;p29">
            <a:extLst>
              <a:ext uri="{FF2B5EF4-FFF2-40B4-BE49-F238E27FC236}">
                <a16:creationId xmlns:a16="http://schemas.microsoft.com/office/drawing/2014/main" id="{D5949CE2-2EB6-6E14-5725-B96D191D8282}"/>
              </a:ext>
            </a:extLst>
          </p:cNvPr>
          <p:cNvCxnSpPr>
            <a:cxnSpLocks/>
          </p:cNvCxnSpPr>
          <p:nvPr/>
        </p:nvCxnSpPr>
        <p:spPr>
          <a:xfrm>
            <a:off x="2718389" y="5512406"/>
            <a:ext cx="2772292" cy="0"/>
          </a:xfrm>
          <a:prstGeom prst="straightConnector1">
            <a:avLst/>
          </a:prstGeom>
          <a:noFill/>
          <a:ln w="28575" cap="rnd" cmpd="sng">
            <a:solidFill>
              <a:schemeClr val="dk1"/>
            </a:solidFill>
            <a:prstDash val="solid"/>
            <a:round/>
            <a:headEnd type="none" w="sm" len="sm"/>
            <a:tailEnd type="none" w="sm" len="sm"/>
          </a:ln>
        </p:spPr>
      </p:cxnSp>
      <p:sp>
        <p:nvSpPr>
          <p:cNvPr id="22" name="Google Shape;569;p29">
            <a:extLst>
              <a:ext uri="{FF2B5EF4-FFF2-40B4-BE49-F238E27FC236}">
                <a16:creationId xmlns:a16="http://schemas.microsoft.com/office/drawing/2014/main" id="{4B45FAA3-C5FE-8D4B-31FD-EEDE20BEEAC7}"/>
              </a:ext>
            </a:extLst>
          </p:cNvPr>
          <p:cNvSpPr txBox="1"/>
          <p:nvPr/>
        </p:nvSpPr>
        <p:spPr>
          <a:xfrm>
            <a:off x="2718389" y="5173318"/>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endParaRPr sz="2000" kern="0" dirty="0">
              <a:solidFill>
                <a:srgbClr val="F2F2F2"/>
              </a:solidFill>
              <a:latin typeface="Inter"/>
              <a:ea typeface="Inter"/>
              <a:cs typeface="Inter"/>
              <a:sym typeface="Inter"/>
            </a:endParaRPr>
          </a:p>
        </p:txBody>
      </p:sp>
      <p:cxnSp>
        <p:nvCxnSpPr>
          <p:cNvPr id="46" name="Google Shape;529;p29">
            <a:extLst>
              <a:ext uri="{FF2B5EF4-FFF2-40B4-BE49-F238E27FC236}">
                <a16:creationId xmlns:a16="http://schemas.microsoft.com/office/drawing/2014/main" id="{DB6B9AD8-B65A-D70D-9581-C927E3D16D36}"/>
              </a:ext>
            </a:extLst>
          </p:cNvPr>
          <p:cNvCxnSpPr>
            <a:cxnSpLocks/>
          </p:cNvCxnSpPr>
          <p:nvPr/>
        </p:nvCxnSpPr>
        <p:spPr>
          <a:xfrm>
            <a:off x="4156487" y="3093934"/>
            <a:ext cx="2611613" cy="0"/>
          </a:xfrm>
          <a:prstGeom prst="straightConnector1">
            <a:avLst/>
          </a:prstGeom>
          <a:noFill/>
          <a:ln w="28575" cap="rnd" cmpd="sng">
            <a:solidFill>
              <a:schemeClr val="dk1"/>
            </a:solidFill>
            <a:prstDash val="solid"/>
            <a:round/>
            <a:headEnd type="none" w="sm" len="sm"/>
            <a:tailEnd type="none" w="sm" len="sm"/>
          </a:ln>
        </p:spPr>
      </p:cxnSp>
      <p:cxnSp>
        <p:nvCxnSpPr>
          <p:cNvPr id="47" name="Google Shape;530;p29">
            <a:extLst>
              <a:ext uri="{FF2B5EF4-FFF2-40B4-BE49-F238E27FC236}">
                <a16:creationId xmlns:a16="http://schemas.microsoft.com/office/drawing/2014/main" id="{EFDF1FB4-F2AC-07E2-48E8-6C37D7A541A0}"/>
              </a:ext>
            </a:extLst>
          </p:cNvPr>
          <p:cNvCxnSpPr>
            <a:cxnSpLocks/>
          </p:cNvCxnSpPr>
          <p:nvPr/>
        </p:nvCxnSpPr>
        <p:spPr>
          <a:xfrm>
            <a:off x="4156487" y="3398732"/>
            <a:ext cx="2611613" cy="0"/>
          </a:xfrm>
          <a:prstGeom prst="straightConnector1">
            <a:avLst/>
          </a:prstGeom>
          <a:noFill/>
          <a:ln w="28575" cap="rnd" cmpd="sng">
            <a:solidFill>
              <a:schemeClr val="dk1"/>
            </a:solidFill>
            <a:prstDash val="solid"/>
            <a:round/>
            <a:headEnd type="none" w="sm" len="sm"/>
            <a:tailEnd type="none" w="sm" len="sm"/>
          </a:ln>
        </p:spPr>
      </p:cxnSp>
      <p:cxnSp>
        <p:nvCxnSpPr>
          <p:cNvPr id="50" name="Google Shape;533;p29">
            <a:extLst>
              <a:ext uri="{FF2B5EF4-FFF2-40B4-BE49-F238E27FC236}">
                <a16:creationId xmlns:a16="http://schemas.microsoft.com/office/drawing/2014/main" id="{5B1E1C15-56C7-AE79-6180-8C5ACEF4855D}"/>
              </a:ext>
            </a:extLst>
          </p:cNvPr>
          <p:cNvCxnSpPr>
            <a:cxnSpLocks/>
          </p:cNvCxnSpPr>
          <p:nvPr/>
        </p:nvCxnSpPr>
        <p:spPr>
          <a:xfrm>
            <a:off x="2688046" y="3093934"/>
            <a:ext cx="1373456" cy="0"/>
          </a:xfrm>
          <a:prstGeom prst="straightConnector1">
            <a:avLst/>
          </a:prstGeom>
          <a:noFill/>
          <a:ln w="28575" cap="rnd" cmpd="sng">
            <a:solidFill>
              <a:schemeClr val="dk1"/>
            </a:solidFill>
            <a:prstDash val="solid"/>
            <a:round/>
            <a:headEnd type="none" w="sm" len="sm"/>
            <a:tailEnd type="none" w="sm" len="sm"/>
          </a:ln>
        </p:spPr>
      </p:cxnSp>
      <p:cxnSp>
        <p:nvCxnSpPr>
          <p:cNvPr id="51" name="Google Shape;534;p29">
            <a:extLst>
              <a:ext uri="{FF2B5EF4-FFF2-40B4-BE49-F238E27FC236}">
                <a16:creationId xmlns:a16="http://schemas.microsoft.com/office/drawing/2014/main" id="{60AFEC67-89C5-1766-3BCF-63D64925900C}"/>
              </a:ext>
            </a:extLst>
          </p:cNvPr>
          <p:cNvCxnSpPr>
            <a:cxnSpLocks/>
          </p:cNvCxnSpPr>
          <p:nvPr/>
        </p:nvCxnSpPr>
        <p:spPr>
          <a:xfrm>
            <a:off x="2696824" y="3398732"/>
            <a:ext cx="1364678" cy="0"/>
          </a:xfrm>
          <a:prstGeom prst="straightConnector1">
            <a:avLst/>
          </a:prstGeom>
          <a:noFill/>
          <a:ln w="28575" cap="rnd" cmpd="sng">
            <a:solidFill>
              <a:schemeClr val="dk1"/>
            </a:solidFill>
            <a:prstDash val="solid"/>
            <a:round/>
            <a:headEnd type="none" w="sm" len="sm"/>
            <a:tailEnd type="none" w="sm" len="sm"/>
          </a:ln>
        </p:spPr>
      </p:cxnSp>
      <p:sp>
        <p:nvSpPr>
          <p:cNvPr id="52" name="Google Shape;568;p29">
            <a:extLst>
              <a:ext uri="{FF2B5EF4-FFF2-40B4-BE49-F238E27FC236}">
                <a16:creationId xmlns:a16="http://schemas.microsoft.com/office/drawing/2014/main" id="{B47857CB-EEF0-7B47-BEBF-A4C36415EBEE}"/>
              </a:ext>
            </a:extLst>
          </p:cNvPr>
          <p:cNvSpPr txBox="1"/>
          <p:nvPr/>
        </p:nvSpPr>
        <p:spPr>
          <a:xfrm>
            <a:off x="2718389" y="3057718"/>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p>
        </p:txBody>
      </p:sp>
      <p:sp>
        <p:nvSpPr>
          <p:cNvPr id="53" name="Google Shape;572;p29">
            <a:extLst>
              <a:ext uri="{FF2B5EF4-FFF2-40B4-BE49-F238E27FC236}">
                <a16:creationId xmlns:a16="http://schemas.microsoft.com/office/drawing/2014/main" id="{DD9D7D5D-D7C7-2BC5-39C0-8D23498D1FB1}"/>
              </a:ext>
            </a:extLst>
          </p:cNvPr>
          <p:cNvSpPr txBox="1"/>
          <p:nvPr/>
        </p:nvSpPr>
        <p:spPr>
          <a:xfrm>
            <a:off x="4767874" y="3011935"/>
            <a:ext cx="186152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a</a:t>
            </a:r>
            <a:r>
              <a:rPr lang="en" sz="2000" kern="0" dirty="0">
                <a:solidFill>
                  <a:srgbClr val="F2F2F2"/>
                </a:solidFill>
                <a:latin typeface="Consolas" panose="020B0609020204030204" pitchFamily="49" charset="0"/>
                <a:ea typeface="Inter"/>
                <a:cs typeface="Consolas" panose="020B0609020204030204" pitchFamily="49" charset="0"/>
                <a:sym typeface="Inter"/>
              </a:rPr>
              <a:t>dd</a:t>
            </a:r>
            <a:r>
              <a:rPr lang="en" sz="2000" kern="0" dirty="0">
                <a:solidFill>
                  <a:srgbClr val="F2F2F2"/>
                </a:solidFill>
                <a:latin typeface="Inter"/>
                <a:ea typeface="Inter"/>
                <a:cs typeface="Inter"/>
                <a:sym typeface="Inter"/>
              </a:rPr>
              <a:t> control</a:t>
            </a:r>
            <a:endParaRPr sz="2000" kern="0" dirty="0">
              <a:solidFill>
                <a:srgbClr val="F2F2F2"/>
              </a:solidFill>
              <a:latin typeface="Inter"/>
              <a:ea typeface="Inter"/>
              <a:cs typeface="Inter"/>
              <a:sym typeface="Inter"/>
            </a:endParaRPr>
          </a:p>
        </p:txBody>
      </p:sp>
      <p:cxnSp>
        <p:nvCxnSpPr>
          <p:cNvPr id="462" name="Straight Connector 461">
            <a:extLst>
              <a:ext uri="{FF2B5EF4-FFF2-40B4-BE49-F238E27FC236}">
                <a16:creationId xmlns:a16="http://schemas.microsoft.com/office/drawing/2014/main" id="{30A5D9FB-18FC-761D-E4D5-86B7B1685BC4}"/>
              </a:ext>
            </a:extLst>
          </p:cNvPr>
          <p:cNvCxnSpPr>
            <a:cxnSpLocks/>
          </p:cNvCxnSpPr>
          <p:nvPr/>
        </p:nvCxnSpPr>
        <p:spPr>
          <a:xfrm flipV="1">
            <a:off x="2789363" y="161341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3" name="Straight Connector 462">
            <a:extLst>
              <a:ext uri="{FF2B5EF4-FFF2-40B4-BE49-F238E27FC236}">
                <a16:creationId xmlns:a16="http://schemas.microsoft.com/office/drawing/2014/main" id="{98FC00B8-2469-497E-9EDE-086300CE6413}"/>
              </a:ext>
            </a:extLst>
          </p:cNvPr>
          <p:cNvCxnSpPr>
            <a:cxnSpLocks/>
          </p:cNvCxnSpPr>
          <p:nvPr/>
        </p:nvCxnSpPr>
        <p:spPr>
          <a:xfrm flipH="1" flipV="1">
            <a:off x="2789363" y="161341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Straight Connector 467">
            <a:extLst>
              <a:ext uri="{FF2B5EF4-FFF2-40B4-BE49-F238E27FC236}">
                <a16:creationId xmlns:a16="http://schemas.microsoft.com/office/drawing/2014/main" id="{F308FAD0-894E-E3D4-16E6-965929A39BF8}"/>
              </a:ext>
            </a:extLst>
          </p:cNvPr>
          <p:cNvCxnSpPr>
            <a:cxnSpLocks/>
          </p:cNvCxnSpPr>
          <p:nvPr/>
        </p:nvCxnSpPr>
        <p:spPr>
          <a:xfrm flipV="1">
            <a:off x="3433061" y="2574509"/>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Straight Connector 468">
            <a:extLst>
              <a:ext uri="{FF2B5EF4-FFF2-40B4-BE49-F238E27FC236}">
                <a16:creationId xmlns:a16="http://schemas.microsoft.com/office/drawing/2014/main" id="{E13E2DA0-249A-E2EE-49C2-A3CB48FC5845}"/>
              </a:ext>
            </a:extLst>
          </p:cNvPr>
          <p:cNvCxnSpPr>
            <a:cxnSpLocks/>
          </p:cNvCxnSpPr>
          <p:nvPr/>
        </p:nvCxnSpPr>
        <p:spPr>
          <a:xfrm flipH="1" flipV="1">
            <a:off x="3433061" y="2574509"/>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Straight Connector 469">
            <a:extLst>
              <a:ext uri="{FF2B5EF4-FFF2-40B4-BE49-F238E27FC236}">
                <a16:creationId xmlns:a16="http://schemas.microsoft.com/office/drawing/2014/main" id="{1BA490D5-2201-AA99-3A2D-28F056E0C941}"/>
              </a:ext>
            </a:extLst>
          </p:cNvPr>
          <p:cNvCxnSpPr>
            <a:cxnSpLocks/>
          </p:cNvCxnSpPr>
          <p:nvPr/>
        </p:nvCxnSpPr>
        <p:spPr>
          <a:xfrm flipV="1">
            <a:off x="4064841" y="309478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1" name="Straight Connector 470">
            <a:extLst>
              <a:ext uri="{FF2B5EF4-FFF2-40B4-BE49-F238E27FC236}">
                <a16:creationId xmlns:a16="http://schemas.microsoft.com/office/drawing/2014/main" id="{2CE3B6DA-D856-EFBB-D2A3-EECFAF74E4D8}"/>
              </a:ext>
            </a:extLst>
          </p:cNvPr>
          <p:cNvCxnSpPr>
            <a:cxnSpLocks/>
          </p:cNvCxnSpPr>
          <p:nvPr/>
        </p:nvCxnSpPr>
        <p:spPr>
          <a:xfrm flipH="1" flipV="1">
            <a:off x="4064841" y="309478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Straight Connector 473">
            <a:extLst>
              <a:ext uri="{FF2B5EF4-FFF2-40B4-BE49-F238E27FC236}">
                <a16:creationId xmlns:a16="http://schemas.microsoft.com/office/drawing/2014/main" id="{9B24334A-39E0-49B4-561A-447F0F7754FE}"/>
              </a:ext>
            </a:extLst>
          </p:cNvPr>
          <p:cNvCxnSpPr>
            <a:cxnSpLocks/>
          </p:cNvCxnSpPr>
          <p:nvPr/>
        </p:nvCxnSpPr>
        <p:spPr>
          <a:xfrm flipV="1">
            <a:off x="4306125" y="3644404"/>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Straight Connector 474">
            <a:extLst>
              <a:ext uri="{FF2B5EF4-FFF2-40B4-BE49-F238E27FC236}">
                <a16:creationId xmlns:a16="http://schemas.microsoft.com/office/drawing/2014/main" id="{C17C3930-AF5A-F046-5260-FBC82CE0B15B}"/>
              </a:ext>
            </a:extLst>
          </p:cNvPr>
          <p:cNvCxnSpPr>
            <a:cxnSpLocks/>
          </p:cNvCxnSpPr>
          <p:nvPr/>
        </p:nvCxnSpPr>
        <p:spPr>
          <a:xfrm flipH="1" flipV="1">
            <a:off x="4306125" y="3644404"/>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Straight Connector 477">
            <a:extLst>
              <a:ext uri="{FF2B5EF4-FFF2-40B4-BE49-F238E27FC236}">
                <a16:creationId xmlns:a16="http://schemas.microsoft.com/office/drawing/2014/main" id="{19528AFF-99E7-A2A8-E1C6-026F20477710}"/>
              </a:ext>
            </a:extLst>
          </p:cNvPr>
          <p:cNvCxnSpPr>
            <a:cxnSpLocks/>
          </p:cNvCxnSpPr>
          <p:nvPr/>
        </p:nvCxnSpPr>
        <p:spPr>
          <a:xfrm flipV="1">
            <a:off x="5230440" y="466473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Straight Connector 478">
            <a:extLst>
              <a:ext uri="{FF2B5EF4-FFF2-40B4-BE49-F238E27FC236}">
                <a16:creationId xmlns:a16="http://schemas.microsoft.com/office/drawing/2014/main" id="{8FC8B371-B8F8-0247-843A-5FD5B9AC118B}"/>
              </a:ext>
            </a:extLst>
          </p:cNvPr>
          <p:cNvCxnSpPr>
            <a:cxnSpLocks/>
          </p:cNvCxnSpPr>
          <p:nvPr/>
        </p:nvCxnSpPr>
        <p:spPr>
          <a:xfrm flipH="1" flipV="1">
            <a:off x="5230440" y="466473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Straight Connector 479">
            <a:extLst>
              <a:ext uri="{FF2B5EF4-FFF2-40B4-BE49-F238E27FC236}">
                <a16:creationId xmlns:a16="http://schemas.microsoft.com/office/drawing/2014/main" id="{C67E19D8-C74F-4370-8A43-4E9DCC34BB9A}"/>
              </a:ext>
            </a:extLst>
          </p:cNvPr>
          <p:cNvCxnSpPr>
            <a:cxnSpLocks/>
          </p:cNvCxnSpPr>
          <p:nvPr/>
        </p:nvCxnSpPr>
        <p:spPr>
          <a:xfrm flipV="1">
            <a:off x="5490681" y="520731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1" name="Straight Connector 480">
            <a:extLst>
              <a:ext uri="{FF2B5EF4-FFF2-40B4-BE49-F238E27FC236}">
                <a16:creationId xmlns:a16="http://schemas.microsoft.com/office/drawing/2014/main" id="{21ED29C9-0FAA-2690-002D-749564533CA5}"/>
              </a:ext>
            </a:extLst>
          </p:cNvPr>
          <p:cNvCxnSpPr>
            <a:cxnSpLocks/>
          </p:cNvCxnSpPr>
          <p:nvPr/>
        </p:nvCxnSpPr>
        <p:spPr>
          <a:xfrm flipH="1" flipV="1">
            <a:off x="5490681" y="520731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489" name="Google Shape;566;p29">
            <a:extLst>
              <a:ext uri="{FF2B5EF4-FFF2-40B4-BE49-F238E27FC236}">
                <a16:creationId xmlns:a16="http://schemas.microsoft.com/office/drawing/2014/main" id="{4E985858-0894-2280-92D5-9E2573CD5C30}"/>
              </a:ext>
            </a:extLst>
          </p:cNvPr>
          <p:cNvSpPr txBox="1"/>
          <p:nvPr/>
        </p:nvSpPr>
        <p:spPr>
          <a:xfrm>
            <a:off x="2065381" y="1570592"/>
            <a:ext cx="700451"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p>
        </p:txBody>
      </p:sp>
      <p:sp>
        <p:nvSpPr>
          <p:cNvPr id="490" name="Google Shape;567;p29">
            <a:extLst>
              <a:ext uri="{FF2B5EF4-FFF2-40B4-BE49-F238E27FC236}">
                <a16:creationId xmlns:a16="http://schemas.microsoft.com/office/drawing/2014/main" id="{4AF74CBA-0090-2054-B302-2B6106958A7B}"/>
              </a:ext>
            </a:extLst>
          </p:cNvPr>
          <p:cNvSpPr txBox="1"/>
          <p:nvPr/>
        </p:nvSpPr>
        <p:spPr>
          <a:xfrm>
            <a:off x="2718389" y="2532382"/>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p>
        </p:txBody>
      </p:sp>
      <p:cxnSp>
        <p:nvCxnSpPr>
          <p:cNvPr id="619" name="Google Shape;505;p29">
            <a:extLst>
              <a:ext uri="{FF2B5EF4-FFF2-40B4-BE49-F238E27FC236}">
                <a16:creationId xmlns:a16="http://schemas.microsoft.com/office/drawing/2014/main" id="{5C108377-0296-A626-FAC8-A03EA19D510D}"/>
              </a:ext>
            </a:extLst>
          </p:cNvPr>
          <p:cNvCxnSpPr>
            <a:cxnSpLocks/>
          </p:cNvCxnSpPr>
          <p:nvPr/>
        </p:nvCxnSpPr>
        <p:spPr>
          <a:xfrm>
            <a:off x="6765840" y="1204261"/>
            <a:ext cx="1949011" cy="0"/>
          </a:xfrm>
          <a:prstGeom prst="straightConnector1">
            <a:avLst/>
          </a:prstGeom>
          <a:noFill/>
          <a:ln w="28575" cap="rnd" cmpd="sng">
            <a:solidFill>
              <a:schemeClr val="dk1"/>
            </a:solidFill>
            <a:prstDash val="solid"/>
            <a:round/>
            <a:headEnd type="none" w="sm" len="sm"/>
            <a:tailEnd type="none" w="sm" len="sm"/>
          </a:ln>
        </p:spPr>
      </p:cxnSp>
      <p:cxnSp>
        <p:nvCxnSpPr>
          <p:cNvPr id="620" name="Google Shape;506;p29">
            <a:extLst>
              <a:ext uri="{FF2B5EF4-FFF2-40B4-BE49-F238E27FC236}">
                <a16:creationId xmlns:a16="http://schemas.microsoft.com/office/drawing/2014/main" id="{FB33C807-35EF-9ABC-B415-ABE085909C0E}"/>
              </a:ext>
            </a:extLst>
          </p:cNvPr>
          <p:cNvCxnSpPr/>
          <p:nvPr/>
        </p:nvCxnSpPr>
        <p:spPr>
          <a:xfrm rot="10800000">
            <a:off x="8714890" y="1204625"/>
            <a:ext cx="59091" cy="304800"/>
          </a:xfrm>
          <a:prstGeom prst="straightConnector1">
            <a:avLst/>
          </a:prstGeom>
          <a:noFill/>
          <a:ln w="28575" cap="rnd" cmpd="sng">
            <a:solidFill>
              <a:schemeClr val="dk1"/>
            </a:solidFill>
            <a:prstDash val="solid"/>
            <a:round/>
            <a:headEnd type="none" w="sm" len="sm"/>
            <a:tailEnd type="none" w="sm" len="sm"/>
          </a:ln>
        </p:spPr>
      </p:cxnSp>
      <p:cxnSp>
        <p:nvCxnSpPr>
          <p:cNvPr id="621" name="Google Shape;507;p29">
            <a:extLst>
              <a:ext uri="{FF2B5EF4-FFF2-40B4-BE49-F238E27FC236}">
                <a16:creationId xmlns:a16="http://schemas.microsoft.com/office/drawing/2014/main" id="{2FF487C6-3CF5-8F05-CE97-11AB3AA5DDBA}"/>
              </a:ext>
            </a:extLst>
          </p:cNvPr>
          <p:cNvCxnSpPr/>
          <p:nvPr/>
        </p:nvCxnSpPr>
        <p:spPr>
          <a:xfrm>
            <a:off x="8773980" y="1509061"/>
            <a:ext cx="1949011" cy="0"/>
          </a:xfrm>
          <a:prstGeom prst="straightConnector1">
            <a:avLst/>
          </a:prstGeom>
          <a:noFill/>
          <a:ln w="28575" cap="rnd" cmpd="sng">
            <a:solidFill>
              <a:schemeClr val="dk1"/>
            </a:solidFill>
            <a:prstDash val="solid"/>
            <a:round/>
            <a:headEnd type="none" w="sm" len="sm"/>
            <a:tailEnd type="none" w="sm" len="sm"/>
          </a:ln>
        </p:spPr>
      </p:cxnSp>
      <p:cxnSp>
        <p:nvCxnSpPr>
          <p:cNvPr id="622" name="Google Shape;508;p29">
            <a:extLst>
              <a:ext uri="{FF2B5EF4-FFF2-40B4-BE49-F238E27FC236}">
                <a16:creationId xmlns:a16="http://schemas.microsoft.com/office/drawing/2014/main" id="{3AAB4D68-838C-AAA1-A20F-249973A61B76}"/>
              </a:ext>
            </a:extLst>
          </p:cNvPr>
          <p:cNvCxnSpPr/>
          <p:nvPr/>
        </p:nvCxnSpPr>
        <p:spPr>
          <a:xfrm rot="10800000" flipH="1">
            <a:off x="10723057" y="1204261"/>
            <a:ext cx="59091" cy="304800"/>
          </a:xfrm>
          <a:prstGeom prst="straightConnector1">
            <a:avLst/>
          </a:prstGeom>
          <a:noFill/>
          <a:ln w="28575" cap="rnd" cmpd="sng">
            <a:solidFill>
              <a:schemeClr val="dk1"/>
            </a:solidFill>
            <a:prstDash val="solid"/>
            <a:round/>
            <a:headEnd type="none" w="sm" len="sm"/>
            <a:tailEnd type="none" w="sm" len="sm"/>
          </a:ln>
        </p:spPr>
      </p:cxnSp>
      <p:cxnSp>
        <p:nvCxnSpPr>
          <p:cNvPr id="623" name="Google Shape;510;p29">
            <a:extLst>
              <a:ext uri="{FF2B5EF4-FFF2-40B4-BE49-F238E27FC236}">
                <a16:creationId xmlns:a16="http://schemas.microsoft.com/office/drawing/2014/main" id="{37DD6A86-5F69-1482-0D6B-A2B7BF6D5610}"/>
              </a:ext>
            </a:extLst>
          </p:cNvPr>
          <p:cNvCxnSpPr>
            <a:cxnSpLocks/>
          </p:cNvCxnSpPr>
          <p:nvPr/>
        </p:nvCxnSpPr>
        <p:spPr>
          <a:xfrm>
            <a:off x="6905530" y="1610661"/>
            <a:ext cx="3876590" cy="0"/>
          </a:xfrm>
          <a:prstGeom prst="straightConnector1">
            <a:avLst/>
          </a:prstGeom>
          <a:noFill/>
          <a:ln w="28575" cap="rnd" cmpd="sng">
            <a:solidFill>
              <a:schemeClr val="dk1"/>
            </a:solidFill>
            <a:prstDash val="solid"/>
            <a:round/>
            <a:headEnd type="none" w="sm" len="sm"/>
            <a:tailEnd type="none" w="sm" len="sm"/>
          </a:ln>
        </p:spPr>
      </p:cxnSp>
      <p:cxnSp>
        <p:nvCxnSpPr>
          <p:cNvPr id="624" name="Google Shape;511;p29">
            <a:extLst>
              <a:ext uri="{FF2B5EF4-FFF2-40B4-BE49-F238E27FC236}">
                <a16:creationId xmlns:a16="http://schemas.microsoft.com/office/drawing/2014/main" id="{567E6FF8-8045-E75E-C7A1-928B26770EC7}"/>
              </a:ext>
            </a:extLst>
          </p:cNvPr>
          <p:cNvCxnSpPr>
            <a:cxnSpLocks/>
          </p:cNvCxnSpPr>
          <p:nvPr/>
        </p:nvCxnSpPr>
        <p:spPr>
          <a:xfrm>
            <a:off x="6905530" y="1915461"/>
            <a:ext cx="3876590" cy="0"/>
          </a:xfrm>
          <a:prstGeom prst="straightConnector1">
            <a:avLst/>
          </a:prstGeom>
          <a:noFill/>
          <a:ln w="28575" cap="rnd" cmpd="sng">
            <a:solidFill>
              <a:schemeClr val="dk1"/>
            </a:solidFill>
            <a:prstDash val="solid"/>
            <a:round/>
            <a:headEnd type="none" w="sm" len="sm"/>
            <a:tailEnd type="none" w="sm" len="sm"/>
          </a:ln>
        </p:spPr>
      </p:cxnSp>
      <p:cxnSp>
        <p:nvCxnSpPr>
          <p:cNvPr id="625" name="Google Shape;521;p29">
            <a:extLst>
              <a:ext uri="{FF2B5EF4-FFF2-40B4-BE49-F238E27FC236}">
                <a16:creationId xmlns:a16="http://schemas.microsoft.com/office/drawing/2014/main" id="{E7898764-E089-9B18-C148-DA08EC2864C5}"/>
              </a:ext>
            </a:extLst>
          </p:cNvPr>
          <p:cNvCxnSpPr>
            <a:cxnSpLocks/>
          </p:cNvCxnSpPr>
          <p:nvPr/>
        </p:nvCxnSpPr>
        <p:spPr>
          <a:xfrm>
            <a:off x="7542635" y="2570525"/>
            <a:ext cx="3239485" cy="0"/>
          </a:xfrm>
          <a:prstGeom prst="straightConnector1">
            <a:avLst/>
          </a:prstGeom>
          <a:noFill/>
          <a:ln w="28575" cap="rnd" cmpd="sng">
            <a:solidFill>
              <a:schemeClr val="dk1"/>
            </a:solidFill>
            <a:prstDash val="solid"/>
            <a:round/>
            <a:headEnd type="none" w="sm" len="sm"/>
            <a:tailEnd type="none" w="sm" len="sm"/>
          </a:ln>
        </p:spPr>
      </p:cxnSp>
      <p:cxnSp>
        <p:nvCxnSpPr>
          <p:cNvPr id="626" name="Google Shape;522;p29">
            <a:extLst>
              <a:ext uri="{FF2B5EF4-FFF2-40B4-BE49-F238E27FC236}">
                <a16:creationId xmlns:a16="http://schemas.microsoft.com/office/drawing/2014/main" id="{DFAE13BC-FBDB-C9C7-EEA8-E363277D5F3E}"/>
              </a:ext>
            </a:extLst>
          </p:cNvPr>
          <p:cNvCxnSpPr>
            <a:cxnSpLocks/>
          </p:cNvCxnSpPr>
          <p:nvPr/>
        </p:nvCxnSpPr>
        <p:spPr>
          <a:xfrm>
            <a:off x="7542635" y="2879638"/>
            <a:ext cx="3239485" cy="0"/>
          </a:xfrm>
          <a:prstGeom prst="straightConnector1">
            <a:avLst/>
          </a:prstGeom>
          <a:noFill/>
          <a:ln w="28575" cap="rnd" cmpd="sng">
            <a:solidFill>
              <a:schemeClr val="dk1"/>
            </a:solidFill>
            <a:prstDash val="solid"/>
            <a:round/>
            <a:headEnd type="none" w="sm" len="sm"/>
            <a:tailEnd type="none" w="sm" len="sm"/>
          </a:ln>
        </p:spPr>
      </p:cxnSp>
      <p:cxnSp>
        <p:nvCxnSpPr>
          <p:cNvPr id="627" name="Google Shape;525;p29">
            <a:extLst>
              <a:ext uri="{FF2B5EF4-FFF2-40B4-BE49-F238E27FC236}">
                <a16:creationId xmlns:a16="http://schemas.microsoft.com/office/drawing/2014/main" id="{6D714864-799D-CD6A-89C4-E9583839ED3C}"/>
              </a:ext>
            </a:extLst>
          </p:cNvPr>
          <p:cNvCxnSpPr>
            <a:cxnSpLocks/>
          </p:cNvCxnSpPr>
          <p:nvPr/>
        </p:nvCxnSpPr>
        <p:spPr>
          <a:xfrm>
            <a:off x="6723783" y="2570525"/>
            <a:ext cx="720013" cy="0"/>
          </a:xfrm>
          <a:prstGeom prst="straightConnector1">
            <a:avLst/>
          </a:prstGeom>
          <a:noFill/>
          <a:ln w="28575" cap="rnd" cmpd="sng">
            <a:solidFill>
              <a:schemeClr val="dk1"/>
            </a:solidFill>
            <a:prstDash val="solid"/>
            <a:round/>
            <a:headEnd type="none" w="sm" len="sm"/>
            <a:tailEnd type="none" w="sm" len="sm"/>
          </a:ln>
        </p:spPr>
      </p:cxnSp>
      <p:cxnSp>
        <p:nvCxnSpPr>
          <p:cNvPr id="628" name="Google Shape;526;p29">
            <a:extLst>
              <a:ext uri="{FF2B5EF4-FFF2-40B4-BE49-F238E27FC236}">
                <a16:creationId xmlns:a16="http://schemas.microsoft.com/office/drawing/2014/main" id="{FCBD989E-DFF2-F00F-1C8E-B3D3447EAFB5}"/>
              </a:ext>
            </a:extLst>
          </p:cNvPr>
          <p:cNvCxnSpPr>
            <a:cxnSpLocks/>
          </p:cNvCxnSpPr>
          <p:nvPr/>
        </p:nvCxnSpPr>
        <p:spPr>
          <a:xfrm>
            <a:off x="6723783" y="2879638"/>
            <a:ext cx="720013" cy="0"/>
          </a:xfrm>
          <a:prstGeom prst="straightConnector1">
            <a:avLst/>
          </a:prstGeom>
          <a:noFill/>
          <a:ln w="28575" cap="rnd" cmpd="sng">
            <a:solidFill>
              <a:schemeClr val="dk1"/>
            </a:solidFill>
            <a:prstDash val="solid"/>
            <a:round/>
            <a:headEnd type="none" w="sm" len="sm"/>
            <a:tailEnd type="none" w="sm" len="sm"/>
          </a:ln>
        </p:spPr>
      </p:cxnSp>
      <p:cxnSp>
        <p:nvCxnSpPr>
          <p:cNvPr id="629" name="Google Shape;529;p29">
            <a:extLst>
              <a:ext uri="{FF2B5EF4-FFF2-40B4-BE49-F238E27FC236}">
                <a16:creationId xmlns:a16="http://schemas.microsoft.com/office/drawing/2014/main" id="{0564E5F4-88EE-0147-D050-6877415DC4BD}"/>
              </a:ext>
            </a:extLst>
          </p:cNvPr>
          <p:cNvCxnSpPr>
            <a:cxnSpLocks/>
          </p:cNvCxnSpPr>
          <p:nvPr/>
        </p:nvCxnSpPr>
        <p:spPr>
          <a:xfrm>
            <a:off x="8415699" y="3637148"/>
            <a:ext cx="2366421" cy="0"/>
          </a:xfrm>
          <a:prstGeom prst="straightConnector1">
            <a:avLst/>
          </a:prstGeom>
          <a:noFill/>
          <a:ln w="28575" cap="rnd" cmpd="sng">
            <a:solidFill>
              <a:schemeClr val="dk1"/>
            </a:solidFill>
            <a:prstDash val="solid"/>
            <a:round/>
            <a:headEnd type="none" w="sm" len="sm"/>
            <a:tailEnd type="none" w="sm" len="sm"/>
          </a:ln>
        </p:spPr>
      </p:cxnSp>
      <p:cxnSp>
        <p:nvCxnSpPr>
          <p:cNvPr id="630" name="Google Shape;530;p29">
            <a:extLst>
              <a:ext uri="{FF2B5EF4-FFF2-40B4-BE49-F238E27FC236}">
                <a16:creationId xmlns:a16="http://schemas.microsoft.com/office/drawing/2014/main" id="{8166EBD7-D679-18A5-5122-2356E40B5817}"/>
              </a:ext>
            </a:extLst>
          </p:cNvPr>
          <p:cNvCxnSpPr>
            <a:cxnSpLocks/>
          </p:cNvCxnSpPr>
          <p:nvPr/>
        </p:nvCxnSpPr>
        <p:spPr>
          <a:xfrm>
            <a:off x="8415699" y="3946261"/>
            <a:ext cx="2366421" cy="0"/>
          </a:xfrm>
          <a:prstGeom prst="straightConnector1">
            <a:avLst/>
          </a:prstGeom>
          <a:noFill/>
          <a:ln w="28575" cap="rnd" cmpd="sng">
            <a:solidFill>
              <a:schemeClr val="dk1"/>
            </a:solidFill>
            <a:prstDash val="solid"/>
            <a:round/>
            <a:headEnd type="none" w="sm" len="sm"/>
            <a:tailEnd type="none" w="sm" len="sm"/>
          </a:ln>
        </p:spPr>
      </p:cxnSp>
      <p:cxnSp>
        <p:nvCxnSpPr>
          <p:cNvPr id="631" name="Google Shape;533;p29">
            <a:extLst>
              <a:ext uri="{FF2B5EF4-FFF2-40B4-BE49-F238E27FC236}">
                <a16:creationId xmlns:a16="http://schemas.microsoft.com/office/drawing/2014/main" id="{0DF9C39D-7EF7-C1D8-56AB-F101D38C1D9C}"/>
              </a:ext>
            </a:extLst>
          </p:cNvPr>
          <p:cNvCxnSpPr>
            <a:cxnSpLocks/>
          </p:cNvCxnSpPr>
          <p:nvPr/>
        </p:nvCxnSpPr>
        <p:spPr>
          <a:xfrm>
            <a:off x="6732409" y="3637148"/>
            <a:ext cx="1587736" cy="0"/>
          </a:xfrm>
          <a:prstGeom prst="straightConnector1">
            <a:avLst/>
          </a:prstGeom>
          <a:noFill/>
          <a:ln w="28575" cap="rnd" cmpd="sng">
            <a:solidFill>
              <a:schemeClr val="dk1"/>
            </a:solidFill>
            <a:prstDash val="solid"/>
            <a:round/>
            <a:headEnd type="none" w="sm" len="sm"/>
            <a:tailEnd type="none" w="sm" len="sm"/>
          </a:ln>
        </p:spPr>
      </p:cxnSp>
      <p:cxnSp>
        <p:nvCxnSpPr>
          <p:cNvPr id="632" name="Google Shape;534;p29">
            <a:extLst>
              <a:ext uri="{FF2B5EF4-FFF2-40B4-BE49-F238E27FC236}">
                <a16:creationId xmlns:a16="http://schemas.microsoft.com/office/drawing/2014/main" id="{6D6C4E62-F9B7-666D-EE30-C0385C3523F9}"/>
              </a:ext>
            </a:extLst>
          </p:cNvPr>
          <p:cNvCxnSpPr>
            <a:cxnSpLocks/>
          </p:cNvCxnSpPr>
          <p:nvPr/>
        </p:nvCxnSpPr>
        <p:spPr>
          <a:xfrm>
            <a:off x="6732409" y="3946261"/>
            <a:ext cx="1587736" cy="0"/>
          </a:xfrm>
          <a:prstGeom prst="straightConnector1">
            <a:avLst/>
          </a:prstGeom>
          <a:noFill/>
          <a:ln w="28575" cap="rnd" cmpd="sng">
            <a:solidFill>
              <a:schemeClr val="dk1"/>
            </a:solidFill>
            <a:prstDash val="solid"/>
            <a:round/>
            <a:headEnd type="none" w="sm" len="sm"/>
            <a:tailEnd type="none" w="sm" len="sm"/>
          </a:ln>
        </p:spPr>
      </p:cxnSp>
      <p:cxnSp>
        <p:nvCxnSpPr>
          <p:cNvPr id="633" name="Google Shape;535;p29">
            <a:extLst>
              <a:ext uri="{FF2B5EF4-FFF2-40B4-BE49-F238E27FC236}">
                <a16:creationId xmlns:a16="http://schemas.microsoft.com/office/drawing/2014/main" id="{ACE064F2-BCCC-64B0-3C18-19149F3F2B94}"/>
              </a:ext>
            </a:extLst>
          </p:cNvPr>
          <p:cNvCxnSpPr>
            <a:cxnSpLocks/>
          </p:cNvCxnSpPr>
          <p:nvPr/>
        </p:nvCxnSpPr>
        <p:spPr>
          <a:xfrm>
            <a:off x="9340014" y="4665243"/>
            <a:ext cx="1442106" cy="0"/>
          </a:xfrm>
          <a:prstGeom prst="straightConnector1">
            <a:avLst/>
          </a:prstGeom>
          <a:noFill/>
          <a:ln w="28575" cap="rnd" cmpd="sng">
            <a:solidFill>
              <a:schemeClr val="dk1"/>
            </a:solidFill>
            <a:prstDash val="solid"/>
            <a:round/>
            <a:headEnd type="none" w="sm" len="sm"/>
            <a:tailEnd type="none" w="sm" len="sm"/>
          </a:ln>
        </p:spPr>
      </p:cxnSp>
      <p:cxnSp>
        <p:nvCxnSpPr>
          <p:cNvPr id="634" name="Google Shape;536;p29">
            <a:extLst>
              <a:ext uri="{FF2B5EF4-FFF2-40B4-BE49-F238E27FC236}">
                <a16:creationId xmlns:a16="http://schemas.microsoft.com/office/drawing/2014/main" id="{BD8BF73F-592E-B4C4-58B2-7E1BA582B4BF}"/>
              </a:ext>
            </a:extLst>
          </p:cNvPr>
          <p:cNvCxnSpPr>
            <a:cxnSpLocks/>
          </p:cNvCxnSpPr>
          <p:nvPr/>
        </p:nvCxnSpPr>
        <p:spPr>
          <a:xfrm>
            <a:off x="9340014" y="4970043"/>
            <a:ext cx="1442106" cy="0"/>
          </a:xfrm>
          <a:prstGeom prst="straightConnector1">
            <a:avLst/>
          </a:prstGeom>
          <a:noFill/>
          <a:ln w="28575" cap="rnd" cmpd="sng">
            <a:solidFill>
              <a:schemeClr val="dk1"/>
            </a:solidFill>
            <a:prstDash val="solid"/>
            <a:round/>
            <a:headEnd type="none" w="sm" len="sm"/>
            <a:tailEnd type="none" w="sm" len="sm"/>
          </a:ln>
        </p:spPr>
      </p:cxnSp>
      <p:cxnSp>
        <p:nvCxnSpPr>
          <p:cNvPr id="635" name="Google Shape;547;p29">
            <a:extLst>
              <a:ext uri="{FF2B5EF4-FFF2-40B4-BE49-F238E27FC236}">
                <a16:creationId xmlns:a16="http://schemas.microsoft.com/office/drawing/2014/main" id="{48AF6A08-936F-40D6-E016-3DF2386E3353}"/>
              </a:ext>
            </a:extLst>
          </p:cNvPr>
          <p:cNvCxnSpPr>
            <a:cxnSpLocks/>
          </p:cNvCxnSpPr>
          <p:nvPr/>
        </p:nvCxnSpPr>
        <p:spPr>
          <a:xfrm>
            <a:off x="6723783" y="4665394"/>
            <a:ext cx="2518569" cy="0"/>
          </a:xfrm>
          <a:prstGeom prst="straightConnector1">
            <a:avLst/>
          </a:prstGeom>
          <a:noFill/>
          <a:ln w="28575" cap="rnd" cmpd="sng">
            <a:solidFill>
              <a:schemeClr val="dk1"/>
            </a:solidFill>
            <a:prstDash val="solid"/>
            <a:round/>
            <a:headEnd type="none" w="sm" len="sm"/>
            <a:tailEnd type="none" w="sm" len="sm"/>
          </a:ln>
        </p:spPr>
      </p:cxnSp>
      <p:cxnSp>
        <p:nvCxnSpPr>
          <p:cNvPr id="636" name="Google Shape;548;p29">
            <a:extLst>
              <a:ext uri="{FF2B5EF4-FFF2-40B4-BE49-F238E27FC236}">
                <a16:creationId xmlns:a16="http://schemas.microsoft.com/office/drawing/2014/main" id="{D58E2789-6BC5-FBF2-ADFD-24B1E4937F86}"/>
              </a:ext>
            </a:extLst>
          </p:cNvPr>
          <p:cNvCxnSpPr>
            <a:cxnSpLocks/>
          </p:cNvCxnSpPr>
          <p:nvPr/>
        </p:nvCxnSpPr>
        <p:spPr>
          <a:xfrm>
            <a:off x="6725891" y="4970043"/>
            <a:ext cx="2518569" cy="0"/>
          </a:xfrm>
          <a:prstGeom prst="straightConnector1">
            <a:avLst/>
          </a:prstGeom>
          <a:noFill/>
          <a:ln w="28575" cap="rnd" cmpd="sng">
            <a:solidFill>
              <a:schemeClr val="dk1"/>
            </a:solidFill>
            <a:prstDash val="solid"/>
            <a:round/>
            <a:headEnd type="none" w="sm" len="sm"/>
            <a:tailEnd type="none" w="sm" len="sm"/>
          </a:ln>
        </p:spPr>
      </p:cxnSp>
      <p:sp>
        <p:nvSpPr>
          <p:cNvPr id="637" name="Google Shape;553;p29">
            <a:extLst>
              <a:ext uri="{FF2B5EF4-FFF2-40B4-BE49-F238E27FC236}">
                <a16:creationId xmlns:a16="http://schemas.microsoft.com/office/drawing/2014/main" id="{F2D981B8-0312-4C4E-8F86-89129E964EAB}"/>
              </a:ext>
            </a:extLst>
          </p:cNvPr>
          <p:cNvSpPr txBox="1"/>
          <p:nvPr/>
        </p:nvSpPr>
        <p:spPr>
          <a:xfrm>
            <a:off x="7440110" y="1540960"/>
            <a:ext cx="1145528"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0x104</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640" name="Google Shape;571;p29">
            <a:extLst>
              <a:ext uri="{FF2B5EF4-FFF2-40B4-BE49-F238E27FC236}">
                <a16:creationId xmlns:a16="http://schemas.microsoft.com/office/drawing/2014/main" id="{2E2EF0B5-231A-1920-592B-0BF07FAD2F62}"/>
              </a:ext>
            </a:extLst>
          </p:cNvPr>
          <p:cNvSpPr txBox="1"/>
          <p:nvPr/>
        </p:nvSpPr>
        <p:spPr>
          <a:xfrm>
            <a:off x="8170507" y="2510660"/>
            <a:ext cx="2552484"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add x6 x7 x9</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641" name="Google Shape;572;p29">
            <a:extLst>
              <a:ext uri="{FF2B5EF4-FFF2-40B4-BE49-F238E27FC236}">
                <a16:creationId xmlns:a16="http://schemas.microsoft.com/office/drawing/2014/main" id="{2718A750-F7A5-8093-F51B-93404CFE0E9B}"/>
              </a:ext>
            </a:extLst>
          </p:cNvPr>
          <p:cNvSpPr txBox="1"/>
          <p:nvPr/>
        </p:nvSpPr>
        <p:spPr>
          <a:xfrm>
            <a:off x="9317457" y="3554398"/>
            <a:ext cx="1464663"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R[7]</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647" name="Google Shape;535;p29">
            <a:extLst>
              <a:ext uri="{FF2B5EF4-FFF2-40B4-BE49-F238E27FC236}">
                <a16:creationId xmlns:a16="http://schemas.microsoft.com/office/drawing/2014/main" id="{75C49CE1-08D1-1C02-7E81-7EF4001D24A2}"/>
              </a:ext>
            </a:extLst>
          </p:cNvPr>
          <p:cNvCxnSpPr>
            <a:cxnSpLocks/>
          </p:cNvCxnSpPr>
          <p:nvPr/>
        </p:nvCxnSpPr>
        <p:spPr>
          <a:xfrm>
            <a:off x="9600255" y="5207606"/>
            <a:ext cx="1181865" cy="0"/>
          </a:xfrm>
          <a:prstGeom prst="straightConnector1">
            <a:avLst/>
          </a:prstGeom>
          <a:noFill/>
          <a:ln w="28575" cap="rnd" cmpd="sng">
            <a:solidFill>
              <a:schemeClr val="dk1"/>
            </a:solidFill>
            <a:prstDash val="solid"/>
            <a:round/>
            <a:headEnd type="none" w="sm" len="sm"/>
            <a:tailEnd type="none" w="sm" len="sm"/>
          </a:ln>
        </p:spPr>
      </p:cxnSp>
      <p:cxnSp>
        <p:nvCxnSpPr>
          <p:cNvPr id="648" name="Google Shape;536;p29">
            <a:extLst>
              <a:ext uri="{FF2B5EF4-FFF2-40B4-BE49-F238E27FC236}">
                <a16:creationId xmlns:a16="http://schemas.microsoft.com/office/drawing/2014/main" id="{C87D661C-0199-6DA0-6EA0-4527254AA057}"/>
              </a:ext>
            </a:extLst>
          </p:cNvPr>
          <p:cNvCxnSpPr>
            <a:cxnSpLocks/>
          </p:cNvCxnSpPr>
          <p:nvPr/>
        </p:nvCxnSpPr>
        <p:spPr>
          <a:xfrm>
            <a:off x="9600255" y="5512406"/>
            <a:ext cx="1181865" cy="0"/>
          </a:xfrm>
          <a:prstGeom prst="straightConnector1">
            <a:avLst/>
          </a:prstGeom>
          <a:noFill/>
          <a:ln w="28575" cap="rnd" cmpd="sng">
            <a:solidFill>
              <a:schemeClr val="dk1"/>
            </a:solidFill>
            <a:prstDash val="solid"/>
            <a:round/>
            <a:headEnd type="none" w="sm" len="sm"/>
            <a:tailEnd type="none" w="sm" len="sm"/>
          </a:ln>
        </p:spPr>
      </p:cxnSp>
      <p:cxnSp>
        <p:nvCxnSpPr>
          <p:cNvPr id="649" name="Google Shape;547;p29">
            <a:extLst>
              <a:ext uri="{FF2B5EF4-FFF2-40B4-BE49-F238E27FC236}">
                <a16:creationId xmlns:a16="http://schemas.microsoft.com/office/drawing/2014/main" id="{CECAFEF4-3D42-A8E2-099E-A9585797EA1F}"/>
              </a:ext>
            </a:extLst>
          </p:cNvPr>
          <p:cNvCxnSpPr>
            <a:cxnSpLocks/>
          </p:cNvCxnSpPr>
          <p:nvPr/>
        </p:nvCxnSpPr>
        <p:spPr>
          <a:xfrm>
            <a:off x="6732409" y="5207606"/>
            <a:ext cx="2772292" cy="0"/>
          </a:xfrm>
          <a:prstGeom prst="straightConnector1">
            <a:avLst/>
          </a:prstGeom>
          <a:noFill/>
          <a:ln w="28575" cap="rnd" cmpd="sng">
            <a:solidFill>
              <a:schemeClr val="dk1"/>
            </a:solidFill>
            <a:prstDash val="solid"/>
            <a:round/>
            <a:headEnd type="none" w="sm" len="sm"/>
            <a:tailEnd type="none" w="sm" len="sm"/>
          </a:ln>
        </p:spPr>
      </p:cxnSp>
      <p:cxnSp>
        <p:nvCxnSpPr>
          <p:cNvPr id="650" name="Google Shape;548;p29">
            <a:extLst>
              <a:ext uri="{FF2B5EF4-FFF2-40B4-BE49-F238E27FC236}">
                <a16:creationId xmlns:a16="http://schemas.microsoft.com/office/drawing/2014/main" id="{A108470E-CD7B-E8BA-0F7F-0CA8A5498934}"/>
              </a:ext>
            </a:extLst>
          </p:cNvPr>
          <p:cNvCxnSpPr>
            <a:cxnSpLocks/>
          </p:cNvCxnSpPr>
          <p:nvPr/>
        </p:nvCxnSpPr>
        <p:spPr>
          <a:xfrm>
            <a:off x="6732409" y="5512406"/>
            <a:ext cx="2772292" cy="0"/>
          </a:xfrm>
          <a:prstGeom prst="straightConnector1">
            <a:avLst/>
          </a:prstGeom>
          <a:noFill/>
          <a:ln w="28575" cap="rnd" cmpd="sng">
            <a:solidFill>
              <a:schemeClr val="dk1"/>
            </a:solidFill>
            <a:prstDash val="solid"/>
            <a:round/>
            <a:headEnd type="none" w="sm" len="sm"/>
            <a:tailEnd type="none" w="sm" len="sm"/>
          </a:ln>
        </p:spPr>
      </p:cxnSp>
      <p:cxnSp>
        <p:nvCxnSpPr>
          <p:cNvPr id="652" name="Google Shape;529;p29">
            <a:extLst>
              <a:ext uri="{FF2B5EF4-FFF2-40B4-BE49-F238E27FC236}">
                <a16:creationId xmlns:a16="http://schemas.microsoft.com/office/drawing/2014/main" id="{8AD2A652-CAC2-57EF-7C1F-C03EAD41CB1F}"/>
              </a:ext>
            </a:extLst>
          </p:cNvPr>
          <p:cNvCxnSpPr>
            <a:cxnSpLocks/>
          </p:cNvCxnSpPr>
          <p:nvPr/>
        </p:nvCxnSpPr>
        <p:spPr>
          <a:xfrm>
            <a:off x="8170507" y="3093934"/>
            <a:ext cx="2611613" cy="0"/>
          </a:xfrm>
          <a:prstGeom prst="straightConnector1">
            <a:avLst/>
          </a:prstGeom>
          <a:noFill/>
          <a:ln w="28575" cap="rnd" cmpd="sng">
            <a:solidFill>
              <a:schemeClr val="dk1"/>
            </a:solidFill>
            <a:prstDash val="solid"/>
            <a:round/>
            <a:headEnd type="none" w="sm" len="sm"/>
            <a:tailEnd type="none" w="sm" len="sm"/>
          </a:ln>
        </p:spPr>
      </p:cxnSp>
      <p:cxnSp>
        <p:nvCxnSpPr>
          <p:cNvPr id="653" name="Google Shape;530;p29">
            <a:extLst>
              <a:ext uri="{FF2B5EF4-FFF2-40B4-BE49-F238E27FC236}">
                <a16:creationId xmlns:a16="http://schemas.microsoft.com/office/drawing/2014/main" id="{8B54E7EC-CB1D-2904-24EE-4DE985515883}"/>
              </a:ext>
            </a:extLst>
          </p:cNvPr>
          <p:cNvCxnSpPr>
            <a:cxnSpLocks/>
          </p:cNvCxnSpPr>
          <p:nvPr/>
        </p:nvCxnSpPr>
        <p:spPr>
          <a:xfrm>
            <a:off x="8170507" y="3398732"/>
            <a:ext cx="2611613" cy="0"/>
          </a:xfrm>
          <a:prstGeom prst="straightConnector1">
            <a:avLst/>
          </a:prstGeom>
          <a:noFill/>
          <a:ln w="28575" cap="rnd" cmpd="sng">
            <a:solidFill>
              <a:schemeClr val="dk1"/>
            </a:solidFill>
            <a:prstDash val="solid"/>
            <a:round/>
            <a:headEnd type="none" w="sm" len="sm"/>
            <a:tailEnd type="none" w="sm" len="sm"/>
          </a:ln>
        </p:spPr>
      </p:cxnSp>
      <p:cxnSp>
        <p:nvCxnSpPr>
          <p:cNvPr id="654" name="Google Shape;533;p29">
            <a:extLst>
              <a:ext uri="{FF2B5EF4-FFF2-40B4-BE49-F238E27FC236}">
                <a16:creationId xmlns:a16="http://schemas.microsoft.com/office/drawing/2014/main" id="{19B6EECE-12AC-9C7D-6691-9CAEEF32FF9F}"/>
              </a:ext>
            </a:extLst>
          </p:cNvPr>
          <p:cNvCxnSpPr>
            <a:cxnSpLocks/>
          </p:cNvCxnSpPr>
          <p:nvPr/>
        </p:nvCxnSpPr>
        <p:spPr>
          <a:xfrm>
            <a:off x="6702066" y="3093934"/>
            <a:ext cx="1373456" cy="0"/>
          </a:xfrm>
          <a:prstGeom prst="straightConnector1">
            <a:avLst/>
          </a:prstGeom>
          <a:noFill/>
          <a:ln w="28575" cap="rnd" cmpd="sng">
            <a:solidFill>
              <a:schemeClr val="dk1"/>
            </a:solidFill>
            <a:prstDash val="solid"/>
            <a:round/>
            <a:headEnd type="none" w="sm" len="sm"/>
            <a:tailEnd type="none" w="sm" len="sm"/>
          </a:ln>
        </p:spPr>
      </p:cxnSp>
      <p:cxnSp>
        <p:nvCxnSpPr>
          <p:cNvPr id="655" name="Google Shape;534;p29">
            <a:extLst>
              <a:ext uri="{FF2B5EF4-FFF2-40B4-BE49-F238E27FC236}">
                <a16:creationId xmlns:a16="http://schemas.microsoft.com/office/drawing/2014/main" id="{9BFFEEFE-38F0-7E51-2887-8EE7B3285D16}"/>
              </a:ext>
            </a:extLst>
          </p:cNvPr>
          <p:cNvCxnSpPr>
            <a:cxnSpLocks/>
          </p:cNvCxnSpPr>
          <p:nvPr/>
        </p:nvCxnSpPr>
        <p:spPr>
          <a:xfrm>
            <a:off x="6710844" y="3398732"/>
            <a:ext cx="1364678" cy="0"/>
          </a:xfrm>
          <a:prstGeom prst="straightConnector1">
            <a:avLst/>
          </a:prstGeom>
          <a:noFill/>
          <a:ln w="28575" cap="rnd" cmpd="sng">
            <a:solidFill>
              <a:schemeClr val="dk1"/>
            </a:solidFill>
            <a:prstDash val="solid"/>
            <a:round/>
            <a:headEnd type="none" w="sm" len="sm"/>
            <a:tailEnd type="none" w="sm" len="sm"/>
          </a:ln>
        </p:spPr>
      </p:cxnSp>
      <p:sp>
        <p:nvSpPr>
          <p:cNvPr id="657" name="Google Shape;572;p29">
            <a:extLst>
              <a:ext uri="{FF2B5EF4-FFF2-40B4-BE49-F238E27FC236}">
                <a16:creationId xmlns:a16="http://schemas.microsoft.com/office/drawing/2014/main" id="{6647D49F-D1C3-81BD-8E2A-09236D56FA7A}"/>
              </a:ext>
            </a:extLst>
          </p:cNvPr>
          <p:cNvSpPr txBox="1"/>
          <p:nvPr/>
        </p:nvSpPr>
        <p:spPr>
          <a:xfrm>
            <a:off x="8781894" y="3011935"/>
            <a:ext cx="186152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a</a:t>
            </a:r>
            <a:r>
              <a:rPr lang="en" sz="2000" kern="0" dirty="0">
                <a:solidFill>
                  <a:srgbClr val="F2F2F2"/>
                </a:solidFill>
                <a:latin typeface="Consolas" panose="020B0609020204030204" pitchFamily="49" charset="0"/>
                <a:ea typeface="Inter"/>
                <a:cs typeface="Consolas" panose="020B0609020204030204" pitchFamily="49" charset="0"/>
                <a:sym typeface="Inter"/>
              </a:rPr>
              <a:t>dd</a:t>
            </a:r>
            <a:r>
              <a:rPr lang="en" sz="2000" kern="0" dirty="0">
                <a:solidFill>
                  <a:srgbClr val="F2F2F2"/>
                </a:solidFill>
                <a:latin typeface="Inter"/>
                <a:ea typeface="Inter"/>
                <a:cs typeface="Inter"/>
                <a:sym typeface="Inter"/>
              </a:rPr>
              <a:t> control</a:t>
            </a:r>
            <a:endParaRPr sz="2000" kern="0" dirty="0">
              <a:solidFill>
                <a:srgbClr val="F2F2F2"/>
              </a:solidFill>
              <a:latin typeface="Inter"/>
              <a:ea typeface="Inter"/>
              <a:cs typeface="Inter"/>
              <a:sym typeface="Inter"/>
            </a:endParaRPr>
          </a:p>
        </p:txBody>
      </p:sp>
      <p:cxnSp>
        <p:nvCxnSpPr>
          <p:cNvPr id="658" name="Straight Connector 657">
            <a:extLst>
              <a:ext uri="{FF2B5EF4-FFF2-40B4-BE49-F238E27FC236}">
                <a16:creationId xmlns:a16="http://schemas.microsoft.com/office/drawing/2014/main" id="{6698F701-FEF1-8089-51E7-5F18C083BB31}"/>
              </a:ext>
            </a:extLst>
          </p:cNvPr>
          <p:cNvCxnSpPr>
            <a:cxnSpLocks/>
          </p:cNvCxnSpPr>
          <p:nvPr/>
        </p:nvCxnSpPr>
        <p:spPr>
          <a:xfrm flipV="1">
            <a:off x="6803383" y="161341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Straight Connector 658">
            <a:extLst>
              <a:ext uri="{FF2B5EF4-FFF2-40B4-BE49-F238E27FC236}">
                <a16:creationId xmlns:a16="http://schemas.microsoft.com/office/drawing/2014/main" id="{4147D208-044B-38AF-3A37-A619FF3728A3}"/>
              </a:ext>
            </a:extLst>
          </p:cNvPr>
          <p:cNvCxnSpPr>
            <a:cxnSpLocks/>
          </p:cNvCxnSpPr>
          <p:nvPr/>
        </p:nvCxnSpPr>
        <p:spPr>
          <a:xfrm flipH="1" flipV="1">
            <a:off x="6803383" y="161341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Straight Connector 659">
            <a:extLst>
              <a:ext uri="{FF2B5EF4-FFF2-40B4-BE49-F238E27FC236}">
                <a16:creationId xmlns:a16="http://schemas.microsoft.com/office/drawing/2014/main" id="{646A08DA-E47E-3D51-7B31-26D38FD07FBB}"/>
              </a:ext>
            </a:extLst>
          </p:cNvPr>
          <p:cNvCxnSpPr>
            <a:cxnSpLocks/>
          </p:cNvCxnSpPr>
          <p:nvPr/>
        </p:nvCxnSpPr>
        <p:spPr>
          <a:xfrm flipV="1">
            <a:off x="7447081" y="2574509"/>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1" name="Straight Connector 660">
            <a:extLst>
              <a:ext uri="{FF2B5EF4-FFF2-40B4-BE49-F238E27FC236}">
                <a16:creationId xmlns:a16="http://schemas.microsoft.com/office/drawing/2014/main" id="{CF5FEC6E-FEE9-FB42-5C6F-F4E5D0400EA0}"/>
              </a:ext>
            </a:extLst>
          </p:cNvPr>
          <p:cNvCxnSpPr>
            <a:cxnSpLocks/>
          </p:cNvCxnSpPr>
          <p:nvPr/>
        </p:nvCxnSpPr>
        <p:spPr>
          <a:xfrm flipH="1" flipV="1">
            <a:off x="7447081" y="2574509"/>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2" name="Straight Connector 661">
            <a:extLst>
              <a:ext uri="{FF2B5EF4-FFF2-40B4-BE49-F238E27FC236}">
                <a16:creationId xmlns:a16="http://schemas.microsoft.com/office/drawing/2014/main" id="{581EA12D-8722-00A6-897A-DBF520F9D2E6}"/>
              </a:ext>
            </a:extLst>
          </p:cNvPr>
          <p:cNvCxnSpPr>
            <a:cxnSpLocks/>
          </p:cNvCxnSpPr>
          <p:nvPr/>
        </p:nvCxnSpPr>
        <p:spPr>
          <a:xfrm flipV="1">
            <a:off x="8078861" y="309478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3" name="Straight Connector 662">
            <a:extLst>
              <a:ext uri="{FF2B5EF4-FFF2-40B4-BE49-F238E27FC236}">
                <a16:creationId xmlns:a16="http://schemas.microsoft.com/office/drawing/2014/main" id="{F5A910BB-58C7-F9E4-BB59-67A519903DDC}"/>
              </a:ext>
            </a:extLst>
          </p:cNvPr>
          <p:cNvCxnSpPr>
            <a:cxnSpLocks/>
          </p:cNvCxnSpPr>
          <p:nvPr/>
        </p:nvCxnSpPr>
        <p:spPr>
          <a:xfrm flipH="1" flipV="1">
            <a:off x="8078861" y="309478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4" name="Straight Connector 663">
            <a:extLst>
              <a:ext uri="{FF2B5EF4-FFF2-40B4-BE49-F238E27FC236}">
                <a16:creationId xmlns:a16="http://schemas.microsoft.com/office/drawing/2014/main" id="{4ECEA9B5-F39D-6058-CF04-FE1D9BD3E2EA}"/>
              </a:ext>
            </a:extLst>
          </p:cNvPr>
          <p:cNvCxnSpPr>
            <a:cxnSpLocks/>
          </p:cNvCxnSpPr>
          <p:nvPr/>
        </p:nvCxnSpPr>
        <p:spPr>
          <a:xfrm flipV="1">
            <a:off x="8320145" y="3644404"/>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5" name="Straight Connector 664">
            <a:extLst>
              <a:ext uri="{FF2B5EF4-FFF2-40B4-BE49-F238E27FC236}">
                <a16:creationId xmlns:a16="http://schemas.microsoft.com/office/drawing/2014/main" id="{ADA9375B-AE9B-A070-1711-68BAA3B50848}"/>
              </a:ext>
            </a:extLst>
          </p:cNvPr>
          <p:cNvCxnSpPr>
            <a:cxnSpLocks/>
          </p:cNvCxnSpPr>
          <p:nvPr/>
        </p:nvCxnSpPr>
        <p:spPr>
          <a:xfrm flipH="1" flipV="1">
            <a:off x="8320145" y="3644404"/>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6" name="Straight Connector 665">
            <a:extLst>
              <a:ext uri="{FF2B5EF4-FFF2-40B4-BE49-F238E27FC236}">
                <a16:creationId xmlns:a16="http://schemas.microsoft.com/office/drawing/2014/main" id="{2068557D-4534-2494-CFEE-DDE6A1F96246}"/>
              </a:ext>
            </a:extLst>
          </p:cNvPr>
          <p:cNvCxnSpPr>
            <a:cxnSpLocks/>
          </p:cNvCxnSpPr>
          <p:nvPr/>
        </p:nvCxnSpPr>
        <p:spPr>
          <a:xfrm flipV="1">
            <a:off x="9244460" y="466473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7" name="Straight Connector 666">
            <a:extLst>
              <a:ext uri="{FF2B5EF4-FFF2-40B4-BE49-F238E27FC236}">
                <a16:creationId xmlns:a16="http://schemas.microsoft.com/office/drawing/2014/main" id="{9B1E2109-7C99-9B63-95A1-23FDC5A9C0B6}"/>
              </a:ext>
            </a:extLst>
          </p:cNvPr>
          <p:cNvCxnSpPr>
            <a:cxnSpLocks/>
          </p:cNvCxnSpPr>
          <p:nvPr/>
        </p:nvCxnSpPr>
        <p:spPr>
          <a:xfrm flipH="1" flipV="1">
            <a:off x="9244460" y="466473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8" name="Straight Connector 667">
            <a:extLst>
              <a:ext uri="{FF2B5EF4-FFF2-40B4-BE49-F238E27FC236}">
                <a16:creationId xmlns:a16="http://schemas.microsoft.com/office/drawing/2014/main" id="{D0E4E23D-C6A0-F431-723C-3AE9BB723BB3}"/>
              </a:ext>
            </a:extLst>
          </p:cNvPr>
          <p:cNvCxnSpPr>
            <a:cxnSpLocks/>
          </p:cNvCxnSpPr>
          <p:nvPr/>
        </p:nvCxnSpPr>
        <p:spPr>
          <a:xfrm flipV="1">
            <a:off x="9504701" y="520731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9" name="Straight Connector 668">
            <a:extLst>
              <a:ext uri="{FF2B5EF4-FFF2-40B4-BE49-F238E27FC236}">
                <a16:creationId xmlns:a16="http://schemas.microsoft.com/office/drawing/2014/main" id="{B4D6DF7C-F550-0CD6-88D6-9F453CEF1A1D}"/>
              </a:ext>
            </a:extLst>
          </p:cNvPr>
          <p:cNvCxnSpPr>
            <a:cxnSpLocks/>
          </p:cNvCxnSpPr>
          <p:nvPr/>
        </p:nvCxnSpPr>
        <p:spPr>
          <a:xfrm flipH="1" flipV="1">
            <a:off x="9504701" y="520731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01" name="Google Shape;539;p29">
            <a:extLst>
              <a:ext uri="{FF2B5EF4-FFF2-40B4-BE49-F238E27FC236}">
                <a16:creationId xmlns:a16="http://schemas.microsoft.com/office/drawing/2014/main" id="{1673F3A9-5777-0AA2-D124-64E6BD628E00}"/>
              </a:ext>
            </a:extLst>
          </p:cNvPr>
          <p:cNvSpPr txBox="1"/>
          <p:nvPr/>
        </p:nvSpPr>
        <p:spPr>
          <a:xfrm>
            <a:off x="539538" y="5609877"/>
            <a:ext cx="1127215"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Consolas" panose="020B0609020204030204" pitchFamily="49" charset="0"/>
                <a:ea typeface="Inter"/>
                <a:cs typeface="Consolas" panose="020B0609020204030204" pitchFamily="49" charset="0"/>
                <a:sym typeface="Inter"/>
              </a:rPr>
              <a:t>R[1]</a:t>
            </a:r>
            <a:endParaRPr sz="1867"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702" name="Google Shape;510;p29">
            <a:extLst>
              <a:ext uri="{FF2B5EF4-FFF2-40B4-BE49-F238E27FC236}">
                <a16:creationId xmlns:a16="http://schemas.microsoft.com/office/drawing/2014/main" id="{56276D5B-81F1-766A-2487-62F1F2F6A0C7}"/>
              </a:ext>
            </a:extLst>
          </p:cNvPr>
          <p:cNvCxnSpPr>
            <a:cxnSpLocks/>
          </p:cNvCxnSpPr>
          <p:nvPr/>
        </p:nvCxnSpPr>
        <p:spPr>
          <a:xfrm>
            <a:off x="2718389" y="5749290"/>
            <a:ext cx="4076786" cy="0"/>
          </a:xfrm>
          <a:prstGeom prst="straightConnector1">
            <a:avLst/>
          </a:prstGeom>
          <a:noFill/>
          <a:ln w="28575" cap="rnd" cmpd="sng">
            <a:solidFill>
              <a:schemeClr val="dk1"/>
            </a:solidFill>
            <a:prstDash val="solid"/>
            <a:round/>
            <a:headEnd type="none" w="sm" len="sm"/>
            <a:tailEnd type="none" w="sm" len="sm"/>
          </a:ln>
        </p:spPr>
      </p:cxnSp>
      <p:cxnSp>
        <p:nvCxnSpPr>
          <p:cNvPr id="703" name="Google Shape;511;p29">
            <a:extLst>
              <a:ext uri="{FF2B5EF4-FFF2-40B4-BE49-F238E27FC236}">
                <a16:creationId xmlns:a16="http://schemas.microsoft.com/office/drawing/2014/main" id="{DE56CED8-234B-91DE-EA10-C2C3A8FE1E34}"/>
              </a:ext>
            </a:extLst>
          </p:cNvPr>
          <p:cNvCxnSpPr>
            <a:cxnSpLocks/>
          </p:cNvCxnSpPr>
          <p:nvPr/>
        </p:nvCxnSpPr>
        <p:spPr>
          <a:xfrm>
            <a:off x="2718389" y="6054090"/>
            <a:ext cx="4076786" cy="0"/>
          </a:xfrm>
          <a:prstGeom prst="straightConnector1">
            <a:avLst/>
          </a:prstGeom>
          <a:noFill/>
          <a:ln w="28575" cap="rnd" cmpd="sng">
            <a:solidFill>
              <a:schemeClr val="dk1"/>
            </a:solidFill>
            <a:prstDash val="solid"/>
            <a:round/>
            <a:headEnd type="none" w="sm" len="sm"/>
            <a:tailEnd type="none" w="sm" len="sm"/>
          </a:ln>
        </p:spPr>
      </p:cxnSp>
      <p:sp>
        <p:nvSpPr>
          <p:cNvPr id="706" name="Google Shape;553;p29">
            <a:extLst>
              <a:ext uri="{FF2B5EF4-FFF2-40B4-BE49-F238E27FC236}">
                <a16:creationId xmlns:a16="http://schemas.microsoft.com/office/drawing/2014/main" id="{005FE911-15B6-BDBF-00E7-23974470B03A}"/>
              </a:ext>
            </a:extLst>
          </p:cNvPr>
          <p:cNvSpPr txBox="1"/>
          <p:nvPr/>
        </p:nvSpPr>
        <p:spPr>
          <a:xfrm>
            <a:off x="3419497" y="5711487"/>
            <a:ext cx="1145528"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Inter"/>
                <a:ea typeface="Inter"/>
                <a:cs typeface="Inter"/>
                <a:sym typeface="Inter"/>
              </a:rPr>
              <a:t>?</a:t>
            </a:r>
          </a:p>
        </p:txBody>
      </p:sp>
      <p:cxnSp>
        <p:nvCxnSpPr>
          <p:cNvPr id="710" name="Google Shape;510;p29">
            <a:extLst>
              <a:ext uri="{FF2B5EF4-FFF2-40B4-BE49-F238E27FC236}">
                <a16:creationId xmlns:a16="http://schemas.microsoft.com/office/drawing/2014/main" id="{480FF374-1352-F11B-CBA5-718C46ABF559}"/>
              </a:ext>
            </a:extLst>
          </p:cNvPr>
          <p:cNvCxnSpPr>
            <a:cxnSpLocks/>
          </p:cNvCxnSpPr>
          <p:nvPr/>
        </p:nvCxnSpPr>
        <p:spPr>
          <a:xfrm>
            <a:off x="6898937" y="5749290"/>
            <a:ext cx="3876590" cy="0"/>
          </a:xfrm>
          <a:prstGeom prst="straightConnector1">
            <a:avLst/>
          </a:prstGeom>
          <a:noFill/>
          <a:ln w="28575" cap="rnd" cmpd="sng">
            <a:solidFill>
              <a:schemeClr val="dk1"/>
            </a:solidFill>
            <a:prstDash val="solid"/>
            <a:round/>
            <a:headEnd type="none" w="sm" len="sm"/>
            <a:tailEnd type="none" w="sm" len="sm"/>
          </a:ln>
        </p:spPr>
      </p:cxnSp>
      <p:cxnSp>
        <p:nvCxnSpPr>
          <p:cNvPr id="711" name="Google Shape;511;p29">
            <a:extLst>
              <a:ext uri="{FF2B5EF4-FFF2-40B4-BE49-F238E27FC236}">
                <a16:creationId xmlns:a16="http://schemas.microsoft.com/office/drawing/2014/main" id="{C13B394A-A915-131A-3CC2-2A6AE2DA4AE8}"/>
              </a:ext>
            </a:extLst>
          </p:cNvPr>
          <p:cNvCxnSpPr>
            <a:cxnSpLocks/>
          </p:cNvCxnSpPr>
          <p:nvPr/>
        </p:nvCxnSpPr>
        <p:spPr>
          <a:xfrm>
            <a:off x="6898937" y="6054090"/>
            <a:ext cx="3876590" cy="0"/>
          </a:xfrm>
          <a:prstGeom prst="straightConnector1">
            <a:avLst/>
          </a:prstGeom>
          <a:noFill/>
          <a:ln w="28575" cap="rnd" cmpd="sng">
            <a:solidFill>
              <a:schemeClr val="dk1"/>
            </a:solidFill>
            <a:prstDash val="solid"/>
            <a:round/>
            <a:headEnd type="none" w="sm" len="sm"/>
            <a:tailEnd type="none" w="sm" len="sm"/>
          </a:ln>
        </p:spPr>
      </p:cxnSp>
      <p:cxnSp>
        <p:nvCxnSpPr>
          <p:cNvPr id="713" name="Straight Connector 712">
            <a:extLst>
              <a:ext uri="{FF2B5EF4-FFF2-40B4-BE49-F238E27FC236}">
                <a16:creationId xmlns:a16="http://schemas.microsoft.com/office/drawing/2014/main" id="{4899AA64-ABB9-622E-A763-36AECED4B785}"/>
              </a:ext>
            </a:extLst>
          </p:cNvPr>
          <p:cNvCxnSpPr>
            <a:cxnSpLocks/>
          </p:cNvCxnSpPr>
          <p:nvPr/>
        </p:nvCxnSpPr>
        <p:spPr>
          <a:xfrm flipV="1">
            <a:off x="6796790" y="575204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Straight Connector 713">
            <a:extLst>
              <a:ext uri="{FF2B5EF4-FFF2-40B4-BE49-F238E27FC236}">
                <a16:creationId xmlns:a16="http://schemas.microsoft.com/office/drawing/2014/main" id="{DBEA098B-3CA9-722C-2132-748172EBF077}"/>
              </a:ext>
            </a:extLst>
          </p:cNvPr>
          <p:cNvCxnSpPr>
            <a:cxnSpLocks/>
          </p:cNvCxnSpPr>
          <p:nvPr/>
        </p:nvCxnSpPr>
        <p:spPr>
          <a:xfrm flipH="1" flipV="1">
            <a:off x="6796790" y="5752045"/>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5" name="Google Shape;529;p29">
            <a:extLst>
              <a:ext uri="{FF2B5EF4-FFF2-40B4-BE49-F238E27FC236}">
                <a16:creationId xmlns:a16="http://schemas.microsoft.com/office/drawing/2014/main" id="{97C2F505-09BE-C4AC-98E3-70C4054C8A7A}"/>
              </a:ext>
            </a:extLst>
          </p:cNvPr>
          <p:cNvCxnSpPr>
            <a:cxnSpLocks/>
          </p:cNvCxnSpPr>
          <p:nvPr/>
        </p:nvCxnSpPr>
        <p:spPr>
          <a:xfrm>
            <a:off x="4405224" y="4151056"/>
            <a:ext cx="2366421" cy="0"/>
          </a:xfrm>
          <a:prstGeom prst="straightConnector1">
            <a:avLst/>
          </a:prstGeom>
          <a:noFill/>
          <a:ln w="28575" cap="rnd" cmpd="sng">
            <a:solidFill>
              <a:schemeClr val="dk1"/>
            </a:solidFill>
            <a:prstDash val="solid"/>
            <a:round/>
            <a:headEnd type="none" w="sm" len="sm"/>
            <a:tailEnd type="none" w="sm" len="sm"/>
          </a:ln>
        </p:spPr>
      </p:cxnSp>
      <p:cxnSp>
        <p:nvCxnSpPr>
          <p:cNvPr id="736" name="Google Shape;530;p29">
            <a:extLst>
              <a:ext uri="{FF2B5EF4-FFF2-40B4-BE49-F238E27FC236}">
                <a16:creationId xmlns:a16="http://schemas.microsoft.com/office/drawing/2014/main" id="{645C27AD-586F-4A28-1696-DAC19771D78F}"/>
              </a:ext>
            </a:extLst>
          </p:cNvPr>
          <p:cNvCxnSpPr>
            <a:cxnSpLocks/>
          </p:cNvCxnSpPr>
          <p:nvPr/>
        </p:nvCxnSpPr>
        <p:spPr>
          <a:xfrm>
            <a:off x="4405224" y="4460169"/>
            <a:ext cx="2366421" cy="0"/>
          </a:xfrm>
          <a:prstGeom prst="straightConnector1">
            <a:avLst/>
          </a:prstGeom>
          <a:noFill/>
          <a:ln w="28575" cap="rnd" cmpd="sng">
            <a:solidFill>
              <a:schemeClr val="dk1"/>
            </a:solidFill>
            <a:prstDash val="solid"/>
            <a:round/>
            <a:headEnd type="none" w="sm" len="sm"/>
            <a:tailEnd type="none" w="sm" len="sm"/>
          </a:ln>
        </p:spPr>
      </p:cxnSp>
      <p:cxnSp>
        <p:nvCxnSpPr>
          <p:cNvPr id="737" name="Google Shape;533;p29">
            <a:extLst>
              <a:ext uri="{FF2B5EF4-FFF2-40B4-BE49-F238E27FC236}">
                <a16:creationId xmlns:a16="http://schemas.microsoft.com/office/drawing/2014/main" id="{EA9FECE8-9FF1-8686-1575-E4290C2FBCD3}"/>
              </a:ext>
            </a:extLst>
          </p:cNvPr>
          <p:cNvCxnSpPr>
            <a:cxnSpLocks/>
          </p:cNvCxnSpPr>
          <p:nvPr/>
        </p:nvCxnSpPr>
        <p:spPr>
          <a:xfrm>
            <a:off x="2721934" y="4151056"/>
            <a:ext cx="1587736" cy="0"/>
          </a:xfrm>
          <a:prstGeom prst="straightConnector1">
            <a:avLst/>
          </a:prstGeom>
          <a:noFill/>
          <a:ln w="28575" cap="rnd" cmpd="sng">
            <a:solidFill>
              <a:schemeClr val="dk1"/>
            </a:solidFill>
            <a:prstDash val="solid"/>
            <a:round/>
            <a:headEnd type="none" w="sm" len="sm"/>
            <a:tailEnd type="none" w="sm" len="sm"/>
          </a:ln>
        </p:spPr>
      </p:cxnSp>
      <p:cxnSp>
        <p:nvCxnSpPr>
          <p:cNvPr id="738" name="Google Shape;534;p29">
            <a:extLst>
              <a:ext uri="{FF2B5EF4-FFF2-40B4-BE49-F238E27FC236}">
                <a16:creationId xmlns:a16="http://schemas.microsoft.com/office/drawing/2014/main" id="{F6A044E4-7C18-556A-83A5-58410744BAF9}"/>
              </a:ext>
            </a:extLst>
          </p:cNvPr>
          <p:cNvCxnSpPr>
            <a:cxnSpLocks/>
          </p:cNvCxnSpPr>
          <p:nvPr/>
        </p:nvCxnSpPr>
        <p:spPr>
          <a:xfrm>
            <a:off x="2721934" y="4460169"/>
            <a:ext cx="1587736" cy="0"/>
          </a:xfrm>
          <a:prstGeom prst="straightConnector1">
            <a:avLst/>
          </a:prstGeom>
          <a:noFill/>
          <a:ln w="28575" cap="rnd" cmpd="sng">
            <a:solidFill>
              <a:schemeClr val="dk1"/>
            </a:solidFill>
            <a:prstDash val="solid"/>
            <a:round/>
            <a:headEnd type="none" w="sm" len="sm"/>
            <a:tailEnd type="none" w="sm" len="sm"/>
          </a:ln>
        </p:spPr>
      </p:cxnSp>
      <p:sp>
        <p:nvSpPr>
          <p:cNvPr id="739" name="Google Shape;568;p29">
            <a:extLst>
              <a:ext uri="{FF2B5EF4-FFF2-40B4-BE49-F238E27FC236}">
                <a16:creationId xmlns:a16="http://schemas.microsoft.com/office/drawing/2014/main" id="{ED510E66-201A-1996-4A08-0FE542899EC8}"/>
              </a:ext>
            </a:extLst>
          </p:cNvPr>
          <p:cNvSpPr txBox="1"/>
          <p:nvPr/>
        </p:nvSpPr>
        <p:spPr>
          <a:xfrm>
            <a:off x="2721934" y="4118470"/>
            <a:ext cx="640080" cy="430833"/>
          </a:xfrm>
          <a:prstGeom prst="rect">
            <a:avLst/>
          </a:prstGeom>
          <a:noFill/>
          <a:ln>
            <a:noFill/>
          </a:ln>
        </p:spPr>
        <p:txBody>
          <a:bodyPr spcFirstLastPara="1" wrap="square" lIns="121900" tIns="60933" rIns="121900" bIns="60933" anchor="t" anchorCtr="0">
            <a:spAutoFit/>
          </a:bodyPr>
          <a:lstStyle/>
          <a:p>
            <a:pPr algn="r" defTabSz="1219170">
              <a:buClr>
                <a:srgbClr val="000000"/>
              </a:buClr>
            </a:pPr>
            <a:r>
              <a:rPr lang="en" sz="2000" kern="0" dirty="0">
                <a:solidFill>
                  <a:srgbClr val="F2F2F2"/>
                </a:solidFill>
                <a:latin typeface="Inter"/>
                <a:ea typeface="Inter"/>
                <a:cs typeface="Inter"/>
                <a:sym typeface="Inter"/>
              </a:rPr>
              <a:t>?</a:t>
            </a:r>
          </a:p>
        </p:txBody>
      </p:sp>
      <p:sp>
        <p:nvSpPr>
          <p:cNvPr id="740" name="Google Shape;572;p29">
            <a:extLst>
              <a:ext uri="{FF2B5EF4-FFF2-40B4-BE49-F238E27FC236}">
                <a16:creationId xmlns:a16="http://schemas.microsoft.com/office/drawing/2014/main" id="{0B054DF1-D299-064B-1499-076CB7F522F3}"/>
              </a:ext>
            </a:extLst>
          </p:cNvPr>
          <p:cNvSpPr txBox="1"/>
          <p:nvPr/>
        </p:nvSpPr>
        <p:spPr>
          <a:xfrm>
            <a:off x="5306982" y="4068306"/>
            <a:ext cx="1464663"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R[3]</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741" name="Straight Connector 740">
            <a:extLst>
              <a:ext uri="{FF2B5EF4-FFF2-40B4-BE49-F238E27FC236}">
                <a16:creationId xmlns:a16="http://schemas.microsoft.com/office/drawing/2014/main" id="{022F8251-3011-9816-3DD1-4A5080657938}"/>
              </a:ext>
            </a:extLst>
          </p:cNvPr>
          <p:cNvCxnSpPr>
            <a:cxnSpLocks/>
          </p:cNvCxnSpPr>
          <p:nvPr/>
        </p:nvCxnSpPr>
        <p:spPr>
          <a:xfrm flipV="1">
            <a:off x="4309670" y="415831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2" name="Straight Connector 741">
            <a:extLst>
              <a:ext uri="{FF2B5EF4-FFF2-40B4-BE49-F238E27FC236}">
                <a16:creationId xmlns:a16="http://schemas.microsoft.com/office/drawing/2014/main" id="{CB17D3A6-9B54-08EC-614F-E298D0A1B735}"/>
              </a:ext>
            </a:extLst>
          </p:cNvPr>
          <p:cNvCxnSpPr>
            <a:cxnSpLocks/>
          </p:cNvCxnSpPr>
          <p:nvPr/>
        </p:nvCxnSpPr>
        <p:spPr>
          <a:xfrm flipH="1" flipV="1">
            <a:off x="4309670" y="415831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3" name="Google Shape;529;p29">
            <a:extLst>
              <a:ext uri="{FF2B5EF4-FFF2-40B4-BE49-F238E27FC236}">
                <a16:creationId xmlns:a16="http://schemas.microsoft.com/office/drawing/2014/main" id="{35A34683-BBB9-244E-DB8E-D033747AC1FB}"/>
              </a:ext>
            </a:extLst>
          </p:cNvPr>
          <p:cNvCxnSpPr>
            <a:cxnSpLocks/>
          </p:cNvCxnSpPr>
          <p:nvPr/>
        </p:nvCxnSpPr>
        <p:spPr>
          <a:xfrm>
            <a:off x="8419244" y="4151056"/>
            <a:ext cx="2366421" cy="0"/>
          </a:xfrm>
          <a:prstGeom prst="straightConnector1">
            <a:avLst/>
          </a:prstGeom>
          <a:noFill/>
          <a:ln w="28575" cap="rnd" cmpd="sng">
            <a:solidFill>
              <a:schemeClr val="dk1"/>
            </a:solidFill>
            <a:prstDash val="solid"/>
            <a:round/>
            <a:headEnd type="none" w="sm" len="sm"/>
            <a:tailEnd type="none" w="sm" len="sm"/>
          </a:ln>
        </p:spPr>
      </p:cxnSp>
      <p:cxnSp>
        <p:nvCxnSpPr>
          <p:cNvPr id="744" name="Google Shape;530;p29">
            <a:extLst>
              <a:ext uri="{FF2B5EF4-FFF2-40B4-BE49-F238E27FC236}">
                <a16:creationId xmlns:a16="http://schemas.microsoft.com/office/drawing/2014/main" id="{FA16365F-0300-A28C-8F7D-B8883507BA91}"/>
              </a:ext>
            </a:extLst>
          </p:cNvPr>
          <p:cNvCxnSpPr>
            <a:cxnSpLocks/>
          </p:cNvCxnSpPr>
          <p:nvPr/>
        </p:nvCxnSpPr>
        <p:spPr>
          <a:xfrm>
            <a:off x="8419244" y="4460169"/>
            <a:ext cx="2366421" cy="0"/>
          </a:xfrm>
          <a:prstGeom prst="straightConnector1">
            <a:avLst/>
          </a:prstGeom>
          <a:noFill/>
          <a:ln w="28575" cap="rnd" cmpd="sng">
            <a:solidFill>
              <a:schemeClr val="dk1"/>
            </a:solidFill>
            <a:prstDash val="solid"/>
            <a:round/>
            <a:headEnd type="none" w="sm" len="sm"/>
            <a:tailEnd type="none" w="sm" len="sm"/>
          </a:ln>
        </p:spPr>
      </p:cxnSp>
      <p:cxnSp>
        <p:nvCxnSpPr>
          <p:cNvPr id="745" name="Google Shape;533;p29">
            <a:extLst>
              <a:ext uri="{FF2B5EF4-FFF2-40B4-BE49-F238E27FC236}">
                <a16:creationId xmlns:a16="http://schemas.microsoft.com/office/drawing/2014/main" id="{49EA2953-C894-6DA6-549B-64A04EC6A0EB}"/>
              </a:ext>
            </a:extLst>
          </p:cNvPr>
          <p:cNvCxnSpPr>
            <a:cxnSpLocks/>
          </p:cNvCxnSpPr>
          <p:nvPr/>
        </p:nvCxnSpPr>
        <p:spPr>
          <a:xfrm>
            <a:off x="6735954" y="4151056"/>
            <a:ext cx="1587736" cy="0"/>
          </a:xfrm>
          <a:prstGeom prst="straightConnector1">
            <a:avLst/>
          </a:prstGeom>
          <a:noFill/>
          <a:ln w="28575" cap="rnd" cmpd="sng">
            <a:solidFill>
              <a:schemeClr val="dk1"/>
            </a:solidFill>
            <a:prstDash val="solid"/>
            <a:round/>
            <a:headEnd type="none" w="sm" len="sm"/>
            <a:tailEnd type="none" w="sm" len="sm"/>
          </a:ln>
        </p:spPr>
      </p:cxnSp>
      <p:cxnSp>
        <p:nvCxnSpPr>
          <p:cNvPr id="746" name="Google Shape;534;p29">
            <a:extLst>
              <a:ext uri="{FF2B5EF4-FFF2-40B4-BE49-F238E27FC236}">
                <a16:creationId xmlns:a16="http://schemas.microsoft.com/office/drawing/2014/main" id="{9FB4A653-3398-619C-3402-E992691592C9}"/>
              </a:ext>
            </a:extLst>
          </p:cNvPr>
          <p:cNvCxnSpPr>
            <a:cxnSpLocks/>
          </p:cNvCxnSpPr>
          <p:nvPr/>
        </p:nvCxnSpPr>
        <p:spPr>
          <a:xfrm>
            <a:off x="6735954" y="4460169"/>
            <a:ext cx="1587736" cy="0"/>
          </a:xfrm>
          <a:prstGeom prst="straightConnector1">
            <a:avLst/>
          </a:prstGeom>
          <a:noFill/>
          <a:ln w="28575" cap="rnd" cmpd="sng">
            <a:solidFill>
              <a:schemeClr val="dk1"/>
            </a:solidFill>
            <a:prstDash val="solid"/>
            <a:round/>
            <a:headEnd type="none" w="sm" len="sm"/>
            <a:tailEnd type="none" w="sm" len="sm"/>
          </a:ln>
        </p:spPr>
      </p:cxnSp>
      <p:sp>
        <p:nvSpPr>
          <p:cNvPr id="747" name="Google Shape;572;p29">
            <a:extLst>
              <a:ext uri="{FF2B5EF4-FFF2-40B4-BE49-F238E27FC236}">
                <a16:creationId xmlns:a16="http://schemas.microsoft.com/office/drawing/2014/main" id="{76EFBF87-DD0A-D6DD-2805-9838777622F1}"/>
              </a:ext>
            </a:extLst>
          </p:cNvPr>
          <p:cNvSpPr txBox="1"/>
          <p:nvPr/>
        </p:nvSpPr>
        <p:spPr>
          <a:xfrm>
            <a:off x="9321002" y="4068306"/>
            <a:ext cx="1464663"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R[9]</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748" name="Straight Connector 747">
            <a:extLst>
              <a:ext uri="{FF2B5EF4-FFF2-40B4-BE49-F238E27FC236}">
                <a16:creationId xmlns:a16="http://schemas.microsoft.com/office/drawing/2014/main" id="{AA8E58CC-2F73-F292-A664-8DF2914B9D19}"/>
              </a:ext>
            </a:extLst>
          </p:cNvPr>
          <p:cNvCxnSpPr>
            <a:cxnSpLocks/>
          </p:cNvCxnSpPr>
          <p:nvPr/>
        </p:nvCxnSpPr>
        <p:spPr>
          <a:xfrm flipV="1">
            <a:off x="8323690" y="415831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9" name="Straight Connector 748">
            <a:extLst>
              <a:ext uri="{FF2B5EF4-FFF2-40B4-BE49-F238E27FC236}">
                <a16:creationId xmlns:a16="http://schemas.microsoft.com/office/drawing/2014/main" id="{36F9B322-A2F1-46BA-50D2-4E688AC7A698}"/>
              </a:ext>
            </a:extLst>
          </p:cNvPr>
          <p:cNvCxnSpPr>
            <a:cxnSpLocks/>
          </p:cNvCxnSpPr>
          <p:nvPr/>
        </p:nvCxnSpPr>
        <p:spPr>
          <a:xfrm flipH="1" flipV="1">
            <a:off x="8323690" y="415831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750" name="Google Shape;573;p29">
            <a:extLst>
              <a:ext uri="{FF2B5EF4-FFF2-40B4-BE49-F238E27FC236}">
                <a16:creationId xmlns:a16="http://schemas.microsoft.com/office/drawing/2014/main" id="{384F60B7-AAF3-8933-0920-361701A76002}"/>
              </a:ext>
            </a:extLst>
          </p:cNvPr>
          <p:cNvSpPr txBox="1"/>
          <p:nvPr/>
        </p:nvSpPr>
        <p:spPr>
          <a:xfrm>
            <a:off x="9317843" y="4587483"/>
            <a:ext cx="260613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R[7] + R[9]</a:t>
            </a:r>
            <a:endParaRPr lang="en-US" sz="1800" kern="0" dirty="0">
              <a:solidFill>
                <a:srgbClr val="F2F2F2"/>
              </a:solidFill>
              <a:latin typeface="Consolas" panose="020B0609020204030204" pitchFamily="49" charset="0"/>
              <a:ea typeface="Inter"/>
              <a:cs typeface="Consolas" panose="020B0609020204030204" pitchFamily="49" charset="0"/>
              <a:sym typeface="Inter"/>
            </a:endParaRPr>
          </a:p>
        </p:txBody>
      </p:sp>
      <p:sp>
        <p:nvSpPr>
          <p:cNvPr id="752" name="Google Shape;573;p29">
            <a:extLst>
              <a:ext uri="{FF2B5EF4-FFF2-40B4-BE49-F238E27FC236}">
                <a16:creationId xmlns:a16="http://schemas.microsoft.com/office/drawing/2014/main" id="{750B7F1B-B9C7-C80C-8B2D-818C93195F35}"/>
              </a:ext>
            </a:extLst>
          </p:cNvPr>
          <p:cNvSpPr txBox="1"/>
          <p:nvPr/>
        </p:nvSpPr>
        <p:spPr>
          <a:xfrm>
            <a:off x="6326800" y="5134910"/>
            <a:ext cx="260613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R[2] + R[3]</a:t>
            </a:r>
          </a:p>
        </p:txBody>
      </p:sp>
      <p:sp>
        <p:nvSpPr>
          <p:cNvPr id="754" name="Google Shape;573;p29">
            <a:extLst>
              <a:ext uri="{FF2B5EF4-FFF2-40B4-BE49-F238E27FC236}">
                <a16:creationId xmlns:a16="http://schemas.microsoft.com/office/drawing/2014/main" id="{465E1DE4-DE5E-6D47-EADB-F4A83D88E3A2}"/>
              </a:ext>
            </a:extLst>
          </p:cNvPr>
          <p:cNvSpPr txBox="1"/>
          <p:nvPr/>
        </p:nvSpPr>
        <p:spPr>
          <a:xfrm>
            <a:off x="7083789" y="5692971"/>
            <a:ext cx="2606136"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US" sz="2000" kern="0" dirty="0">
                <a:solidFill>
                  <a:srgbClr val="F2F2F2"/>
                </a:solidFill>
                <a:latin typeface="Consolas" panose="020B0609020204030204" pitchFamily="49" charset="0"/>
                <a:ea typeface="Inter"/>
                <a:cs typeface="Consolas" panose="020B0609020204030204" pitchFamily="49" charset="0"/>
                <a:sym typeface="Inter"/>
              </a:rPr>
              <a:t>R[2] + R[3]</a:t>
            </a:r>
          </a:p>
        </p:txBody>
      </p:sp>
      <p:sp>
        <p:nvSpPr>
          <p:cNvPr id="859" name="Google Shape;539;p29">
            <a:extLst>
              <a:ext uri="{FF2B5EF4-FFF2-40B4-BE49-F238E27FC236}">
                <a16:creationId xmlns:a16="http://schemas.microsoft.com/office/drawing/2014/main" id="{FBFECF96-30A7-0478-6EF8-761A5C1C55C1}"/>
              </a:ext>
            </a:extLst>
          </p:cNvPr>
          <p:cNvSpPr txBox="1"/>
          <p:nvPr/>
        </p:nvSpPr>
        <p:spPr>
          <a:xfrm>
            <a:off x="560305" y="1942624"/>
            <a:ext cx="1714424"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US" sz="2667" kern="0" dirty="0">
                <a:solidFill>
                  <a:srgbClr val="F2F2F2"/>
                </a:solidFill>
                <a:latin typeface="Courier New" panose="02070309020205020404" pitchFamily="49" charset="0"/>
                <a:ea typeface="Inter"/>
                <a:cs typeface="Courier New" panose="02070309020205020404" pitchFamily="49" charset="0"/>
                <a:sym typeface="Inter"/>
              </a:rPr>
              <a:t>pc+4</a:t>
            </a:r>
            <a:endParaRPr lang="en-US" sz="1867" kern="0" dirty="0">
              <a:solidFill>
                <a:srgbClr val="F2F2F2"/>
              </a:solidFill>
              <a:latin typeface="Courier New" panose="02070309020205020404" pitchFamily="49" charset="0"/>
              <a:ea typeface="Inter"/>
              <a:cs typeface="Courier New" panose="02070309020205020404" pitchFamily="49" charset="0"/>
              <a:sym typeface="Inter"/>
            </a:endParaRPr>
          </a:p>
        </p:txBody>
      </p:sp>
      <p:cxnSp>
        <p:nvCxnSpPr>
          <p:cNvPr id="860" name="Google Shape;510;p29">
            <a:extLst>
              <a:ext uri="{FF2B5EF4-FFF2-40B4-BE49-F238E27FC236}">
                <a16:creationId xmlns:a16="http://schemas.microsoft.com/office/drawing/2014/main" id="{CBBDD997-29BE-2CCB-CABF-C54387E941BD}"/>
              </a:ext>
            </a:extLst>
          </p:cNvPr>
          <p:cNvCxnSpPr>
            <a:cxnSpLocks/>
          </p:cNvCxnSpPr>
          <p:nvPr/>
        </p:nvCxnSpPr>
        <p:spPr>
          <a:xfrm>
            <a:off x="3735017" y="2082037"/>
            <a:ext cx="3919298" cy="0"/>
          </a:xfrm>
          <a:prstGeom prst="straightConnector1">
            <a:avLst/>
          </a:prstGeom>
          <a:noFill/>
          <a:ln w="28575" cap="rnd" cmpd="sng">
            <a:solidFill>
              <a:schemeClr val="dk1"/>
            </a:solidFill>
            <a:prstDash val="solid"/>
            <a:round/>
            <a:headEnd type="none" w="sm" len="sm"/>
            <a:tailEnd type="none" w="sm" len="sm"/>
          </a:ln>
        </p:spPr>
      </p:cxnSp>
      <p:cxnSp>
        <p:nvCxnSpPr>
          <p:cNvPr id="861" name="Google Shape;511;p29">
            <a:extLst>
              <a:ext uri="{FF2B5EF4-FFF2-40B4-BE49-F238E27FC236}">
                <a16:creationId xmlns:a16="http://schemas.microsoft.com/office/drawing/2014/main" id="{44E7AF03-FDF6-B6E8-71A4-FE1799EE9B6D}"/>
              </a:ext>
            </a:extLst>
          </p:cNvPr>
          <p:cNvCxnSpPr>
            <a:cxnSpLocks/>
          </p:cNvCxnSpPr>
          <p:nvPr/>
        </p:nvCxnSpPr>
        <p:spPr>
          <a:xfrm>
            <a:off x="3735017" y="2386837"/>
            <a:ext cx="3913243" cy="0"/>
          </a:xfrm>
          <a:prstGeom prst="straightConnector1">
            <a:avLst/>
          </a:prstGeom>
          <a:noFill/>
          <a:ln w="28575" cap="rnd" cmpd="sng">
            <a:solidFill>
              <a:schemeClr val="dk1"/>
            </a:solidFill>
            <a:prstDash val="solid"/>
            <a:round/>
            <a:headEnd type="none" w="sm" len="sm"/>
            <a:tailEnd type="none" w="sm" len="sm"/>
          </a:ln>
        </p:spPr>
      </p:cxnSp>
      <p:cxnSp>
        <p:nvCxnSpPr>
          <p:cNvPr id="862" name="Google Shape;515;p29">
            <a:extLst>
              <a:ext uri="{FF2B5EF4-FFF2-40B4-BE49-F238E27FC236}">
                <a16:creationId xmlns:a16="http://schemas.microsoft.com/office/drawing/2014/main" id="{A0CF19C5-BF8C-B148-1335-4C9465B5112D}"/>
              </a:ext>
            </a:extLst>
          </p:cNvPr>
          <p:cNvCxnSpPr>
            <a:cxnSpLocks/>
          </p:cNvCxnSpPr>
          <p:nvPr/>
        </p:nvCxnSpPr>
        <p:spPr>
          <a:xfrm>
            <a:off x="2688046" y="2083222"/>
            <a:ext cx="944824" cy="0"/>
          </a:xfrm>
          <a:prstGeom prst="straightConnector1">
            <a:avLst/>
          </a:prstGeom>
          <a:noFill/>
          <a:ln w="28575" cap="rnd" cmpd="sng">
            <a:solidFill>
              <a:schemeClr val="dk1"/>
            </a:solidFill>
            <a:prstDash val="solid"/>
            <a:round/>
            <a:headEnd type="none" w="sm" len="sm"/>
            <a:tailEnd type="none" w="sm" len="sm"/>
          </a:ln>
        </p:spPr>
      </p:cxnSp>
      <p:cxnSp>
        <p:nvCxnSpPr>
          <p:cNvPr id="863" name="Google Shape;516;p29">
            <a:extLst>
              <a:ext uri="{FF2B5EF4-FFF2-40B4-BE49-F238E27FC236}">
                <a16:creationId xmlns:a16="http://schemas.microsoft.com/office/drawing/2014/main" id="{329436B3-17F3-7A74-9B0C-45C954ABDAEC}"/>
              </a:ext>
            </a:extLst>
          </p:cNvPr>
          <p:cNvCxnSpPr>
            <a:cxnSpLocks/>
          </p:cNvCxnSpPr>
          <p:nvPr/>
        </p:nvCxnSpPr>
        <p:spPr>
          <a:xfrm>
            <a:off x="2688046" y="2388022"/>
            <a:ext cx="944824" cy="0"/>
          </a:xfrm>
          <a:prstGeom prst="straightConnector1">
            <a:avLst/>
          </a:prstGeom>
          <a:noFill/>
          <a:ln w="28575" cap="rnd" cmpd="sng">
            <a:solidFill>
              <a:schemeClr val="dk1"/>
            </a:solidFill>
            <a:prstDash val="solid"/>
            <a:round/>
            <a:headEnd type="none" w="sm" len="sm"/>
            <a:tailEnd type="none" w="sm" len="sm"/>
          </a:ln>
        </p:spPr>
      </p:cxnSp>
      <p:sp>
        <p:nvSpPr>
          <p:cNvPr id="864" name="Google Shape;553;p29">
            <a:extLst>
              <a:ext uri="{FF2B5EF4-FFF2-40B4-BE49-F238E27FC236}">
                <a16:creationId xmlns:a16="http://schemas.microsoft.com/office/drawing/2014/main" id="{1E94C744-28EA-CB7E-7A2C-7F6BFA2E448D}"/>
              </a:ext>
            </a:extLst>
          </p:cNvPr>
          <p:cNvSpPr txBox="1"/>
          <p:nvPr/>
        </p:nvSpPr>
        <p:spPr>
          <a:xfrm>
            <a:off x="4269597" y="2012336"/>
            <a:ext cx="1145528"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0x104</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865" name="Straight Connector 864">
            <a:extLst>
              <a:ext uri="{FF2B5EF4-FFF2-40B4-BE49-F238E27FC236}">
                <a16:creationId xmlns:a16="http://schemas.microsoft.com/office/drawing/2014/main" id="{65ABD846-FC10-D2AC-DE02-215320C1C05A}"/>
              </a:ext>
            </a:extLst>
          </p:cNvPr>
          <p:cNvCxnSpPr>
            <a:cxnSpLocks/>
          </p:cNvCxnSpPr>
          <p:nvPr/>
        </p:nvCxnSpPr>
        <p:spPr>
          <a:xfrm flipV="1">
            <a:off x="3632870" y="208479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6" name="Straight Connector 865">
            <a:extLst>
              <a:ext uri="{FF2B5EF4-FFF2-40B4-BE49-F238E27FC236}">
                <a16:creationId xmlns:a16="http://schemas.microsoft.com/office/drawing/2014/main" id="{9310E30C-8CA6-CA99-427E-553F6C4C2FCD}"/>
              </a:ext>
            </a:extLst>
          </p:cNvPr>
          <p:cNvCxnSpPr>
            <a:cxnSpLocks/>
          </p:cNvCxnSpPr>
          <p:nvPr/>
        </p:nvCxnSpPr>
        <p:spPr>
          <a:xfrm flipH="1" flipV="1">
            <a:off x="3632870" y="2084792"/>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4" name="Google Shape;510;p29">
            <a:extLst>
              <a:ext uri="{FF2B5EF4-FFF2-40B4-BE49-F238E27FC236}">
                <a16:creationId xmlns:a16="http://schemas.microsoft.com/office/drawing/2014/main" id="{D6D7A16F-4152-4BE1-FDA7-6BEEAFB256F2}"/>
              </a:ext>
            </a:extLst>
          </p:cNvPr>
          <p:cNvCxnSpPr>
            <a:cxnSpLocks/>
          </p:cNvCxnSpPr>
          <p:nvPr/>
        </p:nvCxnSpPr>
        <p:spPr>
          <a:xfrm>
            <a:off x="7762590" y="2082491"/>
            <a:ext cx="3066751" cy="0"/>
          </a:xfrm>
          <a:prstGeom prst="straightConnector1">
            <a:avLst/>
          </a:prstGeom>
          <a:noFill/>
          <a:ln w="28575" cap="rnd" cmpd="sng">
            <a:solidFill>
              <a:schemeClr val="dk1"/>
            </a:solidFill>
            <a:prstDash val="solid"/>
            <a:round/>
            <a:headEnd type="none" w="sm" len="sm"/>
            <a:tailEnd type="none" w="sm" len="sm"/>
          </a:ln>
        </p:spPr>
      </p:cxnSp>
      <p:cxnSp>
        <p:nvCxnSpPr>
          <p:cNvPr id="905" name="Google Shape;511;p29">
            <a:extLst>
              <a:ext uri="{FF2B5EF4-FFF2-40B4-BE49-F238E27FC236}">
                <a16:creationId xmlns:a16="http://schemas.microsoft.com/office/drawing/2014/main" id="{5511DBD3-B172-9DE1-B776-8921EB4A85E5}"/>
              </a:ext>
            </a:extLst>
          </p:cNvPr>
          <p:cNvCxnSpPr>
            <a:cxnSpLocks/>
          </p:cNvCxnSpPr>
          <p:nvPr/>
        </p:nvCxnSpPr>
        <p:spPr>
          <a:xfrm>
            <a:off x="7762590" y="2387291"/>
            <a:ext cx="3066751" cy="0"/>
          </a:xfrm>
          <a:prstGeom prst="straightConnector1">
            <a:avLst/>
          </a:prstGeom>
          <a:noFill/>
          <a:ln w="28575" cap="rnd" cmpd="sng">
            <a:solidFill>
              <a:schemeClr val="dk1"/>
            </a:solidFill>
            <a:prstDash val="solid"/>
            <a:round/>
            <a:headEnd type="none" w="sm" len="sm"/>
            <a:tailEnd type="none" w="sm" len="sm"/>
          </a:ln>
        </p:spPr>
      </p:cxnSp>
      <p:sp>
        <p:nvSpPr>
          <p:cNvPr id="908" name="Google Shape;553;p29">
            <a:extLst>
              <a:ext uri="{FF2B5EF4-FFF2-40B4-BE49-F238E27FC236}">
                <a16:creationId xmlns:a16="http://schemas.microsoft.com/office/drawing/2014/main" id="{E3042FBB-8622-B782-EA83-F47F21913C6D}"/>
              </a:ext>
            </a:extLst>
          </p:cNvPr>
          <p:cNvSpPr txBox="1"/>
          <p:nvPr/>
        </p:nvSpPr>
        <p:spPr>
          <a:xfrm>
            <a:off x="8297170" y="2012790"/>
            <a:ext cx="1145528" cy="43083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2000" kern="0" dirty="0">
                <a:solidFill>
                  <a:srgbClr val="F2F2F2"/>
                </a:solidFill>
                <a:latin typeface="Consolas" panose="020B0609020204030204" pitchFamily="49" charset="0"/>
                <a:ea typeface="Inter"/>
                <a:cs typeface="Consolas" panose="020B0609020204030204" pitchFamily="49" charset="0"/>
                <a:sym typeface="Inter"/>
              </a:rPr>
              <a:t>0x104</a:t>
            </a:r>
            <a:endParaRPr sz="2000" kern="0" dirty="0">
              <a:solidFill>
                <a:srgbClr val="F2F2F2"/>
              </a:solidFill>
              <a:latin typeface="Consolas" panose="020B0609020204030204" pitchFamily="49" charset="0"/>
              <a:ea typeface="Inter"/>
              <a:cs typeface="Consolas" panose="020B0609020204030204" pitchFamily="49" charset="0"/>
              <a:sym typeface="Inter"/>
            </a:endParaRPr>
          </a:p>
        </p:txBody>
      </p:sp>
      <p:cxnSp>
        <p:nvCxnSpPr>
          <p:cNvPr id="909" name="Straight Connector 908">
            <a:extLst>
              <a:ext uri="{FF2B5EF4-FFF2-40B4-BE49-F238E27FC236}">
                <a16:creationId xmlns:a16="http://schemas.microsoft.com/office/drawing/2014/main" id="{7DC5F6FD-094E-A996-6E34-4E2F0544BFEF}"/>
              </a:ext>
            </a:extLst>
          </p:cNvPr>
          <p:cNvCxnSpPr>
            <a:cxnSpLocks/>
          </p:cNvCxnSpPr>
          <p:nvPr/>
        </p:nvCxnSpPr>
        <p:spPr>
          <a:xfrm flipV="1">
            <a:off x="7660443" y="208524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0" name="Straight Connector 909">
            <a:extLst>
              <a:ext uri="{FF2B5EF4-FFF2-40B4-BE49-F238E27FC236}">
                <a16:creationId xmlns:a16="http://schemas.microsoft.com/office/drawing/2014/main" id="{0298CC68-9A3C-72F5-0D9B-46D773D64537}"/>
              </a:ext>
            </a:extLst>
          </p:cNvPr>
          <p:cNvCxnSpPr>
            <a:cxnSpLocks/>
          </p:cNvCxnSpPr>
          <p:nvPr/>
        </p:nvCxnSpPr>
        <p:spPr>
          <a:xfrm flipH="1" flipV="1">
            <a:off x="7660443" y="2085246"/>
            <a:ext cx="95554" cy="3048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99975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1">
          <a:extLst>
            <a:ext uri="{FF2B5EF4-FFF2-40B4-BE49-F238E27FC236}">
              <a16:creationId xmlns:a16="http://schemas.microsoft.com/office/drawing/2014/main" id="{441EBC81-084E-53F6-4219-48B27D04E670}"/>
            </a:ext>
          </a:extLst>
        </p:cNvPr>
        <p:cNvGrpSpPr/>
        <p:nvPr/>
      </p:nvGrpSpPr>
      <p:grpSpPr>
        <a:xfrm>
          <a:off x="0" y="0"/>
          <a:ext cx="0" cy="0"/>
          <a:chOff x="0" y="0"/>
          <a:chExt cx="0" cy="0"/>
        </a:xfrm>
      </p:grpSpPr>
      <p:sp>
        <p:nvSpPr>
          <p:cNvPr id="502" name="Google Shape;502;p29">
            <a:extLst>
              <a:ext uri="{FF2B5EF4-FFF2-40B4-BE49-F238E27FC236}">
                <a16:creationId xmlns:a16="http://schemas.microsoft.com/office/drawing/2014/main" id="{A830AFDA-C57E-7196-979B-88F8BF6E4CBD}"/>
              </a:ext>
            </a:extLst>
          </p:cNvPr>
          <p:cNvSpPr txBox="1">
            <a:spLocks noGrp="1"/>
          </p:cNvSpPr>
          <p:nvPr>
            <p:ph type="title"/>
          </p:nvPr>
        </p:nvSpPr>
        <p:spPr>
          <a:xfrm>
            <a:off x="1109400" y="134767"/>
            <a:ext cx="10667200" cy="763600"/>
          </a:xfrm>
          <a:prstGeom prst="rect">
            <a:avLst/>
          </a:prstGeom>
        </p:spPr>
        <p:txBody>
          <a:bodyPr spcFirstLastPara="1" wrap="square" lIns="121900" tIns="121900" rIns="121900" bIns="121900" anchor="t" anchorCtr="0">
            <a:noAutofit/>
          </a:bodyPr>
          <a:lstStyle/>
          <a:p>
            <a:r>
              <a:rPr lang="en" sz="3600" dirty="0"/>
              <a:t>5-Phase Timing, Waveforms</a:t>
            </a:r>
            <a:endParaRPr sz="3600" dirty="0"/>
          </a:p>
        </p:txBody>
      </p:sp>
      <p:cxnSp>
        <p:nvCxnSpPr>
          <p:cNvPr id="503" name="Google Shape;503;p29">
            <a:extLst>
              <a:ext uri="{FF2B5EF4-FFF2-40B4-BE49-F238E27FC236}">
                <a16:creationId xmlns:a16="http://schemas.microsoft.com/office/drawing/2014/main" id="{A2E376BE-3472-E603-FC6B-061293F32BBE}"/>
              </a:ext>
            </a:extLst>
          </p:cNvPr>
          <p:cNvCxnSpPr/>
          <p:nvPr/>
        </p:nvCxnSpPr>
        <p:spPr>
          <a:xfrm>
            <a:off x="2417028" y="2006600"/>
            <a:ext cx="573200" cy="0"/>
          </a:xfrm>
          <a:prstGeom prst="straightConnector1">
            <a:avLst/>
          </a:prstGeom>
          <a:noFill/>
          <a:ln w="28575" cap="rnd" cmpd="sng">
            <a:solidFill>
              <a:schemeClr val="dk1"/>
            </a:solidFill>
            <a:prstDash val="solid"/>
            <a:round/>
            <a:headEnd type="none" w="sm" len="sm"/>
            <a:tailEnd type="none" w="sm" len="sm"/>
          </a:ln>
        </p:spPr>
      </p:cxnSp>
      <p:cxnSp>
        <p:nvCxnSpPr>
          <p:cNvPr id="504" name="Google Shape;504;p29">
            <a:extLst>
              <a:ext uri="{FF2B5EF4-FFF2-40B4-BE49-F238E27FC236}">
                <a16:creationId xmlns:a16="http://schemas.microsoft.com/office/drawing/2014/main" id="{E7FDF226-FE60-D732-6396-EBB44C7AE58B}"/>
              </a:ext>
            </a:extLst>
          </p:cNvPr>
          <p:cNvCxnSpPr/>
          <p:nvPr/>
        </p:nvCxnSpPr>
        <p:spPr>
          <a:xfrm rot="10800000" flipH="1">
            <a:off x="2990357" y="17018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05" name="Google Shape;505;p29">
            <a:extLst>
              <a:ext uri="{FF2B5EF4-FFF2-40B4-BE49-F238E27FC236}">
                <a16:creationId xmlns:a16="http://schemas.microsoft.com/office/drawing/2014/main" id="{478DCD79-6740-9F39-E203-F5D2E6703A5B}"/>
              </a:ext>
            </a:extLst>
          </p:cNvPr>
          <p:cNvCxnSpPr>
            <a:cxnSpLocks/>
          </p:cNvCxnSpPr>
          <p:nvPr/>
        </p:nvCxnSpPr>
        <p:spPr>
          <a:xfrm flipV="1">
            <a:off x="3085957" y="1701800"/>
            <a:ext cx="3112814" cy="4489"/>
          </a:xfrm>
          <a:prstGeom prst="straightConnector1">
            <a:avLst/>
          </a:prstGeom>
          <a:noFill/>
          <a:ln w="28575" cap="rnd" cmpd="sng">
            <a:solidFill>
              <a:schemeClr val="dk1"/>
            </a:solidFill>
            <a:prstDash val="solid"/>
            <a:round/>
            <a:headEnd type="none" w="sm" len="sm"/>
            <a:tailEnd type="none" w="sm" len="sm"/>
          </a:ln>
        </p:spPr>
      </p:cxnSp>
      <p:cxnSp>
        <p:nvCxnSpPr>
          <p:cNvPr id="506" name="Google Shape;506;p29">
            <a:extLst>
              <a:ext uri="{FF2B5EF4-FFF2-40B4-BE49-F238E27FC236}">
                <a16:creationId xmlns:a16="http://schemas.microsoft.com/office/drawing/2014/main" id="{1EDBEF43-56EC-0B8B-7E2E-40F0A458E37B}"/>
              </a:ext>
            </a:extLst>
          </p:cNvPr>
          <p:cNvCxnSpPr/>
          <p:nvPr/>
        </p:nvCxnSpPr>
        <p:spPr>
          <a:xfrm rot="10800000">
            <a:off x="6198835" y="1702164"/>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07" name="Google Shape;507;p29">
            <a:extLst>
              <a:ext uri="{FF2B5EF4-FFF2-40B4-BE49-F238E27FC236}">
                <a16:creationId xmlns:a16="http://schemas.microsoft.com/office/drawing/2014/main" id="{34F732D9-DBDF-5FE0-1650-B932ABF25147}"/>
              </a:ext>
            </a:extLst>
          </p:cNvPr>
          <p:cNvCxnSpPr/>
          <p:nvPr/>
        </p:nvCxnSpPr>
        <p:spPr>
          <a:xfrm>
            <a:off x="6294435" y="2006600"/>
            <a:ext cx="3153200" cy="0"/>
          </a:xfrm>
          <a:prstGeom prst="straightConnector1">
            <a:avLst/>
          </a:prstGeom>
          <a:noFill/>
          <a:ln w="28575" cap="rnd" cmpd="sng">
            <a:solidFill>
              <a:schemeClr val="dk1"/>
            </a:solidFill>
            <a:prstDash val="solid"/>
            <a:round/>
            <a:headEnd type="none" w="sm" len="sm"/>
            <a:tailEnd type="none" w="sm" len="sm"/>
          </a:ln>
        </p:spPr>
      </p:cxnSp>
      <p:cxnSp>
        <p:nvCxnSpPr>
          <p:cNvPr id="508" name="Google Shape;508;p29">
            <a:extLst>
              <a:ext uri="{FF2B5EF4-FFF2-40B4-BE49-F238E27FC236}">
                <a16:creationId xmlns:a16="http://schemas.microsoft.com/office/drawing/2014/main" id="{4E23C8F1-F6F4-B93E-FE9E-6494D20A92B9}"/>
              </a:ext>
            </a:extLst>
          </p:cNvPr>
          <p:cNvCxnSpPr/>
          <p:nvPr/>
        </p:nvCxnSpPr>
        <p:spPr>
          <a:xfrm rot="10800000" flipH="1">
            <a:off x="9447743" y="17018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09" name="Google Shape;509;p29">
            <a:extLst>
              <a:ext uri="{FF2B5EF4-FFF2-40B4-BE49-F238E27FC236}">
                <a16:creationId xmlns:a16="http://schemas.microsoft.com/office/drawing/2014/main" id="{3BB657C3-46A4-3690-0CB7-BAEB473D8596}"/>
              </a:ext>
            </a:extLst>
          </p:cNvPr>
          <p:cNvCxnSpPr/>
          <p:nvPr/>
        </p:nvCxnSpPr>
        <p:spPr>
          <a:xfrm>
            <a:off x="9543297" y="1698172"/>
            <a:ext cx="1182400" cy="3600"/>
          </a:xfrm>
          <a:prstGeom prst="straightConnector1">
            <a:avLst/>
          </a:prstGeom>
          <a:noFill/>
          <a:ln w="28575" cap="rnd" cmpd="sng">
            <a:solidFill>
              <a:schemeClr val="dk1"/>
            </a:solidFill>
            <a:prstDash val="solid"/>
            <a:round/>
            <a:headEnd type="none" w="sm" len="sm"/>
            <a:tailEnd type="none" w="sm" len="sm"/>
          </a:ln>
        </p:spPr>
      </p:cxnSp>
      <p:cxnSp>
        <p:nvCxnSpPr>
          <p:cNvPr id="510" name="Google Shape;510;p29">
            <a:extLst>
              <a:ext uri="{FF2B5EF4-FFF2-40B4-BE49-F238E27FC236}">
                <a16:creationId xmlns:a16="http://schemas.microsoft.com/office/drawing/2014/main" id="{D27302D5-04C3-AE5F-6815-C04407F7A2D6}"/>
              </a:ext>
            </a:extLst>
          </p:cNvPr>
          <p:cNvCxnSpPr/>
          <p:nvPr/>
        </p:nvCxnSpPr>
        <p:spPr>
          <a:xfrm>
            <a:off x="3236680" y="2108201"/>
            <a:ext cx="6402000" cy="3600"/>
          </a:xfrm>
          <a:prstGeom prst="straightConnector1">
            <a:avLst/>
          </a:prstGeom>
          <a:noFill/>
          <a:ln w="28575" cap="rnd" cmpd="sng">
            <a:solidFill>
              <a:schemeClr val="dk1"/>
            </a:solidFill>
            <a:prstDash val="solid"/>
            <a:round/>
            <a:headEnd type="none" w="sm" len="sm"/>
            <a:tailEnd type="none" w="sm" len="sm"/>
          </a:ln>
        </p:spPr>
      </p:cxnSp>
      <p:cxnSp>
        <p:nvCxnSpPr>
          <p:cNvPr id="511" name="Google Shape;511;p29">
            <a:extLst>
              <a:ext uri="{FF2B5EF4-FFF2-40B4-BE49-F238E27FC236}">
                <a16:creationId xmlns:a16="http://schemas.microsoft.com/office/drawing/2014/main" id="{DEC5D744-C442-C817-4319-880B3FF514AC}"/>
              </a:ext>
            </a:extLst>
          </p:cNvPr>
          <p:cNvCxnSpPr/>
          <p:nvPr/>
        </p:nvCxnSpPr>
        <p:spPr>
          <a:xfrm>
            <a:off x="3236680" y="2413000"/>
            <a:ext cx="3248800" cy="0"/>
          </a:xfrm>
          <a:prstGeom prst="straightConnector1">
            <a:avLst/>
          </a:prstGeom>
          <a:noFill/>
          <a:ln w="28575" cap="rnd" cmpd="sng">
            <a:solidFill>
              <a:schemeClr val="dk1"/>
            </a:solidFill>
            <a:prstDash val="solid"/>
            <a:round/>
            <a:headEnd type="none" w="sm" len="sm"/>
            <a:tailEnd type="none" w="sm" len="sm"/>
          </a:ln>
        </p:spPr>
      </p:cxnSp>
      <p:cxnSp>
        <p:nvCxnSpPr>
          <p:cNvPr id="512" name="Google Shape;512;p29">
            <a:extLst>
              <a:ext uri="{FF2B5EF4-FFF2-40B4-BE49-F238E27FC236}">
                <a16:creationId xmlns:a16="http://schemas.microsoft.com/office/drawing/2014/main" id="{A0016CEC-3BA0-C510-7DA5-D489BCC6CCE7}"/>
              </a:ext>
            </a:extLst>
          </p:cNvPr>
          <p:cNvCxnSpPr/>
          <p:nvPr/>
        </p:nvCxnSpPr>
        <p:spPr>
          <a:xfrm>
            <a:off x="6485544" y="2413000"/>
            <a:ext cx="3153200" cy="0"/>
          </a:xfrm>
          <a:prstGeom prst="straightConnector1">
            <a:avLst/>
          </a:prstGeom>
          <a:noFill/>
          <a:ln w="28575" cap="rnd" cmpd="sng">
            <a:solidFill>
              <a:schemeClr val="dk1"/>
            </a:solidFill>
            <a:prstDash val="solid"/>
            <a:round/>
            <a:headEnd type="none" w="sm" len="sm"/>
            <a:tailEnd type="none" w="sm" len="sm"/>
          </a:ln>
        </p:spPr>
      </p:cxnSp>
      <p:cxnSp>
        <p:nvCxnSpPr>
          <p:cNvPr id="513" name="Google Shape;513;p29">
            <a:extLst>
              <a:ext uri="{FF2B5EF4-FFF2-40B4-BE49-F238E27FC236}">
                <a16:creationId xmlns:a16="http://schemas.microsoft.com/office/drawing/2014/main" id="{5E38C2D2-8556-3D21-B699-D9A30183D718}"/>
              </a:ext>
            </a:extLst>
          </p:cNvPr>
          <p:cNvCxnSpPr/>
          <p:nvPr/>
        </p:nvCxnSpPr>
        <p:spPr>
          <a:xfrm rot="10800000" flipH="1">
            <a:off x="3141125" y="21082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14" name="Google Shape;514;p29">
            <a:extLst>
              <a:ext uri="{FF2B5EF4-FFF2-40B4-BE49-F238E27FC236}">
                <a16:creationId xmlns:a16="http://schemas.microsoft.com/office/drawing/2014/main" id="{CB7BF142-007C-8606-44A8-B05CE1AB3721}"/>
              </a:ext>
            </a:extLst>
          </p:cNvPr>
          <p:cNvCxnSpPr/>
          <p:nvPr/>
        </p:nvCxnSpPr>
        <p:spPr>
          <a:xfrm rot="10800000">
            <a:off x="3141080" y="21082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15" name="Google Shape;515;p29">
            <a:extLst>
              <a:ext uri="{FF2B5EF4-FFF2-40B4-BE49-F238E27FC236}">
                <a16:creationId xmlns:a16="http://schemas.microsoft.com/office/drawing/2014/main" id="{295A8565-881B-F37D-C395-49BCE3259B94}"/>
              </a:ext>
            </a:extLst>
          </p:cNvPr>
          <p:cNvCxnSpPr/>
          <p:nvPr/>
        </p:nvCxnSpPr>
        <p:spPr>
          <a:xfrm>
            <a:off x="2376687" y="2104572"/>
            <a:ext cx="764400" cy="0"/>
          </a:xfrm>
          <a:prstGeom prst="straightConnector1">
            <a:avLst/>
          </a:prstGeom>
          <a:noFill/>
          <a:ln w="28575" cap="rnd" cmpd="sng">
            <a:solidFill>
              <a:schemeClr val="dk1"/>
            </a:solidFill>
            <a:prstDash val="solid"/>
            <a:round/>
            <a:headEnd type="none" w="sm" len="sm"/>
            <a:tailEnd type="none" w="sm" len="sm"/>
          </a:ln>
        </p:spPr>
      </p:cxnSp>
      <p:cxnSp>
        <p:nvCxnSpPr>
          <p:cNvPr id="516" name="Google Shape;516;p29">
            <a:extLst>
              <a:ext uri="{FF2B5EF4-FFF2-40B4-BE49-F238E27FC236}">
                <a16:creationId xmlns:a16="http://schemas.microsoft.com/office/drawing/2014/main" id="{CFDABA6A-4229-3254-564A-E06A181BAA28}"/>
              </a:ext>
            </a:extLst>
          </p:cNvPr>
          <p:cNvCxnSpPr/>
          <p:nvPr/>
        </p:nvCxnSpPr>
        <p:spPr>
          <a:xfrm>
            <a:off x="2376687" y="2409372"/>
            <a:ext cx="764400" cy="0"/>
          </a:xfrm>
          <a:prstGeom prst="straightConnector1">
            <a:avLst/>
          </a:prstGeom>
          <a:noFill/>
          <a:ln w="28575" cap="rnd" cmpd="sng">
            <a:solidFill>
              <a:schemeClr val="dk1"/>
            </a:solidFill>
            <a:prstDash val="solid"/>
            <a:round/>
            <a:headEnd type="none" w="sm" len="sm"/>
            <a:tailEnd type="none" w="sm" len="sm"/>
          </a:ln>
        </p:spPr>
      </p:cxnSp>
      <p:cxnSp>
        <p:nvCxnSpPr>
          <p:cNvPr id="517" name="Google Shape;517;p29">
            <a:extLst>
              <a:ext uri="{FF2B5EF4-FFF2-40B4-BE49-F238E27FC236}">
                <a16:creationId xmlns:a16="http://schemas.microsoft.com/office/drawing/2014/main" id="{85EBA2B4-D6D4-6DCF-7DDD-6F9B0C1C8119}"/>
              </a:ext>
            </a:extLst>
          </p:cNvPr>
          <p:cNvCxnSpPr/>
          <p:nvPr/>
        </p:nvCxnSpPr>
        <p:spPr>
          <a:xfrm rot="10800000" flipH="1">
            <a:off x="9638852" y="2108200"/>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18" name="Google Shape;518;p29">
            <a:extLst>
              <a:ext uri="{FF2B5EF4-FFF2-40B4-BE49-F238E27FC236}">
                <a16:creationId xmlns:a16="http://schemas.microsoft.com/office/drawing/2014/main" id="{F6159CF4-E1B2-1788-6092-B2A174B85A99}"/>
              </a:ext>
            </a:extLst>
          </p:cNvPr>
          <p:cNvCxnSpPr>
            <a:cxnSpLocks/>
          </p:cNvCxnSpPr>
          <p:nvPr/>
        </p:nvCxnSpPr>
        <p:spPr>
          <a:xfrm flipH="1" flipV="1">
            <a:off x="9638807" y="2124168"/>
            <a:ext cx="95398" cy="283826"/>
          </a:xfrm>
          <a:prstGeom prst="straightConnector1">
            <a:avLst/>
          </a:prstGeom>
          <a:noFill/>
          <a:ln w="28575" cap="rnd" cmpd="sng">
            <a:solidFill>
              <a:schemeClr val="dk1"/>
            </a:solidFill>
            <a:prstDash val="solid"/>
            <a:round/>
            <a:headEnd type="none" w="sm" len="sm"/>
            <a:tailEnd type="none" w="sm" len="sm"/>
          </a:ln>
        </p:spPr>
      </p:cxnSp>
      <p:cxnSp>
        <p:nvCxnSpPr>
          <p:cNvPr id="519" name="Google Shape;519;p29">
            <a:extLst>
              <a:ext uri="{FF2B5EF4-FFF2-40B4-BE49-F238E27FC236}">
                <a16:creationId xmlns:a16="http://schemas.microsoft.com/office/drawing/2014/main" id="{EDDD6A04-C596-E7C8-0040-890EBB08F226}"/>
              </a:ext>
            </a:extLst>
          </p:cNvPr>
          <p:cNvCxnSpPr/>
          <p:nvPr/>
        </p:nvCxnSpPr>
        <p:spPr>
          <a:xfrm>
            <a:off x="9734407" y="2108200"/>
            <a:ext cx="991200" cy="0"/>
          </a:xfrm>
          <a:prstGeom prst="straightConnector1">
            <a:avLst/>
          </a:prstGeom>
          <a:noFill/>
          <a:ln w="28575" cap="rnd" cmpd="sng">
            <a:solidFill>
              <a:schemeClr val="dk1"/>
            </a:solidFill>
            <a:prstDash val="solid"/>
            <a:round/>
            <a:headEnd type="none" w="sm" len="sm"/>
            <a:tailEnd type="none" w="sm" len="sm"/>
          </a:ln>
        </p:spPr>
      </p:cxnSp>
      <p:cxnSp>
        <p:nvCxnSpPr>
          <p:cNvPr id="520" name="Google Shape;520;p29">
            <a:extLst>
              <a:ext uri="{FF2B5EF4-FFF2-40B4-BE49-F238E27FC236}">
                <a16:creationId xmlns:a16="http://schemas.microsoft.com/office/drawing/2014/main" id="{A0EA86C1-1AD2-3E59-736A-548172C84F3F}"/>
              </a:ext>
            </a:extLst>
          </p:cNvPr>
          <p:cNvCxnSpPr/>
          <p:nvPr/>
        </p:nvCxnSpPr>
        <p:spPr>
          <a:xfrm>
            <a:off x="9734407" y="2407994"/>
            <a:ext cx="991200" cy="0"/>
          </a:xfrm>
          <a:prstGeom prst="straightConnector1">
            <a:avLst/>
          </a:prstGeom>
          <a:noFill/>
          <a:ln w="28575" cap="rnd" cmpd="sng">
            <a:solidFill>
              <a:schemeClr val="dk1"/>
            </a:solidFill>
            <a:prstDash val="solid"/>
            <a:round/>
            <a:headEnd type="none" w="sm" len="sm"/>
            <a:tailEnd type="none" w="sm" len="sm"/>
          </a:ln>
        </p:spPr>
      </p:cxnSp>
      <p:cxnSp>
        <p:nvCxnSpPr>
          <p:cNvPr id="521" name="Google Shape;521;p29">
            <a:extLst>
              <a:ext uri="{FF2B5EF4-FFF2-40B4-BE49-F238E27FC236}">
                <a16:creationId xmlns:a16="http://schemas.microsoft.com/office/drawing/2014/main" id="{C98433EF-5CDF-5192-E72E-B5C3E957C206}"/>
              </a:ext>
            </a:extLst>
          </p:cNvPr>
          <p:cNvCxnSpPr/>
          <p:nvPr/>
        </p:nvCxnSpPr>
        <p:spPr>
          <a:xfrm>
            <a:off x="4251949" y="2600231"/>
            <a:ext cx="6402000" cy="0"/>
          </a:xfrm>
          <a:prstGeom prst="straightConnector1">
            <a:avLst/>
          </a:prstGeom>
          <a:noFill/>
          <a:ln w="28575" cap="rnd" cmpd="sng">
            <a:solidFill>
              <a:schemeClr val="dk1"/>
            </a:solidFill>
            <a:prstDash val="solid"/>
            <a:round/>
            <a:headEnd type="none" w="sm" len="sm"/>
            <a:tailEnd type="none" w="sm" len="sm"/>
          </a:ln>
        </p:spPr>
      </p:cxnSp>
      <p:cxnSp>
        <p:nvCxnSpPr>
          <p:cNvPr id="522" name="Google Shape;522;p29">
            <a:extLst>
              <a:ext uri="{FF2B5EF4-FFF2-40B4-BE49-F238E27FC236}">
                <a16:creationId xmlns:a16="http://schemas.microsoft.com/office/drawing/2014/main" id="{0BF77A76-F725-3033-E0A6-736AC94A44AE}"/>
              </a:ext>
            </a:extLst>
          </p:cNvPr>
          <p:cNvCxnSpPr/>
          <p:nvPr/>
        </p:nvCxnSpPr>
        <p:spPr>
          <a:xfrm>
            <a:off x="4251949" y="2905031"/>
            <a:ext cx="6402000" cy="0"/>
          </a:xfrm>
          <a:prstGeom prst="straightConnector1">
            <a:avLst/>
          </a:prstGeom>
          <a:noFill/>
          <a:ln w="28575" cap="rnd" cmpd="sng">
            <a:solidFill>
              <a:schemeClr val="dk1"/>
            </a:solidFill>
            <a:prstDash val="solid"/>
            <a:round/>
            <a:headEnd type="none" w="sm" len="sm"/>
            <a:tailEnd type="none" w="sm" len="sm"/>
          </a:ln>
        </p:spPr>
      </p:cxnSp>
      <p:cxnSp>
        <p:nvCxnSpPr>
          <p:cNvPr id="523" name="Google Shape;523;p29">
            <a:extLst>
              <a:ext uri="{FF2B5EF4-FFF2-40B4-BE49-F238E27FC236}">
                <a16:creationId xmlns:a16="http://schemas.microsoft.com/office/drawing/2014/main" id="{A6DEEED3-3522-E4D2-3BBF-B72375BC3196}"/>
              </a:ext>
            </a:extLst>
          </p:cNvPr>
          <p:cNvCxnSpPr/>
          <p:nvPr/>
        </p:nvCxnSpPr>
        <p:spPr>
          <a:xfrm rot="10800000" flipH="1">
            <a:off x="4156395" y="260023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24" name="Google Shape;524;p29">
            <a:extLst>
              <a:ext uri="{FF2B5EF4-FFF2-40B4-BE49-F238E27FC236}">
                <a16:creationId xmlns:a16="http://schemas.microsoft.com/office/drawing/2014/main" id="{C80C62FC-DEFC-21E9-08E0-F6C737600822}"/>
              </a:ext>
            </a:extLst>
          </p:cNvPr>
          <p:cNvCxnSpPr/>
          <p:nvPr/>
        </p:nvCxnSpPr>
        <p:spPr>
          <a:xfrm rot="10800000">
            <a:off x="4156349" y="260023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25" name="Google Shape;525;p29">
            <a:extLst>
              <a:ext uri="{FF2B5EF4-FFF2-40B4-BE49-F238E27FC236}">
                <a16:creationId xmlns:a16="http://schemas.microsoft.com/office/drawing/2014/main" id="{34D3C81A-7472-19B2-E72C-EB4EB0429179}"/>
              </a:ext>
            </a:extLst>
          </p:cNvPr>
          <p:cNvCxnSpPr/>
          <p:nvPr/>
        </p:nvCxnSpPr>
        <p:spPr>
          <a:xfrm>
            <a:off x="3391956" y="2596603"/>
            <a:ext cx="764400" cy="0"/>
          </a:xfrm>
          <a:prstGeom prst="straightConnector1">
            <a:avLst/>
          </a:prstGeom>
          <a:noFill/>
          <a:ln w="28575" cap="rnd" cmpd="sng">
            <a:solidFill>
              <a:schemeClr val="dk1"/>
            </a:solidFill>
            <a:prstDash val="solid"/>
            <a:round/>
            <a:headEnd type="none" w="sm" len="sm"/>
            <a:tailEnd type="none" w="sm" len="sm"/>
          </a:ln>
        </p:spPr>
      </p:cxnSp>
      <p:cxnSp>
        <p:nvCxnSpPr>
          <p:cNvPr id="526" name="Google Shape;526;p29">
            <a:extLst>
              <a:ext uri="{FF2B5EF4-FFF2-40B4-BE49-F238E27FC236}">
                <a16:creationId xmlns:a16="http://schemas.microsoft.com/office/drawing/2014/main" id="{D8424D18-A6C7-BAE6-E20B-A9860263C982}"/>
              </a:ext>
            </a:extLst>
          </p:cNvPr>
          <p:cNvCxnSpPr/>
          <p:nvPr/>
        </p:nvCxnSpPr>
        <p:spPr>
          <a:xfrm>
            <a:off x="3391956" y="2901403"/>
            <a:ext cx="764400" cy="0"/>
          </a:xfrm>
          <a:prstGeom prst="straightConnector1">
            <a:avLst/>
          </a:prstGeom>
          <a:noFill/>
          <a:ln w="28575" cap="rnd" cmpd="sng">
            <a:solidFill>
              <a:schemeClr val="dk1"/>
            </a:solidFill>
            <a:prstDash val="solid"/>
            <a:round/>
            <a:headEnd type="none" w="sm" len="sm"/>
            <a:tailEnd type="none" w="sm" len="sm"/>
          </a:ln>
        </p:spPr>
      </p:cxnSp>
      <p:cxnSp>
        <p:nvCxnSpPr>
          <p:cNvPr id="527" name="Google Shape;527;p29">
            <a:extLst>
              <a:ext uri="{FF2B5EF4-FFF2-40B4-BE49-F238E27FC236}">
                <a16:creationId xmlns:a16="http://schemas.microsoft.com/office/drawing/2014/main" id="{E5806374-E311-635E-FF0B-B84BBE5D5A29}"/>
              </a:ext>
            </a:extLst>
          </p:cNvPr>
          <p:cNvCxnSpPr/>
          <p:nvPr/>
        </p:nvCxnSpPr>
        <p:spPr>
          <a:xfrm rot="10800000" flipH="1">
            <a:off x="10654120" y="260023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28" name="Google Shape;528;p29">
            <a:extLst>
              <a:ext uri="{FF2B5EF4-FFF2-40B4-BE49-F238E27FC236}">
                <a16:creationId xmlns:a16="http://schemas.microsoft.com/office/drawing/2014/main" id="{064CA958-899C-34E1-F790-225A21200BFD}"/>
              </a:ext>
            </a:extLst>
          </p:cNvPr>
          <p:cNvCxnSpPr/>
          <p:nvPr/>
        </p:nvCxnSpPr>
        <p:spPr>
          <a:xfrm rot="10800000">
            <a:off x="10654076" y="2616199"/>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29" name="Google Shape;529;p29">
            <a:extLst>
              <a:ext uri="{FF2B5EF4-FFF2-40B4-BE49-F238E27FC236}">
                <a16:creationId xmlns:a16="http://schemas.microsoft.com/office/drawing/2014/main" id="{899653CC-E6C5-4335-2987-618A88CC7D5D}"/>
              </a:ext>
            </a:extLst>
          </p:cNvPr>
          <p:cNvCxnSpPr/>
          <p:nvPr/>
        </p:nvCxnSpPr>
        <p:spPr>
          <a:xfrm>
            <a:off x="5685271" y="3092263"/>
            <a:ext cx="5082800" cy="0"/>
          </a:xfrm>
          <a:prstGeom prst="straightConnector1">
            <a:avLst/>
          </a:prstGeom>
          <a:noFill/>
          <a:ln w="28575" cap="rnd" cmpd="sng">
            <a:solidFill>
              <a:schemeClr val="dk1"/>
            </a:solidFill>
            <a:prstDash val="solid"/>
            <a:round/>
            <a:headEnd type="none" w="sm" len="sm"/>
            <a:tailEnd type="none" w="sm" len="sm"/>
          </a:ln>
        </p:spPr>
      </p:cxnSp>
      <p:cxnSp>
        <p:nvCxnSpPr>
          <p:cNvPr id="530" name="Google Shape;530;p29">
            <a:extLst>
              <a:ext uri="{FF2B5EF4-FFF2-40B4-BE49-F238E27FC236}">
                <a16:creationId xmlns:a16="http://schemas.microsoft.com/office/drawing/2014/main" id="{0DD3FE9C-E3B2-27C1-4D1C-3F3C6B2ED2BC}"/>
              </a:ext>
            </a:extLst>
          </p:cNvPr>
          <p:cNvCxnSpPr/>
          <p:nvPr/>
        </p:nvCxnSpPr>
        <p:spPr>
          <a:xfrm>
            <a:off x="5685271" y="3397061"/>
            <a:ext cx="5082800" cy="0"/>
          </a:xfrm>
          <a:prstGeom prst="straightConnector1">
            <a:avLst/>
          </a:prstGeom>
          <a:noFill/>
          <a:ln w="28575" cap="rnd" cmpd="sng">
            <a:solidFill>
              <a:schemeClr val="dk1"/>
            </a:solidFill>
            <a:prstDash val="solid"/>
            <a:round/>
            <a:headEnd type="none" w="sm" len="sm"/>
            <a:tailEnd type="none" w="sm" len="sm"/>
          </a:ln>
        </p:spPr>
      </p:cxnSp>
      <p:cxnSp>
        <p:nvCxnSpPr>
          <p:cNvPr id="531" name="Google Shape;531;p29">
            <a:extLst>
              <a:ext uri="{FF2B5EF4-FFF2-40B4-BE49-F238E27FC236}">
                <a16:creationId xmlns:a16="http://schemas.microsoft.com/office/drawing/2014/main" id="{CACE6735-0348-828B-76D0-FE32A9216472}"/>
              </a:ext>
            </a:extLst>
          </p:cNvPr>
          <p:cNvCxnSpPr/>
          <p:nvPr/>
        </p:nvCxnSpPr>
        <p:spPr>
          <a:xfrm rot="10800000" flipH="1">
            <a:off x="5589716" y="309226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32" name="Google Shape;532;p29">
            <a:extLst>
              <a:ext uri="{FF2B5EF4-FFF2-40B4-BE49-F238E27FC236}">
                <a16:creationId xmlns:a16="http://schemas.microsoft.com/office/drawing/2014/main" id="{D88F0319-32FD-30A5-59EF-9FA18CCCBC0B}"/>
              </a:ext>
            </a:extLst>
          </p:cNvPr>
          <p:cNvCxnSpPr/>
          <p:nvPr/>
        </p:nvCxnSpPr>
        <p:spPr>
          <a:xfrm rot="10800000">
            <a:off x="5589671" y="309226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33" name="Google Shape;533;p29">
            <a:extLst>
              <a:ext uri="{FF2B5EF4-FFF2-40B4-BE49-F238E27FC236}">
                <a16:creationId xmlns:a16="http://schemas.microsoft.com/office/drawing/2014/main" id="{F4726C4E-DC24-21BB-8220-D701A1019C74}"/>
              </a:ext>
            </a:extLst>
          </p:cNvPr>
          <p:cNvCxnSpPr/>
          <p:nvPr/>
        </p:nvCxnSpPr>
        <p:spPr>
          <a:xfrm>
            <a:off x="3714455" y="3088633"/>
            <a:ext cx="1875200" cy="0"/>
          </a:xfrm>
          <a:prstGeom prst="straightConnector1">
            <a:avLst/>
          </a:prstGeom>
          <a:noFill/>
          <a:ln w="28575" cap="rnd" cmpd="sng">
            <a:solidFill>
              <a:schemeClr val="dk1"/>
            </a:solidFill>
            <a:prstDash val="solid"/>
            <a:round/>
            <a:headEnd type="none" w="sm" len="sm"/>
            <a:tailEnd type="none" w="sm" len="sm"/>
          </a:ln>
        </p:spPr>
      </p:cxnSp>
      <p:cxnSp>
        <p:nvCxnSpPr>
          <p:cNvPr id="534" name="Google Shape;534;p29">
            <a:extLst>
              <a:ext uri="{FF2B5EF4-FFF2-40B4-BE49-F238E27FC236}">
                <a16:creationId xmlns:a16="http://schemas.microsoft.com/office/drawing/2014/main" id="{7D1C3D6C-9C58-BF30-DFDA-AE2C6EF06603}"/>
              </a:ext>
            </a:extLst>
          </p:cNvPr>
          <p:cNvCxnSpPr/>
          <p:nvPr/>
        </p:nvCxnSpPr>
        <p:spPr>
          <a:xfrm>
            <a:off x="3714455" y="3393433"/>
            <a:ext cx="1875200" cy="0"/>
          </a:xfrm>
          <a:prstGeom prst="straightConnector1">
            <a:avLst/>
          </a:prstGeom>
          <a:noFill/>
          <a:ln w="28575" cap="rnd" cmpd="sng">
            <a:solidFill>
              <a:schemeClr val="dk1"/>
            </a:solidFill>
            <a:prstDash val="solid"/>
            <a:round/>
            <a:headEnd type="none" w="sm" len="sm"/>
            <a:tailEnd type="none" w="sm" len="sm"/>
          </a:ln>
        </p:spPr>
      </p:cxnSp>
      <p:cxnSp>
        <p:nvCxnSpPr>
          <p:cNvPr id="535" name="Google Shape;535;p29">
            <a:extLst>
              <a:ext uri="{FF2B5EF4-FFF2-40B4-BE49-F238E27FC236}">
                <a16:creationId xmlns:a16="http://schemas.microsoft.com/office/drawing/2014/main" id="{DFF7961B-FB4E-97BA-86D8-A4CD320B52FA}"/>
              </a:ext>
            </a:extLst>
          </p:cNvPr>
          <p:cNvCxnSpPr/>
          <p:nvPr/>
        </p:nvCxnSpPr>
        <p:spPr>
          <a:xfrm>
            <a:off x="7168095" y="3584292"/>
            <a:ext cx="3600400" cy="0"/>
          </a:xfrm>
          <a:prstGeom prst="straightConnector1">
            <a:avLst/>
          </a:prstGeom>
          <a:noFill/>
          <a:ln w="28575" cap="rnd" cmpd="sng">
            <a:solidFill>
              <a:schemeClr val="dk1"/>
            </a:solidFill>
            <a:prstDash val="solid"/>
            <a:round/>
            <a:headEnd type="none" w="sm" len="sm"/>
            <a:tailEnd type="none" w="sm" len="sm"/>
          </a:ln>
        </p:spPr>
      </p:cxnSp>
      <p:cxnSp>
        <p:nvCxnSpPr>
          <p:cNvPr id="536" name="Google Shape;536;p29">
            <a:extLst>
              <a:ext uri="{FF2B5EF4-FFF2-40B4-BE49-F238E27FC236}">
                <a16:creationId xmlns:a16="http://schemas.microsoft.com/office/drawing/2014/main" id="{839D0FF5-65FA-F582-5B62-0FA2D8B2200D}"/>
              </a:ext>
            </a:extLst>
          </p:cNvPr>
          <p:cNvCxnSpPr/>
          <p:nvPr/>
        </p:nvCxnSpPr>
        <p:spPr>
          <a:xfrm rot="10800000" flipH="1">
            <a:off x="7168095" y="3875492"/>
            <a:ext cx="3600400" cy="13600"/>
          </a:xfrm>
          <a:prstGeom prst="straightConnector1">
            <a:avLst/>
          </a:prstGeom>
          <a:noFill/>
          <a:ln w="28575" cap="rnd" cmpd="sng">
            <a:solidFill>
              <a:schemeClr val="dk1"/>
            </a:solidFill>
            <a:prstDash val="solid"/>
            <a:round/>
            <a:headEnd type="none" w="sm" len="sm"/>
            <a:tailEnd type="none" w="sm" len="sm"/>
          </a:ln>
        </p:spPr>
      </p:cxnSp>
      <p:cxnSp>
        <p:nvCxnSpPr>
          <p:cNvPr id="537" name="Google Shape;537;p29">
            <a:extLst>
              <a:ext uri="{FF2B5EF4-FFF2-40B4-BE49-F238E27FC236}">
                <a16:creationId xmlns:a16="http://schemas.microsoft.com/office/drawing/2014/main" id="{1491C9DC-78A2-016D-72E7-9E4334F14E2F}"/>
              </a:ext>
            </a:extLst>
          </p:cNvPr>
          <p:cNvCxnSpPr/>
          <p:nvPr/>
        </p:nvCxnSpPr>
        <p:spPr>
          <a:xfrm rot="10800000" flipH="1">
            <a:off x="7072540" y="3584292"/>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38" name="Google Shape;538;p29">
            <a:extLst>
              <a:ext uri="{FF2B5EF4-FFF2-40B4-BE49-F238E27FC236}">
                <a16:creationId xmlns:a16="http://schemas.microsoft.com/office/drawing/2014/main" id="{00C93AE6-E17C-6A1E-FCAE-D9148900CA27}"/>
              </a:ext>
            </a:extLst>
          </p:cNvPr>
          <p:cNvCxnSpPr/>
          <p:nvPr/>
        </p:nvCxnSpPr>
        <p:spPr>
          <a:xfrm rot="10800000">
            <a:off x="7072495" y="3584292"/>
            <a:ext cx="95600" cy="304800"/>
          </a:xfrm>
          <a:prstGeom prst="straightConnector1">
            <a:avLst/>
          </a:prstGeom>
          <a:noFill/>
          <a:ln w="28575" cap="rnd" cmpd="sng">
            <a:solidFill>
              <a:schemeClr val="dk1"/>
            </a:solidFill>
            <a:prstDash val="solid"/>
            <a:round/>
            <a:headEnd type="none" w="sm" len="sm"/>
            <a:tailEnd type="none" w="sm" len="sm"/>
          </a:ln>
        </p:spPr>
      </p:cxnSp>
      <p:sp>
        <p:nvSpPr>
          <p:cNvPr id="539" name="Google Shape;539;p29">
            <a:extLst>
              <a:ext uri="{FF2B5EF4-FFF2-40B4-BE49-F238E27FC236}">
                <a16:creationId xmlns:a16="http://schemas.microsoft.com/office/drawing/2014/main" id="{162D6236-2802-16DF-E63F-14BD43355A85}"/>
              </a:ext>
            </a:extLst>
          </p:cNvPr>
          <p:cNvSpPr txBox="1"/>
          <p:nvPr/>
        </p:nvSpPr>
        <p:spPr>
          <a:xfrm>
            <a:off x="546132" y="1941211"/>
            <a:ext cx="8436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a:solidFill>
                  <a:srgbClr val="F2F2F2"/>
                </a:solidFill>
                <a:latin typeface="Inter"/>
                <a:ea typeface="Inter"/>
                <a:cs typeface="Inter"/>
                <a:sym typeface="Inter"/>
              </a:rPr>
              <a:t>PC</a:t>
            </a:r>
            <a:endParaRPr sz="1867" kern="0">
              <a:solidFill>
                <a:srgbClr val="F2F2F2"/>
              </a:solidFill>
              <a:latin typeface="Inter"/>
              <a:ea typeface="Inter"/>
              <a:cs typeface="Inter"/>
              <a:sym typeface="Inter"/>
            </a:endParaRPr>
          </a:p>
        </p:txBody>
      </p:sp>
      <p:sp>
        <p:nvSpPr>
          <p:cNvPr id="540" name="Google Shape;540;p29">
            <a:extLst>
              <a:ext uri="{FF2B5EF4-FFF2-40B4-BE49-F238E27FC236}">
                <a16:creationId xmlns:a16="http://schemas.microsoft.com/office/drawing/2014/main" id="{3E28E884-004C-BE5A-BC9C-B91B110AB540}"/>
              </a:ext>
            </a:extLst>
          </p:cNvPr>
          <p:cNvSpPr txBox="1"/>
          <p:nvPr/>
        </p:nvSpPr>
        <p:spPr>
          <a:xfrm>
            <a:off x="546132" y="1444167"/>
            <a:ext cx="12956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a:solidFill>
                  <a:srgbClr val="F2F2F2"/>
                </a:solidFill>
                <a:latin typeface="Inter"/>
                <a:ea typeface="Inter"/>
                <a:cs typeface="Inter"/>
                <a:sym typeface="Inter"/>
              </a:rPr>
              <a:t>clock</a:t>
            </a:r>
            <a:endParaRPr sz="1867" kern="0">
              <a:solidFill>
                <a:srgbClr val="F2F2F2"/>
              </a:solidFill>
              <a:latin typeface="Inter"/>
              <a:ea typeface="Inter"/>
              <a:cs typeface="Inter"/>
              <a:sym typeface="Inter"/>
            </a:endParaRPr>
          </a:p>
        </p:txBody>
      </p:sp>
      <p:cxnSp>
        <p:nvCxnSpPr>
          <p:cNvPr id="541" name="Google Shape;541;p29">
            <a:extLst>
              <a:ext uri="{FF2B5EF4-FFF2-40B4-BE49-F238E27FC236}">
                <a16:creationId xmlns:a16="http://schemas.microsoft.com/office/drawing/2014/main" id="{F063566E-CE84-37C2-5B69-B7562E1A5CAA}"/>
              </a:ext>
            </a:extLst>
          </p:cNvPr>
          <p:cNvCxnSpPr>
            <a:cxnSpLocks/>
          </p:cNvCxnSpPr>
          <p:nvPr/>
        </p:nvCxnSpPr>
        <p:spPr>
          <a:xfrm>
            <a:off x="3905564" y="4045952"/>
            <a:ext cx="4767600" cy="0"/>
          </a:xfrm>
          <a:prstGeom prst="straightConnector1">
            <a:avLst/>
          </a:prstGeom>
          <a:noFill/>
          <a:ln w="28575" cap="rnd" cmpd="sng">
            <a:solidFill>
              <a:schemeClr val="dk1"/>
            </a:solidFill>
            <a:prstDash val="solid"/>
            <a:round/>
            <a:headEnd type="none" w="sm" len="sm"/>
            <a:tailEnd type="none" w="sm" len="sm"/>
          </a:ln>
        </p:spPr>
      </p:cxnSp>
      <p:cxnSp>
        <p:nvCxnSpPr>
          <p:cNvPr id="542" name="Google Shape;542;p29">
            <a:extLst>
              <a:ext uri="{FF2B5EF4-FFF2-40B4-BE49-F238E27FC236}">
                <a16:creationId xmlns:a16="http://schemas.microsoft.com/office/drawing/2014/main" id="{8323EA53-7DD0-FBBB-78EE-8827C7AFB8F5}"/>
              </a:ext>
            </a:extLst>
          </p:cNvPr>
          <p:cNvCxnSpPr/>
          <p:nvPr/>
        </p:nvCxnSpPr>
        <p:spPr>
          <a:xfrm>
            <a:off x="3905564" y="4350752"/>
            <a:ext cx="4767600" cy="0"/>
          </a:xfrm>
          <a:prstGeom prst="straightConnector1">
            <a:avLst/>
          </a:prstGeom>
          <a:noFill/>
          <a:ln w="28575" cap="rnd" cmpd="sng">
            <a:solidFill>
              <a:schemeClr val="dk1"/>
            </a:solidFill>
            <a:prstDash val="solid"/>
            <a:round/>
            <a:headEnd type="none" w="sm" len="sm"/>
            <a:tailEnd type="none" w="sm" len="sm"/>
          </a:ln>
        </p:spPr>
      </p:cxnSp>
      <p:cxnSp>
        <p:nvCxnSpPr>
          <p:cNvPr id="543" name="Google Shape;543;p29">
            <a:extLst>
              <a:ext uri="{FF2B5EF4-FFF2-40B4-BE49-F238E27FC236}">
                <a16:creationId xmlns:a16="http://schemas.microsoft.com/office/drawing/2014/main" id="{8473E2C7-A5B4-E9DF-186A-EB626FB66E2D}"/>
              </a:ext>
            </a:extLst>
          </p:cNvPr>
          <p:cNvCxnSpPr/>
          <p:nvPr/>
        </p:nvCxnSpPr>
        <p:spPr>
          <a:xfrm rot="10800000" flipH="1">
            <a:off x="8673085" y="4050981"/>
            <a:ext cx="95600" cy="304800"/>
          </a:xfrm>
          <a:prstGeom prst="straightConnector1">
            <a:avLst/>
          </a:prstGeom>
          <a:noFill/>
          <a:ln w="28575" cap="rnd" cmpd="sng">
            <a:solidFill>
              <a:schemeClr val="dk1"/>
            </a:solidFill>
            <a:prstDash val="solid"/>
            <a:round/>
            <a:headEnd type="none" w="sm" len="sm"/>
            <a:tailEnd type="none" w="sm" len="sm"/>
          </a:ln>
        </p:spPr>
      </p:cxnSp>
      <p:cxnSp>
        <p:nvCxnSpPr>
          <p:cNvPr id="544" name="Google Shape;544;p29">
            <a:extLst>
              <a:ext uri="{FF2B5EF4-FFF2-40B4-BE49-F238E27FC236}">
                <a16:creationId xmlns:a16="http://schemas.microsoft.com/office/drawing/2014/main" id="{6C6CFD62-2189-22E3-8FFE-810D13A3C37B}"/>
              </a:ext>
            </a:extLst>
          </p:cNvPr>
          <p:cNvCxnSpPr/>
          <p:nvPr/>
        </p:nvCxnSpPr>
        <p:spPr>
          <a:xfrm rot="10800000">
            <a:off x="8675608" y="4058988"/>
            <a:ext cx="103200" cy="292800"/>
          </a:xfrm>
          <a:prstGeom prst="straightConnector1">
            <a:avLst/>
          </a:prstGeom>
          <a:noFill/>
          <a:ln w="28575" cap="rnd" cmpd="sng">
            <a:solidFill>
              <a:schemeClr val="dk1"/>
            </a:solidFill>
            <a:prstDash val="solid"/>
            <a:round/>
            <a:headEnd type="none" w="sm" len="sm"/>
            <a:tailEnd type="none" w="sm" len="sm"/>
          </a:ln>
        </p:spPr>
      </p:cxnSp>
      <p:cxnSp>
        <p:nvCxnSpPr>
          <p:cNvPr id="545" name="Google Shape;545;p29">
            <a:extLst>
              <a:ext uri="{FF2B5EF4-FFF2-40B4-BE49-F238E27FC236}">
                <a16:creationId xmlns:a16="http://schemas.microsoft.com/office/drawing/2014/main" id="{17D56C2E-1023-C655-7CC3-8C96774CB1D3}"/>
              </a:ext>
            </a:extLst>
          </p:cNvPr>
          <p:cNvCxnSpPr>
            <a:cxnSpLocks/>
          </p:cNvCxnSpPr>
          <p:nvPr/>
        </p:nvCxnSpPr>
        <p:spPr>
          <a:xfrm>
            <a:off x="8768640" y="4045952"/>
            <a:ext cx="1981200" cy="0"/>
          </a:xfrm>
          <a:prstGeom prst="straightConnector1">
            <a:avLst/>
          </a:prstGeom>
          <a:noFill/>
          <a:ln w="28575" cap="rnd" cmpd="sng">
            <a:solidFill>
              <a:schemeClr val="dk1"/>
            </a:solidFill>
            <a:prstDash val="solid"/>
            <a:round/>
            <a:headEnd type="none" w="sm" len="sm"/>
            <a:tailEnd type="none" w="sm" len="sm"/>
          </a:ln>
        </p:spPr>
      </p:cxnSp>
      <p:cxnSp>
        <p:nvCxnSpPr>
          <p:cNvPr id="546" name="Google Shape;546;p29">
            <a:extLst>
              <a:ext uri="{FF2B5EF4-FFF2-40B4-BE49-F238E27FC236}">
                <a16:creationId xmlns:a16="http://schemas.microsoft.com/office/drawing/2014/main" id="{493E1D77-0D48-095F-9B20-17646F56569D}"/>
              </a:ext>
            </a:extLst>
          </p:cNvPr>
          <p:cNvCxnSpPr/>
          <p:nvPr/>
        </p:nvCxnSpPr>
        <p:spPr>
          <a:xfrm>
            <a:off x="8778808" y="4355781"/>
            <a:ext cx="1946800" cy="4000"/>
          </a:xfrm>
          <a:prstGeom prst="straightConnector1">
            <a:avLst/>
          </a:prstGeom>
          <a:noFill/>
          <a:ln w="28575" cap="rnd" cmpd="sng">
            <a:solidFill>
              <a:schemeClr val="dk1"/>
            </a:solidFill>
            <a:prstDash val="solid"/>
            <a:round/>
            <a:headEnd type="none" w="sm" len="sm"/>
            <a:tailEnd type="none" w="sm" len="sm"/>
          </a:ln>
        </p:spPr>
      </p:cxnSp>
      <p:cxnSp>
        <p:nvCxnSpPr>
          <p:cNvPr id="547" name="Google Shape;547;p29">
            <a:extLst>
              <a:ext uri="{FF2B5EF4-FFF2-40B4-BE49-F238E27FC236}">
                <a16:creationId xmlns:a16="http://schemas.microsoft.com/office/drawing/2014/main" id="{99CEA88D-F7BC-C8DE-7EAE-3F4E5C2AF257}"/>
              </a:ext>
            </a:extLst>
          </p:cNvPr>
          <p:cNvCxnSpPr>
            <a:cxnSpLocks/>
          </p:cNvCxnSpPr>
          <p:nvPr/>
        </p:nvCxnSpPr>
        <p:spPr>
          <a:xfrm>
            <a:off x="3877333" y="3585092"/>
            <a:ext cx="3194902" cy="0"/>
          </a:xfrm>
          <a:prstGeom prst="straightConnector1">
            <a:avLst/>
          </a:prstGeom>
          <a:noFill/>
          <a:ln w="28575" cap="rnd" cmpd="sng">
            <a:solidFill>
              <a:schemeClr val="dk1"/>
            </a:solidFill>
            <a:prstDash val="solid"/>
            <a:round/>
            <a:headEnd type="none" w="sm" len="sm"/>
            <a:tailEnd type="none" w="sm" len="sm"/>
          </a:ln>
        </p:spPr>
      </p:cxnSp>
      <p:cxnSp>
        <p:nvCxnSpPr>
          <p:cNvPr id="548" name="Google Shape;548;p29">
            <a:extLst>
              <a:ext uri="{FF2B5EF4-FFF2-40B4-BE49-F238E27FC236}">
                <a16:creationId xmlns:a16="http://schemas.microsoft.com/office/drawing/2014/main" id="{B0C92705-C3AD-EE52-76F0-2ED58425A799}"/>
              </a:ext>
            </a:extLst>
          </p:cNvPr>
          <p:cNvCxnSpPr>
            <a:cxnSpLocks/>
          </p:cNvCxnSpPr>
          <p:nvPr/>
        </p:nvCxnSpPr>
        <p:spPr>
          <a:xfrm>
            <a:off x="3905564" y="3888518"/>
            <a:ext cx="3166671" cy="1083"/>
          </a:xfrm>
          <a:prstGeom prst="straightConnector1">
            <a:avLst/>
          </a:prstGeom>
          <a:noFill/>
          <a:ln w="28575" cap="rnd" cmpd="sng">
            <a:solidFill>
              <a:schemeClr val="dk1"/>
            </a:solidFill>
            <a:prstDash val="solid"/>
            <a:round/>
            <a:headEnd type="none" w="sm" len="sm"/>
            <a:tailEnd type="none" w="sm" len="sm"/>
          </a:ln>
        </p:spPr>
      </p:cxnSp>
      <p:sp>
        <p:nvSpPr>
          <p:cNvPr id="549" name="Google Shape;549;p29">
            <a:extLst>
              <a:ext uri="{FF2B5EF4-FFF2-40B4-BE49-F238E27FC236}">
                <a16:creationId xmlns:a16="http://schemas.microsoft.com/office/drawing/2014/main" id="{2E6F8A24-9ACD-813A-DB3A-67A214E42FBF}"/>
              </a:ext>
            </a:extLst>
          </p:cNvPr>
          <p:cNvSpPr txBox="1"/>
          <p:nvPr/>
        </p:nvSpPr>
        <p:spPr>
          <a:xfrm>
            <a:off x="546132" y="2438255"/>
            <a:ext cx="23024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Inter"/>
                <a:ea typeface="Inter"/>
                <a:cs typeface="Inter"/>
                <a:sym typeface="Inter"/>
              </a:rPr>
              <a:t>Instr. fetch</a:t>
            </a:r>
            <a:endParaRPr sz="1867" kern="0" dirty="0">
              <a:solidFill>
                <a:srgbClr val="F2F2F2"/>
              </a:solidFill>
              <a:latin typeface="Inter"/>
              <a:ea typeface="Inter"/>
              <a:cs typeface="Inter"/>
              <a:sym typeface="Inter"/>
            </a:endParaRPr>
          </a:p>
        </p:txBody>
      </p:sp>
      <p:sp>
        <p:nvSpPr>
          <p:cNvPr id="550" name="Google Shape;550;p29">
            <a:extLst>
              <a:ext uri="{FF2B5EF4-FFF2-40B4-BE49-F238E27FC236}">
                <a16:creationId xmlns:a16="http://schemas.microsoft.com/office/drawing/2014/main" id="{2804A428-9A76-F9C0-1225-F9494B7523FB}"/>
              </a:ext>
            </a:extLst>
          </p:cNvPr>
          <p:cNvSpPr txBox="1"/>
          <p:nvPr/>
        </p:nvSpPr>
        <p:spPr>
          <a:xfrm>
            <a:off x="546132" y="2935299"/>
            <a:ext cx="2815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a:solidFill>
                  <a:srgbClr val="F2F2F2"/>
                </a:solidFill>
                <a:latin typeface="Inter"/>
                <a:ea typeface="Inter"/>
                <a:cs typeface="Inter"/>
                <a:sym typeface="Inter"/>
              </a:rPr>
              <a:t>Instr. decode</a:t>
            </a:r>
            <a:endParaRPr sz="1867" kern="0">
              <a:solidFill>
                <a:srgbClr val="F2F2F2"/>
              </a:solidFill>
              <a:latin typeface="Inter"/>
              <a:ea typeface="Inter"/>
              <a:cs typeface="Inter"/>
              <a:sym typeface="Inter"/>
            </a:endParaRPr>
          </a:p>
        </p:txBody>
      </p:sp>
      <p:sp>
        <p:nvSpPr>
          <p:cNvPr id="551" name="Google Shape;551;p29">
            <a:extLst>
              <a:ext uri="{FF2B5EF4-FFF2-40B4-BE49-F238E27FC236}">
                <a16:creationId xmlns:a16="http://schemas.microsoft.com/office/drawing/2014/main" id="{95F61035-CD2E-C9B8-8A32-2C26ED96EF13}"/>
              </a:ext>
            </a:extLst>
          </p:cNvPr>
          <p:cNvSpPr txBox="1"/>
          <p:nvPr/>
        </p:nvSpPr>
        <p:spPr>
          <a:xfrm>
            <a:off x="546132" y="3432343"/>
            <a:ext cx="17992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a:solidFill>
                  <a:srgbClr val="F2F2F2"/>
                </a:solidFill>
                <a:latin typeface="Inter"/>
                <a:ea typeface="Inter"/>
                <a:cs typeface="Inter"/>
                <a:sym typeface="Inter"/>
              </a:rPr>
              <a:t>Execute</a:t>
            </a:r>
            <a:endParaRPr sz="1867" kern="0">
              <a:solidFill>
                <a:srgbClr val="F2F2F2"/>
              </a:solidFill>
              <a:latin typeface="Inter"/>
              <a:ea typeface="Inter"/>
              <a:cs typeface="Inter"/>
              <a:sym typeface="Inter"/>
            </a:endParaRPr>
          </a:p>
        </p:txBody>
      </p:sp>
      <p:sp>
        <p:nvSpPr>
          <p:cNvPr id="552" name="Google Shape;552;p29">
            <a:extLst>
              <a:ext uri="{FF2B5EF4-FFF2-40B4-BE49-F238E27FC236}">
                <a16:creationId xmlns:a16="http://schemas.microsoft.com/office/drawing/2014/main" id="{BEEFB694-785B-366F-125D-E9A85EED1DCB}"/>
              </a:ext>
            </a:extLst>
          </p:cNvPr>
          <p:cNvSpPr txBox="1"/>
          <p:nvPr/>
        </p:nvSpPr>
        <p:spPr>
          <a:xfrm>
            <a:off x="546132" y="3929387"/>
            <a:ext cx="3384800" cy="53348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667" kern="0" dirty="0">
                <a:solidFill>
                  <a:srgbClr val="F2F2F2"/>
                </a:solidFill>
                <a:latin typeface="Inter"/>
                <a:ea typeface="Inter"/>
                <a:cs typeface="Inter"/>
                <a:sym typeface="Inter"/>
              </a:rPr>
              <a:t>Memory Access</a:t>
            </a:r>
            <a:endParaRPr sz="1867" kern="0" dirty="0">
              <a:solidFill>
                <a:srgbClr val="F2F2F2"/>
              </a:solidFill>
              <a:latin typeface="Inter"/>
              <a:ea typeface="Inter"/>
              <a:cs typeface="Inter"/>
              <a:sym typeface="Inter"/>
            </a:endParaRPr>
          </a:p>
        </p:txBody>
      </p:sp>
      <p:sp>
        <p:nvSpPr>
          <p:cNvPr id="553" name="Google Shape;553;p29">
            <a:extLst>
              <a:ext uri="{FF2B5EF4-FFF2-40B4-BE49-F238E27FC236}">
                <a16:creationId xmlns:a16="http://schemas.microsoft.com/office/drawing/2014/main" id="{ED43FF60-5115-0B64-CE7B-A0F86B7E1ED8}"/>
              </a:ext>
            </a:extLst>
          </p:cNvPr>
          <p:cNvSpPr txBox="1"/>
          <p:nvPr/>
        </p:nvSpPr>
        <p:spPr>
          <a:xfrm>
            <a:off x="4639593" y="2006600"/>
            <a:ext cx="9500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pc</a:t>
            </a:r>
            <a:endParaRPr sz="1867" kern="0">
              <a:solidFill>
                <a:srgbClr val="F2F2F2"/>
              </a:solidFill>
              <a:latin typeface="Inter"/>
              <a:ea typeface="Inter"/>
              <a:cs typeface="Inter"/>
              <a:sym typeface="Inter"/>
            </a:endParaRPr>
          </a:p>
        </p:txBody>
      </p:sp>
      <p:cxnSp>
        <p:nvCxnSpPr>
          <p:cNvPr id="554" name="Google Shape;554;p29">
            <a:extLst>
              <a:ext uri="{FF2B5EF4-FFF2-40B4-BE49-F238E27FC236}">
                <a16:creationId xmlns:a16="http://schemas.microsoft.com/office/drawing/2014/main" id="{8140D48F-122F-FA5B-4EB3-270D60C8FD99}"/>
              </a:ext>
            </a:extLst>
          </p:cNvPr>
          <p:cNvCxnSpPr/>
          <p:nvPr/>
        </p:nvCxnSpPr>
        <p:spPr>
          <a:xfrm>
            <a:off x="3045571" y="4715435"/>
            <a:ext cx="1151200" cy="0"/>
          </a:xfrm>
          <a:prstGeom prst="straightConnector1">
            <a:avLst/>
          </a:prstGeom>
          <a:noFill/>
          <a:ln w="19050" cap="rnd" cmpd="sng">
            <a:solidFill>
              <a:schemeClr val="dk1"/>
            </a:solidFill>
            <a:prstDash val="solid"/>
            <a:round/>
            <a:headEnd type="triangle" w="med" len="med"/>
            <a:tailEnd type="triangle" w="med" len="med"/>
          </a:ln>
        </p:spPr>
      </p:cxnSp>
      <p:cxnSp>
        <p:nvCxnSpPr>
          <p:cNvPr id="555" name="Google Shape;555;p29">
            <a:extLst>
              <a:ext uri="{FF2B5EF4-FFF2-40B4-BE49-F238E27FC236}">
                <a16:creationId xmlns:a16="http://schemas.microsoft.com/office/drawing/2014/main" id="{6AFA999D-23F7-224D-09BE-F8A4CD66DB02}"/>
              </a:ext>
            </a:extLst>
          </p:cNvPr>
          <p:cNvCxnSpPr/>
          <p:nvPr/>
        </p:nvCxnSpPr>
        <p:spPr>
          <a:xfrm>
            <a:off x="3025332" y="1619101"/>
            <a:ext cx="5200" cy="3130800"/>
          </a:xfrm>
          <a:prstGeom prst="straightConnector1">
            <a:avLst/>
          </a:prstGeom>
          <a:noFill/>
          <a:ln w="12700" cap="flat" cmpd="sng">
            <a:solidFill>
              <a:schemeClr val="dk1"/>
            </a:solidFill>
            <a:prstDash val="dash"/>
            <a:round/>
            <a:headEnd type="none" w="sm" len="sm"/>
            <a:tailEnd type="none" w="sm" len="sm"/>
          </a:ln>
        </p:spPr>
      </p:cxnSp>
      <p:cxnSp>
        <p:nvCxnSpPr>
          <p:cNvPr id="556" name="Google Shape;556;p29">
            <a:extLst>
              <a:ext uri="{FF2B5EF4-FFF2-40B4-BE49-F238E27FC236}">
                <a16:creationId xmlns:a16="http://schemas.microsoft.com/office/drawing/2014/main" id="{07CE43CA-C267-B869-B46C-3B4AEA7B851F}"/>
              </a:ext>
            </a:extLst>
          </p:cNvPr>
          <p:cNvCxnSpPr/>
          <p:nvPr/>
        </p:nvCxnSpPr>
        <p:spPr>
          <a:xfrm flipH="1">
            <a:off x="4196573" y="1619101"/>
            <a:ext cx="18000" cy="3130800"/>
          </a:xfrm>
          <a:prstGeom prst="straightConnector1">
            <a:avLst/>
          </a:prstGeom>
          <a:noFill/>
          <a:ln w="12700" cap="flat" cmpd="sng">
            <a:solidFill>
              <a:schemeClr val="dk1"/>
            </a:solidFill>
            <a:prstDash val="dash"/>
            <a:round/>
            <a:headEnd type="none" w="sm" len="sm"/>
            <a:tailEnd type="none" w="sm" len="sm"/>
          </a:ln>
        </p:spPr>
      </p:cxnSp>
      <p:cxnSp>
        <p:nvCxnSpPr>
          <p:cNvPr id="557" name="Google Shape;557;p29">
            <a:extLst>
              <a:ext uri="{FF2B5EF4-FFF2-40B4-BE49-F238E27FC236}">
                <a16:creationId xmlns:a16="http://schemas.microsoft.com/office/drawing/2014/main" id="{8BFB3DCD-68A7-DE16-3E16-7DBCC92C299F}"/>
              </a:ext>
            </a:extLst>
          </p:cNvPr>
          <p:cNvCxnSpPr/>
          <p:nvPr/>
        </p:nvCxnSpPr>
        <p:spPr>
          <a:xfrm flipH="1">
            <a:off x="5618437" y="1619101"/>
            <a:ext cx="8800" cy="3130800"/>
          </a:xfrm>
          <a:prstGeom prst="straightConnector1">
            <a:avLst/>
          </a:prstGeom>
          <a:noFill/>
          <a:ln w="12700" cap="flat" cmpd="sng">
            <a:solidFill>
              <a:schemeClr val="dk1"/>
            </a:solidFill>
            <a:prstDash val="dash"/>
            <a:round/>
            <a:headEnd type="none" w="sm" len="sm"/>
            <a:tailEnd type="none" w="sm" len="sm"/>
          </a:ln>
        </p:spPr>
      </p:cxnSp>
      <p:cxnSp>
        <p:nvCxnSpPr>
          <p:cNvPr id="558" name="Google Shape;558;p29">
            <a:extLst>
              <a:ext uri="{FF2B5EF4-FFF2-40B4-BE49-F238E27FC236}">
                <a16:creationId xmlns:a16="http://schemas.microsoft.com/office/drawing/2014/main" id="{A09B10F5-D2AF-C0E7-20DA-9DF87834C055}"/>
              </a:ext>
            </a:extLst>
          </p:cNvPr>
          <p:cNvCxnSpPr/>
          <p:nvPr/>
        </p:nvCxnSpPr>
        <p:spPr>
          <a:xfrm flipH="1">
            <a:off x="7109236" y="1647372"/>
            <a:ext cx="28400" cy="3148000"/>
          </a:xfrm>
          <a:prstGeom prst="straightConnector1">
            <a:avLst/>
          </a:prstGeom>
          <a:noFill/>
          <a:ln w="12700" cap="flat" cmpd="sng">
            <a:solidFill>
              <a:schemeClr val="dk1"/>
            </a:solidFill>
            <a:prstDash val="dash"/>
            <a:round/>
            <a:headEnd type="none" w="sm" len="sm"/>
            <a:tailEnd type="none" w="sm" len="sm"/>
          </a:ln>
        </p:spPr>
      </p:cxnSp>
      <p:cxnSp>
        <p:nvCxnSpPr>
          <p:cNvPr id="559" name="Google Shape;559;p29">
            <a:extLst>
              <a:ext uri="{FF2B5EF4-FFF2-40B4-BE49-F238E27FC236}">
                <a16:creationId xmlns:a16="http://schemas.microsoft.com/office/drawing/2014/main" id="{EECB8FC1-99A6-8E3D-DB32-694FB0F3AB0C}"/>
              </a:ext>
            </a:extLst>
          </p:cNvPr>
          <p:cNvCxnSpPr/>
          <p:nvPr/>
        </p:nvCxnSpPr>
        <p:spPr>
          <a:xfrm flipH="1">
            <a:off x="8709725" y="1686619"/>
            <a:ext cx="28400" cy="3148000"/>
          </a:xfrm>
          <a:prstGeom prst="straightConnector1">
            <a:avLst/>
          </a:prstGeom>
          <a:noFill/>
          <a:ln w="12700" cap="flat" cmpd="sng">
            <a:solidFill>
              <a:schemeClr val="dk1"/>
            </a:solidFill>
            <a:prstDash val="dash"/>
            <a:round/>
            <a:headEnd type="none" w="sm" len="sm"/>
            <a:tailEnd type="none" w="sm" len="sm"/>
          </a:ln>
        </p:spPr>
      </p:cxnSp>
      <p:cxnSp>
        <p:nvCxnSpPr>
          <p:cNvPr id="560" name="Google Shape;560;p29">
            <a:extLst>
              <a:ext uri="{FF2B5EF4-FFF2-40B4-BE49-F238E27FC236}">
                <a16:creationId xmlns:a16="http://schemas.microsoft.com/office/drawing/2014/main" id="{0AFCD2D8-4E12-3FE8-CFC5-953BFBF644A3}"/>
              </a:ext>
            </a:extLst>
          </p:cNvPr>
          <p:cNvCxnSpPr/>
          <p:nvPr/>
        </p:nvCxnSpPr>
        <p:spPr>
          <a:xfrm flipH="1">
            <a:off x="9468735" y="1706289"/>
            <a:ext cx="28400" cy="3148000"/>
          </a:xfrm>
          <a:prstGeom prst="straightConnector1">
            <a:avLst/>
          </a:prstGeom>
          <a:noFill/>
          <a:ln w="12700" cap="flat" cmpd="sng">
            <a:solidFill>
              <a:schemeClr val="dk1"/>
            </a:solidFill>
            <a:prstDash val="dash"/>
            <a:round/>
            <a:headEnd type="none" w="sm" len="sm"/>
            <a:tailEnd type="none" w="sm" len="sm"/>
          </a:ln>
        </p:spPr>
      </p:cxnSp>
      <p:cxnSp>
        <p:nvCxnSpPr>
          <p:cNvPr id="561" name="Google Shape;561;p29">
            <a:extLst>
              <a:ext uri="{FF2B5EF4-FFF2-40B4-BE49-F238E27FC236}">
                <a16:creationId xmlns:a16="http://schemas.microsoft.com/office/drawing/2014/main" id="{03FA3A84-FB19-F701-1689-706AA7F18D5F}"/>
              </a:ext>
            </a:extLst>
          </p:cNvPr>
          <p:cNvCxnSpPr/>
          <p:nvPr/>
        </p:nvCxnSpPr>
        <p:spPr>
          <a:xfrm>
            <a:off x="4210188" y="4715435"/>
            <a:ext cx="1379600" cy="0"/>
          </a:xfrm>
          <a:prstGeom prst="straightConnector1">
            <a:avLst/>
          </a:prstGeom>
          <a:noFill/>
          <a:ln w="19050" cap="rnd" cmpd="sng">
            <a:solidFill>
              <a:schemeClr val="dk1"/>
            </a:solidFill>
            <a:prstDash val="solid"/>
            <a:round/>
            <a:headEnd type="triangle" w="med" len="med"/>
            <a:tailEnd type="triangle" w="med" len="med"/>
          </a:ln>
        </p:spPr>
      </p:cxnSp>
      <p:cxnSp>
        <p:nvCxnSpPr>
          <p:cNvPr id="562" name="Google Shape;562;p29">
            <a:extLst>
              <a:ext uri="{FF2B5EF4-FFF2-40B4-BE49-F238E27FC236}">
                <a16:creationId xmlns:a16="http://schemas.microsoft.com/office/drawing/2014/main" id="{64F1AD30-2E6D-64EA-9BF8-B6E10EB7F8A3}"/>
              </a:ext>
            </a:extLst>
          </p:cNvPr>
          <p:cNvCxnSpPr/>
          <p:nvPr/>
        </p:nvCxnSpPr>
        <p:spPr>
          <a:xfrm>
            <a:off x="5626763" y="4715435"/>
            <a:ext cx="1445600" cy="0"/>
          </a:xfrm>
          <a:prstGeom prst="straightConnector1">
            <a:avLst/>
          </a:prstGeom>
          <a:noFill/>
          <a:ln w="19050" cap="rnd" cmpd="sng">
            <a:solidFill>
              <a:schemeClr val="dk1"/>
            </a:solidFill>
            <a:prstDash val="solid"/>
            <a:round/>
            <a:headEnd type="triangle" w="med" len="med"/>
            <a:tailEnd type="triangle" w="med" len="med"/>
          </a:ln>
        </p:spPr>
      </p:cxnSp>
      <p:cxnSp>
        <p:nvCxnSpPr>
          <p:cNvPr id="563" name="Google Shape;563;p29">
            <a:extLst>
              <a:ext uri="{FF2B5EF4-FFF2-40B4-BE49-F238E27FC236}">
                <a16:creationId xmlns:a16="http://schemas.microsoft.com/office/drawing/2014/main" id="{02720C4A-D907-6BFF-A38D-A7C5EADBAD4C}"/>
              </a:ext>
            </a:extLst>
          </p:cNvPr>
          <p:cNvCxnSpPr/>
          <p:nvPr/>
        </p:nvCxnSpPr>
        <p:spPr>
          <a:xfrm>
            <a:off x="7168093" y="4715435"/>
            <a:ext cx="1515200" cy="0"/>
          </a:xfrm>
          <a:prstGeom prst="straightConnector1">
            <a:avLst/>
          </a:prstGeom>
          <a:noFill/>
          <a:ln w="19050" cap="rnd" cmpd="sng">
            <a:solidFill>
              <a:schemeClr val="dk1"/>
            </a:solidFill>
            <a:prstDash val="solid"/>
            <a:round/>
            <a:headEnd type="triangle" w="med" len="med"/>
            <a:tailEnd type="triangle" w="med" len="med"/>
          </a:ln>
        </p:spPr>
      </p:cxnSp>
      <p:cxnSp>
        <p:nvCxnSpPr>
          <p:cNvPr id="564" name="Google Shape;564;p29">
            <a:extLst>
              <a:ext uri="{FF2B5EF4-FFF2-40B4-BE49-F238E27FC236}">
                <a16:creationId xmlns:a16="http://schemas.microsoft.com/office/drawing/2014/main" id="{11353EDD-45DC-B744-F604-4435A0D5FE4D}"/>
              </a:ext>
            </a:extLst>
          </p:cNvPr>
          <p:cNvCxnSpPr/>
          <p:nvPr/>
        </p:nvCxnSpPr>
        <p:spPr>
          <a:xfrm>
            <a:off x="8727249" y="4715435"/>
            <a:ext cx="720400" cy="0"/>
          </a:xfrm>
          <a:prstGeom prst="straightConnector1">
            <a:avLst/>
          </a:prstGeom>
          <a:noFill/>
          <a:ln w="19050" cap="rnd" cmpd="sng">
            <a:solidFill>
              <a:schemeClr val="dk1"/>
            </a:solidFill>
            <a:prstDash val="solid"/>
            <a:round/>
            <a:headEnd type="triangle" w="med" len="med"/>
            <a:tailEnd type="triangle" w="med" len="med"/>
          </a:ln>
        </p:spPr>
      </p:cxnSp>
      <p:sp>
        <p:nvSpPr>
          <p:cNvPr id="565" name="Google Shape;565;p29">
            <a:extLst>
              <a:ext uri="{FF2B5EF4-FFF2-40B4-BE49-F238E27FC236}">
                <a16:creationId xmlns:a16="http://schemas.microsoft.com/office/drawing/2014/main" id="{9413DF22-4383-B597-E7EC-0E1478BC8992}"/>
              </a:ext>
            </a:extLst>
          </p:cNvPr>
          <p:cNvSpPr txBox="1"/>
          <p:nvPr/>
        </p:nvSpPr>
        <p:spPr>
          <a:xfrm>
            <a:off x="9969763" y="2007000"/>
            <a:ext cx="12956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pc+4</a:t>
            </a:r>
            <a:endParaRPr sz="1867" kern="0">
              <a:solidFill>
                <a:srgbClr val="F2F2F2"/>
              </a:solidFill>
              <a:latin typeface="Inter"/>
              <a:ea typeface="Inter"/>
              <a:cs typeface="Inter"/>
              <a:sym typeface="Inter"/>
            </a:endParaRPr>
          </a:p>
        </p:txBody>
      </p:sp>
      <p:sp>
        <p:nvSpPr>
          <p:cNvPr id="566" name="Google Shape;566;p29">
            <a:extLst>
              <a:ext uri="{FF2B5EF4-FFF2-40B4-BE49-F238E27FC236}">
                <a16:creationId xmlns:a16="http://schemas.microsoft.com/office/drawing/2014/main" id="{DD71B484-FA35-FB17-E222-F58BB9967507}"/>
              </a:ext>
            </a:extLst>
          </p:cNvPr>
          <p:cNvSpPr txBox="1"/>
          <p:nvPr/>
        </p:nvSpPr>
        <p:spPr>
          <a:xfrm>
            <a:off x="2431732" y="2004334"/>
            <a:ext cx="6988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old</a:t>
            </a:r>
            <a:endParaRPr sz="1867" kern="0">
              <a:solidFill>
                <a:srgbClr val="F2F2F2"/>
              </a:solidFill>
              <a:latin typeface="Inter"/>
              <a:ea typeface="Inter"/>
              <a:cs typeface="Inter"/>
              <a:sym typeface="Inter"/>
            </a:endParaRPr>
          </a:p>
        </p:txBody>
      </p:sp>
      <p:sp>
        <p:nvSpPr>
          <p:cNvPr id="567" name="Google Shape;567;p29">
            <a:extLst>
              <a:ext uri="{FF2B5EF4-FFF2-40B4-BE49-F238E27FC236}">
                <a16:creationId xmlns:a16="http://schemas.microsoft.com/office/drawing/2014/main" id="{88F17D02-B46B-13B9-DA07-37205D9D353E}"/>
              </a:ext>
            </a:extLst>
          </p:cNvPr>
          <p:cNvSpPr txBox="1"/>
          <p:nvPr/>
        </p:nvSpPr>
        <p:spPr>
          <a:xfrm>
            <a:off x="3598763" y="2498291"/>
            <a:ext cx="6988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old</a:t>
            </a:r>
            <a:endParaRPr sz="1867" kern="0">
              <a:solidFill>
                <a:srgbClr val="F2F2F2"/>
              </a:solidFill>
              <a:latin typeface="Inter"/>
              <a:ea typeface="Inter"/>
              <a:cs typeface="Inter"/>
              <a:sym typeface="Inter"/>
            </a:endParaRPr>
          </a:p>
        </p:txBody>
      </p:sp>
      <p:sp>
        <p:nvSpPr>
          <p:cNvPr id="568" name="Google Shape;568;p29">
            <a:extLst>
              <a:ext uri="{FF2B5EF4-FFF2-40B4-BE49-F238E27FC236}">
                <a16:creationId xmlns:a16="http://schemas.microsoft.com/office/drawing/2014/main" id="{E79DDCFD-F084-8415-BD6E-7C97AC63FE20}"/>
              </a:ext>
            </a:extLst>
          </p:cNvPr>
          <p:cNvSpPr txBox="1"/>
          <p:nvPr/>
        </p:nvSpPr>
        <p:spPr>
          <a:xfrm>
            <a:off x="4765795" y="2992250"/>
            <a:ext cx="6988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old</a:t>
            </a:r>
            <a:endParaRPr sz="1867" kern="0">
              <a:solidFill>
                <a:srgbClr val="F2F2F2"/>
              </a:solidFill>
              <a:latin typeface="Inter"/>
              <a:ea typeface="Inter"/>
              <a:cs typeface="Inter"/>
              <a:sym typeface="Inter"/>
            </a:endParaRPr>
          </a:p>
        </p:txBody>
      </p:sp>
      <p:sp>
        <p:nvSpPr>
          <p:cNvPr id="569" name="Google Shape;569;p29">
            <a:extLst>
              <a:ext uri="{FF2B5EF4-FFF2-40B4-BE49-F238E27FC236}">
                <a16:creationId xmlns:a16="http://schemas.microsoft.com/office/drawing/2014/main" id="{6E64B16D-0CB4-865A-2146-936A0796300A}"/>
              </a:ext>
            </a:extLst>
          </p:cNvPr>
          <p:cNvSpPr txBox="1"/>
          <p:nvPr/>
        </p:nvSpPr>
        <p:spPr>
          <a:xfrm>
            <a:off x="6177353" y="3486207"/>
            <a:ext cx="6988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old</a:t>
            </a:r>
            <a:endParaRPr sz="1867" kern="0">
              <a:solidFill>
                <a:srgbClr val="F2F2F2"/>
              </a:solidFill>
              <a:latin typeface="Inter"/>
              <a:ea typeface="Inter"/>
              <a:cs typeface="Inter"/>
              <a:sym typeface="Inter"/>
            </a:endParaRPr>
          </a:p>
        </p:txBody>
      </p:sp>
      <p:sp>
        <p:nvSpPr>
          <p:cNvPr id="570" name="Google Shape;570;p29">
            <a:extLst>
              <a:ext uri="{FF2B5EF4-FFF2-40B4-BE49-F238E27FC236}">
                <a16:creationId xmlns:a16="http://schemas.microsoft.com/office/drawing/2014/main" id="{4D05AA8E-82BF-8159-64CD-CE3FFDA7CA8E}"/>
              </a:ext>
            </a:extLst>
          </p:cNvPr>
          <p:cNvSpPr txBox="1"/>
          <p:nvPr/>
        </p:nvSpPr>
        <p:spPr>
          <a:xfrm>
            <a:off x="7530103" y="3918667"/>
            <a:ext cx="9912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old</a:t>
            </a:r>
            <a:endParaRPr sz="1867" kern="0">
              <a:solidFill>
                <a:srgbClr val="F2F2F2"/>
              </a:solidFill>
              <a:latin typeface="Inter"/>
              <a:ea typeface="Inter"/>
              <a:cs typeface="Inter"/>
              <a:sym typeface="Inter"/>
            </a:endParaRPr>
          </a:p>
        </p:txBody>
      </p:sp>
      <p:sp>
        <p:nvSpPr>
          <p:cNvPr id="571" name="Google Shape;571;p29">
            <a:extLst>
              <a:ext uri="{FF2B5EF4-FFF2-40B4-BE49-F238E27FC236}">
                <a16:creationId xmlns:a16="http://schemas.microsoft.com/office/drawing/2014/main" id="{6A324C21-1EC2-9F2B-8B33-68674D28FB88}"/>
              </a:ext>
            </a:extLst>
          </p:cNvPr>
          <p:cNvSpPr txBox="1"/>
          <p:nvPr/>
        </p:nvSpPr>
        <p:spPr>
          <a:xfrm>
            <a:off x="7118165" y="2508467"/>
            <a:ext cx="19860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instruction</a:t>
            </a:r>
            <a:endParaRPr sz="1867" kern="0">
              <a:solidFill>
                <a:srgbClr val="F2F2F2"/>
              </a:solidFill>
              <a:latin typeface="Inter"/>
              <a:ea typeface="Inter"/>
              <a:cs typeface="Inter"/>
              <a:sym typeface="Inter"/>
            </a:endParaRPr>
          </a:p>
        </p:txBody>
      </p:sp>
      <p:sp>
        <p:nvSpPr>
          <p:cNvPr id="572" name="Google Shape;572;p29">
            <a:extLst>
              <a:ext uri="{FF2B5EF4-FFF2-40B4-BE49-F238E27FC236}">
                <a16:creationId xmlns:a16="http://schemas.microsoft.com/office/drawing/2014/main" id="{D91832E5-634F-66F7-BB00-A3E2F610179A}"/>
              </a:ext>
            </a:extLst>
          </p:cNvPr>
          <p:cNvSpPr txBox="1"/>
          <p:nvPr/>
        </p:nvSpPr>
        <p:spPr>
          <a:xfrm>
            <a:off x="7364605" y="2978833"/>
            <a:ext cx="23696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register out</a:t>
            </a:r>
            <a:endParaRPr sz="1867" kern="0">
              <a:solidFill>
                <a:srgbClr val="F2F2F2"/>
              </a:solidFill>
              <a:latin typeface="Inter"/>
              <a:ea typeface="Inter"/>
              <a:cs typeface="Inter"/>
              <a:sym typeface="Inter"/>
            </a:endParaRPr>
          </a:p>
        </p:txBody>
      </p:sp>
      <p:sp>
        <p:nvSpPr>
          <p:cNvPr id="573" name="Google Shape;573;p29">
            <a:extLst>
              <a:ext uri="{FF2B5EF4-FFF2-40B4-BE49-F238E27FC236}">
                <a16:creationId xmlns:a16="http://schemas.microsoft.com/office/drawing/2014/main" id="{53CCD0AE-D4E4-1A37-03CF-2D2C60C3604E}"/>
              </a:ext>
            </a:extLst>
          </p:cNvPr>
          <p:cNvSpPr txBox="1"/>
          <p:nvPr/>
        </p:nvSpPr>
        <p:spPr>
          <a:xfrm>
            <a:off x="8314968" y="3464000"/>
            <a:ext cx="25656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ALU result</a:t>
            </a:r>
            <a:endParaRPr sz="1867" kern="0">
              <a:solidFill>
                <a:srgbClr val="F2F2F2"/>
              </a:solidFill>
              <a:latin typeface="Inter"/>
              <a:ea typeface="Inter"/>
              <a:cs typeface="Inter"/>
              <a:sym typeface="Inter"/>
            </a:endParaRPr>
          </a:p>
        </p:txBody>
      </p:sp>
      <p:sp>
        <p:nvSpPr>
          <p:cNvPr id="574" name="Google Shape;574;p29">
            <a:extLst>
              <a:ext uri="{FF2B5EF4-FFF2-40B4-BE49-F238E27FC236}">
                <a16:creationId xmlns:a16="http://schemas.microsoft.com/office/drawing/2014/main" id="{0F05F13A-CF76-C2DE-C67A-F1FE42EE7434}"/>
              </a:ext>
            </a:extLst>
          </p:cNvPr>
          <p:cNvSpPr txBox="1"/>
          <p:nvPr/>
        </p:nvSpPr>
        <p:spPr>
          <a:xfrm>
            <a:off x="8993932" y="3904333"/>
            <a:ext cx="28152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memory data</a:t>
            </a:r>
            <a:endParaRPr sz="1867" kern="0">
              <a:solidFill>
                <a:srgbClr val="F2F2F2"/>
              </a:solidFill>
              <a:latin typeface="Inter"/>
              <a:ea typeface="Inter"/>
              <a:cs typeface="Inter"/>
              <a:sym typeface="Inter"/>
            </a:endParaRPr>
          </a:p>
        </p:txBody>
      </p:sp>
      <p:sp>
        <p:nvSpPr>
          <p:cNvPr id="575" name="Google Shape;575;p29">
            <a:extLst>
              <a:ext uri="{FF2B5EF4-FFF2-40B4-BE49-F238E27FC236}">
                <a16:creationId xmlns:a16="http://schemas.microsoft.com/office/drawing/2014/main" id="{3CF69F36-1184-CD3A-2815-EC0CBBBDC008}"/>
              </a:ext>
            </a:extLst>
          </p:cNvPr>
          <p:cNvSpPr txBox="1"/>
          <p:nvPr/>
        </p:nvSpPr>
        <p:spPr>
          <a:xfrm>
            <a:off x="3086933" y="4777255"/>
            <a:ext cx="7904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t</a:t>
            </a:r>
            <a:r>
              <a:rPr lang="en" sz="2400" kern="0" baseline="-25000">
                <a:solidFill>
                  <a:srgbClr val="F2F2F2"/>
                </a:solidFill>
                <a:latin typeface="Inter"/>
                <a:ea typeface="Inter"/>
                <a:cs typeface="Inter"/>
                <a:sym typeface="Inter"/>
              </a:rPr>
              <a:t>IF</a:t>
            </a:r>
            <a:endParaRPr sz="2400" kern="0" baseline="-25000">
              <a:solidFill>
                <a:srgbClr val="F2F2F2"/>
              </a:solidFill>
              <a:latin typeface="Inter"/>
              <a:ea typeface="Inter"/>
              <a:cs typeface="Inter"/>
              <a:sym typeface="Inter"/>
            </a:endParaRPr>
          </a:p>
        </p:txBody>
      </p:sp>
      <p:sp>
        <p:nvSpPr>
          <p:cNvPr id="576" name="Google Shape;576;p29">
            <a:extLst>
              <a:ext uri="{FF2B5EF4-FFF2-40B4-BE49-F238E27FC236}">
                <a16:creationId xmlns:a16="http://schemas.microsoft.com/office/drawing/2014/main" id="{0ABE413E-40E1-F438-30C3-98695E541505}"/>
              </a:ext>
            </a:extLst>
          </p:cNvPr>
          <p:cNvSpPr txBox="1"/>
          <p:nvPr/>
        </p:nvSpPr>
        <p:spPr>
          <a:xfrm>
            <a:off x="4511860" y="4751855"/>
            <a:ext cx="7904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t</a:t>
            </a:r>
            <a:r>
              <a:rPr lang="en" sz="2400" kern="0" baseline="-25000">
                <a:solidFill>
                  <a:srgbClr val="F2F2F2"/>
                </a:solidFill>
                <a:latin typeface="Inter"/>
                <a:ea typeface="Inter"/>
                <a:cs typeface="Inter"/>
                <a:sym typeface="Inter"/>
              </a:rPr>
              <a:t>ID</a:t>
            </a:r>
            <a:endParaRPr sz="2400" kern="0" baseline="-25000">
              <a:solidFill>
                <a:srgbClr val="F2F2F2"/>
              </a:solidFill>
              <a:latin typeface="Inter"/>
              <a:ea typeface="Inter"/>
              <a:cs typeface="Inter"/>
              <a:sym typeface="Inter"/>
            </a:endParaRPr>
          </a:p>
        </p:txBody>
      </p:sp>
      <p:sp>
        <p:nvSpPr>
          <p:cNvPr id="577" name="Google Shape;577;p29">
            <a:extLst>
              <a:ext uri="{FF2B5EF4-FFF2-40B4-BE49-F238E27FC236}">
                <a16:creationId xmlns:a16="http://schemas.microsoft.com/office/drawing/2014/main" id="{B492D658-0502-0D94-9E0F-0E326573DB39}"/>
              </a:ext>
            </a:extLst>
          </p:cNvPr>
          <p:cNvSpPr txBox="1"/>
          <p:nvPr/>
        </p:nvSpPr>
        <p:spPr>
          <a:xfrm>
            <a:off x="5932603" y="4739988"/>
            <a:ext cx="7904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t</a:t>
            </a:r>
            <a:r>
              <a:rPr lang="en" sz="2400" kern="0" baseline="-25000">
                <a:solidFill>
                  <a:srgbClr val="F2F2F2"/>
                </a:solidFill>
                <a:latin typeface="Inter"/>
                <a:ea typeface="Inter"/>
                <a:cs typeface="Inter"/>
                <a:sym typeface="Inter"/>
              </a:rPr>
              <a:t>EX</a:t>
            </a:r>
            <a:endParaRPr sz="2400" kern="0" baseline="-25000">
              <a:solidFill>
                <a:srgbClr val="F2F2F2"/>
              </a:solidFill>
              <a:latin typeface="Inter"/>
              <a:ea typeface="Inter"/>
              <a:cs typeface="Inter"/>
              <a:sym typeface="Inter"/>
            </a:endParaRPr>
          </a:p>
        </p:txBody>
      </p:sp>
      <p:sp>
        <p:nvSpPr>
          <p:cNvPr id="578" name="Google Shape;578;p29">
            <a:extLst>
              <a:ext uri="{FF2B5EF4-FFF2-40B4-BE49-F238E27FC236}">
                <a16:creationId xmlns:a16="http://schemas.microsoft.com/office/drawing/2014/main" id="{80A399DB-0E85-C303-9C0A-228B35B6071F}"/>
              </a:ext>
            </a:extLst>
          </p:cNvPr>
          <p:cNvSpPr txBox="1"/>
          <p:nvPr/>
        </p:nvSpPr>
        <p:spPr>
          <a:xfrm>
            <a:off x="7481252" y="4748555"/>
            <a:ext cx="1122753"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t</a:t>
            </a:r>
            <a:r>
              <a:rPr lang="en" sz="2400" kern="0" baseline="-25000">
                <a:solidFill>
                  <a:srgbClr val="F2F2F2"/>
                </a:solidFill>
                <a:latin typeface="Inter"/>
                <a:ea typeface="Inter"/>
                <a:cs typeface="Inter"/>
                <a:sym typeface="Inter"/>
              </a:rPr>
              <a:t>MEM</a:t>
            </a:r>
            <a:endParaRPr sz="2400" kern="0" baseline="-25000">
              <a:solidFill>
                <a:srgbClr val="F2F2F2"/>
              </a:solidFill>
              <a:latin typeface="Inter"/>
              <a:ea typeface="Inter"/>
              <a:cs typeface="Inter"/>
              <a:sym typeface="Inter"/>
            </a:endParaRPr>
          </a:p>
        </p:txBody>
      </p:sp>
      <p:sp>
        <p:nvSpPr>
          <p:cNvPr id="579" name="Google Shape;579;p29">
            <a:extLst>
              <a:ext uri="{FF2B5EF4-FFF2-40B4-BE49-F238E27FC236}">
                <a16:creationId xmlns:a16="http://schemas.microsoft.com/office/drawing/2014/main" id="{CF8ECA3E-336F-B90E-4262-6A330F17D428}"/>
              </a:ext>
            </a:extLst>
          </p:cNvPr>
          <p:cNvSpPr txBox="1"/>
          <p:nvPr/>
        </p:nvSpPr>
        <p:spPr>
          <a:xfrm>
            <a:off x="8854871" y="4757988"/>
            <a:ext cx="991200" cy="49238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400" kern="0">
                <a:solidFill>
                  <a:srgbClr val="F2F2F2"/>
                </a:solidFill>
                <a:latin typeface="Inter"/>
                <a:ea typeface="Inter"/>
                <a:cs typeface="Inter"/>
                <a:sym typeface="Inter"/>
              </a:rPr>
              <a:t>t</a:t>
            </a:r>
            <a:r>
              <a:rPr lang="en" sz="2400" kern="0" baseline="-25000">
                <a:solidFill>
                  <a:srgbClr val="F2F2F2"/>
                </a:solidFill>
                <a:latin typeface="Inter"/>
                <a:ea typeface="Inter"/>
                <a:cs typeface="Inter"/>
                <a:sym typeface="Inter"/>
              </a:rPr>
              <a:t>WB</a:t>
            </a:r>
            <a:endParaRPr sz="2400" kern="0" baseline="-25000">
              <a:solidFill>
                <a:srgbClr val="F2F2F2"/>
              </a:solidFill>
              <a:latin typeface="Inter"/>
              <a:ea typeface="Inter"/>
              <a:cs typeface="Inter"/>
              <a:sym typeface="Inter"/>
            </a:endParaRPr>
          </a:p>
        </p:txBody>
      </p:sp>
    </p:spTree>
    <p:extLst>
      <p:ext uri="{BB962C8B-B14F-4D97-AF65-F5344CB8AC3E}">
        <p14:creationId xmlns:p14="http://schemas.microsoft.com/office/powerpoint/2010/main" val="3217674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Timing</a:t>
            </a:r>
          </a:p>
        </p:txBody>
      </p:sp>
      <p:graphicFrame>
        <p:nvGraphicFramePr>
          <p:cNvPr id="8" name="Content Placeholder 7"/>
          <p:cNvGraphicFramePr>
            <a:graphicFrameLocks noGrp="1"/>
          </p:cNvGraphicFramePr>
          <p:nvPr>
            <p:ph idx="1"/>
          </p:nvPr>
        </p:nvGraphicFramePr>
        <p:xfrm>
          <a:off x="3544080" y="4565757"/>
          <a:ext cx="8444720" cy="1508760"/>
        </p:xfrm>
        <a:graphic>
          <a:graphicData uri="http://schemas.openxmlformats.org/drawingml/2006/table">
            <a:tbl>
              <a:tblPr firstRow="1" bandRow="1">
                <a:tableStyleId>{5C22544A-7EE6-4342-B048-85BDC9FD1C3A}</a:tableStyleId>
              </a:tblPr>
              <a:tblGrid>
                <a:gridCol w="1407453">
                  <a:extLst>
                    <a:ext uri="{9D8B030D-6E8A-4147-A177-3AD203B41FA5}">
                      <a16:colId xmlns:a16="http://schemas.microsoft.com/office/drawing/2014/main" val="20000"/>
                    </a:ext>
                  </a:extLst>
                </a:gridCol>
                <a:gridCol w="1632043">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gridCol w="1422400">
                  <a:extLst>
                    <a:ext uri="{9D8B030D-6E8A-4147-A177-3AD203B41FA5}">
                      <a16:colId xmlns:a16="http://schemas.microsoft.com/office/drawing/2014/main" val="20003"/>
                    </a:ext>
                  </a:extLst>
                </a:gridCol>
                <a:gridCol w="1320800">
                  <a:extLst>
                    <a:ext uri="{9D8B030D-6E8A-4147-A177-3AD203B41FA5}">
                      <a16:colId xmlns:a16="http://schemas.microsoft.com/office/drawing/2014/main" val="20004"/>
                    </a:ext>
                  </a:extLst>
                </a:gridCol>
                <a:gridCol w="1239624">
                  <a:extLst>
                    <a:ext uri="{9D8B030D-6E8A-4147-A177-3AD203B41FA5}">
                      <a16:colId xmlns:a16="http://schemas.microsoft.com/office/drawing/2014/main" val="20005"/>
                    </a:ext>
                  </a:extLst>
                </a:gridCol>
              </a:tblGrid>
              <a:tr h="497840">
                <a:tc>
                  <a:txBody>
                    <a:bodyPr/>
                    <a:lstStyle/>
                    <a:p>
                      <a:pPr algn="ctr"/>
                      <a:r>
                        <a:rPr lang="en-US" sz="2700" dirty="0">
                          <a:solidFill>
                            <a:schemeClr val="tx1"/>
                          </a:solidFill>
                          <a:latin typeface="VAG Rundschrift D Light"/>
                        </a:rPr>
                        <a:t>IF</a:t>
                      </a:r>
                    </a:p>
                  </a:txBody>
                  <a:tcPr marL="135063" marR="135063">
                    <a:noFill/>
                  </a:tcPr>
                </a:tc>
                <a:tc>
                  <a:txBody>
                    <a:bodyPr/>
                    <a:lstStyle/>
                    <a:p>
                      <a:pPr algn="ctr"/>
                      <a:r>
                        <a:rPr lang="en-US" sz="2700" dirty="0">
                          <a:solidFill>
                            <a:schemeClr val="tx1"/>
                          </a:solidFill>
                          <a:latin typeface="VAG Rundschrift D Light"/>
                        </a:rPr>
                        <a:t>ID</a:t>
                      </a:r>
                    </a:p>
                  </a:txBody>
                  <a:tcPr marL="135063" marR="135063">
                    <a:noFill/>
                  </a:tcPr>
                </a:tc>
                <a:tc>
                  <a:txBody>
                    <a:bodyPr/>
                    <a:lstStyle/>
                    <a:p>
                      <a:pPr algn="ctr"/>
                      <a:r>
                        <a:rPr lang="en-US" sz="2700" dirty="0">
                          <a:solidFill>
                            <a:schemeClr val="tx1"/>
                          </a:solidFill>
                          <a:latin typeface="VAG Rundschrift D Light"/>
                        </a:rPr>
                        <a:t>EX</a:t>
                      </a:r>
                    </a:p>
                  </a:txBody>
                  <a:tcPr marL="135063" marR="135063">
                    <a:noFill/>
                  </a:tcPr>
                </a:tc>
                <a:tc>
                  <a:txBody>
                    <a:bodyPr/>
                    <a:lstStyle/>
                    <a:p>
                      <a:pPr algn="ctr"/>
                      <a:r>
                        <a:rPr lang="en-US" sz="2700" dirty="0">
                          <a:solidFill>
                            <a:schemeClr val="tx1"/>
                          </a:solidFill>
                          <a:latin typeface="VAG Rundschrift D Light"/>
                        </a:rPr>
                        <a:t>MEM</a:t>
                      </a:r>
                    </a:p>
                  </a:txBody>
                  <a:tcPr marL="135063" marR="135063">
                    <a:noFill/>
                  </a:tcPr>
                </a:tc>
                <a:tc>
                  <a:txBody>
                    <a:bodyPr/>
                    <a:lstStyle/>
                    <a:p>
                      <a:pPr algn="ctr"/>
                      <a:r>
                        <a:rPr lang="en-US" sz="2700" dirty="0">
                          <a:solidFill>
                            <a:schemeClr val="tx1"/>
                          </a:solidFill>
                          <a:latin typeface="VAG Rundschrift D Light"/>
                        </a:rPr>
                        <a:t>WB</a:t>
                      </a:r>
                    </a:p>
                  </a:txBody>
                  <a:tcPr marL="135063" marR="135063">
                    <a:noFill/>
                  </a:tcPr>
                </a:tc>
                <a:tc>
                  <a:txBody>
                    <a:bodyPr/>
                    <a:lstStyle/>
                    <a:p>
                      <a:pPr algn="ctr"/>
                      <a:r>
                        <a:rPr lang="en-US" sz="2700" dirty="0">
                          <a:solidFill>
                            <a:schemeClr val="tx1"/>
                          </a:solidFill>
                          <a:latin typeface="VAG Rundschrift D Light"/>
                        </a:rPr>
                        <a:t>Total</a:t>
                      </a:r>
                    </a:p>
                  </a:txBody>
                  <a:tcPr marL="135063" marR="135063">
                    <a:noFill/>
                  </a:tcPr>
                </a:tc>
                <a:extLst>
                  <a:ext uri="{0D108BD9-81ED-4DB2-BD59-A6C34878D82A}">
                    <a16:rowId xmlns:a16="http://schemas.microsoft.com/office/drawing/2014/main" val="10000"/>
                  </a:ext>
                </a:extLst>
              </a:tr>
              <a:tr h="497840">
                <a:tc>
                  <a:txBody>
                    <a:bodyPr/>
                    <a:lstStyle/>
                    <a:p>
                      <a:pPr algn="ctr"/>
                      <a:r>
                        <a:rPr lang="en-US" sz="2700" dirty="0">
                          <a:solidFill>
                            <a:schemeClr val="tx1"/>
                          </a:solidFill>
                          <a:latin typeface="VAG Rundschrift D Light"/>
                        </a:rPr>
                        <a:t>I-MEM</a:t>
                      </a:r>
                    </a:p>
                  </a:txBody>
                  <a:tcPr marL="135063" marR="135063">
                    <a:noFill/>
                  </a:tcPr>
                </a:tc>
                <a:tc>
                  <a:txBody>
                    <a:bodyPr/>
                    <a:lstStyle/>
                    <a:p>
                      <a:pPr algn="ctr"/>
                      <a:r>
                        <a:rPr lang="en-US" sz="2700" dirty="0" err="1">
                          <a:solidFill>
                            <a:schemeClr val="tx1"/>
                          </a:solidFill>
                          <a:latin typeface="VAG Rundschrift D Light"/>
                        </a:rPr>
                        <a:t>Reg</a:t>
                      </a:r>
                      <a:r>
                        <a:rPr lang="en-US" sz="2700" dirty="0">
                          <a:solidFill>
                            <a:schemeClr val="tx1"/>
                          </a:solidFill>
                          <a:latin typeface="VAG Rundschrift D Light"/>
                        </a:rPr>
                        <a:t> Read</a:t>
                      </a:r>
                    </a:p>
                  </a:txBody>
                  <a:tcPr marL="135063" marR="135063">
                    <a:noFill/>
                  </a:tcPr>
                </a:tc>
                <a:tc>
                  <a:txBody>
                    <a:bodyPr/>
                    <a:lstStyle/>
                    <a:p>
                      <a:pPr algn="ctr"/>
                      <a:r>
                        <a:rPr lang="en-US" sz="2700" dirty="0">
                          <a:solidFill>
                            <a:schemeClr val="tx1"/>
                          </a:solidFill>
                          <a:latin typeface="VAG Rundschrift D Light"/>
                        </a:rPr>
                        <a:t>ALU</a:t>
                      </a:r>
                    </a:p>
                  </a:txBody>
                  <a:tcPr marL="135063" marR="135063">
                    <a:noFill/>
                  </a:tcPr>
                </a:tc>
                <a:tc>
                  <a:txBody>
                    <a:bodyPr/>
                    <a:lstStyle/>
                    <a:p>
                      <a:pPr algn="ctr"/>
                      <a:r>
                        <a:rPr lang="en-US" sz="2700" dirty="0">
                          <a:solidFill>
                            <a:schemeClr val="tx1"/>
                          </a:solidFill>
                          <a:latin typeface="VAG Rundschrift D Light"/>
                        </a:rPr>
                        <a:t>D-MEM</a:t>
                      </a:r>
                    </a:p>
                  </a:txBody>
                  <a:tcPr marL="135063" marR="135063">
                    <a:noFill/>
                  </a:tcPr>
                </a:tc>
                <a:tc>
                  <a:txBody>
                    <a:bodyPr/>
                    <a:lstStyle/>
                    <a:p>
                      <a:pPr algn="ctr"/>
                      <a:r>
                        <a:rPr lang="en-US" sz="2700" dirty="0" err="1">
                          <a:solidFill>
                            <a:schemeClr val="tx1"/>
                          </a:solidFill>
                          <a:latin typeface="VAG Rundschrift D Light"/>
                        </a:rPr>
                        <a:t>Reg</a:t>
                      </a:r>
                      <a:r>
                        <a:rPr lang="en-US" sz="2700" dirty="0">
                          <a:solidFill>
                            <a:schemeClr val="tx1"/>
                          </a:solidFill>
                          <a:latin typeface="VAG Rundschrift D Light"/>
                        </a:rPr>
                        <a:t> W</a:t>
                      </a:r>
                    </a:p>
                  </a:txBody>
                  <a:tcPr marL="135063" marR="135063">
                    <a:noFill/>
                  </a:tcPr>
                </a:tc>
                <a:tc>
                  <a:txBody>
                    <a:bodyPr/>
                    <a:lstStyle/>
                    <a:p>
                      <a:pPr algn="ctr"/>
                      <a:endParaRPr lang="en-US" sz="2700" dirty="0">
                        <a:solidFill>
                          <a:schemeClr val="tx1"/>
                        </a:solidFill>
                        <a:latin typeface="VAG Rundschrift D Light"/>
                      </a:endParaRPr>
                    </a:p>
                  </a:txBody>
                  <a:tcPr marL="135063" marR="135063">
                    <a:noFill/>
                  </a:tcPr>
                </a:tc>
                <a:extLst>
                  <a:ext uri="{0D108BD9-81ED-4DB2-BD59-A6C34878D82A}">
                    <a16:rowId xmlns:a16="http://schemas.microsoft.com/office/drawing/2014/main" val="10001"/>
                  </a:ext>
                </a:extLst>
              </a:tr>
              <a:tr h="497840">
                <a:tc>
                  <a:txBody>
                    <a:bodyPr/>
                    <a:lstStyle/>
                    <a:p>
                      <a:pPr algn="ctr"/>
                      <a:r>
                        <a:rPr lang="en-US" sz="2700" dirty="0">
                          <a:solidFill>
                            <a:schemeClr val="tx1"/>
                          </a:solidFill>
                          <a:latin typeface="VAG Rundschrift D Light"/>
                        </a:rPr>
                        <a:t>200</a:t>
                      </a:r>
                      <a:r>
                        <a:rPr lang="en-US" sz="2700" baseline="0" dirty="0">
                          <a:solidFill>
                            <a:schemeClr val="tx1"/>
                          </a:solidFill>
                          <a:latin typeface="VAG Rundschrift D Light"/>
                        </a:rPr>
                        <a:t> </a:t>
                      </a:r>
                      <a:r>
                        <a:rPr lang="en-US" sz="2700" baseline="0" dirty="0" err="1">
                          <a:solidFill>
                            <a:schemeClr val="tx1"/>
                          </a:solidFill>
                          <a:latin typeface="VAG Rundschrift D Light"/>
                        </a:rPr>
                        <a:t>ps</a:t>
                      </a:r>
                      <a:endParaRPr lang="en-US" sz="2700" dirty="0">
                        <a:solidFill>
                          <a:schemeClr val="tx1"/>
                        </a:solidFill>
                        <a:latin typeface="VAG Rundschrift D Light"/>
                      </a:endParaRPr>
                    </a:p>
                  </a:txBody>
                  <a:tcPr marL="135063" marR="135063">
                    <a:noFill/>
                  </a:tcPr>
                </a:tc>
                <a:tc>
                  <a:txBody>
                    <a:bodyPr/>
                    <a:lstStyle/>
                    <a:p>
                      <a:pPr algn="ctr"/>
                      <a:r>
                        <a:rPr lang="en-US" sz="2700" baseline="0" dirty="0">
                          <a:solidFill>
                            <a:schemeClr val="tx1"/>
                          </a:solidFill>
                          <a:latin typeface="VAG Rundschrift D Light"/>
                        </a:rPr>
                        <a:t>100 </a:t>
                      </a:r>
                      <a:r>
                        <a:rPr lang="en-US" sz="2700" baseline="0" dirty="0" err="1">
                          <a:solidFill>
                            <a:schemeClr val="tx1"/>
                          </a:solidFill>
                          <a:latin typeface="VAG Rundschrift D Light"/>
                        </a:rPr>
                        <a:t>ps</a:t>
                      </a:r>
                      <a:endParaRPr lang="en-US" sz="2700" dirty="0">
                        <a:solidFill>
                          <a:schemeClr val="tx1"/>
                        </a:solidFill>
                        <a:latin typeface="VAG Rundschrift D Light"/>
                      </a:endParaRPr>
                    </a:p>
                  </a:txBody>
                  <a:tcPr marL="135063" marR="135063">
                    <a:noFill/>
                  </a:tcPr>
                </a:tc>
                <a:tc>
                  <a:txBody>
                    <a:bodyPr/>
                    <a:lstStyle/>
                    <a:p>
                      <a:pPr algn="ctr"/>
                      <a:r>
                        <a:rPr lang="en-US" sz="2700" dirty="0">
                          <a:solidFill>
                            <a:schemeClr val="tx1"/>
                          </a:solidFill>
                          <a:latin typeface="VAG Rundschrift D Light"/>
                        </a:rPr>
                        <a:t>200</a:t>
                      </a:r>
                      <a:r>
                        <a:rPr lang="en-US" sz="2700" baseline="0" dirty="0">
                          <a:solidFill>
                            <a:schemeClr val="tx1"/>
                          </a:solidFill>
                          <a:latin typeface="VAG Rundschrift D Light"/>
                        </a:rPr>
                        <a:t> </a:t>
                      </a:r>
                      <a:r>
                        <a:rPr lang="en-US" sz="2700" baseline="0" dirty="0" err="1">
                          <a:solidFill>
                            <a:schemeClr val="tx1"/>
                          </a:solidFill>
                          <a:latin typeface="VAG Rundschrift D Light"/>
                        </a:rPr>
                        <a:t>ps</a:t>
                      </a:r>
                      <a:endParaRPr lang="en-US" sz="2700" dirty="0">
                        <a:solidFill>
                          <a:schemeClr val="tx1"/>
                        </a:solidFill>
                        <a:latin typeface="VAG Rundschrift D Light"/>
                      </a:endParaRPr>
                    </a:p>
                  </a:txBody>
                  <a:tcPr marL="135063" marR="135063">
                    <a:noFill/>
                  </a:tcPr>
                </a:tc>
                <a:tc>
                  <a:txBody>
                    <a:bodyPr/>
                    <a:lstStyle/>
                    <a:p>
                      <a:pPr algn="ctr"/>
                      <a:r>
                        <a:rPr lang="en-US" sz="2700" dirty="0">
                          <a:solidFill>
                            <a:schemeClr val="tx1"/>
                          </a:solidFill>
                          <a:latin typeface="VAG Rundschrift D Light"/>
                        </a:rPr>
                        <a:t>200 </a:t>
                      </a:r>
                      <a:r>
                        <a:rPr lang="en-US" sz="2700" dirty="0" err="1">
                          <a:solidFill>
                            <a:schemeClr val="tx1"/>
                          </a:solidFill>
                          <a:latin typeface="VAG Rundschrift D Light"/>
                        </a:rPr>
                        <a:t>ps</a:t>
                      </a:r>
                      <a:endParaRPr lang="en-US" sz="2700" dirty="0">
                        <a:solidFill>
                          <a:schemeClr val="tx1"/>
                        </a:solidFill>
                        <a:latin typeface="VAG Rundschrift D Light"/>
                      </a:endParaRPr>
                    </a:p>
                  </a:txBody>
                  <a:tcPr marL="135063" marR="135063">
                    <a:noFill/>
                  </a:tcPr>
                </a:tc>
                <a:tc>
                  <a:txBody>
                    <a:bodyPr/>
                    <a:lstStyle/>
                    <a:p>
                      <a:pPr algn="ctr"/>
                      <a:r>
                        <a:rPr lang="en-US" sz="2700" dirty="0">
                          <a:solidFill>
                            <a:schemeClr val="tx1"/>
                          </a:solidFill>
                          <a:latin typeface="VAG Rundschrift D Light"/>
                        </a:rPr>
                        <a:t>100 </a:t>
                      </a:r>
                      <a:r>
                        <a:rPr lang="en-US" sz="2700" dirty="0" err="1">
                          <a:solidFill>
                            <a:schemeClr val="tx1"/>
                          </a:solidFill>
                          <a:latin typeface="VAG Rundschrift D Light"/>
                        </a:rPr>
                        <a:t>ps</a:t>
                      </a:r>
                      <a:endParaRPr lang="en-US" sz="2700" dirty="0">
                        <a:solidFill>
                          <a:schemeClr val="tx1"/>
                        </a:solidFill>
                        <a:latin typeface="VAG Rundschrift D Light"/>
                      </a:endParaRPr>
                    </a:p>
                  </a:txBody>
                  <a:tcPr marL="135063" marR="135063">
                    <a:noFill/>
                  </a:tcPr>
                </a:tc>
                <a:tc>
                  <a:txBody>
                    <a:bodyPr/>
                    <a:lstStyle/>
                    <a:p>
                      <a:pPr algn="ctr"/>
                      <a:r>
                        <a:rPr lang="en-US" sz="2700" b="1" dirty="0">
                          <a:solidFill>
                            <a:schemeClr val="tx1"/>
                          </a:solidFill>
                          <a:latin typeface="VAG Rundschrift D Light"/>
                        </a:rPr>
                        <a:t>800 </a:t>
                      </a:r>
                      <a:r>
                        <a:rPr lang="en-US" sz="2700" b="1" dirty="0" err="1">
                          <a:solidFill>
                            <a:schemeClr val="tx1"/>
                          </a:solidFill>
                          <a:latin typeface="VAG Rundschrift D Light"/>
                        </a:rPr>
                        <a:t>ps</a:t>
                      </a:r>
                      <a:endParaRPr lang="en-US" sz="2700" b="1" dirty="0">
                        <a:solidFill>
                          <a:schemeClr val="tx1"/>
                        </a:solidFill>
                        <a:latin typeface="VAG Rundschrift D Light"/>
                      </a:endParaRPr>
                    </a:p>
                  </a:txBody>
                  <a:tcPr marL="135063" marR="135063">
                    <a:noFill/>
                  </a:tcPr>
                </a:tc>
                <a:extLst>
                  <a:ext uri="{0D108BD9-81ED-4DB2-BD59-A6C34878D82A}">
                    <a16:rowId xmlns:a16="http://schemas.microsoft.com/office/drawing/2014/main" val="10002"/>
                  </a:ext>
                </a:extLst>
              </a:tr>
            </a:tbl>
          </a:graphicData>
        </a:graphic>
      </p:graphicFrame>
      <p:grpSp>
        <p:nvGrpSpPr>
          <p:cNvPr id="196" name="Group 195">
            <a:extLst>
              <a:ext uri="{FF2B5EF4-FFF2-40B4-BE49-F238E27FC236}">
                <a16:creationId xmlns:a16="http://schemas.microsoft.com/office/drawing/2014/main" id="{6B4E0F6D-445B-4867-9026-0607E2E3AB1B}"/>
              </a:ext>
            </a:extLst>
          </p:cNvPr>
          <p:cNvGrpSpPr/>
          <p:nvPr/>
        </p:nvGrpSpPr>
        <p:grpSpPr>
          <a:xfrm>
            <a:off x="2905735" y="936171"/>
            <a:ext cx="9133271" cy="3410139"/>
            <a:chOff x="1534997" y="702128"/>
            <a:chExt cx="7283403" cy="2557604"/>
          </a:xfrm>
        </p:grpSpPr>
        <p:cxnSp>
          <p:nvCxnSpPr>
            <p:cNvPr id="4" name="Straight Connector 3">
              <a:extLst>
                <a:ext uri="{FF2B5EF4-FFF2-40B4-BE49-F238E27FC236}">
                  <a16:creationId xmlns:a16="http://schemas.microsoft.com/office/drawing/2014/main" id="{9D968764-814F-4F2C-8144-D3CBF28CDC64}"/>
                </a:ext>
              </a:extLst>
            </p:cNvPr>
            <p:cNvCxnSpPr/>
            <p:nvPr/>
          </p:nvCxnSpPr>
          <p:spPr>
            <a:xfrm>
              <a:off x="2057400" y="1123950"/>
              <a:ext cx="4572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B8B70AF-E9C4-460B-84AC-E44125CFB79A}"/>
                </a:ext>
              </a:extLst>
            </p:cNvPr>
            <p:cNvCxnSpPr>
              <a:cxnSpLocks/>
            </p:cNvCxnSpPr>
            <p:nvPr/>
          </p:nvCxnSpPr>
          <p:spPr>
            <a:xfrm flipV="1">
              <a:off x="2514600" y="895350"/>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4F35C5-1F9E-4161-95AF-B150CA0593BA}"/>
                </a:ext>
              </a:extLst>
            </p:cNvPr>
            <p:cNvCxnSpPr>
              <a:cxnSpLocks/>
            </p:cNvCxnSpPr>
            <p:nvPr/>
          </p:nvCxnSpPr>
          <p:spPr>
            <a:xfrm>
              <a:off x="2590800" y="895350"/>
              <a:ext cx="2514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E4F87F-2389-4329-B400-16091538D42F}"/>
                </a:ext>
              </a:extLst>
            </p:cNvPr>
            <p:cNvCxnSpPr>
              <a:cxnSpLocks/>
            </p:cNvCxnSpPr>
            <p:nvPr/>
          </p:nvCxnSpPr>
          <p:spPr>
            <a:xfrm flipH="1" flipV="1">
              <a:off x="5105400" y="895623"/>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8647B3-5DD2-4D62-9A2A-28E162A8580D}"/>
                </a:ext>
              </a:extLst>
            </p:cNvPr>
            <p:cNvCxnSpPr>
              <a:cxnSpLocks/>
            </p:cNvCxnSpPr>
            <p:nvPr/>
          </p:nvCxnSpPr>
          <p:spPr>
            <a:xfrm>
              <a:off x="5181600" y="1123950"/>
              <a:ext cx="2514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B0B793A-4DFA-419F-A525-585D3FD41452}"/>
                </a:ext>
              </a:extLst>
            </p:cNvPr>
            <p:cNvCxnSpPr>
              <a:cxnSpLocks/>
            </p:cNvCxnSpPr>
            <p:nvPr/>
          </p:nvCxnSpPr>
          <p:spPr>
            <a:xfrm flipV="1">
              <a:off x="7696200" y="895350"/>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A1241F5-823E-495C-81DB-CBCBF1C3CE92}"/>
                </a:ext>
              </a:extLst>
            </p:cNvPr>
            <p:cNvCxnSpPr>
              <a:cxnSpLocks/>
            </p:cNvCxnSpPr>
            <p:nvPr/>
          </p:nvCxnSpPr>
          <p:spPr>
            <a:xfrm>
              <a:off x="7772400" y="892629"/>
              <a:ext cx="942976" cy="2721"/>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B2C21F8-D2F1-46C6-B722-4ACD14E9056B}"/>
                </a:ext>
              </a:extLst>
            </p:cNvPr>
            <p:cNvCxnSpPr>
              <a:cxnSpLocks/>
            </p:cNvCxnSpPr>
            <p:nvPr/>
          </p:nvCxnSpPr>
          <p:spPr>
            <a:xfrm>
              <a:off x="2743200" y="1200151"/>
              <a:ext cx="5105400" cy="2721"/>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B6218F-8A7A-4C44-B262-E155B394EEC6}"/>
                </a:ext>
              </a:extLst>
            </p:cNvPr>
            <p:cNvCxnSpPr>
              <a:cxnSpLocks/>
            </p:cNvCxnSpPr>
            <p:nvPr/>
          </p:nvCxnSpPr>
          <p:spPr>
            <a:xfrm>
              <a:off x="2743200" y="1428750"/>
              <a:ext cx="25908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D18822F-E82D-47D9-8335-FCB5CD90609D}"/>
                </a:ext>
              </a:extLst>
            </p:cNvPr>
            <p:cNvCxnSpPr>
              <a:cxnSpLocks/>
            </p:cNvCxnSpPr>
            <p:nvPr/>
          </p:nvCxnSpPr>
          <p:spPr>
            <a:xfrm>
              <a:off x="5334000" y="1428750"/>
              <a:ext cx="2514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41FB1B-F3B4-4E26-8871-07F61BBF746B}"/>
                </a:ext>
              </a:extLst>
            </p:cNvPr>
            <p:cNvCxnSpPr>
              <a:cxnSpLocks/>
            </p:cNvCxnSpPr>
            <p:nvPr/>
          </p:nvCxnSpPr>
          <p:spPr>
            <a:xfrm flipV="1">
              <a:off x="2667000" y="1200150"/>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B5E6D22-9AC0-430B-850E-AABA5FBB2870}"/>
                </a:ext>
              </a:extLst>
            </p:cNvPr>
            <p:cNvCxnSpPr>
              <a:cxnSpLocks/>
            </p:cNvCxnSpPr>
            <p:nvPr/>
          </p:nvCxnSpPr>
          <p:spPr>
            <a:xfrm flipH="1" flipV="1">
              <a:off x="2667000" y="1200150"/>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5D6ACDB-7964-40B4-8004-E5F0EAC08919}"/>
                </a:ext>
              </a:extLst>
            </p:cNvPr>
            <p:cNvCxnSpPr>
              <a:cxnSpLocks/>
            </p:cNvCxnSpPr>
            <p:nvPr/>
          </p:nvCxnSpPr>
          <p:spPr>
            <a:xfrm>
              <a:off x="2057400" y="1197429"/>
              <a:ext cx="609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8E89284-2D83-4EA8-A95C-EF099BADA551}"/>
                </a:ext>
              </a:extLst>
            </p:cNvPr>
            <p:cNvCxnSpPr>
              <a:cxnSpLocks/>
            </p:cNvCxnSpPr>
            <p:nvPr/>
          </p:nvCxnSpPr>
          <p:spPr>
            <a:xfrm>
              <a:off x="2057400" y="1426029"/>
              <a:ext cx="609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E0A012-0B5F-42E1-9CD0-23A727D8B470}"/>
                </a:ext>
              </a:extLst>
            </p:cNvPr>
            <p:cNvCxnSpPr>
              <a:cxnSpLocks/>
            </p:cNvCxnSpPr>
            <p:nvPr/>
          </p:nvCxnSpPr>
          <p:spPr>
            <a:xfrm flipV="1">
              <a:off x="7848600" y="1200150"/>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D3720CC-B806-4EB0-ACB5-AACCBB297515}"/>
                </a:ext>
              </a:extLst>
            </p:cNvPr>
            <p:cNvCxnSpPr>
              <a:cxnSpLocks/>
            </p:cNvCxnSpPr>
            <p:nvPr/>
          </p:nvCxnSpPr>
          <p:spPr>
            <a:xfrm flipH="1" flipV="1">
              <a:off x="7848600" y="1212126"/>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BB93075-B98E-4332-8595-7845F11EBE20}"/>
                </a:ext>
              </a:extLst>
            </p:cNvPr>
            <p:cNvCxnSpPr>
              <a:cxnSpLocks/>
            </p:cNvCxnSpPr>
            <p:nvPr/>
          </p:nvCxnSpPr>
          <p:spPr>
            <a:xfrm>
              <a:off x="7924800" y="1200150"/>
              <a:ext cx="790576"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F8814A5-1FC6-43DE-AF3F-15675C3BB8E5}"/>
                </a:ext>
              </a:extLst>
            </p:cNvPr>
            <p:cNvCxnSpPr>
              <a:cxnSpLocks/>
            </p:cNvCxnSpPr>
            <p:nvPr/>
          </p:nvCxnSpPr>
          <p:spPr>
            <a:xfrm flipV="1">
              <a:off x="7924800" y="1440725"/>
              <a:ext cx="790576" cy="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7D02BFD-F4C5-4CC7-AEAE-0129C6690595}"/>
                </a:ext>
              </a:extLst>
            </p:cNvPr>
            <p:cNvCxnSpPr>
              <a:cxnSpLocks/>
            </p:cNvCxnSpPr>
            <p:nvPr/>
          </p:nvCxnSpPr>
          <p:spPr>
            <a:xfrm>
              <a:off x="3552824" y="1569173"/>
              <a:ext cx="51054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72126F7-E036-4585-81B8-2CEDF7E8837C}"/>
                </a:ext>
              </a:extLst>
            </p:cNvPr>
            <p:cNvCxnSpPr>
              <a:cxnSpLocks/>
            </p:cNvCxnSpPr>
            <p:nvPr/>
          </p:nvCxnSpPr>
          <p:spPr>
            <a:xfrm>
              <a:off x="3552824" y="1797773"/>
              <a:ext cx="51054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FFA9A8-F60D-4E46-9932-C414A999486F}"/>
                </a:ext>
              </a:extLst>
            </p:cNvPr>
            <p:cNvCxnSpPr>
              <a:cxnSpLocks/>
            </p:cNvCxnSpPr>
            <p:nvPr/>
          </p:nvCxnSpPr>
          <p:spPr>
            <a:xfrm flipV="1">
              <a:off x="3476624" y="1569173"/>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56E36A1-B2DB-4D35-99C9-07F2CDE7BD53}"/>
                </a:ext>
              </a:extLst>
            </p:cNvPr>
            <p:cNvCxnSpPr>
              <a:cxnSpLocks/>
            </p:cNvCxnSpPr>
            <p:nvPr/>
          </p:nvCxnSpPr>
          <p:spPr>
            <a:xfrm flipH="1" flipV="1">
              <a:off x="3476624" y="1569173"/>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E617F31-3A4A-4221-9540-718EC3D207CB}"/>
                </a:ext>
              </a:extLst>
            </p:cNvPr>
            <p:cNvCxnSpPr>
              <a:cxnSpLocks/>
            </p:cNvCxnSpPr>
            <p:nvPr/>
          </p:nvCxnSpPr>
          <p:spPr>
            <a:xfrm>
              <a:off x="2867024" y="1566452"/>
              <a:ext cx="609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32E0A20-E6C0-49C4-8643-E2EA5BE97F7D}"/>
                </a:ext>
              </a:extLst>
            </p:cNvPr>
            <p:cNvCxnSpPr>
              <a:cxnSpLocks/>
            </p:cNvCxnSpPr>
            <p:nvPr/>
          </p:nvCxnSpPr>
          <p:spPr>
            <a:xfrm>
              <a:off x="2867024" y="1795052"/>
              <a:ext cx="60960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A60565F-4C4A-4111-BBD3-05524F04925A}"/>
                </a:ext>
              </a:extLst>
            </p:cNvPr>
            <p:cNvCxnSpPr>
              <a:cxnSpLocks/>
            </p:cNvCxnSpPr>
            <p:nvPr/>
          </p:nvCxnSpPr>
          <p:spPr>
            <a:xfrm flipV="1">
              <a:off x="8658224" y="1569173"/>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8DD017C-5915-4944-BADA-3E1725D51A83}"/>
                </a:ext>
              </a:extLst>
            </p:cNvPr>
            <p:cNvCxnSpPr>
              <a:cxnSpLocks/>
            </p:cNvCxnSpPr>
            <p:nvPr/>
          </p:nvCxnSpPr>
          <p:spPr>
            <a:xfrm flipH="1" flipV="1">
              <a:off x="8658224" y="1581149"/>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16E16DC-BE72-4A0E-A846-C6FF713AC5D3}"/>
                </a:ext>
              </a:extLst>
            </p:cNvPr>
            <p:cNvCxnSpPr>
              <a:cxnSpLocks/>
            </p:cNvCxnSpPr>
            <p:nvPr/>
          </p:nvCxnSpPr>
          <p:spPr>
            <a:xfrm flipV="1">
              <a:off x="4695824" y="1938196"/>
              <a:ext cx="4053385" cy="1"/>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BF8BEE4-9346-4794-92A8-36B993B1505A}"/>
                </a:ext>
              </a:extLst>
            </p:cNvPr>
            <p:cNvCxnSpPr>
              <a:cxnSpLocks/>
            </p:cNvCxnSpPr>
            <p:nvPr/>
          </p:nvCxnSpPr>
          <p:spPr>
            <a:xfrm>
              <a:off x="4695824" y="2166796"/>
              <a:ext cx="4053385"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EA311BB-A08C-43ED-8EF6-C4D8DFD741A6}"/>
                </a:ext>
              </a:extLst>
            </p:cNvPr>
            <p:cNvCxnSpPr>
              <a:cxnSpLocks/>
            </p:cNvCxnSpPr>
            <p:nvPr/>
          </p:nvCxnSpPr>
          <p:spPr>
            <a:xfrm flipV="1">
              <a:off x="4619624" y="1938196"/>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1E3D3EE-976E-45B3-BE18-34AE6E7F742F}"/>
                </a:ext>
              </a:extLst>
            </p:cNvPr>
            <p:cNvCxnSpPr>
              <a:cxnSpLocks/>
            </p:cNvCxnSpPr>
            <p:nvPr/>
          </p:nvCxnSpPr>
          <p:spPr>
            <a:xfrm flipH="1" flipV="1">
              <a:off x="4619624" y="1938196"/>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71DB927-EDE5-4AAC-9298-CA3BE62895CD}"/>
                </a:ext>
              </a:extLst>
            </p:cNvPr>
            <p:cNvCxnSpPr>
              <a:cxnSpLocks/>
            </p:cNvCxnSpPr>
            <p:nvPr/>
          </p:nvCxnSpPr>
          <p:spPr>
            <a:xfrm>
              <a:off x="3124200" y="1935475"/>
              <a:ext cx="1495424"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CF04A23-8B72-4156-906C-1398EE479EEE}"/>
                </a:ext>
              </a:extLst>
            </p:cNvPr>
            <p:cNvCxnSpPr>
              <a:cxnSpLocks/>
            </p:cNvCxnSpPr>
            <p:nvPr/>
          </p:nvCxnSpPr>
          <p:spPr>
            <a:xfrm>
              <a:off x="3124200" y="2164075"/>
              <a:ext cx="1495424"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29C4B0F-EDA2-4B05-88D7-D4EA809C2916}"/>
                </a:ext>
              </a:extLst>
            </p:cNvPr>
            <p:cNvCxnSpPr>
              <a:cxnSpLocks/>
            </p:cNvCxnSpPr>
            <p:nvPr/>
          </p:nvCxnSpPr>
          <p:spPr>
            <a:xfrm>
              <a:off x="5878299" y="2307219"/>
              <a:ext cx="287091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9AEAF9E0-8DED-4014-96F3-6F03A610D5C0}"/>
                </a:ext>
              </a:extLst>
            </p:cNvPr>
            <p:cNvCxnSpPr>
              <a:cxnSpLocks/>
            </p:cNvCxnSpPr>
            <p:nvPr/>
          </p:nvCxnSpPr>
          <p:spPr>
            <a:xfrm flipV="1">
              <a:off x="5878299" y="2525701"/>
              <a:ext cx="2870910" cy="10118"/>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FB1A0F7D-0F6A-43D2-8E24-FC43F14189B0}"/>
                </a:ext>
              </a:extLst>
            </p:cNvPr>
            <p:cNvCxnSpPr>
              <a:cxnSpLocks/>
            </p:cNvCxnSpPr>
            <p:nvPr/>
          </p:nvCxnSpPr>
          <p:spPr>
            <a:xfrm flipV="1">
              <a:off x="5802099" y="2307219"/>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E07E8CA-FBF0-487F-8E7E-20AFAEE56E1E}"/>
                </a:ext>
              </a:extLst>
            </p:cNvPr>
            <p:cNvCxnSpPr>
              <a:cxnSpLocks/>
            </p:cNvCxnSpPr>
            <p:nvPr/>
          </p:nvCxnSpPr>
          <p:spPr>
            <a:xfrm flipH="1" flipV="1">
              <a:off x="5802099" y="2307219"/>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3CE524B8-5FA1-44CB-A4D5-A07B8D05212F}"/>
                </a:ext>
              </a:extLst>
            </p:cNvPr>
            <p:cNvSpPr txBox="1"/>
            <p:nvPr/>
          </p:nvSpPr>
          <p:spPr>
            <a:xfrm>
              <a:off x="1570352" y="1095593"/>
              <a:ext cx="433609" cy="377074"/>
            </a:xfrm>
            <a:prstGeom prst="rect">
              <a:avLst/>
            </a:prstGeom>
            <a:noFill/>
          </p:spPr>
          <p:txBody>
            <a:bodyPr wrap="none" rtlCol="0">
              <a:spAutoFit/>
            </a:bodyPr>
            <a:lstStyle/>
            <a:p>
              <a:pPr algn="l"/>
              <a:r>
                <a:rPr lang="en-US" sz="2667" dirty="0">
                  <a:latin typeface="VAG Rundschrift D Light"/>
                </a:rPr>
                <a:t>PC</a:t>
              </a:r>
            </a:p>
          </p:txBody>
        </p:sp>
        <p:sp>
          <p:nvSpPr>
            <p:cNvPr id="94" name="TextBox 93">
              <a:extLst>
                <a:ext uri="{FF2B5EF4-FFF2-40B4-BE49-F238E27FC236}">
                  <a16:creationId xmlns:a16="http://schemas.microsoft.com/office/drawing/2014/main" id="{BE42DB83-B28B-4D1D-A6FE-2C340CB5E474}"/>
                </a:ext>
              </a:extLst>
            </p:cNvPr>
            <p:cNvSpPr txBox="1"/>
            <p:nvPr/>
          </p:nvSpPr>
          <p:spPr>
            <a:xfrm>
              <a:off x="1574592" y="702128"/>
              <a:ext cx="708450" cy="377074"/>
            </a:xfrm>
            <a:prstGeom prst="rect">
              <a:avLst/>
            </a:prstGeom>
            <a:noFill/>
          </p:spPr>
          <p:txBody>
            <a:bodyPr wrap="none" rtlCol="0">
              <a:spAutoFit/>
            </a:bodyPr>
            <a:lstStyle/>
            <a:p>
              <a:pPr algn="l"/>
              <a:r>
                <a:rPr lang="en-US" sz="2667" dirty="0">
                  <a:latin typeface="VAG Rundschrift D Light"/>
                </a:rPr>
                <a:t>clock</a:t>
              </a:r>
            </a:p>
          </p:txBody>
        </p:sp>
        <p:cxnSp>
          <p:nvCxnSpPr>
            <p:cNvPr id="101" name="Straight Connector 100">
              <a:extLst>
                <a:ext uri="{FF2B5EF4-FFF2-40B4-BE49-F238E27FC236}">
                  <a16:creationId xmlns:a16="http://schemas.microsoft.com/office/drawing/2014/main" id="{0078FE40-1485-4BB3-995D-AECFB7E33C68}"/>
                </a:ext>
              </a:extLst>
            </p:cNvPr>
            <p:cNvCxnSpPr>
              <a:cxnSpLocks/>
            </p:cNvCxnSpPr>
            <p:nvPr/>
          </p:nvCxnSpPr>
          <p:spPr>
            <a:xfrm>
              <a:off x="3276600" y="2603361"/>
              <a:ext cx="3801851" cy="976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BE8C9BF2-F9AB-41B0-B20E-C08BAF93CA52}"/>
                </a:ext>
              </a:extLst>
            </p:cNvPr>
            <p:cNvCxnSpPr>
              <a:cxnSpLocks/>
            </p:cNvCxnSpPr>
            <p:nvPr/>
          </p:nvCxnSpPr>
          <p:spPr>
            <a:xfrm>
              <a:off x="3276600" y="2841723"/>
              <a:ext cx="3801851"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22BFA77-FEA8-46AA-B5DA-BAFA7317C431}"/>
                </a:ext>
              </a:extLst>
            </p:cNvPr>
            <p:cNvCxnSpPr>
              <a:cxnSpLocks/>
            </p:cNvCxnSpPr>
            <p:nvPr/>
          </p:nvCxnSpPr>
          <p:spPr>
            <a:xfrm flipV="1">
              <a:off x="7078451" y="2616895"/>
              <a:ext cx="76200" cy="22860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DF675D3F-5848-4640-A0B5-E9540CC506DB}"/>
                </a:ext>
              </a:extLst>
            </p:cNvPr>
            <p:cNvCxnSpPr>
              <a:cxnSpLocks/>
            </p:cNvCxnSpPr>
            <p:nvPr/>
          </p:nvCxnSpPr>
          <p:spPr>
            <a:xfrm flipH="1" flipV="1">
              <a:off x="7080530" y="2622885"/>
              <a:ext cx="82229" cy="21961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6545F671-D76C-443F-A19E-00FC3353C078}"/>
                </a:ext>
              </a:extLst>
            </p:cNvPr>
            <p:cNvCxnSpPr>
              <a:cxnSpLocks/>
            </p:cNvCxnSpPr>
            <p:nvPr/>
          </p:nvCxnSpPr>
          <p:spPr>
            <a:xfrm>
              <a:off x="7154651" y="2613123"/>
              <a:ext cx="1579773"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ECF259E7-A787-465B-BE6A-9278505DA23F}"/>
                </a:ext>
              </a:extLst>
            </p:cNvPr>
            <p:cNvCxnSpPr>
              <a:cxnSpLocks/>
            </p:cNvCxnSpPr>
            <p:nvPr/>
          </p:nvCxnSpPr>
          <p:spPr>
            <a:xfrm>
              <a:off x="7162759" y="2845495"/>
              <a:ext cx="1552617" cy="2995"/>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2A4BC83-F91E-42D5-83B9-382269631814}"/>
                </a:ext>
              </a:extLst>
            </p:cNvPr>
            <p:cNvCxnSpPr>
              <a:cxnSpLocks/>
            </p:cNvCxnSpPr>
            <p:nvPr/>
          </p:nvCxnSpPr>
          <p:spPr>
            <a:xfrm>
              <a:off x="2819400" y="2307219"/>
              <a:ext cx="2982699" cy="514"/>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F0B175BA-426C-44C1-91D1-268E4C636B33}"/>
                </a:ext>
              </a:extLst>
            </p:cNvPr>
            <p:cNvCxnSpPr>
              <a:cxnSpLocks/>
            </p:cNvCxnSpPr>
            <p:nvPr/>
          </p:nvCxnSpPr>
          <p:spPr>
            <a:xfrm>
              <a:off x="2819400" y="2525701"/>
              <a:ext cx="2982699" cy="10632"/>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DF00A78D-208B-452D-88B5-707A163822E2}"/>
                </a:ext>
              </a:extLst>
            </p:cNvPr>
            <p:cNvSpPr txBox="1"/>
            <p:nvPr/>
          </p:nvSpPr>
          <p:spPr>
            <a:xfrm>
              <a:off x="1569578" y="1478687"/>
              <a:ext cx="1306758" cy="377074"/>
            </a:xfrm>
            <a:prstGeom prst="rect">
              <a:avLst/>
            </a:prstGeom>
            <a:noFill/>
          </p:spPr>
          <p:txBody>
            <a:bodyPr wrap="none" rtlCol="0">
              <a:spAutoFit/>
            </a:bodyPr>
            <a:lstStyle/>
            <a:p>
              <a:pPr algn="l"/>
              <a:r>
                <a:rPr lang="en-US" sz="2667" dirty="0">
                  <a:latin typeface="VAG Rundschrift D Light"/>
                </a:rPr>
                <a:t>Instr. fetch</a:t>
              </a:r>
            </a:p>
          </p:txBody>
        </p:sp>
        <p:sp>
          <p:nvSpPr>
            <p:cNvPr id="118" name="TextBox 117">
              <a:extLst>
                <a:ext uri="{FF2B5EF4-FFF2-40B4-BE49-F238E27FC236}">
                  <a16:creationId xmlns:a16="http://schemas.microsoft.com/office/drawing/2014/main" id="{5856AFF0-83D7-4760-8BE6-B50F5A6D5DA8}"/>
                </a:ext>
              </a:extLst>
            </p:cNvPr>
            <p:cNvSpPr txBox="1"/>
            <p:nvPr/>
          </p:nvSpPr>
          <p:spPr>
            <a:xfrm>
              <a:off x="1563475" y="1844057"/>
              <a:ext cx="1565389" cy="377074"/>
            </a:xfrm>
            <a:prstGeom prst="rect">
              <a:avLst/>
            </a:prstGeom>
            <a:noFill/>
          </p:spPr>
          <p:txBody>
            <a:bodyPr wrap="none" rtlCol="0">
              <a:spAutoFit/>
            </a:bodyPr>
            <a:lstStyle/>
            <a:p>
              <a:pPr algn="l"/>
              <a:r>
                <a:rPr lang="en-US" sz="2667" dirty="0">
                  <a:latin typeface="VAG Rundschrift D Light"/>
                </a:rPr>
                <a:t>Instr. decode</a:t>
              </a:r>
            </a:p>
          </p:txBody>
        </p:sp>
        <p:sp>
          <p:nvSpPr>
            <p:cNvPr id="121" name="TextBox 120">
              <a:extLst>
                <a:ext uri="{FF2B5EF4-FFF2-40B4-BE49-F238E27FC236}">
                  <a16:creationId xmlns:a16="http://schemas.microsoft.com/office/drawing/2014/main" id="{9589FC8C-9C8F-4E13-97CC-EA1FD3276A27}"/>
                </a:ext>
              </a:extLst>
            </p:cNvPr>
            <p:cNvSpPr txBox="1"/>
            <p:nvPr/>
          </p:nvSpPr>
          <p:spPr>
            <a:xfrm>
              <a:off x="1542127" y="2203251"/>
              <a:ext cx="1007681" cy="377074"/>
            </a:xfrm>
            <a:prstGeom prst="rect">
              <a:avLst/>
            </a:prstGeom>
            <a:noFill/>
          </p:spPr>
          <p:txBody>
            <a:bodyPr wrap="none" rtlCol="0">
              <a:spAutoFit/>
            </a:bodyPr>
            <a:lstStyle/>
            <a:p>
              <a:pPr algn="l"/>
              <a:r>
                <a:rPr lang="en-US" sz="2667" dirty="0">
                  <a:latin typeface="VAG Rundschrift D Light"/>
                </a:rPr>
                <a:t>Execute</a:t>
              </a:r>
            </a:p>
          </p:txBody>
        </p:sp>
        <p:sp>
          <p:nvSpPr>
            <p:cNvPr id="122" name="TextBox 121">
              <a:extLst>
                <a:ext uri="{FF2B5EF4-FFF2-40B4-BE49-F238E27FC236}">
                  <a16:creationId xmlns:a16="http://schemas.microsoft.com/office/drawing/2014/main" id="{70C80AAF-469A-4260-9AB6-9EBA2BFC65BA}"/>
                </a:ext>
              </a:extLst>
            </p:cNvPr>
            <p:cNvSpPr txBox="1"/>
            <p:nvPr/>
          </p:nvSpPr>
          <p:spPr>
            <a:xfrm>
              <a:off x="1534997" y="2525701"/>
              <a:ext cx="1893511" cy="377074"/>
            </a:xfrm>
            <a:prstGeom prst="rect">
              <a:avLst/>
            </a:prstGeom>
            <a:noFill/>
          </p:spPr>
          <p:txBody>
            <a:bodyPr wrap="none" rtlCol="0">
              <a:spAutoFit/>
            </a:bodyPr>
            <a:lstStyle/>
            <a:p>
              <a:pPr algn="l"/>
              <a:r>
                <a:rPr lang="en-US" sz="2667" dirty="0">
                  <a:latin typeface="VAG Rundschrift D Light"/>
                </a:rPr>
                <a:t>Memory Access</a:t>
              </a:r>
            </a:p>
          </p:txBody>
        </p:sp>
        <p:sp>
          <p:nvSpPr>
            <p:cNvPr id="125" name="TextBox 124">
              <a:extLst>
                <a:ext uri="{FF2B5EF4-FFF2-40B4-BE49-F238E27FC236}">
                  <a16:creationId xmlns:a16="http://schemas.microsoft.com/office/drawing/2014/main" id="{60DD7DF8-D5A3-4040-908C-45CC43BCC2C6}"/>
                </a:ext>
              </a:extLst>
            </p:cNvPr>
            <p:cNvSpPr txBox="1"/>
            <p:nvPr/>
          </p:nvSpPr>
          <p:spPr>
            <a:xfrm>
              <a:off x="3861964" y="1123950"/>
              <a:ext cx="379919" cy="346249"/>
            </a:xfrm>
            <a:prstGeom prst="rect">
              <a:avLst/>
            </a:prstGeom>
            <a:noFill/>
          </p:spPr>
          <p:txBody>
            <a:bodyPr wrap="none" rtlCol="0">
              <a:spAutoFit/>
            </a:bodyPr>
            <a:lstStyle/>
            <a:p>
              <a:pPr algn="l"/>
              <a:r>
                <a:rPr lang="en-US" sz="2400" dirty="0">
                  <a:latin typeface="VAG Rundschrift D Light"/>
                </a:rPr>
                <a:t>pc</a:t>
              </a:r>
            </a:p>
          </p:txBody>
        </p:sp>
        <p:sp>
          <p:nvSpPr>
            <p:cNvPr id="126" name="TextBox 125">
              <a:extLst>
                <a:ext uri="{FF2B5EF4-FFF2-40B4-BE49-F238E27FC236}">
                  <a16:creationId xmlns:a16="http://schemas.microsoft.com/office/drawing/2014/main" id="{7256A895-6BFA-45FE-88CD-C2A83AC6EEC1}"/>
                </a:ext>
              </a:extLst>
            </p:cNvPr>
            <p:cNvSpPr txBox="1"/>
            <p:nvPr/>
          </p:nvSpPr>
          <p:spPr>
            <a:xfrm>
              <a:off x="8112496" y="1124257"/>
              <a:ext cx="626637" cy="346249"/>
            </a:xfrm>
            <a:prstGeom prst="rect">
              <a:avLst/>
            </a:prstGeom>
            <a:noFill/>
          </p:spPr>
          <p:txBody>
            <a:bodyPr wrap="none" rtlCol="0">
              <a:spAutoFit/>
            </a:bodyPr>
            <a:lstStyle/>
            <a:p>
              <a:pPr algn="l"/>
              <a:r>
                <a:rPr lang="en-US" sz="2400" dirty="0">
                  <a:latin typeface="VAG Rundschrift D Light"/>
                </a:rPr>
                <a:t>pc+4</a:t>
              </a:r>
            </a:p>
          </p:txBody>
        </p:sp>
        <p:cxnSp>
          <p:nvCxnSpPr>
            <p:cNvPr id="141" name="Straight Connector 140">
              <a:extLst>
                <a:ext uri="{FF2B5EF4-FFF2-40B4-BE49-F238E27FC236}">
                  <a16:creationId xmlns:a16="http://schemas.microsoft.com/office/drawing/2014/main" id="{443BA51C-A25F-4CF2-AD27-A9641110D2DB}"/>
                </a:ext>
              </a:extLst>
            </p:cNvPr>
            <p:cNvCxnSpPr>
              <a:cxnSpLocks/>
            </p:cNvCxnSpPr>
            <p:nvPr/>
          </p:nvCxnSpPr>
          <p:spPr>
            <a:xfrm>
              <a:off x="2590800" y="3105150"/>
              <a:ext cx="917897" cy="0"/>
            </a:xfrm>
            <a:prstGeom prst="line">
              <a:avLst/>
            </a:prstGeom>
            <a:ln w="19050" cap="rnd">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1BCD6C4-6804-48C6-820F-545D67B1C8BD}"/>
                </a:ext>
              </a:extLst>
            </p:cNvPr>
            <p:cNvCxnSpPr>
              <a:cxnSpLocks/>
            </p:cNvCxnSpPr>
            <p:nvPr/>
          </p:nvCxnSpPr>
          <p:spPr>
            <a:xfrm>
              <a:off x="2542490" y="833326"/>
              <a:ext cx="4284" cy="2348024"/>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EC221FDB-9016-4388-88A6-5AB1B4FED461}"/>
                </a:ext>
              </a:extLst>
            </p:cNvPr>
            <p:cNvCxnSpPr>
              <a:cxnSpLocks/>
            </p:cNvCxnSpPr>
            <p:nvPr/>
          </p:nvCxnSpPr>
          <p:spPr>
            <a:xfrm flipH="1">
              <a:off x="3508697" y="833326"/>
              <a:ext cx="14322" cy="2348024"/>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E60D124C-246F-4863-9BD7-C1AA399A6B2B}"/>
                </a:ext>
              </a:extLst>
            </p:cNvPr>
            <p:cNvCxnSpPr>
              <a:cxnSpLocks/>
            </p:cNvCxnSpPr>
            <p:nvPr/>
          </p:nvCxnSpPr>
          <p:spPr>
            <a:xfrm flipH="1">
              <a:off x="4642613" y="833326"/>
              <a:ext cx="6932" cy="2348024"/>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4" name="Straight Connector 153">
              <a:extLst>
                <a:ext uri="{FF2B5EF4-FFF2-40B4-BE49-F238E27FC236}">
                  <a16:creationId xmlns:a16="http://schemas.microsoft.com/office/drawing/2014/main" id="{591A1E10-EF91-4FBB-8BE5-9D640677EAC8}"/>
                </a:ext>
              </a:extLst>
            </p:cNvPr>
            <p:cNvCxnSpPr>
              <a:cxnSpLocks/>
            </p:cNvCxnSpPr>
            <p:nvPr/>
          </p:nvCxnSpPr>
          <p:spPr>
            <a:xfrm flipH="1">
              <a:off x="5831282" y="854529"/>
              <a:ext cx="22728" cy="2361015"/>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8" name="Straight Connector 157">
              <a:extLst>
                <a:ext uri="{FF2B5EF4-FFF2-40B4-BE49-F238E27FC236}">
                  <a16:creationId xmlns:a16="http://schemas.microsoft.com/office/drawing/2014/main" id="{0C81EDE9-4734-4B83-8B0A-37224E699E57}"/>
                </a:ext>
              </a:extLst>
            </p:cNvPr>
            <p:cNvCxnSpPr>
              <a:cxnSpLocks/>
            </p:cNvCxnSpPr>
            <p:nvPr/>
          </p:nvCxnSpPr>
          <p:spPr>
            <a:xfrm flipH="1">
              <a:off x="7107589" y="883964"/>
              <a:ext cx="22728" cy="2361015"/>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89E22119-B441-428F-AC2C-004938373AA7}"/>
                </a:ext>
              </a:extLst>
            </p:cNvPr>
            <p:cNvCxnSpPr>
              <a:cxnSpLocks/>
            </p:cNvCxnSpPr>
            <p:nvPr/>
          </p:nvCxnSpPr>
          <p:spPr>
            <a:xfrm flipH="1">
              <a:off x="7712860" y="898717"/>
              <a:ext cx="22728" cy="2361015"/>
            </a:xfrm>
            <a:prstGeom prst="line">
              <a:avLst/>
            </a:prstGeom>
            <a:ln w="12700">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E14178B4-ED4D-49C6-B510-42C2794B54A3}"/>
                </a:ext>
              </a:extLst>
            </p:cNvPr>
            <p:cNvCxnSpPr>
              <a:cxnSpLocks/>
            </p:cNvCxnSpPr>
            <p:nvPr/>
          </p:nvCxnSpPr>
          <p:spPr>
            <a:xfrm>
              <a:off x="3519522" y="3105150"/>
              <a:ext cx="1100101" cy="0"/>
            </a:xfrm>
            <a:prstGeom prst="line">
              <a:avLst/>
            </a:prstGeom>
            <a:ln w="19050" cap="rnd">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9F28290F-8EBD-4B76-907F-B8092A33C72F}"/>
                </a:ext>
              </a:extLst>
            </p:cNvPr>
            <p:cNvCxnSpPr>
              <a:cxnSpLocks/>
            </p:cNvCxnSpPr>
            <p:nvPr/>
          </p:nvCxnSpPr>
          <p:spPr>
            <a:xfrm>
              <a:off x="4649167" y="3105150"/>
              <a:ext cx="1152931" cy="0"/>
            </a:xfrm>
            <a:prstGeom prst="line">
              <a:avLst/>
            </a:prstGeom>
            <a:ln w="19050" cap="rnd">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594FD23-34D3-4399-9B14-12B334D6C6A0}"/>
                </a:ext>
              </a:extLst>
            </p:cNvPr>
            <p:cNvCxnSpPr>
              <a:cxnSpLocks/>
            </p:cNvCxnSpPr>
            <p:nvPr/>
          </p:nvCxnSpPr>
          <p:spPr>
            <a:xfrm>
              <a:off x="5878298" y="3105150"/>
              <a:ext cx="1208308" cy="0"/>
            </a:xfrm>
            <a:prstGeom prst="line">
              <a:avLst/>
            </a:prstGeom>
            <a:ln w="19050" cap="rnd">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DF7B88CB-E938-47D5-85B9-62A73FADDA42}"/>
                </a:ext>
              </a:extLst>
            </p:cNvPr>
            <p:cNvCxnSpPr>
              <a:cxnSpLocks/>
            </p:cNvCxnSpPr>
            <p:nvPr/>
          </p:nvCxnSpPr>
          <p:spPr>
            <a:xfrm>
              <a:off x="7121644" y="3105150"/>
              <a:ext cx="574556" cy="0"/>
            </a:xfrm>
            <a:prstGeom prst="line">
              <a:avLst/>
            </a:prstGeom>
            <a:ln w="19050" cap="rnd">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2" name="TextBox 171">
              <a:extLst>
                <a:ext uri="{FF2B5EF4-FFF2-40B4-BE49-F238E27FC236}">
                  <a16:creationId xmlns:a16="http://schemas.microsoft.com/office/drawing/2014/main" id="{525C00F3-7AAA-465D-821D-E1EA85258CF9}"/>
                </a:ext>
              </a:extLst>
            </p:cNvPr>
            <p:cNvSpPr txBox="1"/>
            <p:nvPr/>
          </p:nvSpPr>
          <p:spPr>
            <a:xfrm>
              <a:off x="2101309" y="1122248"/>
              <a:ext cx="461732" cy="346249"/>
            </a:xfrm>
            <a:prstGeom prst="rect">
              <a:avLst/>
            </a:prstGeom>
            <a:noFill/>
          </p:spPr>
          <p:txBody>
            <a:bodyPr wrap="none" rtlCol="0">
              <a:spAutoFit/>
            </a:bodyPr>
            <a:lstStyle/>
            <a:p>
              <a:pPr algn="l"/>
              <a:r>
                <a:rPr lang="en-US" sz="2400" dirty="0">
                  <a:latin typeface="VAG Rundschrift D Light"/>
                </a:rPr>
                <a:t>old</a:t>
              </a:r>
            </a:p>
          </p:txBody>
        </p:sp>
        <p:sp>
          <p:nvSpPr>
            <p:cNvPr id="173" name="TextBox 172">
              <a:extLst>
                <a:ext uri="{FF2B5EF4-FFF2-40B4-BE49-F238E27FC236}">
                  <a16:creationId xmlns:a16="http://schemas.microsoft.com/office/drawing/2014/main" id="{649C13F9-9AC9-4363-B2D3-21ACB716D2A7}"/>
                </a:ext>
              </a:extLst>
            </p:cNvPr>
            <p:cNvSpPr txBox="1"/>
            <p:nvPr/>
          </p:nvSpPr>
          <p:spPr>
            <a:xfrm>
              <a:off x="2958590" y="1492719"/>
              <a:ext cx="461732" cy="346249"/>
            </a:xfrm>
            <a:prstGeom prst="rect">
              <a:avLst/>
            </a:prstGeom>
            <a:noFill/>
          </p:spPr>
          <p:txBody>
            <a:bodyPr wrap="none" rtlCol="0">
              <a:spAutoFit/>
            </a:bodyPr>
            <a:lstStyle/>
            <a:p>
              <a:pPr algn="l"/>
              <a:r>
                <a:rPr lang="en-US" sz="2400" dirty="0">
                  <a:latin typeface="VAG Rundschrift D Light"/>
                </a:rPr>
                <a:t>old</a:t>
              </a:r>
            </a:p>
          </p:txBody>
        </p:sp>
        <p:sp>
          <p:nvSpPr>
            <p:cNvPr id="174" name="TextBox 173">
              <a:extLst>
                <a:ext uri="{FF2B5EF4-FFF2-40B4-BE49-F238E27FC236}">
                  <a16:creationId xmlns:a16="http://schemas.microsoft.com/office/drawing/2014/main" id="{329A5A15-ECBD-4722-8D77-9B7EA83EC074}"/>
                </a:ext>
              </a:extLst>
            </p:cNvPr>
            <p:cNvSpPr txBox="1"/>
            <p:nvPr/>
          </p:nvSpPr>
          <p:spPr>
            <a:xfrm>
              <a:off x="3815871" y="1863190"/>
              <a:ext cx="461732" cy="346249"/>
            </a:xfrm>
            <a:prstGeom prst="rect">
              <a:avLst/>
            </a:prstGeom>
            <a:noFill/>
          </p:spPr>
          <p:txBody>
            <a:bodyPr wrap="none" rtlCol="0">
              <a:spAutoFit/>
            </a:bodyPr>
            <a:lstStyle/>
            <a:p>
              <a:pPr algn="l"/>
              <a:r>
                <a:rPr lang="en-US" sz="2400" dirty="0">
                  <a:latin typeface="VAG Rundschrift D Light"/>
                </a:rPr>
                <a:t>old</a:t>
              </a:r>
            </a:p>
          </p:txBody>
        </p:sp>
        <p:sp>
          <p:nvSpPr>
            <p:cNvPr id="175" name="TextBox 174">
              <a:extLst>
                <a:ext uri="{FF2B5EF4-FFF2-40B4-BE49-F238E27FC236}">
                  <a16:creationId xmlns:a16="http://schemas.microsoft.com/office/drawing/2014/main" id="{8F1399F7-FA0F-4A4C-B173-4E97C34E1783}"/>
                </a:ext>
              </a:extLst>
            </p:cNvPr>
            <p:cNvSpPr txBox="1"/>
            <p:nvPr/>
          </p:nvSpPr>
          <p:spPr>
            <a:xfrm>
              <a:off x="4852778" y="2233661"/>
              <a:ext cx="461732" cy="346249"/>
            </a:xfrm>
            <a:prstGeom prst="rect">
              <a:avLst/>
            </a:prstGeom>
            <a:noFill/>
          </p:spPr>
          <p:txBody>
            <a:bodyPr wrap="none" rtlCol="0">
              <a:spAutoFit/>
            </a:bodyPr>
            <a:lstStyle/>
            <a:p>
              <a:pPr algn="l"/>
              <a:r>
                <a:rPr lang="en-US" sz="2400" dirty="0">
                  <a:latin typeface="VAG Rundschrift D Light"/>
                </a:rPr>
                <a:t>old</a:t>
              </a:r>
            </a:p>
          </p:txBody>
        </p:sp>
        <p:sp>
          <p:nvSpPr>
            <p:cNvPr id="176" name="TextBox 175">
              <a:extLst>
                <a:ext uri="{FF2B5EF4-FFF2-40B4-BE49-F238E27FC236}">
                  <a16:creationId xmlns:a16="http://schemas.microsoft.com/office/drawing/2014/main" id="{123E1162-0299-4C4A-8B31-2DB436A86253}"/>
                </a:ext>
              </a:extLst>
            </p:cNvPr>
            <p:cNvSpPr txBox="1"/>
            <p:nvPr/>
          </p:nvSpPr>
          <p:spPr>
            <a:xfrm>
              <a:off x="6166975" y="2557990"/>
              <a:ext cx="461732" cy="346249"/>
            </a:xfrm>
            <a:prstGeom prst="rect">
              <a:avLst/>
            </a:prstGeom>
            <a:noFill/>
          </p:spPr>
          <p:txBody>
            <a:bodyPr wrap="none" rtlCol="0">
              <a:spAutoFit/>
            </a:bodyPr>
            <a:lstStyle/>
            <a:p>
              <a:pPr algn="l"/>
              <a:r>
                <a:rPr lang="en-US" sz="2400" dirty="0">
                  <a:latin typeface="VAG Rundschrift D Light"/>
                </a:rPr>
                <a:t>old</a:t>
              </a:r>
            </a:p>
          </p:txBody>
        </p:sp>
        <p:sp>
          <p:nvSpPr>
            <p:cNvPr id="177" name="TextBox 176">
              <a:extLst>
                <a:ext uri="{FF2B5EF4-FFF2-40B4-BE49-F238E27FC236}">
                  <a16:creationId xmlns:a16="http://schemas.microsoft.com/office/drawing/2014/main" id="{7236BF40-2AB5-4A69-93EF-898CE5C7ECF8}"/>
                </a:ext>
              </a:extLst>
            </p:cNvPr>
            <p:cNvSpPr txBox="1"/>
            <p:nvPr/>
          </p:nvSpPr>
          <p:spPr>
            <a:xfrm>
              <a:off x="5838489" y="1500340"/>
              <a:ext cx="1222133" cy="346249"/>
            </a:xfrm>
            <a:prstGeom prst="rect">
              <a:avLst/>
            </a:prstGeom>
            <a:noFill/>
          </p:spPr>
          <p:txBody>
            <a:bodyPr wrap="none" rtlCol="0">
              <a:spAutoFit/>
            </a:bodyPr>
            <a:lstStyle/>
            <a:p>
              <a:pPr algn="l"/>
              <a:r>
                <a:rPr lang="en-US" sz="2400" dirty="0">
                  <a:latin typeface="VAG Rundschrift D Light"/>
                </a:rPr>
                <a:t>instruction</a:t>
              </a:r>
            </a:p>
          </p:txBody>
        </p:sp>
        <p:sp>
          <p:nvSpPr>
            <p:cNvPr id="178" name="TextBox 177">
              <a:extLst>
                <a:ext uri="{FF2B5EF4-FFF2-40B4-BE49-F238E27FC236}">
                  <a16:creationId xmlns:a16="http://schemas.microsoft.com/office/drawing/2014/main" id="{DE78BDC0-AD4E-4752-86F3-BDD0E62CE79E}"/>
                </a:ext>
              </a:extLst>
            </p:cNvPr>
            <p:cNvSpPr txBox="1"/>
            <p:nvPr/>
          </p:nvSpPr>
          <p:spPr>
            <a:xfrm>
              <a:off x="6034991" y="1853137"/>
              <a:ext cx="1299344" cy="346249"/>
            </a:xfrm>
            <a:prstGeom prst="rect">
              <a:avLst/>
            </a:prstGeom>
            <a:noFill/>
          </p:spPr>
          <p:txBody>
            <a:bodyPr wrap="none" rtlCol="0">
              <a:spAutoFit/>
            </a:bodyPr>
            <a:lstStyle/>
            <a:p>
              <a:pPr algn="l"/>
              <a:r>
                <a:rPr lang="en-US" sz="2400" dirty="0">
                  <a:latin typeface="VAG Rundschrift D Light"/>
                </a:rPr>
                <a:t>register out</a:t>
              </a:r>
            </a:p>
          </p:txBody>
        </p:sp>
        <p:sp>
          <p:nvSpPr>
            <p:cNvPr id="179" name="TextBox 178">
              <a:extLst>
                <a:ext uri="{FF2B5EF4-FFF2-40B4-BE49-F238E27FC236}">
                  <a16:creationId xmlns:a16="http://schemas.microsoft.com/office/drawing/2014/main" id="{7F049F5C-A148-499B-82C1-18BC194A949F}"/>
                </a:ext>
              </a:extLst>
            </p:cNvPr>
            <p:cNvSpPr txBox="1"/>
            <p:nvPr/>
          </p:nvSpPr>
          <p:spPr>
            <a:xfrm>
              <a:off x="6792868" y="2216992"/>
              <a:ext cx="1167830" cy="346249"/>
            </a:xfrm>
            <a:prstGeom prst="rect">
              <a:avLst/>
            </a:prstGeom>
            <a:noFill/>
          </p:spPr>
          <p:txBody>
            <a:bodyPr wrap="none" rtlCol="0">
              <a:spAutoFit/>
            </a:bodyPr>
            <a:lstStyle/>
            <a:p>
              <a:pPr algn="l"/>
              <a:r>
                <a:rPr lang="en-US" sz="2400" dirty="0">
                  <a:latin typeface="VAG Rundschrift D Light"/>
                </a:rPr>
                <a:t>ALU result</a:t>
              </a:r>
            </a:p>
          </p:txBody>
        </p:sp>
        <p:sp>
          <p:nvSpPr>
            <p:cNvPr id="180" name="TextBox 179">
              <a:extLst>
                <a:ext uri="{FF2B5EF4-FFF2-40B4-BE49-F238E27FC236}">
                  <a16:creationId xmlns:a16="http://schemas.microsoft.com/office/drawing/2014/main" id="{77C9E67C-044F-4173-A16D-8718C1AC6066}"/>
                </a:ext>
              </a:extLst>
            </p:cNvPr>
            <p:cNvSpPr txBox="1"/>
            <p:nvPr/>
          </p:nvSpPr>
          <p:spPr>
            <a:xfrm>
              <a:off x="7334313" y="2547249"/>
              <a:ext cx="1484087" cy="346249"/>
            </a:xfrm>
            <a:prstGeom prst="rect">
              <a:avLst/>
            </a:prstGeom>
            <a:noFill/>
          </p:spPr>
          <p:txBody>
            <a:bodyPr wrap="none" rtlCol="0">
              <a:spAutoFit/>
            </a:bodyPr>
            <a:lstStyle/>
            <a:p>
              <a:pPr algn="l"/>
              <a:r>
                <a:rPr lang="en-US" sz="2400" dirty="0">
                  <a:latin typeface="VAG Rundschrift D Light"/>
                </a:rPr>
                <a:t>memory data</a:t>
              </a:r>
            </a:p>
          </p:txBody>
        </p:sp>
        <p:sp>
          <p:nvSpPr>
            <p:cNvPr id="191" name="TextBox 190">
              <a:extLst>
                <a:ext uri="{FF2B5EF4-FFF2-40B4-BE49-F238E27FC236}">
                  <a16:creationId xmlns:a16="http://schemas.microsoft.com/office/drawing/2014/main" id="{849C6D8D-6F11-442B-A906-7415206A5E8E}"/>
                </a:ext>
              </a:extLst>
            </p:cNvPr>
            <p:cNvSpPr txBox="1"/>
            <p:nvPr/>
          </p:nvSpPr>
          <p:spPr>
            <a:xfrm>
              <a:off x="2785816" y="2780622"/>
              <a:ext cx="345405" cy="346249"/>
            </a:xfrm>
            <a:prstGeom prst="rect">
              <a:avLst/>
            </a:prstGeom>
            <a:noFill/>
          </p:spPr>
          <p:txBody>
            <a:bodyPr wrap="none" rtlCol="0">
              <a:spAutoFit/>
            </a:bodyPr>
            <a:lstStyle/>
            <a:p>
              <a:pPr algn="l"/>
              <a:r>
                <a:rPr lang="en-US" sz="2400" dirty="0" err="1">
                  <a:latin typeface="VAG Rundschrift D Light"/>
                </a:rPr>
                <a:t>t</a:t>
              </a:r>
              <a:r>
                <a:rPr lang="en-US" sz="2400" baseline="-25000" dirty="0" err="1">
                  <a:latin typeface="VAG Rundschrift D Light"/>
                </a:rPr>
                <a:t>IF</a:t>
              </a:r>
              <a:endParaRPr lang="en-US" sz="2400" baseline="-25000" dirty="0">
                <a:latin typeface="VAG Rundschrift D Light"/>
              </a:endParaRPr>
            </a:p>
          </p:txBody>
        </p:sp>
        <p:sp>
          <p:nvSpPr>
            <p:cNvPr id="192" name="TextBox 191">
              <a:extLst>
                <a:ext uri="{FF2B5EF4-FFF2-40B4-BE49-F238E27FC236}">
                  <a16:creationId xmlns:a16="http://schemas.microsoft.com/office/drawing/2014/main" id="{19631706-06B6-4F9D-BDE5-421BD42FB42E}"/>
                </a:ext>
              </a:extLst>
            </p:cNvPr>
            <p:cNvSpPr txBox="1"/>
            <p:nvPr/>
          </p:nvSpPr>
          <p:spPr>
            <a:xfrm>
              <a:off x="3866866" y="2761549"/>
              <a:ext cx="370971" cy="346249"/>
            </a:xfrm>
            <a:prstGeom prst="rect">
              <a:avLst/>
            </a:prstGeom>
            <a:noFill/>
          </p:spPr>
          <p:txBody>
            <a:bodyPr wrap="none" rtlCol="0">
              <a:spAutoFit/>
            </a:bodyPr>
            <a:lstStyle/>
            <a:p>
              <a:pPr algn="l"/>
              <a:r>
                <a:rPr lang="en-US" sz="2400" dirty="0" err="1">
                  <a:latin typeface="VAG Rundschrift D Light"/>
                </a:rPr>
                <a:t>t</a:t>
              </a:r>
              <a:r>
                <a:rPr lang="en-US" sz="2400" baseline="-25000" dirty="0" err="1">
                  <a:latin typeface="VAG Rundschrift D Light"/>
                </a:rPr>
                <a:t>ID</a:t>
              </a:r>
              <a:endParaRPr lang="en-US" sz="2400" baseline="-25000" dirty="0">
                <a:latin typeface="VAG Rundschrift D Light"/>
              </a:endParaRPr>
            </a:p>
          </p:txBody>
        </p:sp>
        <p:sp>
          <p:nvSpPr>
            <p:cNvPr id="193" name="TextBox 192">
              <a:extLst>
                <a:ext uri="{FF2B5EF4-FFF2-40B4-BE49-F238E27FC236}">
                  <a16:creationId xmlns:a16="http://schemas.microsoft.com/office/drawing/2014/main" id="{66749632-10F9-4CBB-A04D-7179DC3CEA07}"/>
                </a:ext>
              </a:extLst>
            </p:cNvPr>
            <p:cNvSpPr txBox="1"/>
            <p:nvPr/>
          </p:nvSpPr>
          <p:spPr>
            <a:xfrm>
              <a:off x="5114341" y="2752661"/>
              <a:ext cx="393981" cy="346249"/>
            </a:xfrm>
            <a:prstGeom prst="rect">
              <a:avLst/>
            </a:prstGeom>
            <a:noFill/>
          </p:spPr>
          <p:txBody>
            <a:bodyPr wrap="none" rtlCol="0">
              <a:spAutoFit/>
            </a:bodyPr>
            <a:lstStyle/>
            <a:p>
              <a:pPr algn="l"/>
              <a:r>
                <a:rPr lang="en-US" sz="2400" dirty="0" err="1">
                  <a:latin typeface="VAG Rundschrift D Light"/>
                </a:rPr>
                <a:t>t</a:t>
              </a:r>
              <a:r>
                <a:rPr lang="en-US" sz="2400" baseline="-25000" dirty="0" err="1">
                  <a:latin typeface="VAG Rundschrift D Light"/>
                </a:rPr>
                <a:t>EX</a:t>
              </a:r>
              <a:endParaRPr lang="en-US" sz="2400" baseline="-25000" dirty="0">
                <a:latin typeface="VAG Rundschrift D Light"/>
              </a:endParaRPr>
            </a:p>
          </p:txBody>
        </p:sp>
        <p:sp>
          <p:nvSpPr>
            <p:cNvPr id="194" name="TextBox 193">
              <a:extLst>
                <a:ext uri="{FF2B5EF4-FFF2-40B4-BE49-F238E27FC236}">
                  <a16:creationId xmlns:a16="http://schemas.microsoft.com/office/drawing/2014/main" id="{A2F1F0DB-4E16-4150-9CB1-5721E02AE0C9}"/>
                </a:ext>
              </a:extLst>
            </p:cNvPr>
            <p:cNvSpPr txBox="1"/>
            <p:nvPr/>
          </p:nvSpPr>
          <p:spPr>
            <a:xfrm>
              <a:off x="6371755" y="2759086"/>
              <a:ext cx="588287" cy="346249"/>
            </a:xfrm>
            <a:prstGeom prst="rect">
              <a:avLst/>
            </a:prstGeom>
            <a:noFill/>
          </p:spPr>
          <p:txBody>
            <a:bodyPr wrap="none" rtlCol="0">
              <a:spAutoFit/>
            </a:bodyPr>
            <a:lstStyle/>
            <a:p>
              <a:pPr algn="l"/>
              <a:r>
                <a:rPr lang="en-US" sz="2400" dirty="0" err="1">
                  <a:latin typeface="VAG Rundschrift D Light"/>
                </a:rPr>
                <a:t>t</a:t>
              </a:r>
              <a:r>
                <a:rPr lang="en-US" sz="2400" baseline="-25000" dirty="0" err="1">
                  <a:latin typeface="VAG Rundschrift D Light"/>
                </a:rPr>
                <a:t>MEM</a:t>
              </a:r>
              <a:endParaRPr lang="en-US" sz="2400" baseline="-25000" dirty="0">
                <a:latin typeface="VAG Rundschrift D Light"/>
              </a:endParaRPr>
            </a:p>
          </p:txBody>
        </p:sp>
        <p:sp>
          <p:nvSpPr>
            <p:cNvPr id="195" name="TextBox 194">
              <a:extLst>
                <a:ext uri="{FF2B5EF4-FFF2-40B4-BE49-F238E27FC236}">
                  <a16:creationId xmlns:a16="http://schemas.microsoft.com/office/drawing/2014/main" id="{1DF4ED46-64D1-40DF-AF22-DD917DB7195A}"/>
                </a:ext>
              </a:extLst>
            </p:cNvPr>
            <p:cNvSpPr txBox="1"/>
            <p:nvPr/>
          </p:nvSpPr>
          <p:spPr>
            <a:xfrm>
              <a:off x="7161712" y="2766164"/>
              <a:ext cx="464289" cy="346249"/>
            </a:xfrm>
            <a:prstGeom prst="rect">
              <a:avLst/>
            </a:prstGeom>
            <a:noFill/>
          </p:spPr>
          <p:txBody>
            <a:bodyPr wrap="none" rtlCol="0">
              <a:spAutoFit/>
            </a:bodyPr>
            <a:lstStyle/>
            <a:p>
              <a:pPr algn="l"/>
              <a:r>
                <a:rPr lang="en-US" sz="2400" dirty="0" err="1">
                  <a:latin typeface="VAG Rundschrift D Light"/>
                </a:rPr>
                <a:t>t</a:t>
              </a:r>
              <a:r>
                <a:rPr lang="en-US" sz="2400" baseline="-25000" dirty="0" err="1">
                  <a:latin typeface="VAG Rundschrift D Light"/>
                </a:rPr>
                <a:t>WB</a:t>
              </a:r>
              <a:endParaRPr lang="en-US" sz="2400" baseline="-25000" dirty="0">
                <a:latin typeface="VAG Rundschrift D Light"/>
              </a:endParaRPr>
            </a:p>
          </p:txBody>
        </p:sp>
      </p:grpSp>
    </p:spTree>
    <p:extLst>
      <p:ext uri="{BB962C8B-B14F-4D97-AF65-F5344CB8AC3E}">
        <p14:creationId xmlns:p14="http://schemas.microsoft.com/office/powerpoint/2010/main" val="142999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CS61C-ly-new">
  <a:themeElements>
    <a:clrScheme name="Custom 10">
      <a:dk1>
        <a:srgbClr val="000000"/>
      </a:dk1>
      <a:lt1>
        <a:srgbClr val="FFFFFF"/>
      </a:lt1>
      <a:dk2>
        <a:srgbClr val="002E5D"/>
      </a:dk2>
      <a:lt2>
        <a:srgbClr val="E5DCD1"/>
      </a:lt2>
      <a:accent1>
        <a:srgbClr val="00BDE2"/>
      </a:accent1>
      <a:accent2>
        <a:srgbClr val="C6DAC3"/>
      </a:accent2>
      <a:accent3>
        <a:srgbClr val="FEC016"/>
      </a:accent3>
      <a:accent4>
        <a:srgbClr val="D9E056"/>
      </a:accent4>
      <a:accent5>
        <a:srgbClr val="EB1379"/>
      </a:accent5>
      <a:accent6>
        <a:srgbClr val="A97EFA"/>
      </a:accent6>
      <a:hlink>
        <a:srgbClr val="9ED1FF"/>
      </a:hlink>
      <a:folHlink>
        <a:srgbClr val="93C9F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tailEnd type="triangle" w="lg" len="lg"/>
        </a:ln>
      </a:spPr>
      <a:bodyPr rtlCol="0" anchor="ctr"/>
      <a:lstStyle>
        <a:defPPr algn="ctr">
          <a:defRPr sz="2000" dirty="0">
            <a:solidFill>
              <a:schemeClr val="accent1"/>
            </a:solidFill>
            <a:latin typeface="18 VAG Rounded Light   02390" pitchFamily="2" charset="0"/>
          </a:defRPr>
        </a:defPPr>
      </a:lstStyle>
      <a:style>
        <a:lnRef idx="1">
          <a:schemeClr val="accent1"/>
        </a:lnRef>
        <a:fillRef idx="0">
          <a:schemeClr val="accent1"/>
        </a:fillRef>
        <a:effectRef idx="0">
          <a:schemeClr val="accent1"/>
        </a:effectRef>
        <a:fontRef idx="minor">
          <a:schemeClr val="tx1"/>
        </a:fontRef>
      </a:style>
    </a:spDef>
    <a:lnDef>
      <a:spPr>
        <a:ln w="28575">
          <a:tailEnd type="triangl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2400" dirty="0">
            <a:solidFill>
              <a:schemeClr val="accent1"/>
            </a:solidFill>
            <a:latin typeface="18 VAG Rounded Light   02390" pitchFamily="2" charset="0"/>
          </a:defRPr>
        </a:defPPr>
      </a:lstStyle>
    </a:txDef>
  </a:objectDefaults>
  <a:extraClrSchemeLst/>
  <a:extLst>
    <a:ext uri="{05A4C25C-085E-4340-85A3-A5531E510DB2}">
      <thm15:themeFamily xmlns:thm15="http://schemas.microsoft.com/office/thememl/2012/main" name="CS61C-ly-new" id="{DFFA2BFF-9357-A24D-A947-9735921D71C4}" vid="{3C32BE93-C896-F84B-BEA8-5E6C5AC7E2C8}"/>
    </a:ext>
  </a:extLst>
</a:theme>
</file>

<file path=ppt/theme/theme2.xml><?xml version="1.0" encoding="utf-8"?>
<a:theme xmlns:a="http://schemas.openxmlformats.org/drawingml/2006/main" name="Metro">
  <a:themeElements>
    <a:clrScheme name="Custom 1">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134770"/>
      </a:hlink>
      <a:folHlink>
        <a:srgbClr val="7AF8CC"/>
      </a:folHlink>
    </a:clrScheme>
    <a:fontScheme name="Custom 1">
      <a:majorFont>
        <a:latin typeface="VAGRundschriftD"/>
        <a:ea typeface=""/>
        <a:cs typeface=""/>
      </a:majorFont>
      <a:minorFont>
        <a:latin typeface="VAGRundschriftD"/>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defRPr sz="2400" dirty="0">
            <a:latin typeface="18 VAG Rounded Thin   55390" pitchFamily="2" charset="0"/>
          </a:defRPr>
        </a:defPPr>
      </a:lstStyle>
    </a:txDef>
  </a:objectDefaults>
  <a:extraClrSchemeLst/>
</a:theme>
</file>

<file path=ppt/theme/theme3.xml><?xml version="1.0" encoding="utf-8"?>
<a:theme xmlns:a="http://schemas.openxmlformats.org/drawingml/2006/main" name="CS61C Presentation (Recolored Berkeley 2024)">
  <a:themeElements>
    <a:clrScheme name="Simple Light">
      <a:dk1>
        <a:srgbClr val="F2F2F2"/>
      </a:dk1>
      <a:lt1>
        <a:srgbClr val="000000"/>
      </a:lt1>
      <a:dk2>
        <a:srgbClr val="FDB515"/>
      </a:dk2>
      <a:lt2>
        <a:srgbClr val="004AAE"/>
      </a:lt2>
      <a:accent1>
        <a:srgbClr val="9FD1FF"/>
      </a:accent1>
      <a:accent2>
        <a:srgbClr val="E7115E"/>
      </a:accent2>
      <a:accent3>
        <a:srgbClr val="B3E59A"/>
      </a:accent3>
      <a:accent4>
        <a:srgbClr val="FFCFE5"/>
      </a:accent4>
      <a:accent5>
        <a:srgbClr val="D9CEFF"/>
      </a:accent5>
      <a:accent6>
        <a:srgbClr val="808080"/>
      </a:accent6>
      <a:hlink>
        <a:srgbClr val="9FD1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CS61C-ly-new</Template>
  <TotalTime>32299</TotalTime>
  <Words>2695</Words>
  <Application>Microsoft Macintosh PowerPoint</Application>
  <PresentationFormat>Widescreen</PresentationFormat>
  <Paragraphs>1206</Paragraphs>
  <Slides>31</Slides>
  <Notes>29</Notes>
  <HiddenSlides>3</HiddenSlides>
  <MMClips>0</MMClips>
  <ScaleCrop>false</ScaleCrop>
  <HeadingPairs>
    <vt:vector size="6" baseType="variant">
      <vt:variant>
        <vt:lpstr>Fonts Used</vt:lpstr>
      </vt:variant>
      <vt:variant>
        <vt:i4>26</vt:i4>
      </vt:variant>
      <vt:variant>
        <vt:lpstr>Theme</vt:lpstr>
      </vt:variant>
      <vt:variant>
        <vt:i4>3</vt:i4>
      </vt:variant>
      <vt:variant>
        <vt:lpstr>Slide Titles</vt:lpstr>
      </vt:variant>
      <vt:variant>
        <vt:i4>31</vt:i4>
      </vt:variant>
    </vt:vector>
  </HeadingPairs>
  <TitlesOfParts>
    <vt:vector size="60" baseType="lpstr">
      <vt:lpstr>.Hiragino Kaku Gothic Interface W3</vt:lpstr>
      <vt:lpstr>18 VAG Rounded Black   09390</vt:lpstr>
      <vt:lpstr>18 VAG ROUNDED BOLD   07390</vt:lpstr>
      <vt:lpstr>18 VAG ROUNDED BOLD   07390</vt:lpstr>
      <vt:lpstr>18 VAG Rounded Light   02390</vt:lpstr>
      <vt:lpstr>18 VAG Rounded Light   02390</vt:lpstr>
      <vt:lpstr>18 VAG Rounded Thin   55390</vt:lpstr>
      <vt:lpstr>Inter</vt:lpstr>
      <vt:lpstr>Inter Medium</vt:lpstr>
      <vt:lpstr>Inter SemiBold</vt:lpstr>
      <vt:lpstr>ＭＳ Ｐゴシック</vt:lpstr>
      <vt:lpstr>VAG Rundschrift D Light</vt:lpstr>
      <vt:lpstr>VAGRundschriftD</vt:lpstr>
      <vt:lpstr>VAGRundschriftDLig</vt:lpstr>
      <vt:lpstr>Arial</vt:lpstr>
      <vt:lpstr>Calibri</vt:lpstr>
      <vt:lpstr>Consolas</vt:lpstr>
      <vt:lpstr>Corbel</vt:lpstr>
      <vt:lpstr>Courier</vt:lpstr>
      <vt:lpstr>Courier New</vt:lpstr>
      <vt:lpstr>Helvetica</vt:lpstr>
      <vt:lpstr>Helvetica Neue</vt:lpstr>
      <vt:lpstr>IBM Plex Mono SemiBold</vt:lpstr>
      <vt:lpstr>Source Code Pro</vt:lpstr>
      <vt:lpstr>Wingdings</vt:lpstr>
      <vt:lpstr>Wingdings 2</vt:lpstr>
      <vt:lpstr>CS61C-ly-new</vt:lpstr>
      <vt:lpstr>Metro</vt:lpstr>
      <vt:lpstr>CS61C Presentation (Recolored Berkeley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Datapath for sub</vt:lpstr>
      <vt:lpstr>What Does the Datapath Need for addi?</vt:lpstr>
      <vt:lpstr>MUX and Immediate Generator Block</vt:lpstr>
      <vt:lpstr>1. New MUX to Select Immediate for ALU</vt:lpstr>
      <vt:lpstr>2. New Block to Generate 32-bit Immediate</vt:lpstr>
      <vt:lpstr>Connect DMEM</vt:lpstr>
      <vt:lpstr>Updated Blocks for sw</vt:lpstr>
      <vt:lpstr>Branch Comparator Block, PCSel Control Signal</vt:lpstr>
      <vt:lpstr>Branch Comparator Block, Detail</vt:lpstr>
      <vt:lpstr>ASel MUX before ALU</vt:lpstr>
      <vt:lpstr>Immediates: I-Type</vt:lpstr>
      <vt:lpstr>Immediates: I-Type, S-Type</vt:lpstr>
      <vt:lpstr>Immediates: I-Type, S-Type, B-Type</vt:lpstr>
      <vt:lpstr>Block Updates Needed for JAL</vt:lpstr>
      <vt:lpstr>Complete RV32I Datapath!</vt:lpstr>
      <vt:lpstr>PowerPoint Presentation</vt:lpstr>
      <vt:lpstr>PowerPoint Presentation</vt:lpstr>
      <vt:lpstr>PowerPoint Presentation</vt:lpstr>
      <vt:lpstr>Timing Diagram for add </vt:lpstr>
      <vt:lpstr>Add Execution</vt:lpstr>
      <vt:lpstr>Waveform Diagram: add</vt:lpstr>
      <vt:lpstr>5-Phase Timing, Waveforms</vt:lpstr>
      <vt:lpstr>Instruction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RISC-V (California Gold)</dc:title>
  <dc:creator>Lisa Yan</dc:creator>
  <cp:lastModifiedBy>Lisa Yan</cp:lastModifiedBy>
  <cp:revision>932</cp:revision>
  <cp:lastPrinted>2022-09-30T17:03:13Z</cp:lastPrinted>
  <dcterms:created xsi:type="dcterms:W3CDTF">2022-09-05T20:39:51Z</dcterms:created>
  <dcterms:modified xsi:type="dcterms:W3CDTF">2026-03-26T00:44:43Z</dcterms:modified>
</cp:coreProperties>
</file>