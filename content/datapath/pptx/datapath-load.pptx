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  <p:sldMasterId id="2147483709" r:id="rId2"/>
  </p:sldMasterIdLst>
  <p:notesMasterIdLst>
    <p:notesMasterId r:id="rId11"/>
  </p:notesMasterIdLst>
  <p:sldIdLst>
    <p:sldId id="1395" r:id="rId3"/>
    <p:sldId id="1396" r:id="rId4"/>
    <p:sldId id="1397" r:id="rId5"/>
    <p:sldId id="1398" r:id="rId6"/>
    <p:sldId id="1402" r:id="rId7"/>
    <p:sldId id="1399" r:id="rId8"/>
    <p:sldId id="1400" r:id="rId9"/>
    <p:sldId id="1401" r:id="rId10"/>
  </p:sldIdLst>
  <p:sldSz cx="12192000" cy="6858000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223"/>
    <a:srgbClr val="00264A"/>
    <a:srgbClr val="00152A"/>
    <a:srgbClr val="002548"/>
    <a:srgbClr val="4991B2"/>
    <a:srgbClr val="000000"/>
    <a:srgbClr val="032141"/>
    <a:srgbClr val="D9E1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025"/>
    <p:restoredTop sz="94304"/>
  </p:normalViewPr>
  <p:slideViewPr>
    <p:cSldViewPr snapToGrid="0">
      <p:cViewPr varScale="1">
        <p:scale>
          <a:sx n="112" d="100"/>
          <a:sy n="112" d="100"/>
        </p:scale>
        <p:origin x="232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179AFB-556A-7647-8681-E8CCC214AEB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4562F5-9C85-F843-B903-B3B42F5C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976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8680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CBFA6-7185-2E5E-6AE4-593954BED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29308F-AE2B-AF45-56F5-6E81774347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B16012-07AF-30A9-B514-B9B012B88F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A033E-E6CE-978A-BEAB-5BD04F201C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2779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A2296-48E9-AF70-B31A-A17894B82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D55EB4-3FAD-322A-A2F0-0441811C82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82AC11-5687-7ACE-544F-073406BE81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EA93BC-4869-578C-898A-3688B1386A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7288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4A370-F817-6D7A-FEEB-006E4752A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DF3578-EFB6-5F87-2ABA-3A3070102B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ABC91C-CCB5-9A68-B9FF-7DD7E73791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55163B-459B-F50D-F2B6-6A7D8E5A64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9783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DF988-DFCC-BA77-21D5-466D33162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DEAB9B-5C85-2649-52EA-78F73E74C4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C9B480-050A-60B9-127D-6994BCF84F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1ECDBC-205C-EB46-896C-0096B2BC8E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9474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644C8-87F3-1A51-5BD9-3119EDB5C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60522C-73E7-6F9A-FD28-BDC5EEE2B8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11A97-0DC5-58D5-3CE1-4CF4400339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147A33-D674-1D7D-31C4-365014191F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4135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AD9B4-C55B-415F-26F7-3F8E8F9D3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BF35CC-B68E-5B2F-7025-51ABDEDC41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13EC75-2E67-081A-EBFF-54C98684FD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04AA38-BC65-EC74-4BA7-35C17EED25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0127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5F0EE-7A3F-6E07-0865-D3266BA41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B54AFC-6992-774A-1079-A9D5715861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31D78A-6B3A-EFA5-56E9-94FC2C7DF3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564F16-B727-DDA3-4358-4ADC14201E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407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.png"/><Relationship Id="rId5" Type="http://schemas.openxmlformats.org/officeDocument/2006/relationships/image" Target="../media/image2.tiff"/><Relationship Id="rId4" Type="http://schemas.openxmlformats.org/officeDocument/2006/relationships/image" Target="../media/image9.jp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emf"/><Relationship Id="rId4" Type="http://schemas.openxmlformats.org/officeDocument/2006/relationships/image" Target="../media/image2.tiff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emf"/><Relationship Id="rId4" Type="http://schemas.openxmlformats.org/officeDocument/2006/relationships/image" Target="../media/image2.tiff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emf"/><Relationship Id="rId4" Type="http://schemas.openxmlformats.org/officeDocument/2006/relationships/image" Target="../media/image2.tiff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11.png"/><Relationship Id="rId7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.tiff"/><Relationship Id="rId5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emf"/><Relationship Id="rId5" Type="http://schemas.openxmlformats.org/officeDocument/2006/relationships/image" Target="../media/image2.tiff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504D8-8C6A-A1BE-E710-691D034BA2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7B3F4E-7F7A-7010-DF2B-2B5FC40C0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36350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1185DB5B-BEBF-6B87-32BE-E3D2FAA3F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1021" y="4561558"/>
            <a:ext cx="7789961" cy="761999"/>
          </a:xfrm>
          <a:prstGeom prst="rect">
            <a:avLst/>
          </a:prstGeom>
        </p:spPr>
        <p:txBody>
          <a:bodyPr/>
          <a:lstStyle>
            <a:lvl1pPr algn="ctr">
              <a:defRPr sz="4267" b="1" i="0">
                <a:solidFill>
                  <a:schemeClr val="accent3">
                    <a:alpha val="99000"/>
                  </a:schemeClr>
                </a:solidFill>
                <a:latin typeface="18 VAG Rounded Bold   0739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BD695780-6F13-8D58-9C18-35AACFB35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00" y="405076"/>
            <a:ext cx="6908800" cy="163284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contourClr>
              <a:schemeClr val="bg1"/>
            </a:contourClr>
          </a:sp3d>
        </p:spPr>
        <p:txBody>
          <a:bodyPr wrap="square" lIns="75592" tIns="30237" rIns="75592" bIns="30237" anchor="ctr">
            <a:prstTxWarp prst="textNoShape">
              <a:avLst/>
            </a:prstTxWarp>
            <a:spAutoFit/>
            <a:sp3d extrusionH="25400">
              <a:bevelT w="38100" h="31750"/>
              <a:contourClr>
                <a:srgbClr val="4991B1"/>
              </a:contourClr>
            </a:sp3d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12800" dirty="0">
                <a:ln w="0"/>
                <a:solidFill>
                  <a:srgbClr val="4991B1">
                    <a:alpha val="99000"/>
                  </a:srgbClr>
                </a:solidFill>
                <a:effectLst/>
                <a:latin typeface="18 VAG Rounded Bold   07390" charset="0"/>
              </a:rPr>
              <a:t>CS61C</a:t>
            </a:r>
            <a:endParaRPr lang="en-US" sz="6400" b="1" dirty="0">
              <a:solidFill>
                <a:srgbClr val="4991B1">
                  <a:alpha val="99000"/>
                </a:srgbClr>
              </a:solidFill>
              <a:latin typeface="18 VAG Rounded Bold   07390" charset="0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62D69298-76B5-35A4-3319-24FFE4F5CE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00" y="1859824"/>
            <a:ext cx="6908800" cy="154050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75592" tIns="30237" rIns="75592" bIns="30237" anchor="ctr">
            <a:prstTxWarp prst="textNoShape">
              <a:avLst/>
            </a:prstTxWarp>
            <a:spAutoFit/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bg1">
                    <a:alpha val="99000"/>
                  </a:schemeClr>
                </a:solidFill>
                <a:latin typeface="18 VAG Rounded Bold   07390" charset="0"/>
              </a:rPr>
              <a:t>Great Ideas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bg1">
                    <a:alpha val="99000"/>
                  </a:schemeClr>
                </a:solidFill>
                <a:latin typeface="18 VAG Rounded Bold   07390" charset="0"/>
              </a:rPr>
              <a:t>in</a:t>
            </a:r>
            <a:br>
              <a:rPr lang="en-US" sz="3333" b="1" dirty="0">
                <a:solidFill>
                  <a:schemeClr val="bg1">
                    <a:alpha val="99000"/>
                  </a:schemeClr>
                </a:solidFill>
                <a:latin typeface="18 VAG Rounded Bold   07390" charset="0"/>
              </a:rPr>
            </a:br>
            <a:r>
              <a:rPr lang="en-US" sz="3333" b="1" dirty="0">
                <a:solidFill>
                  <a:schemeClr val="bg1">
                    <a:alpha val="99000"/>
                  </a:schemeClr>
                </a:solidFill>
                <a:latin typeface="18 VAG Rounded Bold   07390" charset="0"/>
              </a:rPr>
              <a:t>Computer Architecture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2400" dirty="0">
                <a:solidFill>
                  <a:schemeClr val="bg2">
                    <a:alpha val="99000"/>
                  </a:schemeClr>
                </a:solidFill>
                <a:latin typeface="18 VAG Rounded Thin   55390" pitchFamily="2" charset="0"/>
              </a:rPr>
              <a:t>(a.k.a. Machine Structures)</a:t>
            </a:r>
            <a:endParaRPr lang="en-US" sz="3833" b="1" dirty="0">
              <a:solidFill>
                <a:schemeClr val="bg2">
                  <a:alpha val="99000"/>
                </a:schemeClr>
              </a:solidFill>
              <a:latin typeface="18 VAG Rounded Bold   07390" charset="0"/>
            </a:endParaRPr>
          </a:p>
        </p:txBody>
      </p:sp>
      <p:pic>
        <p:nvPicPr>
          <p:cNvPr id="16" name="Google Shape;23;p49">
            <a:extLst>
              <a:ext uri="{FF2B5EF4-FFF2-40B4-BE49-F238E27FC236}">
                <a16:creationId xmlns:a16="http://schemas.microsoft.com/office/drawing/2014/main" id="{34967360-50B3-A7B0-0715-41A94158E827}"/>
              </a:ext>
            </a:extLst>
          </p:cNvPr>
          <p:cNvPicPr preferRelativeResize="0"/>
          <p:nvPr/>
        </p:nvPicPr>
        <p:blipFill>
          <a:blip r:embed="rId2"/>
          <a:srcRect l="481" r="481"/>
          <a:stretch/>
        </p:blipFill>
        <p:spPr>
          <a:xfrm>
            <a:off x="8888173" y="410681"/>
            <a:ext cx="1266560" cy="1705135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BECC42E-4CE3-4707-674B-71A0975151E3}"/>
              </a:ext>
            </a:extLst>
          </p:cNvPr>
          <p:cNvSpPr txBox="1"/>
          <p:nvPr/>
        </p:nvSpPr>
        <p:spPr>
          <a:xfrm>
            <a:off x="8410205" y="2493787"/>
            <a:ext cx="2222500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bg1">
                    <a:lumMod val="50000"/>
                    <a:alpha val="99000"/>
                  </a:schemeClr>
                </a:solidFill>
                <a:latin typeface="18 VAG Rounded Bold   07390"/>
              </a:rPr>
              <a:t>Assistant Teaching Professor</a:t>
            </a:r>
            <a:br>
              <a:rPr lang="en-US" sz="1667" b="1" dirty="0">
                <a:solidFill>
                  <a:schemeClr val="bg1">
                    <a:lumMod val="50000"/>
                    <a:alpha val="99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bg1">
                    <a:lumMod val="50000"/>
                    <a:alpha val="99000"/>
                  </a:schemeClr>
                </a:solidFill>
                <a:latin typeface="18 VAG Rounded Bold   07390"/>
              </a:rPr>
              <a:t>Lisa Yan</a:t>
            </a:r>
          </a:p>
        </p:txBody>
      </p:sp>
      <p:sp>
        <p:nvSpPr>
          <p:cNvPr id="19" name="Google Shape;24;p49">
            <a:extLst>
              <a:ext uri="{FF2B5EF4-FFF2-40B4-BE49-F238E27FC236}">
                <a16:creationId xmlns:a16="http://schemas.microsoft.com/office/drawing/2014/main" id="{55D34F2F-A07D-B6C8-15A2-8BEA5F388780}"/>
              </a:ext>
            </a:extLst>
          </p:cNvPr>
          <p:cNvSpPr/>
          <p:nvPr/>
        </p:nvSpPr>
        <p:spPr>
          <a:xfrm>
            <a:off x="3822337" y="6370191"/>
            <a:ext cx="4547326" cy="492388"/>
          </a:xfrm>
          <a:prstGeom prst="rect">
            <a:avLst/>
          </a:prstGeom>
          <a:gradFill>
            <a:gsLst>
              <a:gs pos="0">
                <a:srgbClr val="002A52"/>
              </a:gs>
              <a:gs pos="100000">
                <a:srgbClr val="003262"/>
              </a:gs>
            </a:gsLst>
            <a:lin ang="5400000" scaled="0"/>
          </a:gradFill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67" b="1" i="0" u="none" strike="noStrike" cap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cs61c.org</a:t>
            </a:r>
            <a:r>
              <a:rPr lang="en-US"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21199" b="0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" name="Google Shape;19;p49">
            <a:extLst>
              <a:ext uri="{FF2B5EF4-FFF2-40B4-BE49-F238E27FC236}">
                <a16:creationId xmlns:a16="http://schemas.microsoft.com/office/drawing/2014/main" id="{6FB1CB93-C34B-732D-69A5-FDC99B477111}"/>
              </a:ext>
            </a:extLst>
          </p:cNvPr>
          <p:cNvSpPr/>
          <p:nvPr/>
        </p:nvSpPr>
        <p:spPr>
          <a:xfrm>
            <a:off x="3108960" y="5135309"/>
            <a:ext cx="5974080" cy="471948"/>
          </a:xfrm>
          <a:prstGeom prst="ellipse">
            <a:avLst/>
          </a:prstGeom>
          <a:solidFill>
            <a:srgbClr val="3A7EA2">
              <a:alpha val="16862"/>
            </a:srgbClr>
          </a:solidFill>
          <a:ln>
            <a:noFill/>
          </a:ln>
        </p:spPr>
        <p:txBody>
          <a:bodyPr spcFirstLastPara="1" wrap="square" lIns="108833" tIns="54400" rIns="108833" bIns="54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62" b="0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754323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627AE-C995-6797-2C40-9C48BCC62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C64BA-0D42-6AAA-24D0-2B99AC909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D4CD3E-7661-9ED1-E307-83D9CDBD2C60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EA16AC-3D5F-DAA1-4E0B-B5CF4BF5390A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5540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D8D4BA-5CFB-7F64-C19D-CFBCDCDDF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42475" y="909321"/>
            <a:ext cx="5998909" cy="5364480"/>
          </a:xfrm>
        </p:spPr>
        <p:txBody>
          <a:bodyPr anchor="ctr">
            <a:normAutofit/>
          </a:bodyPr>
          <a:lstStyle>
            <a:lvl1pPr marL="609585" indent="-531271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3600" b="0" i="0">
                <a:solidFill>
                  <a:schemeClr val="bg1"/>
                </a:solidFill>
                <a:latin typeface="18 VAG Rounded Light   02390" pitchFamily="2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5CEBC6-3272-877B-6FC0-88185C9300D1}"/>
              </a:ext>
            </a:extLst>
          </p:cNvPr>
          <p:cNvSpPr/>
          <p:nvPr/>
        </p:nvSpPr>
        <p:spPr>
          <a:xfrm>
            <a:off x="0" y="908051"/>
            <a:ext cx="5514021" cy="5365751"/>
          </a:xfrm>
          <a:prstGeom prst="rect">
            <a:avLst/>
          </a:prstGeom>
          <a:gradFill>
            <a:gsLst>
              <a:gs pos="0">
                <a:schemeClr val="tx1">
                  <a:alpha val="15000"/>
                </a:schemeClr>
              </a:gs>
              <a:gs pos="100000">
                <a:srgbClr val="3A7EA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0" i="0">
              <a:latin typeface="18 VAG Rounded Light   02390" pitchFamily="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1C5CA34-43CE-D2B0-CA59-D41610FD01AD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5A31750-A405-1B89-FEC0-D5EA9AD8CE83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6AF6151-774C-D88A-F797-71D61040C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437" y="886850"/>
            <a:ext cx="5181600" cy="5365751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78315" indent="0">
              <a:tabLst/>
              <a:defRPr sz="5867" b="1" i="0">
                <a:solidFill>
                  <a:schemeClr val="accent3">
                    <a:alpha val="99000"/>
                  </a:schemeClr>
                </a:solidFill>
                <a:latin typeface="18 VAG Rounded Bold   0739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Google Shape;19;p49">
            <a:extLst>
              <a:ext uri="{FF2B5EF4-FFF2-40B4-BE49-F238E27FC236}">
                <a16:creationId xmlns:a16="http://schemas.microsoft.com/office/drawing/2014/main" id="{EE6D3610-51E7-072A-C443-EB48D2CE05B3}"/>
              </a:ext>
            </a:extLst>
          </p:cNvPr>
          <p:cNvSpPr/>
          <p:nvPr/>
        </p:nvSpPr>
        <p:spPr>
          <a:xfrm>
            <a:off x="330438" y="5084098"/>
            <a:ext cx="4740068" cy="471948"/>
          </a:xfrm>
          <a:prstGeom prst="ellipse">
            <a:avLst/>
          </a:prstGeom>
          <a:solidFill>
            <a:srgbClr val="3A7EA2">
              <a:alpha val="16862"/>
            </a:srgbClr>
          </a:solidFill>
          <a:ln>
            <a:noFill/>
          </a:ln>
        </p:spPr>
        <p:txBody>
          <a:bodyPr spcFirstLastPara="1" wrap="square" lIns="108833" tIns="54400" rIns="108833" bIns="54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62" b="0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102920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23AF8-3354-C1AF-87B5-7D4A7143A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D4C7F-8368-7F6B-D89B-1288477CF3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8413" y="916710"/>
            <a:ext cx="5303520" cy="5260254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006F8F-A65B-D532-67B0-48E3513EBC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933316"/>
            <a:ext cx="5394960" cy="5243648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77D10F-3A40-C609-3618-CF470B0B02F3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7E0520-96D2-C5AA-6269-0C2469184946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5543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11067-BA44-3904-7E43-138A62BA9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E714379-5477-4D73-C7EF-823FDEF56496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6669C0-8787-EED5-07F5-111A4D70AA8F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8115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512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9A3CF7-6031-BD55-66FF-DEF78D03F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7465" y="2306249"/>
            <a:ext cx="8137073" cy="2245505"/>
          </a:xfrm>
        </p:spPr>
        <p:txBody>
          <a:bodyPr>
            <a:noAutofit/>
          </a:bodyPr>
          <a:lstStyle>
            <a:lvl1pPr algn="ctr">
              <a:defRPr sz="8533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830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75D6C36-AF3C-3D5D-85D0-B0BCB39B2FA3}"/>
              </a:ext>
            </a:extLst>
          </p:cNvPr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0656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 Column_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627AE-C995-6797-2C40-9C48BCC62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C64BA-0D42-6AAA-24D0-2B99AC909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D4CD3E-7661-9ED1-E307-83D9CDBD2C60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EA16AC-3D5F-DAA1-4E0B-B5CF4BF5390A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ABD31BE-11B0-12C9-4F44-86656D6D03F8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685800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029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a20_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627AE-C995-6797-2C40-9C48BCC62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C64BA-0D42-6AAA-24D0-2B99AC909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898041"/>
            <a:ext cx="8572491" cy="52789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D4CD3E-7661-9ED1-E307-83D9CDBD2C60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EA16AC-3D5F-DAA1-4E0B-B5CF4BF5390A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49E1F49-FF31-2B00-2304-6BCA27806331}"/>
              </a:ext>
            </a:extLst>
          </p:cNvPr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66AFDBD-60BE-5483-0C26-669A37732B99}"/>
              </a:ext>
            </a:extLst>
          </p:cNvPr>
          <p:cNvCxnSpPr/>
          <p:nvPr/>
        </p:nvCxnSpPr>
        <p:spPr>
          <a:xfrm>
            <a:off x="7620000" y="0"/>
            <a:ext cx="0" cy="685800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49130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Fa20_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627AE-C995-6797-2C40-9C48BCC62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C64BA-0D42-6AAA-24D0-2B99AC909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898041"/>
            <a:ext cx="8572491" cy="52789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D4CD3E-7661-9ED1-E307-83D9CDBD2C60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EA16AC-3D5F-DAA1-4E0B-B5CF4BF5390A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90327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68B2A-FB40-E32F-5166-4622746C42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7CBE5D-916B-9810-03A4-1958ED6BB4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45955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picture containing food&#10;&#10;Description automatically generated">
            <a:extLst>
              <a:ext uri="{FF2B5EF4-FFF2-40B4-BE49-F238E27FC236}">
                <a16:creationId xmlns:a16="http://schemas.microsoft.com/office/drawing/2014/main" id="{CE9ED49C-E0F6-3E47-BD59-EA863495A6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748BE3-3690-A64C-B81F-5D4836EA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1" y="4561556"/>
            <a:ext cx="7823200" cy="762000"/>
          </a:xfrm>
        </p:spPr>
        <p:txBody>
          <a:bodyPr/>
          <a:lstStyle>
            <a:lvl1pPr algn="ctr">
              <a:defRPr>
                <a:solidFill>
                  <a:srgbClr val="FFC117"/>
                </a:solidFill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1F4736C-1B40-EF40-A4E6-C67F6BA9BB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4531" y="405525"/>
            <a:ext cx="6908800" cy="163194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contourClr>
              <a:schemeClr val="bg1"/>
            </a:contourClr>
          </a:sp3d>
        </p:spPr>
        <p:txBody>
          <a:bodyPr wrap="square" lIns="75592" tIns="30237" rIns="75592" bIns="30237" anchor="ctr">
            <a:prstTxWarp prst="textNoShape">
              <a:avLst/>
            </a:prstTxWarp>
            <a:spAutoFit/>
            <a:sp3d extrusionH="25400">
              <a:bevelT w="38100" h="31750"/>
              <a:contourClr>
                <a:srgbClr val="4991B1"/>
              </a:contourClr>
            </a:sp3d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12800" dirty="0">
                <a:ln w="0"/>
                <a:solidFill>
                  <a:srgbClr val="4991B1"/>
                </a:solidFill>
                <a:effectLst/>
                <a:latin typeface="VAGRundschriftD" panose="00000500000000000000" pitchFamily="50" charset="0"/>
              </a:rPr>
              <a:t>CS61C</a:t>
            </a:r>
            <a:endParaRPr lang="en-US" sz="6400" b="1" dirty="0">
              <a:solidFill>
                <a:srgbClr val="4991B1"/>
              </a:solidFill>
              <a:latin typeface="VAGRundschriftD" panose="00000500000000000000" pitchFamily="50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2742FAC-A915-9940-B071-1ACD580B8818}"/>
              </a:ext>
            </a:extLst>
          </p:cNvPr>
          <p:cNvSpPr/>
          <p:nvPr userDrawn="1"/>
        </p:nvSpPr>
        <p:spPr>
          <a:xfrm>
            <a:off x="3670301" y="5754635"/>
            <a:ext cx="7912099" cy="471948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 eaLnBrk="0" hangingPunct="0">
              <a:defRPr/>
            </a:pPr>
            <a:endParaRPr lang="en-US" sz="19062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67045E-1D2A-D347-9A70-A92ECBAE1DA8}"/>
              </a:ext>
            </a:extLst>
          </p:cNvPr>
          <p:cNvSpPr txBox="1"/>
          <p:nvPr userDrawn="1"/>
        </p:nvSpPr>
        <p:spPr>
          <a:xfrm>
            <a:off x="3083166" y="2494613"/>
            <a:ext cx="2222500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UC Berkeley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Teaching Professor 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Dan Garcia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E8C054-0436-F542-9F61-8E0911ABF73E}"/>
              </a:ext>
            </a:extLst>
          </p:cNvPr>
          <p:cNvSpPr txBox="1"/>
          <p:nvPr userDrawn="1"/>
        </p:nvSpPr>
        <p:spPr>
          <a:xfrm>
            <a:off x="10318235" y="2493787"/>
            <a:ext cx="1672165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UC Berkeley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Professor 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Bora </a:t>
            </a:r>
            <a:r>
              <a:rPr lang="en-US" sz="1667" b="1" dirty="0" err="1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Nikolić</a:t>
            </a:r>
            <a:endParaRPr lang="en-US" sz="1667" b="1" dirty="0">
              <a:solidFill>
                <a:schemeClr val="tx1">
                  <a:lumMod val="50000"/>
                </a:schemeClr>
              </a:solidFill>
              <a:latin typeface="18 VAG Rounded Bold   0739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57237754-4208-E64E-8670-01EE7AED6B0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/>
          <a:srcRect l="14185" t="1842" r="32155" b="47377"/>
          <a:stretch/>
        </p:blipFill>
        <p:spPr bwMode="auto">
          <a:xfrm>
            <a:off x="3512032" y="414398"/>
            <a:ext cx="1364768" cy="169050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DD0B12-55F7-2546-8672-7E2D289F69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57" t="8236" r="5233" b="12909"/>
          <a:stretch/>
        </p:blipFill>
        <p:spPr>
          <a:xfrm>
            <a:off x="10521036" y="399773"/>
            <a:ext cx="1266560" cy="17051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BBAC4D5-0EE4-FD4C-8CC9-387D71F8E638}"/>
              </a:ext>
            </a:extLst>
          </p:cNvPr>
          <p:cNvSpPr/>
          <p:nvPr userDrawn="1"/>
        </p:nvSpPr>
        <p:spPr>
          <a:xfrm>
            <a:off x="6297061" y="6390958"/>
            <a:ext cx="26437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r-Latn-R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c</a:t>
            </a:r>
            <a:r>
              <a:rPr lang="en-U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s61c</a:t>
            </a:r>
            <a:r>
              <a:rPr lang="sr-Latn-R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.org</a:t>
            </a:r>
            <a:r>
              <a:rPr lang="en-US" sz="2400" b="1" dirty="0">
                <a:solidFill>
                  <a:schemeClr val="tx1"/>
                </a:solidFill>
                <a:latin typeface="Helvetica" charset="0"/>
                <a:ea typeface="ＭＳ Ｐゴシック" charset="0"/>
                <a:cs typeface="Helvetica" charset="0"/>
                <a:sym typeface="Helvetica" charset="0"/>
              </a:rPr>
              <a:t> </a:t>
            </a:r>
            <a:endParaRPr lang="en-US" sz="21199" dirty="0">
              <a:solidFill>
                <a:schemeClr val="tx1"/>
              </a:solidFill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4983A71A-E6AB-F34C-BE07-4CD0CE150AA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0129" y="1859888"/>
            <a:ext cx="6908800" cy="154038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75592" tIns="30237" rIns="75592" bIns="30237" anchor="ctr">
            <a:prstTxWarp prst="textNoShape">
              <a:avLst/>
            </a:prstTxWarp>
            <a:spAutoFit/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Great Ideas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in</a:t>
            </a:r>
            <a:b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</a:b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Computer Architecture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2400" dirty="0">
                <a:solidFill>
                  <a:srgbClr val="E4DDD2"/>
                </a:solidFill>
                <a:latin typeface="VAGRundschriftD" panose="00000500000000000000" pitchFamily="50" charset="0"/>
              </a:rPr>
              <a:t>(a.k.a. Machine Structures)</a:t>
            </a:r>
            <a:endParaRPr lang="en-US" sz="3833" b="1" dirty="0">
              <a:solidFill>
                <a:srgbClr val="E4DDD2"/>
              </a:solidFill>
              <a:latin typeface="VAGRundschriftD" panose="00000500000000000000" pitchFamily="50" charset="0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EB3944F9-06D2-8C43-B653-2C25027065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B45346C-6CDA-0242-B211-E679E89FE3E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D8CC368-03BC-234A-917E-B8B2D872148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D6AA3AF-E757-5D40-AF18-590283A894E1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032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latin typeface="VAG Rundschrift D Light" pitchFamily="2" charset="77"/>
              </a:defRPr>
            </a:lvl1pPr>
            <a:lvl2pPr>
              <a:defRPr b="0" i="0">
                <a:latin typeface="VAG Rundschrift D Light" pitchFamily="2" charset="77"/>
              </a:defRPr>
            </a:lvl2pPr>
            <a:lvl3pPr>
              <a:defRPr b="0" i="0">
                <a:solidFill>
                  <a:srgbClr val="00BEE2"/>
                </a:solidFill>
                <a:latin typeface="VAG Rundschrift D Light" pitchFamily="2" charset="77"/>
              </a:defRPr>
            </a:lvl3pPr>
            <a:lvl4pPr marL="1685519" indent="-457189">
              <a:buClr>
                <a:srgbClr val="FFC117"/>
              </a:buClr>
              <a:buFont typeface="Arial" panose="020B0604020202020204" pitchFamily="34" charset="0"/>
              <a:buChar char="•"/>
              <a:defRPr sz="2400" b="0" i="0">
                <a:solidFill>
                  <a:srgbClr val="FFC117"/>
                </a:solidFill>
                <a:latin typeface="VAG Rundschrift D Light" pitchFamily="2" charset="77"/>
              </a:defRPr>
            </a:lvl4pPr>
            <a:lvl5pPr>
              <a:buClr>
                <a:srgbClr val="E4DDD2"/>
              </a:buClr>
              <a:defRPr b="0" i="0">
                <a:solidFill>
                  <a:srgbClr val="E4DDD2"/>
                </a:solidFill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4A448BC-C94B-E240-BBCC-5B2F3975E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688964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food&#10;&#10;Description automatically generated">
            <a:extLst>
              <a:ext uri="{FF2B5EF4-FFF2-40B4-BE49-F238E27FC236}">
                <a16:creationId xmlns:a16="http://schemas.microsoft.com/office/drawing/2014/main" id="{2677E839-A4BD-EF4E-B7C9-4C82DFEEEF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0" y="928127"/>
            <a:ext cx="3937000" cy="5368340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33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20000" y="928127"/>
            <a:ext cx="4000501" cy="5368340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EA538D-CE12-4F4E-B8F9-BE50989C1758}"/>
              </a:ext>
            </a:extLst>
          </p:cNvPr>
          <p:cNvCxnSpPr>
            <a:cxnSpLocks/>
          </p:cNvCxnSpPr>
          <p:nvPr userDrawn="1"/>
        </p:nvCxnSpPr>
        <p:spPr>
          <a:xfrm>
            <a:off x="1115843" y="889000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0">
            <a:extLst>
              <a:ext uri="{FF2B5EF4-FFF2-40B4-BE49-F238E27FC236}">
                <a16:creationId xmlns:a16="http://schemas.microsoft.com/office/drawing/2014/main" id="{844558A7-D2FB-5F4B-864B-BFC87E4F41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7"/>
                </a:solidFill>
                <a:latin typeface="VAGRundschriftD" panose="00000500000000000000" pitchFamily="50" charset="0"/>
                <a:ea typeface="+mn-ea"/>
                <a:cs typeface="+mn-cs"/>
              </a:rPr>
              <a:t>Introduction</a:t>
            </a:r>
            <a:r>
              <a:rPr lang="en-US" sz="1500" b="1" dirty="0">
                <a:solidFill>
                  <a:srgbClr val="FFFF00"/>
                </a:solidFill>
                <a:latin typeface="VAGRundschriftD" panose="00000500000000000000" pitchFamily="50" charset="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)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8F52F5B9-E725-A74B-AAA1-88E65AD7B9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60B7DD-B895-2049-804B-344CFFDA4D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67B7BEE-7519-024E-B9B3-6388E1716D0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sp>
        <p:nvSpPr>
          <p:cNvPr id="11" name="Title Placeholder 21">
            <a:extLst>
              <a:ext uri="{FF2B5EF4-FFF2-40B4-BE49-F238E27FC236}">
                <a16:creationId xmlns:a16="http://schemas.microsoft.com/office/drawing/2014/main" id="{83907F55-8DA3-AB4E-B199-AF2531DB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>
            <a:lvl1pPr>
              <a:defRPr>
                <a:solidFill>
                  <a:srgbClr val="E4DDD2"/>
                </a:solidFill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DD9E74F-8295-8546-AB63-B09A36C3C5C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2786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600" y="908050"/>
            <a:ext cx="10502901" cy="5365751"/>
          </a:xfrm>
        </p:spPr>
        <p:txBody>
          <a:bodyPr/>
          <a:lstStyle>
            <a:lvl1pPr>
              <a:defRPr b="0" i="0">
                <a:latin typeface="VAG Rundschrift D Light" pitchFamily="2" charset="77"/>
              </a:defRPr>
            </a:lvl1pPr>
            <a:lvl2pPr>
              <a:defRPr b="0" i="0">
                <a:latin typeface="VAG Rundschrift D Light" pitchFamily="2" charset="77"/>
              </a:defRPr>
            </a:lvl2pPr>
            <a:lvl3pPr>
              <a:defRPr b="0" i="0">
                <a:latin typeface="VAG Rundschrift D Light" pitchFamily="2" charset="77"/>
              </a:defRPr>
            </a:lvl3pPr>
            <a:lvl4pPr>
              <a:defRPr b="0" i="0">
                <a:latin typeface="VAG Rundschrift D Light" pitchFamily="2" charset="77"/>
              </a:defRPr>
            </a:lvl4pPr>
            <a:lvl5pPr>
              <a:defRPr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4A448BC-C94B-E240-BBCC-5B2F3975E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692833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food&#10;&#10;Description automatically generated">
            <a:extLst>
              <a:ext uri="{FF2B5EF4-FFF2-40B4-BE49-F238E27FC236}">
                <a16:creationId xmlns:a16="http://schemas.microsoft.com/office/drawing/2014/main" id="{E29CF758-356F-D645-A544-8AD2373E33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825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5843" y="901825"/>
            <a:ext cx="4980157" cy="5407467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889000"/>
            <a:ext cx="5422901" cy="5407467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EA538D-CE12-4F4E-B8F9-BE50989C1758}"/>
              </a:ext>
            </a:extLst>
          </p:cNvPr>
          <p:cNvCxnSpPr>
            <a:cxnSpLocks/>
          </p:cNvCxnSpPr>
          <p:nvPr userDrawn="1"/>
        </p:nvCxnSpPr>
        <p:spPr>
          <a:xfrm>
            <a:off x="1115843" y="889000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0">
            <a:extLst>
              <a:ext uri="{FF2B5EF4-FFF2-40B4-BE49-F238E27FC236}">
                <a16:creationId xmlns:a16="http://schemas.microsoft.com/office/drawing/2014/main" id="{844558A7-D2FB-5F4B-864B-BFC87E4F41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7"/>
                </a:solidFill>
                <a:latin typeface="18 VAG Rounded Black   09390"/>
                <a:ea typeface="+mn-ea"/>
                <a:cs typeface="+mn-cs"/>
              </a:rPr>
              <a:t>Introduction</a:t>
            </a:r>
            <a:r>
              <a:rPr lang="en-US" sz="1500" b="1" dirty="0">
                <a:solidFill>
                  <a:srgbClr val="FFFF00"/>
                </a:solidFill>
                <a:latin typeface="18 VAG Rounded Black   0939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18 VAG Rounded Black   0939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18 VAG Rounded Black   0939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18 VAG Rounded Black   09390"/>
                <a:ea typeface="+mn-ea"/>
                <a:cs typeface="+mn-cs"/>
              </a:rPr>
              <a:t>)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8F52F5B9-E725-A74B-AAA1-88E65AD7B9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18 VAG Rounded Thin   55390" pitchFamily="2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18 VAG Rounded Thin   55390" pitchFamily="2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18 VAG Rounded Thin   55390" pitchFamily="2" charset="0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60B7DD-B895-2049-804B-344CFFDA4D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67B7BEE-7519-024E-B9B3-6388E1716D0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sp>
        <p:nvSpPr>
          <p:cNvPr id="11" name="Title Placeholder 21">
            <a:extLst>
              <a:ext uri="{FF2B5EF4-FFF2-40B4-BE49-F238E27FC236}">
                <a16:creationId xmlns:a16="http://schemas.microsoft.com/office/drawing/2014/main" id="{83907F55-8DA3-AB4E-B199-AF2531DB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>
            <a:lvl1pPr>
              <a:defRPr>
                <a:solidFill>
                  <a:srgbClr val="E4DDD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A0BEC86-E652-F848-AA3E-EC0AC5D44BB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7006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600" y="908050"/>
            <a:ext cx="8572501" cy="536575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4A448BC-C94B-E240-BBCC-5B2F3975E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749531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food&#10;&#10;Description automatically generated">
            <a:extLst>
              <a:ext uri="{FF2B5EF4-FFF2-40B4-BE49-F238E27FC236}">
                <a16:creationId xmlns:a16="http://schemas.microsoft.com/office/drawing/2014/main" id="{8ECFEE2E-863C-C649-AF97-D7D700C3CC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600" y="889000"/>
            <a:ext cx="3937000" cy="5407467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89600" y="889000"/>
            <a:ext cx="4000501" cy="5407467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EA538D-CE12-4F4E-B8F9-BE50989C1758}"/>
              </a:ext>
            </a:extLst>
          </p:cNvPr>
          <p:cNvCxnSpPr>
            <a:cxnSpLocks/>
          </p:cNvCxnSpPr>
          <p:nvPr userDrawn="1"/>
        </p:nvCxnSpPr>
        <p:spPr>
          <a:xfrm>
            <a:off x="1115843" y="889000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0">
            <a:extLst>
              <a:ext uri="{FF2B5EF4-FFF2-40B4-BE49-F238E27FC236}">
                <a16:creationId xmlns:a16="http://schemas.microsoft.com/office/drawing/2014/main" id="{844558A7-D2FB-5F4B-864B-BFC87E4F41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7"/>
                </a:solidFill>
                <a:latin typeface="VAGRundschriftD" panose="00000500000000000000" pitchFamily="50" charset="0"/>
                <a:ea typeface="+mn-ea"/>
                <a:cs typeface="+mn-cs"/>
              </a:rPr>
              <a:t>Introduction</a:t>
            </a:r>
            <a:r>
              <a:rPr lang="en-US" sz="1500" b="1" dirty="0">
                <a:solidFill>
                  <a:srgbClr val="FFFF00"/>
                </a:solidFill>
                <a:latin typeface="VAGRundschriftD" panose="00000500000000000000" pitchFamily="50" charset="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)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8F52F5B9-E725-A74B-AAA1-88E65AD7B9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60B7DD-B895-2049-804B-344CFFDA4D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67B7BEE-7519-024E-B9B3-6388E1716D0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sp>
        <p:nvSpPr>
          <p:cNvPr id="11" name="Title Placeholder 21">
            <a:extLst>
              <a:ext uri="{FF2B5EF4-FFF2-40B4-BE49-F238E27FC236}">
                <a16:creationId xmlns:a16="http://schemas.microsoft.com/office/drawing/2014/main" id="{83907F55-8DA3-AB4E-B199-AF2531DB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>
            <a:lvl1pPr>
              <a:defRPr>
                <a:solidFill>
                  <a:srgbClr val="E4DDD2"/>
                </a:solidFill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2AFCD5E-49BF-E247-8C97-949C07F042F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5417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food&#10;&#10;Description automatically generated">
            <a:extLst>
              <a:ext uri="{FF2B5EF4-FFF2-40B4-BE49-F238E27FC236}">
                <a16:creationId xmlns:a16="http://schemas.microsoft.com/office/drawing/2014/main" id="{2DF9A1AA-6E36-A244-B9C8-150E2F1D41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2756" y="681039"/>
            <a:ext cx="61383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5" name="Rectangle 4"/>
          <p:cNvSpPr/>
          <p:nvPr/>
        </p:nvSpPr>
        <p:spPr>
          <a:xfrm>
            <a:off x="357719" y="681039"/>
            <a:ext cx="381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6" name="Rectangle 5"/>
          <p:cNvSpPr/>
          <p:nvPr/>
        </p:nvSpPr>
        <p:spPr>
          <a:xfrm>
            <a:off x="332319" y="681039"/>
            <a:ext cx="127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/>
          </a:p>
        </p:txBody>
      </p:sp>
      <p:sp>
        <p:nvSpPr>
          <p:cNvPr id="7" name="Rectangle 6"/>
          <p:cNvSpPr/>
          <p:nvPr/>
        </p:nvSpPr>
        <p:spPr>
          <a:xfrm>
            <a:off x="296333" y="681039"/>
            <a:ext cx="10584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657600" y="2834640"/>
            <a:ext cx="7924800" cy="1508760"/>
          </a:xfrm>
        </p:spPr>
        <p:txBody>
          <a:bodyPr lIns="143685" anchor="ctr"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rgbClr val="D0940C"/>
              </a:contourClr>
            </a:sp3d>
          </a:bodyPr>
          <a:lstStyle>
            <a:lvl1pPr marL="0" indent="0" algn="ctr">
              <a:spcBef>
                <a:spcPts val="0"/>
              </a:spcBef>
              <a:buNone/>
              <a:defRPr sz="8417" b="1" cap="none" spc="0">
                <a:ln w="11430"/>
                <a:solidFill>
                  <a:srgbClr val="D0940C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VAGRundschriftD" panose="00000500000000000000" pitchFamily="50" charset="0"/>
              </a:defRPr>
            </a:lvl1pPr>
            <a:lvl2pPr marL="544245" indent="0" algn="ctr">
              <a:buNone/>
            </a:lvl2pPr>
            <a:lvl3pPr marL="1088490" indent="0" algn="ctr">
              <a:buNone/>
            </a:lvl3pPr>
            <a:lvl4pPr marL="1632735" indent="0" algn="ctr">
              <a:buNone/>
            </a:lvl4pPr>
            <a:lvl5pPr marL="2176980" indent="0" algn="ctr">
              <a:buNone/>
            </a:lvl5pPr>
            <a:lvl6pPr marL="2721224" indent="0" algn="ctr">
              <a:buNone/>
            </a:lvl6pPr>
            <a:lvl7pPr marL="3265469" indent="0" algn="ctr">
              <a:buNone/>
            </a:lvl7pPr>
            <a:lvl8pPr marL="3809714" indent="0" algn="ctr">
              <a:buNone/>
            </a:lvl8pPr>
            <a:lvl9pPr marL="4353959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Oval 10"/>
          <p:cNvSpPr/>
          <p:nvPr userDrawn="1"/>
        </p:nvSpPr>
        <p:spPr>
          <a:xfrm>
            <a:off x="3692918" y="5575709"/>
            <a:ext cx="7864084" cy="393291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anchor="ctr"/>
          <a:lstStyle/>
          <a:p>
            <a:pPr algn="ctr">
              <a:defRPr/>
            </a:pPr>
            <a:endParaRPr lang="en-US" sz="19062" dirty="0"/>
          </a:p>
        </p:txBody>
      </p:sp>
    </p:spTree>
    <p:extLst>
      <p:ext uri="{BB962C8B-B14F-4D97-AF65-F5344CB8AC3E}">
        <p14:creationId xmlns:p14="http://schemas.microsoft.com/office/powerpoint/2010/main" val="38010211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picture containing food&#10;&#10;Description automatically generated">
            <a:extLst>
              <a:ext uri="{FF2B5EF4-FFF2-40B4-BE49-F238E27FC236}">
                <a16:creationId xmlns:a16="http://schemas.microsoft.com/office/drawing/2014/main" id="{68AA9D09-0281-BC43-ACED-6D4085FEB5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pic>
        <p:nvPicPr>
          <p:cNvPr id="15" name="Picture 14" descr="A picture containing light&#10;&#10;Description automatically generated">
            <a:extLst>
              <a:ext uri="{FF2B5EF4-FFF2-40B4-BE49-F238E27FC236}">
                <a16:creationId xmlns:a16="http://schemas.microsoft.com/office/drawing/2014/main" id="{019910D7-85CB-0247-9141-23A99452067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748BE3-3690-A64C-B81F-5D4836EA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1" y="4561556"/>
            <a:ext cx="7823200" cy="762000"/>
          </a:xfrm>
        </p:spPr>
        <p:txBody>
          <a:bodyPr/>
          <a:lstStyle>
            <a:lvl1pPr algn="ctr">
              <a:defRPr>
                <a:solidFill>
                  <a:srgbClr val="FFC117"/>
                </a:solidFill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2742FAC-A915-9940-B071-1ACD580B8818}"/>
              </a:ext>
            </a:extLst>
          </p:cNvPr>
          <p:cNvSpPr/>
          <p:nvPr userDrawn="1"/>
        </p:nvSpPr>
        <p:spPr>
          <a:xfrm>
            <a:off x="3670301" y="5754635"/>
            <a:ext cx="7912099" cy="471948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 eaLnBrk="0" hangingPunct="0">
              <a:defRPr/>
            </a:pPr>
            <a:endParaRPr lang="en-US" sz="19062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67045E-1D2A-D347-9A70-A92ECBAE1DA8}"/>
              </a:ext>
            </a:extLst>
          </p:cNvPr>
          <p:cNvSpPr txBox="1"/>
          <p:nvPr userDrawn="1"/>
        </p:nvSpPr>
        <p:spPr>
          <a:xfrm>
            <a:off x="3083166" y="2494613"/>
            <a:ext cx="2222500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UC Berkeley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Teaching Professor 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Dan Garcia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E8C054-0436-F542-9F61-8E0911ABF73E}"/>
              </a:ext>
            </a:extLst>
          </p:cNvPr>
          <p:cNvSpPr txBox="1"/>
          <p:nvPr userDrawn="1"/>
        </p:nvSpPr>
        <p:spPr>
          <a:xfrm>
            <a:off x="10318235" y="2493787"/>
            <a:ext cx="1672165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UC Berkeley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Professor 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Bora </a:t>
            </a:r>
            <a:r>
              <a:rPr lang="en-US" sz="1667" b="1" dirty="0" err="1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Nikolić</a:t>
            </a:r>
            <a:endParaRPr lang="en-US" sz="1667" b="1" dirty="0">
              <a:solidFill>
                <a:schemeClr val="tx1">
                  <a:lumMod val="50000"/>
                </a:schemeClr>
              </a:solidFill>
              <a:latin typeface="18 VAG Rounded Bold   0739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57237754-4208-E64E-8670-01EE7AED6B0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/>
          <a:srcRect l="14185" t="1842" r="32155" b="47377"/>
          <a:stretch/>
        </p:blipFill>
        <p:spPr bwMode="auto">
          <a:xfrm>
            <a:off x="3512032" y="414398"/>
            <a:ext cx="1364768" cy="169050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DD0B12-55F7-2546-8672-7E2D289F69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57" t="8236" r="5233" b="12909"/>
          <a:stretch/>
        </p:blipFill>
        <p:spPr>
          <a:xfrm>
            <a:off x="10521036" y="399773"/>
            <a:ext cx="1266560" cy="17051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Rectangle 4">
            <a:extLst>
              <a:ext uri="{FF2B5EF4-FFF2-40B4-BE49-F238E27FC236}">
                <a16:creationId xmlns:a16="http://schemas.microsoft.com/office/drawing/2014/main" id="{4983A71A-E6AB-F34C-BE07-4CD0CE150AA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0129" y="1859888"/>
            <a:ext cx="6908800" cy="154038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75592" tIns="30237" rIns="75592" bIns="30237" anchor="ctr">
            <a:prstTxWarp prst="textNoShape">
              <a:avLst/>
            </a:prstTxWarp>
            <a:spAutoFit/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Great Ideas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in</a:t>
            </a:r>
            <a:b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</a:b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Computer Architecture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VAGRundschriftD" panose="00000500000000000000" pitchFamily="50" charset="0"/>
              </a:rPr>
              <a:t>(a.k.a. Machine Structures)</a:t>
            </a:r>
            <a:endParaRPr lang="en-US" sz="3833" b="1" dirty="0">
              <a:solidFill>
                <a:schemeClr val="bg2"/>
              </a:solidFill>
              <a:latin typeface="VAGRundschriftD" panose="00000500000000000000" pitchFamily="50" charset="0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EB3944F9-06D2-8C43-B653-2C25027065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B45346C-6CDA-0242-B211-E679E89FE3E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A07AA5D-B271-D84F-A242-5CBE7971CFF9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1A36E3C-0B8E-D148-80CC-68FAAB4D55A7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6BABD46-61F1-7C48-91F4-12BDB7C8B8CB}"/>
              </a:ext>
            </a:extLst>
          </p:cNvPr>
          <p:cNvSpPr/>
          <p:nvPr userDrawn="1"/>
        </p:nvSpPr>
        <p:spPr>
          <a:xfrm>
            <a:off x="6297061" y="6390958"/>
            <a:ext cx="26437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r-Latn-R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c</a:t>
            </a:r>
            <a:r>
              <a:rPr lang="en-U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s61c</a:t>
            </a:r>
            <a:r>
              <a:rPr lang="sr-Latn-R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.org</a:t>
            </a:r>
            <a:r>
              <a:rPr lang="en-US" sz="2400" b="1" dirty="0">
                <a:solidFill>
                  <a:schemeClr val="tx1"/>
                </a:solidFill>
                <a:latin typeface="Helvetica" charset="0"/>
                <a:ea typeface="ＭＳ Ｐゴシック" charset="0"/>
                <a:cs typeface="Helvetica" charset="0"/>
                <a:sym typeface="Helvetica" charset="0"/>
              </a:rPr>
              <a:t> </a:t>
            </a:r>
            <a:endParaRPr lang="en-US" sz="21199" dirty="0">
              <a:solidFill>
                <a:schemeClr val="tx1"/>
              </a:solidFill>
            </a:endParaRPr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FC28AFEE-91A4-6C48-A147-EC214E5A8FE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4531" y="405525"/>
            <a:ext cx="6908800" cy="163194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contourClr>
              <a:schemeClr val="bg1"/>
            </a:contourClr>
          </a:sp3d>
        </p:spPr>
        <p:txBody>
          <a:bodyPr wrap="square" lIns="75592" tIns="30237" rIns="75592" bIns="30237" anchor="ctr">
            <a:prstTxWarp prst="textNoShape">
              <a:avLst/>
            </a:prstTxWarp>
            <a:spAutoFit/>
            <a:sp3d extrusionH="25400">
              <a:bevelT w="38100" h="31750"/>
              <a:contourClr>
                <a:srgbClr val="4991B1"/>
              </a:contourClr>
            </a:sp3d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12800" dirty="0">
                <a:ln w="0"/>
                <a:solidFill>
                  <a:srgbClr val="4991B1"/>
                </a:solidFill>
                <a:effectLst/>
                <a:latin typeface="VAGRundschriftD" panose="00000500000000000000" pitchFamily="50" charset="0"/>
              </a:rPr>
              <a:t>CS61C</a:t>
            </a:r>
            <a:endParaRPr lang="en-US" sz="6400" b="1" dirty="0">
              <a:solidFill>
                <a:srgbClr val="4991B1"/>
              </a:solidFill>
              <a:latin typeface="VAGRundschriftD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9919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 Column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VAGRundschriftD" panose="00000500000000000000" pitchFamily="50" charset="0"/>
              </a:defRPr>
            </a:lvl1pPr>
            <a:lvl2pPr>
              <a:defRPr>
                <a:latin typeface="VAGRundschriftD" panose="00000500000000000000" pitchFamily="50" charset="0"/>
              </a:defRPr>
            </a:lvl2pPr>
            <a:lvl3pPr>
              <a:defRPr>
                <a:latin typeface="VAGRundschriftD" panose="00000500000000000000" pitchFamily="50" charset="0"/>
              </a:defRPr>
            </a:lvl3pPr>
            <a:lvl4pPr>
              <a:defRPr>
                <a:latin typeface="VAGRundschriftD" panose="00000500000000000000" pitchFamily="50" charset="0"/>
              </a:defRPr>
            </a:lvl4pPr>
            <a:lvl5pPr>
              <a:defRPr>
                <a:latin typeface="VAGRundschriftD" panose="00000500000000000000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9972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food&#10;&#10;Description automatically generated">
            <a:extLst>
              <a:ext uri="{FF2B5EF4-FFF2-40B4-BE49-F238E27FC236}">
                <a16:creationId xmlns:a16="http://schemas.microsoft.com/office/drawing/2014/main" id="{8ED939BA-A982-714F-AC2A-BE41FDE657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 descr="A picture containing light&#10;&#10;Description automatically generated">
            <a:extLst>
              <a:ext uri="{FF2B5EF4-FFF2-40B4-BE49-F238E27FC236}">
                <a16:creationId xmlns:a16="http://schemas.microsoft.com/office/drawing/2014/main" id="{EC63A20D-21AB-2B40-91E4-4FDA4EB93B4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0" y="889000"/>
            <a:ext cx="3937000" cy="5407467"/>
          </a:xfrm>
        </p:spPr>
        <p:txBody>
          <a:bodyPr/>
          <a:lstStyle>
            <a:lvl1pPr>
              <a:defRPr sz="3333">
                <a:latin typeface="VAGRundschriftD" panose="00000500000000000000" pitchFamily="50" charset="0"/>
              </a:defRPr>
            </a:lvl1pPr>
            <a:lvl2pPr>
              <a:defRPr sz="2833">
                <a:latin typeface="VAGRundschriftD" panose="00000500000000000000" pitchFamily="50" charset="0"/>
              </a:defRPr>
            </a:lvl2pPr>
            <a:lvl3pPr>
              <a:defRPr sz="2417">
                <a:latin typeface="VAGRundschriftD" panose="00000500000000000000" pitchFamily="50" charset="0"/>
              </a:defRPr>
            </a:lvl3pPr>
            <a:lvl4pPr>
              <a:defRPr sz="2167">
                <a:latin typeface="VAGRundschriftD" panose="00000500000000000000" pitchFamily="50" charset="0"/>
              </a:defRPr>
            </a:lvl4pPr>
            <a:lvl5pPr>
              <a:defRPr sz="2167">
                <a:latin typeface="VAGRundschriftD" panose="00000500000000000000" pitchFamily="5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20000" y="889000"/>
            <a:ext cx="3971925" cy="5407467"/>
          </a:xfrm>
        </p:spPr>
        <p:txBody>
          <a:bodyPr/>
          <a:lstStyle>
            <a:lvl1pPr>
              <a:defRPr sz="3333">
                <a:latin typeface="VAGRundschriftD" panose="00000500000000000000" pitchFamily="50" charset="0"/>
              </a:defRPr>
            </a:lvl1pPr>
            <a:lvl2pPr>
              <a:defRPr sz="2833">
                <a:latin typeface="VAGRundschriftD" panose="00000500000000000000" pitchFamily="50" charset="0"/>
              </a:defRPr>
            </a:lvl2pPr>
            <a:lvl3pPr>
              <a:defRPr sz="2417">
                <a:latin typeface="VAGRundschriftD" panose="00000500000000000000" pitchFamily="50" charset="0"/>
              </a:defRPr>
            </a:lvl3pPr>
            <a:lvl4pPr>
              <a:defRPr sz="2167">
                <a:latin typeface="VAGRundschriftD" panose="00000500000000000000" pitchFamily="50" charset="0"/>
              </a:defRPr>
            </a:lvl4pPr>
            <a:lvl5pPr>
              <a:defRPr sz="2167">
                <a:latin typeface="VAGRundschriftD" panose="00000500000000000000" pitchFamily="5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tle Placeholder 21">
            <a:extLst>
              <a:ext uri="{FF2B5EF4-FFF2-40B4-BE49-F238E27FC236}">
                <a16:creationId xmlns:a16="http://schemas.microsoft.com/office/drawing/2014/main" id="{83907F55-8DA3-AB4E-B199-AF2531DB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>
            <a:lvl1pPr>
              <a:defRPr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844558A7-D2FB-5F4B-864B-BFC87E4F41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7"/>
                </a:solidFill>
                <a:latin typeface="VAGRundschriftD" panose="00000500000000000000" pitchFamily="50" charset="0"/>
                <a:ea typeface="+mn-ea"/>
                <a:cs typeface="+mn-cs"/>
              </a:rPr>
              <a:t>Introduction</a:t>
            </a:r>
            <a:r>
              <a:rPr lang="en-US" sz="1500" b="1" dirty="0">
                <a:solidFill>
                  <a:srgbClr val="FFFF00"/>
                </a:solidFill>
                <a:latin typeface="VAGRundschriftD" panose="00000500000000000000" pitchFamily="50" charset="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)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8F52F5B9-E725-A74B-AAA1-88E65AD7B9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60B7DD-B895-2049-804B-344CFFDA4DD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67B7BEE-7519-024E-B9B3-6388E1716D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BC76881-1B14-4D4F-83AB-0BD4F70F885A}"/>
              </a:ext>
            </a:extLst>
          </p:cNvPr>
          <p:cNvCxnSpPr>
            <a:cxnSpLocks/>
          </p:cNvCxnSpPr>
          <p:nvPr userDrawn="1"/>
        </p:nvCxnSpPr>
        <p:spPr>
          <a:xfrm>
            <a:off x="1115843" y="889000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F1BAD8DF-85B5-244D-B7EE-8DE77A729BC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1068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b Title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food&#10;&#10;Description automatically generated">
            <a:extLst>
              <a:ext uri="{FF2B5EF4-FFF2-40B4-BE49-F238E27FC236}">
                <a16:creationId xmlns:a16="http://schemas.microsoft.com/office/drawing/2014/main" id="{6BD88787-61C8-AE47-8735-AE6C83007A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picture containing light&#10;&#10;Description automatically generated">
            <a:extLst>
              <a:ext uri="{FF2B5EF4-FFF2-40B4-BE49-F238E27FC236}">
                <a16:creationId xmlns:a16="http://schemas.microsoft.com/office/drawing/2014/main" id="{ADF33AB0-2DBB-E042-B8C0-EC348F7CC1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2756" y="681039"/>
            <a:ext cx="61383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5" name="Rectangle 4"/>
          <p:cNvSpPr/>
          <p:nvPr/>
        </p:nvSpPr>
        <p:spPr>
          <a:xfrm>
            <a:off x="357719" y="681039"/>
            <a:ext cx="381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6" name="Rectangle 5"/>
          <p:cNvSpPr/>
          <p:nvPr/>
        </p:nvSpPr>
        <p:spPr>
          <a:xfrm>
            <a:off x="332319" y="681039"/>
            <a:ext cx="127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/>
          </a:p>
        </p:txBody>
      </p:sp>
      <p:sp>
        <p:nvSpPr>
          <p:cNvPr id="7" name="Rectangle 6"/>
          <p:cNvSpPr/>
          <p:nvPr/>
        </p:nvSpPr>
        <p:spPr>
          <a:xfrm>
            <a:off x="296333" y="681039"/>
            <a:ext cx="10584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657600" y="2834640"/>
            <a:ext cx="7924800" cy="1508760"/>
          </a:xfrm>
        </p:spPr>
        <p:txBody>
          <a:bodyPr lIns="143685" anchor="ctr"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rgbClr val="D0940C"/>
              </a:contourClr>
            </a:sp3d>
          </a:bodyPr>
          <a:lstStyle>
            <a:lvl1pPr marL="0" indent="0" algn="ctr">
              <a:spcBef>
                <a:spcPts val="0"/>
              </a:spcBef>
              <a:buNone/>
              <a:defRPr sz="8417" b="1" cap="none" spc="0">
                <a:ln w="11430"/>
                <a:solidFill>
                  <a:srgbClr val="D0940C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VAGRundschriftD" panose="00000500000000000000" pitchFamily="50" charset="0"/>
              </a:defRPr>
            </a:lvl1pPr>
            <a:lvl2pPr marL="544245" indent="0" algn="ctr">
              <a:buNone/>
            </a:lvl2pPr>
            <a:lvl3pPr marL="1088490" indent="0" algn="ctr">
              <a:buNone/>
            </a:lvl3pPr>
            <a:lvl4pPr marL="1632735" indent="0" algn="ctr">
              <a:buNone/>
            </a:lvl4pPr>
            <a:lvl5pPr marL="2176980" indent="0" algn="ctr">
              <a:buNone/>
            </a:lvl5pPr>
            <a:lvl6pPr marL="2721224" indent="0" algn="ctr">
              <a:buNone/>
            </a:lvl6pPr>
            <a:lvl7pPr marL="3265469" indent="0" algn="ctr">
              <a:buNone/>
            </a:lvl7pPr>
            <a:lvl8pPr marL="3809714" indent="0" algn="ctr">
              <a:buNone/>
            </a:lvl8pPr>
            <a:lvl9pPr marL="4353959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Oval 10"/>
          <p:cNvSpPr/>
          <p:nvPr userDrawn="1"/>
        </p:nvSpPr>
        <p:spPr>
          <a:xfrm>
            <a:off x="3692918" y="5575709"/>
            <a:ext cx="7864084" cy="393291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anchor="ctr"/>
          <a:lstStyle/>
          <a:p>
            <a:pPr algn="ctr">
              <a:defRPr/>
            </a:pPr>
            <a:endParaRPr lang="en-US" sz="19062" dirty="0"/>
          </a:p>
        </p:txBody>
      </p:sp>
    </p:spTree>
    <p:extLst>
      <p:ext uri="{BB962C8B-B14F-4D97-AF65-F5344CB8AC3E}">
        <p14:creationId xmlns:p14="http://schemas.microsoft.com/office/powerpoint/2010/main" val="16543147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food&#10;&#10;Description automatically generated">
            <a:extLst>
              <a:ext uri="{FF2B5EF4-FFF2-40B4-BE49-F238E27FC236}">
                <a16:creationId xmlns:a16="http://schemas.microsoft.com/office/drawing/2014/main" id="{6C194DF9-C0AF-304B-88A9-02036DD4062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81228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food&#10;&#10;Description automatically generated">
            <a:extLst>
              <a:ext uri="{FF2B5EF4-FFF2-40B4-BE49-F238E27FC236}">
                <a16:creationId xmlns:a16="http://schemas.microsoft.com/office/drawing/2014/main" id="{F8288F7D-1E3A-1E47-9FDA-D20C05CD80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2756" y="681039"/>
            <a:ext cx="61383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5" name="Rectangle 4"/>
          <p:cNvSpPr/>
          <p:nvPr/>
        </p:nvSpPr>
        <p:spPr>
          <a:xfrm>
            <a:off x="357719" y="681039"/>
            <a:ext cx="381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6" name="Rectangle 5"/>
          <p:cNvSpPr/>
          <p:nvPr/>
        </p:nvSpPr>
        <p:spPr>
          <a:xfrm>
            <a:off x="332319" y="681039"/>
            <a:ext cx="127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/>
          </a:p>
        </p:txBody>
      </p:sp>
      <p:sp>
        <p:nvSpPr>
          <p:cNvPr id="7" name="Rectangle 6"/>
          <p:cNvSpPr/>
          <p:nvPr/>
        </p:nvSpPr>
        <p:spPr>
          <a:xfrm>
            <a:off x="296333" y="681039"/>
            <a:ext cx="10584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11" name="Oval 10"/>
          <p:cNvSpPr/>
          <p:nvPr userDrawn="1"/>
        </p:nvSpPr>
        <p:spPr>
          <a:xfrm>
            <a:off x="3692918" y="5575709"/>
            <a:ext cx="7864084" cy="393291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anchor="ctr"/>
          <a:lstStyle/>
          <a:p>
            <a:pPr algn="ctr">
              <a:defRPr/>
            </a:pPr>
            <a:endParaRPr lang="en-US" sz="19062" dirty="0"/>
          </a:p>
        </p:txBody>
      </p:sp>
      <p:pic>
        <p:nvPicPr>
          <p:cNvPr id="12" name="Picture 11" descr="A picture containing light&#10;&#10;Description automatically generated">
            <a:extLst>
              <a:ext uri="{FF2B5EF4-FFF2-40B4-BE49-F238E27FC236}">
                <a16:creationId xmlns:a16="http://schemas.microsoft.com/office/drawing/2014/main" id="{3F85B7C0-ACB5-AB44-8C40-83F8FCB8A38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7133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193929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tif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5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image" Target="../media/image7.emf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image" Target="../media/image2.tiff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50000">
              <a:schemeClr val="tx1"/>
            </a:gs>
            <a:gs pos="100000">
              <a:srgbClr val="00326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>
            <a:extLst>
              <a:ext uri="{FF2B5EF4-FFF2-40B4-BE49-F238E27FC236}">
                <a16:creationId xmlns:a16="http://schemas.microsoft.com/office/drawing/2014/main" id="{07444E4B-B667-204F-6CBC-6541042F7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997" y="76200"/>
            <a:ext cx="10509504" cy="768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0BFD2F-B4A1-0BFE-9946-F9ACEA1C1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8413" y="916710"/>
            <a:ext cx="11332079" cy="5287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Google Shape;13;p48">
            <a:extLst>
              <a:ext uri="{FF2B5EF4-FFF2-40B4-BE49-F238E27FC236}">
                <a16:creationId xmlns:a16="http://schemas.microsoft.com/office/drawing/2014/main" id="{86EC8A50-6ED8-8792-AC2D-624D27BA987D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9176" y="6362905"/>
            <a:ext cx="1264675" cy="389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6FE450-8072-3EB0-9EC8-CEC906BCB0A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0F0B3E7-42CF-CC16-BDE1-F34A834A2E4D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362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267" b="1" i="0" kern="1200">
          <a:solidFill>
            <a:schemeClr val="bg2">
              <a:alpha val="99099"/>
            </a:schemeClr>
          </a:solidFill>
          <a:latin typeface="18 VAG Rounded Bold   07390" pitchFamily="2" charset="0"/>
          <a:ea typeface="+mj-ea"/>
          <a:cs typeface="+mj-cs"/>
        </a:defRPr>
      </a:lvl1pPr>
    </p:titleStyle>
    <p:bodyStyle>
      <a:lvl1pPr marL="467772" indent="-383108" algn="l" defTabSz="914377" rtl="0" eaLnBrk="1" latinLnBrk="0" hangingPunct="1">
        <a:lnSpc>
          <a:spcPct val="100000"/>
        </a:lnSpc>
        <a:spcBef>
          <a:spcPts val="1000"/>
        </a:spcBef>
        <a:buClrTx/>
        <a:buSzPct val="95000"/>
        <a:buFont typeface="Wingdings" pitchFamily="2" charset="2"/>
        <a:buChar char="§"/>
        <a:tabLst/>
        <a:defRPr sz="3600" b="1" i="0" kern="1200">
          <a:ln>
            <a:noFill/>
          </a:ln>
          <a:solidFill>
            <a:schemeClr val="bg1">
              <a:alpha val="99000"/>
            </a:schemeClr>
          </a:solidFill>
          <a:latin typeface="18 VAG Rounded Bold   07390" pitchFamily="2" charset="0"/>
          <a:ea typeface="+mn-ea"/>
          <a:cs typeface="+mn-cs"/>
        </a:defRPr>
      </a:lvl1pPr>
      <a:lvl2pPr marL="768331" indent="-311143" algn="l" defTabSz="914377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SzPct val="100000"/>
        <a:buFont typeface="Wingdings" pitchFamily="2" charset="2"/>
        <a:buChar char="§"/>
        <a:tabLst/>
        <a:defRPr sz="3200" b="0" i="0" kern="1200">
          <a:solidFill>
            <a:schemeClr val="accent2"/>
          </a:solidFill>
          <a:latin typeface="18 VAG Rounded Light   02390" pitchFamily="2" charset="0"/>
          <a:ea typeface="+mn-ea"/>
          <a:cs typeface="+mn-cs"/>
        </a:defRPr>
      </a:lvl2pPr>
      <a:lvl3pPr marL="1066773" indent="-298443" algn="l" defTabSz="914377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Wingdings" pitchFamily="2" charset="2"/>
        <a:buChar char="§"/>
        <a:tabLst/>
        <a:defRPr sz="2800" b="0" i="0" kern="1200">
          <a:solidFill>
            <a:schemeClr val="accent1"/>
          </a:solidFill>
          <a:latin typeface="18 VAG Rounded Light   02390" pitchFamily="2" charset="0"/>
          <a:ea typeface="+mn-ea"/>
          <a:cs typeface="+mn-cs"/>
        </a:defRPr>
      </a:lvl3pPr>
      <a:lvl4pPr marL="1449881" indent="-298443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2400" b="0" i="0" kern="1200">
          <a:solidFill>
            <a:schemeClr val="accent3"/>
          </a:solidFill>
          <a:latin typeface="18 VAG Rounded Light   02390" pitchFamily="2" charset="0"/>
          <a:ea typeface="+mn-ea"/>
          <a:cs typeface="+mn-cs"/>
        </a:defRPr>
      </a:lvl4pPr>
      <a:lvl5pPr marL="1763140" indent="-226478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2000" b="0" i="0" kern="1200">
          <a:solidFill>
            <a:schemeClr val="bg2"/>
          </a:solidFill>
          <a:latin typeface="18 VAG Rounded Light   02390" pitchFamily="2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food&#10;&#10;Description automatically generated">
            <a:extLst>
              <a:ext uri="{FF2B5EF4-FFF2-40B4-BE49-F238E27FC236}">
                <a16:creationId xmlns:a16="http://schemas.microsoft.com/office/drawing/2014/main" id="{DD4C6C20-F48B-6B49-86FF-DB6B770C5747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Rectangle 10"/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5"/>
                </a:solidFill>
                <a:latin typeface="VAGRundschriftD" panose="00000500000000000000" pitchFamily="50" charset="0"/>
                <a:ea typeface="+mn-ea"/>
                <a:cs typeface="+mn-cs"/>
              </a:rPr>
              <a:t>RISC-V</a:t>
            </a:r>
            <a:r>
              <a:rPr lang="en-US" sz="1500" b="1" dirty="0">
                <a:solidFill>
                  <a:srgbClr val="FFFF00"/>
                </a:solidFill>
                <a:latin typeface="VAGRundschriftD" panose="00000500000000000000" pitchFamily="50" charset="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)</a:t>
            </a:r>
          </a:p>
        </p:txBody>
      </p:sp>
      <p:cxnSp>
        <p:nvCxnSpPr>
          <p:cNvPr id="13" name="Straight Connector 12"/>
          <p:cNvCxnSpPr>
            <a:cxnSpLocks/>
          </p:cNvCxnSpPr>
          <p:nvPr userDrawn="1"/>
        </p:nvCxnSpPr>
        <p:spPr>
          <a:xfrm>
            <a:off x="1115843" y="888611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3048000" y="908050"/>
            <a:ext cx="8572501" cy="53657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622" tIns="65310" rIns="130622" bIns="653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Rectangle 11"/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18 VAG Rounded Thin   55390" pitchFamily="2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18 VAG Rounded Thin   55390" pitchFamily="2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18 VAG Rounded Thin   55390" pitchFamily="2" charset="0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4926C7-7ABA-BC4B-B059-3F085BB916B3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073723A-86A7-6746-8062-52657EB054C9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54BFA1-742A-6040-9A02-17161CC49CF5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521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5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267" kern="1200" spc="-119">
          <a:solidFill>
            <a:srgbClr val="E4DDD2"/>
          </a:solidFill>
          <a:latin typeface="18 VAG Rounded Bold   07390"/>
          <a:ea typeface="ＭＳ Ｐゴシック" charset="-128"/>
          <a:cs typeface="AppleGaramond Bd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833">
          <a:solidFill>
            <a:srgbClr val="C1EEFF"/>
          </a:solidFill>
          <a:latin typeface="18 VAG Rounded Bold   07390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833">
          <a:solidFill>
            <a:srgbClr val="C1EEFF"/>
          </a:solidFill>
          <a:latin typeface="18 VAG Rounded Bold   07390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833">
          <a:solidFill>
            <a:srgbClr val="C1EEFF"/>
          </a:solidFill>
          <a:latin typeface="18 VAG Rounded Bold   07390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833">
          <a:solidFill>
            <a:srgbClr val="C1EEFF"/>
          </a:solidFill>
          <a:latin typeface="18 VAG Rounded Bold   07390" charset="0"/>
          <a:ea typeface="ＭＳ Ｐゴシック" charset="-128"/>
          <a:cs typeface="ＭＳ Ｐゴシック" charset="-128"/>
        </a:defRPr>
      </a:lvl5pPr>
      <a:lvl6pPr marL="544245" algn="l" rtl="0" fontAlgn="base">
        <a:spcBef>
          <a:spcPct val="0"/>
        </a:spcBef>
        <a:spcAft>
          <a:spcPct val="0"/>
        </a:spcAft>
        <a:defRPr sz="4833" b="1">
          <a:solidFill>
            <a:srgbClr val="C1EEFF"/>
          </a:solidFill>
          <a:latin typeface="Corbel" charset="0"/>
          <a:ea typeface="ＭＳ Ｐゴシック" charset="-128"/>
          <a:cs typeface="ＭＳ Ｐゴシック" charset="-128"/>
        </a:defRPr>
      </a:lvl6pPr>
      <a:lvl7pPr marL="1088490" algn="l" rtl="0" fontAlgn="base">
        <a:spcBef>
          <a:spcPct val="0"/>
        </a:spcBef>
        <a:spcAft>
          <a:spcPct val="0"/>
        </a:spcAft>
        <a:defRPr sz="4833" b="1">
          <a:solidFill>
            <a:srgbClr val="C1EEFF"/>
          </a:solidFill>
          <a:latin typeface="Corbel" charset="0"/>
          <a:ea typeface="ＭＳ Ｐゴシック" charset="-128"/>
          <a:cs typeface="ＭＳ Ｐゴシック" charset="-128"/>
        </a:defRPr>
      </a:lvl7pPr>
      <a:lvl8pPr marL="1632735" algn="l" rtl="0" fontAlgn="base">
        <a:spcBef>
          <a:spcPct val="0"/>
        </a:spcBef>
        <a:spcAft>
          <a:spcPct val="0"/>
        </a:spcAft>
        <a:defRPr sz="4833" b="1">
          <a:solidFill>
            <a:srgbClr val="C1EEFF"/>
          </a:solidFill>
          <a:latin typeface="Corbel" charset="0"/>
          <a:ea typeface="ＭＳ Ｐゴシック" charset="-128"/>
          <a:cs typeface="ＭＳ Ｐゴシック" charset="-128"/>
        </a:defRPr>
      </a:lvl8pPr>
      <a:lvl9pPr marL="2176980" algn="l" rtl="0" fontAlgn="base">
        <a:spcBef>
          <a:spcPct val="0"/>
        </a:spcBef>
        <a:spcAft>
          <a:spcPct val="0"/>
        </a:spcAft>
        <a:defRPr sz="4833" b="1">
          <a:solidFill>
            <a:srgbClr val="C1EEFF"/>
          </a:solidFill>
          <a:latin typeface="Corbel" charset="0"/>
          <a:ea typeface="ＭＳ Ｐゴシック" charset="-128"/>
          <a:cs typeface="ＭＳ Ｐゴシック" charset="-128"/>
        </a:defRPr>
      </a:lvl9pPr>
    </p:titleStyle>
    <p:bodyStyle>
      <a:lvl1pPr marL="489442" indent="-408184" algn="l" rtl="0" eaLnBrk="0" fontAlgn="base" hangingPunct="0">
        <a:spcBef>
          <a:spcPts val="833"/>
        </a:spcBef>
        <a:spcAft>
          <a:spcPct val="0"/>
        </a:spcAft>
        <a:buClr>
          <a:srgbClr val="E4DDD2"/>
        </a:buClr>
        <a:buSzPct val="95000"/>
        <a:buFont typeface="Wingdings" pitchFamily="-1" charset="2"/>
        <a:buChar char=""/>
        <a:defRPr sz="3200" b="0" i="0" kern="1200">
          <a:solidFill>
            <a:schemeClr val="tx1"/>
          </a:solidFill>
          <a:latin typeface="VAG Rundschrift D Light" pitchFamily="2" charset="77"/>
          <a:ea typeface="ＭＳ Ｐゴシック" charset="-128"/>
          <a:cs typeface="VAG Rundschrift D Light" pitchFamily="2" charset="77"/>
        </a:defRPr>
      </a:lvl1pPr>
      <a:lvl2pPr marL="880619" indent="-340153" algn="l" rtl="0" eaLnBrk="0" fontAlgn="base" hangingPunct="0">
        <a:spcBef>
          <a:spcPct val="20000"/>
        </a:spcBef>
        <a:spcAft>
          <a:spcPct val="0"/>
        </a:spcAft>
        <a:buSzPct val="90000"/>
        <a:buFont typeface="Wingdings" pitchFamily="-1" charset="2"/>
        <a:buChar char=""/>
        <a:defRPr sz="2667" b="0" i="0" kern="1200">
          <a:solidFill>
            <a:srgbClr val="C5DBC3"/>
          </a:solidFill>
          <a:latin typeface="VAG Rundschrift D Light" pitchFamily="2" charset="77"/>
          <a:ea typeface="ＭＳ Ｐゴシック" charset="-128"/>
          <a:cs typeface="+mn-cs"/>
        </a:defRPr>
      </a:lvl2pPr>
      <a:lvl3pPr marL="1184868" indent="-272123" algn="l" rtl="0" eaLnBrk="0" fontAlgn="base" hangingPunct="0">
        <a:spcBef>
          <a:spcPct val="20000"/>
        </a:spcBef>
        <a:spcAft>
          <a:spcPct val="0"/>
        </a:spcAft>
        <a:buFont typeface="Wingdings 2" pitchFamily="-1" charset="2"/>
        <a:buChar char=""/>
        <a:defRPr sz="2667" b="0" i="0" kern="1200">
          <a:solidFill>
            <a:srgbClr val="00BEE2"/>
          </a:solidFill>
          <a:latin typeface="VAG Rundschrift D Light" pitchFamily="2" charset="77"/>
          <a:ea typeface="ＭＳ Ｐゴシック" charset="-128"/>
          <a:cs typeface="+mn-cs"/>
        </a:defRPr>
      </a:lvl3pPr>
      <a:lvl4pPr marL="1685519" indent="-457189" algn="l" rtl="0" eaLnBrk="0" fontAlgn="base" hangingPunct="0">
        <a:spcBef>
          <a:spcPct val="20000"/>
        </a:spcBef>
        <a:spcAft>
          <a:spcPct val="0"/>
        </a:spcAft>
        <a:buClr>
          <a:srgbClr val="FFC000"/>
        </a:buClr>
        <a:buFont typeface="Arial" panose="020B0604020202020204" pitchFamily="34" charset="0"/>
        <a:buChar char="•"/>
        <a:defRPr sz="2500" b="0" i="0" kern="1200">
          <a:solidFill>
            <a:srgbClr val="FFC117"/>
          </a:solidFill>
          <a:latin typeface="VAG Rundschrift D Light" pitchFamily="2" charset="77"/>
          <a:ea typeface="ＭＳ Ｐゴシック" charset="-128"/>
          <a:cs typeface="+mn-cs"/>
        </a:defRPr>
      </a:lvl4pPr>
      <a:lvl5pPr marL="1763128" indent="-249446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 2" pitchFamily="-1" charset="2"/>
        <a:buChar char=""/>
        <a:defRPr sz="2400" b="0" i="0" kern="1200">
          <a:solidFill>
            <a:srgbClr val="E4DDD2"/>
          </a:solidFill>
          <a:latin typeface="VAG Rundschrift D Light" pitchFamily="2" charset="77"/>
          <a:ea typeface="ＭＳ Ｐゴシック" charset="-128"/>
          <a:cs typeface="+mn-cs"/>
        </a:defRPr>
      </a:lvl5pPr>
      <a:lvl6pPr marL="2035476" indent="-25035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167" kern="1200">
          <a:solidFill>
            <a:schemeClr val="tx1"/>
          </a:solidFill>
          <a:latin typeface="+mn-lt"/>
          <a:ea typeface="+mn-ea"/>
          <a:cs typeface="+mn-cs"/>
        </a:defRPr>
      </a:lvl6pPr>
      <a:lvl7pPr marL="2264058" indent="-217699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833" kern="1200">
          <a:solidFill>
            <a:schemeClr val="tx1"/>
          </a:solidFill>
          <a:latin typeface="+mn-lt"/>
          <a:ea typeface="+mn-ea"/>
          <a:cs typeface="+mn-cs"/>
        </a:defRPr>
      </a:lvl7pPr>
      <a:lvl8pPr marL="2492642" indent="-217699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833" kern="1200">
          <a:solidFill>
            <a:schemeClr val="tx1"/>
          </a:solidFill>
          <a:latin typeface="+mn-lt"/>
          <a:ea typeface="+mn-ea"/>
          <a:cs typeface="+mn-cs"/>
        </a:defRPr>
      </a:lvl8pPr>
      <a:lvl9pPr marL="2721224" indent="-217699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8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54424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08849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3273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17698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72122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26546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80971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435395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27B03F4-4F70-EB67-2FC8-0AEE5100B90D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74264EDC-6D20-221A-1FA0-C23197F903B2}"/>
              </a:ext>
            </a:extLst>
          </p:cNvPr>
          <p:cNvCxnSpPr>
            <a:cxnSpLocks/>
            <a:stCxn id="20" idx="0"/>
          </p:cNvCxnSpPr>
          <p:nvPr/>
        </p:nvCxnSpPr>
        <p:spPr>
          <a:xfrm rot="5400000" flipH="1" flipV="1">
            <a:off x="1830481" y="3046480"/>
            <a:ext cx="703576" cy="542602"/>
          </a:xfrm>
          <a:prstGeom prst="bentConnector3">
            <a:avLst>
              <a:gd name="adj1" fmla="val 100542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6" name="Group 495">
            <a:extLst>
              <a:ext uri="{FF2B5EF4-FFF2-40B4-BE49-F238E27FC236}">
                <a16:creationId xmlns:a16="http://schemas.microsoft.com/office/drawing/2014/main" id="{0CCFBA22-6BE9-68E7-5282-A1008D19A432}"/>
              </a:ext>
            </a:extLst>
          </p:cNvPr>
          <p:cNvGrpSpPr/>
          <p:nvPr/>
        </p:nvGrpSpPr>
        <p:grpSpPr>
          <a:xfrm>
            <a:off x="659332" y="2260284"/>
            <a:ext cx="2712208" cy="1417320"/>
            <a:chOff x="669619" y="2248996"/>
            <a:chExt cx="2712208" cy="1417320"/>
          </a:xfrm>
        </p:grpSpPr>
        <p:grpSp>
          <p:nvGrpSpPr>
            <p:cNvPr id="497" name="Group 496">
              <a:extLst>
                <a:ext uri="{FF2B5EF4-FFF2-40B4-BE49-F238E27FC236}">
                  <a16:creationId xmlns:a16="http://schemas.microsoft.com/office/drawing/2014/main" id="{C917DCBB-1BFE-4AA0-DEE8-F585C1661471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389326"/>
              <a:chOff x="669619" y="2260284"/>
              <a:chExt cx="2712208" cy="1389326"/>
            </a:xfrm>
          </p:grpSpPr>
          <p:grpSp>
            <p:nvGrpSpPr>
              <p:cNvPr id="499" name="Group 498">
                <a:extLst>
                  <a:ext uri="{FF2B5EF4-FFF2-40B4-BE49-F238E27FC236}">
                    <a16:creationId xmlns:a16="http://schemas.microsoft.com/office/drawing/2014/main" id="{DF03A4AA-19B8-4FB9-7F8F-2681AF43143E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501" name="Elbow Connector 500">
                  <a:extLst>
                    <a:ext uri="{FF2B5EF4-FFF2-40B4-BE49-F238E27FC236}">
                      <a16:creationId xmlns:a16="http://schemas.microsoft.com/office/drawing/2014/main" id="{7746EDF5-5F7C-7F2D-3B19-1C16310BFE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2" name="Straight Connector 501">
                  <a:extLst>
                    <a:ext uri="{FF2B5EF4-FFF2-40B4-BE49-F238E27FC236}">
                      <a16:creationId xmlns:a16="http://schemas.microsoft.com/office/drawing/2014/main" id="{338B666B-9246-2990-5D3E-04B3917059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C3E55B35-9E9E-E787-419E-A99F4788C70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649608"/>
                <a:ext cx="768096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98" name="Straight Connector 497">
              <a:extLst>
                <a:ext uri="{FF2B5EF4-FFF2-40B4-BE49-F238E27FC236}">
                  <a16:creationId xmlns:a16="http://schemas.microsoft.com/office/drawing/2014/main" id="{985399C2-0900-0857-6908-7E0992938258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41732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B42F0B2-F341-D3A6-B467-28E3737D187C}"/>
              </a:ext>
            </a:extLst>
          </p:cNvPr>
          <p:cNvGrpSpPr/>
          <p:nvPr/>
        </p:nvGrpSpPr>
        <p:grpSpPr>
          <a:xfrm>
            <a:off x="659332" y="2260284"/>
            <a:ext cx="2743200" cy="1409285"/>
            <a:chOff x="659332" y="2260284"/>
            <a:chExt cx="2743200" cy="1409285"/>
          </a:xfrm>
          <a:effectLst>
            <a:glow rad="63500">
              <a:schemeClr val="accent2">
                <a:satMod val="175000"/>
                <a:alpha val="40000"/>
              </a:schemeClr>
            </a:glow>
          </a:effectLst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9DC1D61D-4B1E-ECCF-6F1D-5E0682AF1867}"/>
                </a:ext>
              </a:extLst>
            </p:cNvPr>
            <p:cNvGrpSpPr/>
            <p:nvPr/>
          </p:nvGrpSpPr>
          <p:grpSpPr>
            <a:xfrm>
              <a:off x="659332" y="2260284"/>
              <a:ext cx="2743200" cy="1409285"/>
              <a:chOff x="659332" y="2260284"/>
              <a:chExt cx="2743200" cy="1409285"/>
            </a:xfrm>
          </p:grpSpPr>
          <p:cxnSp>
            <p:nvCxnSpPr>
              <p:cNvPr id="43" name="Elbow Connector 42">
                <a:extLst>
                  <a:ext uri="{FF2B5EF4-FFF2-40B4-BE49-F238E27FC236}">
                    <a16:creationId xmlns:a16="http://schemas.microsoft.com/office/drawing/2014/main" id="{F644AB74-F9A6-3422-460F-E38E85DE7F6C}"/>
                  </a:ext>
                </a:extLst>
              </p:cNvPr>
              <p:cNvCxnSpPr>
                <a:cxnSpLocks/>
                <a:endCxn id="331" idx="1"/>
              </p:cNvCxnSpPr>
              <p:nvPr/>
            </p:nvCxnSpPr>
            <p:spPr>
              <a:xfrm rot="16200000" flipH="1">
                <a:off x="368042" y="2581247"/>
                <a:ext cx="1383680" cy="741756"/>
              </a:xfrm>
              <a:prstGeom prst="bentConnector2">
                <a:avLst/>
              </a:prstGeom>
              <a:ln w="57150">
                <a:solidFill>
                  <a:schemeClr val="accent2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03FB4651-3EC4-9F91-65BF-D4BE3C40098A}"/>
                  </a:ext>
                </a:extLst>
              </p:cNvPr>
              <p:cNvGrpSpPr/>
              <p:nvPr/>
            </p:nvGrpSpPr>
            <p:grpSpPr>
              <a:xfrm>
                <a:off x="1780532" y="2965993"/>
                <a:ext cx="673038" cy="703576"/>
                <a:chOff x="1780532" y="2965993"/>
                <a:chExt cx="673038" cy="703576"/>
              </a:xfrm>
            </p:grpSpPr>
            <p:cxnSp>
              <p:nvCxnSpPr>
                <p:cNvPr id="44" name="Elbow Connector 43">
                  <a:extLst>
                    <a:ext uri="{FF2B5EF4-FFF2-40B4-BE49-F238E27FC236}">
                      <a16:creationId xmlns:a16="http://schemas.microsoft.com/office/drawing/2014/main" id="{45798298-E577-A327-7CBF-FA0995B6AD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1830481" y="3046480"/>
                  <a:ext cx="703576" cy="542602"/>
                </a:xfrm>
                <a:prstGeom prst="bentConnector3">
                  <a:avLst>
                    <a:gd name="adj1" fmla="val 100542"/>
                  </a:avLst>
                </a:prstGeom>
                <a:ln w="57150">
                  <a:solidFill>
                    <a:schemeClr val="accent2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CE31C1B1-08ED-FA31-EA82-2543128D76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80532" y="3655540"/>
                  <a:ext cx="130436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D80FAFB5-E547-3846-D695-4267F69AEEC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9332" y="2260284"/>
                <a:ext cx="2743200" cy="1985"/>
              </a:xfrm>
              <a:prstGeom prst="line">
                <a:avLst/>
              </a:prstGeom>
              <a:ln w="57150">
                <a:solidFill>
                  <a:schemeClr val="accent2"/>
                </a:solidFill>
                <a:headEnd w="sm" len="sm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Elbow Connector 37">
                <a:extLst>
                  <a:ext uri="{FF2B5EF4-FFF2-40B4-BE49-F238E27FC236}">
                    <a16:creationId xmlns:a16="http://schemas.microsoft.com/office/drawing/2014/main" id="{1C1646F1-7C78-BDC3-1D62-7284DFA5B330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2993946" y="2363686"/>
                <a:ext cx="477525" cy="270723"/>
              </a:xfrm>
              <a:prstGeom prst="bentConnector3">
                <a:avLst>
                  <a:gd name="adj1" fmla="val -5318"/>
                </a:avLst>
              </a:prstGeom>
              <a:ln w="57150">
                <a:solidFill>
                  <a:schemeClr val="accent2"/>
                </a:solidFill>
                <a:headEnd w="sm" len="sm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C8C285CD-B982-036A-7AB9-3A19144370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799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0F34E2EF-E6E4-480A-85BB-220BE1C28AFF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A5E8AD9-296E-37B4-4E87-99DCBDA65600}"/>
              </a:ext>
            </a:extLst>
          </p:cNvPr>
          <p:cNvSpPr txBox="1"/>
          <p:nvPr/>
        </p:nvSpPr>
        <p:spPr>
          <a:xfrm>
            <a:off x="3106523" y="4777354"/>
            <a:ext cx="11192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[31:20]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C4CABF1C-C840-9F3E-AB67-F1D6561813BC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E4D1DEAE-7AAB-4FA5-9AC7-CEF254DF6C1E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63182A8-AAC2-5CFD-2ED1-D6AE1F385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10280650" algn="r"/>
              </a:tabLst>
            </a:pPr>
            <a:r>
              <a:rPr lang="en-US" dirty="0"/>
              <a:t>Lighting the </a:t>
            </a:r>
            <a:r>
              <a:rPr lang="en-US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LOAD</a:t>
            </a:r>
            <a:r>
              <a:rPr lang="en-US" dirty="0"/>
              <a:t> Datapath (6/6)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5E2B3D3E-7682-F6FD-4010-CC6BCDC1F9BA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C3F319D4-E9C9-BF79-1D0B-B024CF36D456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EFECB578-3A21-E891-8D71-0213F089D1C0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B7F7F169-A5F4-56F1-6936-D7E5E795DF1A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A5C8CA32-3065-E6B7-1BD4-077B2DB839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CC9BC0A6-4DFD-877B-775C-BD92FA021900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8CB4FC43-FB1E-DAD9-6933-1031DF7B151C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06C5600C-FF32-7B65-A838-616535BD3D13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205D2502-C217-CFAD-90DA-7224BAC69EC5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" name="TextBox 377">
            <a:extLst>
              <a:ext uri="{FF2B5EF4-FFF2-40B4-BE49-F238E27FC236}">
                <a16:creationId xmlns:a16="http://schemas.microsoft.com/office/drawing/2014/main" id="{3C014DA4-D84B-41C9-9809-76936069E596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5795E669-F7FD-51D5-9708-7B3C9BD34CCE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A5D422CF-1692-106D-093A-8F6E171C79D9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FEB16DF6-43AA-9A5F-FFF9-30CB1A3DA5D6}"/>
              </a:ext>
            </a:extLst>
          </p:cNvPr>
          <p:cNvSpPr txBox="1"/>
          <p:nvPr/>
        </p:nvSpPr>
        <p:spPr>
          <a:xfrm>
            <a:off x="6200437" y="345514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B01F1A18-F34F-006C-C71D-DCC3DF9FCB76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245940B4-83F7-A371-DDED-84DC79891141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5F1F7DB0-6CD9-15D8-A9C7-594A704DE0B1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908456E4-D4F5-2EA1-FF19-789AA5C3F8DA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908607ED-5082-B8EB-0CB6-ED344CA1BE73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77D15A79-CBAA-3476-E953-9E88EC542CAD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30435E35-829A-9B0E-3C1B-8AC96951ACA1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2" name="TextBox 421">
            <a:extLst>
              <a:ext uri="{FF2B5EF4-FFF2-40B4-BE49-F238E27FC236}">
                <a16:creationId xmlns:a16="http://schemas.microsoft.com/office/drawing/2014/main" id="{C2019ECA-1D43-2798-7640-624AE67C748A}"/>
              </a:ext>
            </a:extLst>
          </p:cNvPr>
          <p:cNvSpPr txBox="1"/>
          <p:nvPr/>
        </p:nvSpPr>
        <p:spPr>
          <a:xfrm>
            <a:off x="6200437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1D8640-1BD8-BEED-DD26-8BB1044FBB16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8A3D43-23D6-8073-FA9C-E13A73CB5D24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ECC671-A924-2356-B7DC-DE13636CBDA5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BA7E8C0-8665-164F-DB94-DAE69967F440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9E730C79-AAC2-7A21-158E-0E25313D56F3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805FC406-05B2-8242-650C-D6E9D3BC10DC}"/>
              </a:ext>
            </a:extLst>
          </p:cNvPr>
          <p:cNvSpPr txBox="1"/>
          <p:nvPr/>
        </p:nvSpPr>
        <p:spPr>
          <a:xfrm>
            <a:off x="4062897" y="5552119"/>
            <a:ext cx="817853" cy="304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ImmSel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224C16BB-9DF8-AF11-E4A9-F5900F58BC4D}"/>
              </a:ext>
            </a:extLst>
          </p:cNvPr>
          <p:cNvSpPr txBox="1"/>
          <p:nvPr/>
        </p:nvSpPr>
        <p:spPr>
          <a:xfrm>
            <a:off x="5333604" y="5554208"/>
            <a:ext cx="885179" cy="513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RegWEn</a:t>
            </a:r>
            <a:b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</a:b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18 VAG Rounded Light   02390" pitchFamily="2" charset="0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3632A612-D2B9-ADCD-8A02-64FC0648A297}"/>
              </a:ext>
            </a:extLst>
          </p:cNvPr>
          <p:cNvSpPr txBox="1"/>
          <p:nvPr/>
        </p:nvSpPr>
        <p:spPr>
          <a:xfrm>
            <a:off x="7558332" y="5524627"/>
            <a:ext cx="449161" cy="2513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BSel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0D0C1867-1FFD-F311-31BB-7C2A4E3DB4AD}"/>
              </a:ext>
            </a:extLst>
          </p:cNvPr>
          <p:cNvSpPr txBox="1"/>
          <p:nvPr/>
        </p:nvSpPr>
        <p:spPr>
          <a:xfrm>
            <a:off x="8421291" y="5536765"/>
            <a:ext cx="702436" cy="2778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ALUSel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B2E54D0A-9FBB-BD56-7769-DC00BEB2FC6E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B5F21712-74F9-1B1C-C348-211340BF727D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CD295204-4CA2-FED3-4ABC-4B0EE63D057A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5B1182A6-0946-CC24-2378-F3DAB18A8640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rapezoid 13">
            <a:extLst>
              <a:ext uri="{FF2B5EF4-FFF2-40B4-BE49-F238E27FC236}">
                <a16:creationId xmlns:a16="http://schemas.microsoft.com/office/drawing/2014/main" id="{1FA82655-74D3-4483-7C00-4AA72A5B4B28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5FF65934-C540-D4EB-5E26-A7998F695809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solidFill>
            <a:srgbClr val="011223"/>
          </a:solidFill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44C30EE-0B46-F596-A1E7-DBBD05AA6E8C}"/>
              </a:ext>
            </a:extLst>
          </p:cNvPr>
          <p:cNvCxnSpPr>
            <a:cxnSpLocks/>
          </p:cNvCxnSpPr>
          <p:nvPr/>
        </p:nvCxnSpPr>
        <p:spPr>
          <a:xfrm>
            <a:off x="6246032" y="3676635"/>
            <a:ext cx="203911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Freeform 318">
            <a:extLst>
              <a:ext uri="{FF2B5EF4-FFF2-40B4-BE49-F238E27FC236}">
                <a16:creationId xmlns:a16="http://schemas.microsoft.com/office/drawing/2014/main" id="{50D48F20-2317-959C-0E0D-67B0974EEDE2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68353A1-9BC2-8230-F13A-FF44087243AD}"/>
              </a:ext>
            </a:extLst>
          </p:cNvPr>
          <p:cNvCxnSpPr>
            <a:cxnSpLocks/>
          </p:cNvCxnSpPr>
          <p:nvPr/>
        </p:nvCxnSpPr>
        <p:spPr>
          <a:xfrm>
            <a:off x="6261052" y="4241300"/>
            <a:ext cx="1484877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85D2FDB-A24E-2C02-9670-E22393C0534C}"/>
              </a:ext>
            </a:extLst>
          </p:cNvPr>
          <p:cNvSpPr txBox="1"/>
          <p:nvPr/>
        </p:nvSpPr>
        <p:spPr>
          <a:xfrm>
            <a:off x="6200437" y="4004802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0B220B-263C-D1ED-6CE8-90F0C0D10B0D}"/>
              </a:ext>
            </a:extLst>
          </p:cNvPr>
          <p:cNvSpPr txBox="1"/>
          <p:nvPr/>
        </p:nvSpPr>
        <p:spPr>
          <a:xfrm>
            <a:off x="1740001" y="3662940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83C312F-A3A0-310E-0D52-F621E891E5A7}"/>
              </a:ext>
            </a:extLst>
          </p:cNvPr>
          <p:cNvCxnSpPr>
            <a:cxnSpLocks/>
          </p:cNvCxnSpPr>
          <p:nvPr/>
        </p:nvCxnSpPr>
        <p:spPr>
          <a:xfrm>
            <a:off x="7996240" y="4431194"/>
            <a:ext cx="301752" cy="149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Freeform 60">
            <a:extLst>
              <a:ext uri="{FF2B5EF4-FFF2-40B4-BE49-F238E27FC236}">
                <a16:creationId xmlns:a16="http://schemas.microsoft.com/office/drawing/2014/main" id="{6570C08D-F85D-7767-D2B9-3D3341743EEF}"/>
              </a:ext>
            </a:extLst>
          </p:cNvPr>
          <p:cNvSpPr/>
          <p:nvPr/>
        </p:nvSpPr>
        <p:spPr>
          <a:xfrm>
            <a:off x="7685590" y="4433105"/>
            <a:ext cx="405114" cy="94053"/>
          </a:xfrm>
          <a:custGeom>
            <a:avLst/>
            <a:gdLst>
              <a:gd name="connsiteX0" fmla="*/ 0 w 405114"/>
              <a:gd name="connsiteY0" fmla="*/ 150471 h 162045"/>
              <a:gd name="connsiteX1" fmla="*/ 57873 w 405114"/>
              <a:gd name="connsiteY1" fmla="*/ 162045 h 162045"/>
              <a:gd name="connsiteX2" fmla="*/ 104172 w 405114"/>
              <a:gd name="connsiteY2" fmla="*/ 150471 h 162045"/>
              <a:gd name="connsiteX3" fmla="*/ 208344 w 405114"/>
              <a:gd name="connsiteY3" fmla="*/ 92597 h 162045"/>
              <a:gd name="connsiteX4" fmla="*/ 254643 w 405114"/>
              <a:gd name="connsiteY4" fmla="*/ 46298 h 162045"/>
              <a:gd name="connsiteX5" fmla="*/ 358815 w 405114"/>
              <a:gd name="connsiteY5" fmla="*/ 0 h 162045"/>
              <a:gd name="connsiteX6" fmla="*/ 405114 w 405114"/>
              <a:gd name="connsiteY6" fmla="*/ 0 h 162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5114" h="162045">
                <a:moveTo>
                  <a:pt x="0" y="150471"/>
                </a:moveTo>
                <a:cubicBezTo>
                  <a:pt x="19291" y="154329"/>
                  <a:pt x="38200" y="162045"/>
                  <a:pt x="57873" y="162045"/>
                </a:cubicBezTo>
                <a:cubicBezTo>
                  <a:pt x="73781" y="162045"/>
                  <a:pt x="88876" y="154841"/>
                  <a:pt x="104172" y="150471"/>
                </a:cubicBezTo>
                <a:cubicBezTo>
                  <a:pt x="144925" y="138827"/>
                  <a:pt x="175184" y="125757"/>
                  <a:pt x="208344" y="92597"/>
                </a:cubicBezTo>
                <a:cubicBezTo>
                  <a:pt x="223777" y="77164"/>
                  <a:pt x="236483" y="58405"/>
                  <a:pt x="254643" y="46298"/>
                </a:cubicBezTo>
                <a:cubicBezTo>
                  <a:pt x="286113" y="25318"/>
                  <a:pt x="317492" y="0"/>
                  <a:pt x="358815" y="0"/>
                </a:cubicBezTo>
                <a:lnTo>
                  <a:pt x="405114" y="0"/>
                </a:lnTo>
              </a:path>
            </a:pathLst>
          </a:custGeom>
          <a:noFill/>
          <a:ln w="57150">
            <a:solidFill>
              <a:schemeClr val="accent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55A1D23C-98A6-C877-632A-490F50B21AC0}"/>
              </a:ext>
            </a:extLst>
          </p:cNvPr>
          <p:cNvCxnSpPr>
            <a:cxnSpLocks/>
          </p:cNvCxnSpPr>
          <p:nvPr/>
        </p:nvCxnSpPr>
        <p:spPr>
          <a:xfrm>
            <a:off x="6246032" y="3676635"/>
            <a:ext cx="2048256" cy="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3" name="TextBox 482">
            <a:extLst>
              <a:ext uri="{FF2B5EF4-FFF2-40B4-BE49-F238E27FC236}">
                <a16:creationId xmlns:a16="http://schemas.microsoft.com/office/drawing/2014/main" id="{B1666656-08E2-6996-A9CE-1772584D8B04}"/>
              </a:ext>
            </a:extLst>
          </p:cNvPr>
          <p:cNvSpPr txBox="1"/>
          <p:nvPr/>
        </p:nvSpPr>
        <p:spPr>
          <a:xfrm>
            <a:off x="293424" y="1001583"/>
            <a:ext cx="2639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dirty="0">
                <a:solidFill>
                  <a:schemeClr val="accent2"/>
                </a:solidFill>
                <a:latin typeface="18 VAG Rounded Light   02390" pitchFamily="2" charset="0"/>
              </a:rPr>
              <a:t>Increment PC to next instruction.</a:t>
            </a:r>
          </a:p>
        </p:txBody>
      </p:sp>
      <p:sp>
        <p:nvSpPr>
          <p:cNvPr id="484" name="TextBox 483">
            <a:extLst>
              <a:ext uri="{FF2B5EF4-FFF2-40B4-BE49-F238E27FC236}">
                <a16:creationId xmlns:a16="http://schemas.microsoft.com/office/drawing/2014/main" id="{A8BDDB36-B185-0572-9D6B-9856F9B13AAB}"/>
              </a:ext>
            </a:extLst>
          </p:cNvPr>
          <p:cNvSpPr txBox="1"/>
          <p:nvPr/>
        </p:nvSpPr>
        <p:spPr>
          <a:xfrm>
            <a:off x="10229952" y="998582"/>
            <a:ext cx="19071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4"/>
                </a:solidFill>
                <a:latin typeface="18 VAG Rounded Light   02390" pitchFamily="2" charset="0"/>
              </a:rPr>
              <a:t>Write loaded memory value </a:t>
            </a:r>
            <a:r>
              <a:rPr lang="en-US" sz="20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mem</a:t>
            </a:r>
            <a:r>
              <a:rPr lang="en-US" sz="2000" dirty="0">
                <a:solidFill>
                  <a:schemeClr val="accent4"/>
                </a:solidFill>
                <a:latin typeface="18 VAG Rounded Light   02390" pitchFamily="2" charset="0"/>
              </a:rPr>
              <a:t> to register.</a:t>
            </a:r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0F29BF5A-B6C6-6BF1-F082-AA446956A51B}"/>
              </a:ext>
            </a:extLst>
          </p:cNvPr>
          <p:cNvSpPr txBox="1"/>
          <p:nvPr/>
        </p:nvSpPr>
        <p:spPr>
          <a:xfrm>
            <a:off x="6156903" y="998582"/>
            <a:ext cx="2356549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ALU computes</a:t>
            </a:r>
            <a:b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</a:b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address </a:t>
            </a: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alu =</a:t>
            </a:r>
            <a:b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R[rs1] + </a:t>
            </a:r>
            <a:r>
              <a:rPr lang="en-US" sz="18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.</a:t>
            </a:r>
            <a:endParaRPr lang="en-US" sz="1800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06305F79-2EB8-D107-1711-E4B4124B56F3}"/>
              </a:ext>
            </a:extLst>
          </p:cNvPr>
          <p:cNvSpPr txBox="1"/>
          <p:nvPr/>
        </p:nvSpPr>
        <p:spPr>
          <a:xfrm>
            <a:off x="3118252" y="1001582"/>
            <a:ext cx="2664586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1800" i="1" dirty="0">
                <a:solidFill>
                  <a:schemeClr val="accent5"/>
                </a:solidFill>
                <a:latin typeface="18 VAG Rounded Light   02390" pitchFamily="2" charset="0"/>
              </a:rPr>
              <a:t>Immediate Generation Block </a:t>
            </a: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builds a 32-bit immediate </a:t>
            </a:r>
            <a:r>
              <a:rPr lang="en-US" sz="18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C17E2B2-0FD6-F632-0955-6B76FDE7B3F1}"/>
              </a:ext>
            </a:extLst>
          </p:cNvPr>
          <p:cNvGrpSpPr/>
          <p:nvPr/>
        </p:nvGrpSpPr>
        <p:grpSpPr>
          <a:xfrm>
            <a:off x="3062791" y="3425699"/>
            <a:ext cx="4696255" cy="2111811"/>
            <a:chOff x="3062791" y="3425699"/>
            <a:chExt cx="4696255" cy="2111811"/>
          </a:xfrm>
        </p:grpSpPr>
        <p:grpSp>
          <p:nvGrpSpPr>
            <p:cNvPr id="466" name="Group 465">
              <a:extLst>
                <a:ext uri="{FF2B5EF4-FFF2-40B4-BE49-F238E27FC236}">
                  <a16:creationId xmlns:a16="http://schemas.microsoft.com/office/drawing/2014/main" id="{17B073A7-A87E-BDB8-C84D-E78993E463DB}"/>
                </a:ext>
              </a:extLst>
            </p:cNvPr>
            <p:cNvGrpSpPr/>
            <p:nvPr/>
          </p:nvGrpSpPr>
          <p:grpSpPr>
            <a:xfrm>
              <a:off x="3191225" y="3962068"/>
              <a:ext cx="4567821" cy="1575442"/>
              <a:chOff x="3191225" y="3962068"/>
              <a:chExt cx="4567821" cy="1575442"/>
            </a:xfrm>
          </p:grpSpPr>
          <p:cxnSp>
            <p:nvCxnSpPr>
              <p:cNvPr id="469" name="Straight Arrow Connector 468">
                <a:extLst>
                  <a:ext uri="{FF2B5EF4-FFF2-40B4-BE49-F238E27FC236}">
                    <a16:creationId xmlns:a16="http://schemas.microsoft.com/office/drawing/2014/main" id="{BEDCB37D-730D-EDEE-17E5-C8F1E5B2A9B1}"/>
                  </a:ext>
                </a:extLst>
              </p:cNvPr>
              <p:cNvCxnSpPr/>
              <p:nvPr/>
            </p:nvCxnSpPr>
            <p:spPr>
              <a:xfrm>
                <a:off x="3193946" y="3962068"/>
                <a:ext cx="0" cy="1575442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0" name="Straight Arrow Connector 469">
                <a:extLst>
                  <a:ext uri="{FF2B5EF4-FFF2-40B4-BE49-F238E27FC236}">
                    <a16:creationId xmlns:a16="http://schemas.microsoft.com/office/drawing/2014/main" id="{8D059919-1CE8-3933-9A12-92631AB9B0F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91225" y="5015025"/>
                <a:ext cx="923544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" name="Elbow Connector 470">
                <a:extLst>
                  <a:ext uri="{FF2B5EF4-FFF2-40B4-BE49-F238E27FC236}">
                    <a16:creationId xmlns:a16="http://schemas.microsoft.com/office/drawing/2014/main" id="{B4990C4D-8CC5-DD29-5197-05B16BC9BAC4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>
                <a:off x="4822076" y="4530234"/>
                <a:ext cx="2936970" cy="596712"/>
              </a:xfrm>
              <a:prstGeom prst="bentConnector3">
                <a:avLst>
                  <a:gd name="adj1" fmla="val 92537"/>
                </a:avLst>
              </a:prstGeom>
              <a:ln w="57150">
                <a:solidFill>
                  <a:schemeClr val="accent5"/>
                </a:solidFill>
                <a:tailEnd type="triangle" w="med" len="med"/>
              </a:ln>
              <a:effectLst>
                <a:glow rad="63500">
                  <a:srgbClr val="011223">
                    <a:alpha val="40000"/>
                  </a:srgb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4A62533-B74D-5C70-A149-4BA4C76CE68A}"/>
                </a:ext>
              </a:extLst>
            </p:cNvPr>
            <p:cNvGrpSpPr/>
            <p:nvPr/>
          </p:nvGrpSpPr>
          <p:grpSpPr>
            <a:xfrm>
              <a:off x="3062791" y="3425699"/>
              <a:ext cx="1761928" cy="524103"/>
              <a:chOff x="3062789" y="3425699"/>
              <a:chExt cx="1774643" cy="524103"/>
            </a:xfrm>
          </p:grpSpPr>
          <p:cxnSp>
            <p:nvCxnSpPr>
              <p:cNvPr id="8" name="Elbow Connector 7">
                <a:extLst>
                  <a:ext uri="{FF2B5EF4-FFF2-40B4-BE49-F238E27FC236}">
                    <a16:creationId xmlns:a16="http://schemas.microsoft.com/office/drawing/2014/main" id="{A8608BA6-FD32-A93E-0C1C-D5335A65067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62789" y="3425699"/>
                <a:ext cx="1765694" cy="524103"/>
              </a:xfrm>
              <a:prstGeom prst="bentConnector3">
                <a:avLst>
                  <a:gd name="adj1" fmla="val 17967"/>
                </a:avLst>
              </a:prstGeom>
              <a:ln w="57150">
                <a:solidFill>
                  <a:schemeClr val="accent5"/>
                </a:solidFill>
                <a:headEnd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613AD115-1CA9-1F64-7938-45A1466DDC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73043" y="3685038"/>
                <a:ext cx="1464389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4" name="Isosceles Triangle 59">
            <a:extLst>
              <a:ext uri="{FF2B5EF4-FFF2-40B4-BE49-F238E27FC236}">
                <a16:creationId xmlns:a16="http://schemas.microsoft.com/office/drawing/2014/main" id="{D53E91FE-DE86-1887-CF93-9B5E25FBA724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99C8431-0939-9ED0-EAF4-C79993FD36C6}"/>
              </a:ext>
            </a:extLst>
          </p:cNvPr>
          <p:cNvSpPr/>
          <p:nvPr/>
        </p:nvSpPr>
        <p:spPr>
          <a:xfrm>
            <a:off x="9120628" y="3586419"/>
            <a:ext cx="1021734" cy="1127284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</a:t>
            </a: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>
              <a:spcBef>
                <a:spcPts val="400"/>
              </a:spcBef>
              <a:tabLst>
                <a:tab pos="1249363" algn="r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DMEM</a:t>
            </a:r>
          </a:p>
          <a:p>
            <a:pPr>
              <a:spcBef>
                <a:spcPts val="400"/>
              </a:spcBef>
              <a:spcAft>
                <a:spcPts val="400"/>
              </a:spcAft>
              <a:tabLst>
                <a:tab pos="1249363" algn="r"/>
              </a:tabLst>
            </a:pPr>
            <a:r>
              <a:rPr lang="en-US" sz="1200" i="1" dirty="0" err="1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rPr>
              <a:t>wdata</a:t>
            </a:r>
            <a:r>
              <a:rPr lang="en-US" sz="16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rPr>
              <a:t> </a:t>
            </a:r>
            <a:endParaRPr lang="en-US" sz="1200" i="1" dirty="0">
              <a:solidFill>
                <a:schemeClr val="bg1"/>
              </a:solidFill>
              <a:latin typeface="18 VAG ROUNDED LIGHT   02390" pitchFamily="2" charset="0"/>
              <a:cs typeface="Courier New" panose="02070309020205020404" pitchFamily="49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569A93A-3470-E135-1D42-27E39F99AC17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2236378-DCD1-D8A9-3293-88E23ABA18EB}"/>
              </a:ext>
            </a:extLst>
          </p:cNvPr>
          <p:cNvCxnSpPr>
            <a:cxnSpLocks/>
            <a:stCxn id="39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04693EAF-0AE1-7F3A-FA68-4A5D3499E0DB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AE81917-ABCF-C4F8-942C-35C2294FB7EB}"/>
              </a:ext>
            </a:extLst>
          </p:cNvPr>
          <p:cNvCxnSpPr>
            <a:cxnSpLocks/>
          </p:cNvCxnSpPr>
          <p:nvPr/>
        </p:nvCxnSpPr>
        <p:spPr>
          <a:xfrm>
            <a:off x="8861193" y="3967940"/>
            <a:ext cx="29744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B1E806E-E8A0-10E2-767B-25F1674103DD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993B394-14AC-752B-E6A3-D69C8D52EB87}"/>
              </a:ext>
            </a:extLst>
          </p:cNvPr>
          <p:cNvGrpSpPr/>
          <p:nvPr/>
        </p:nvGrpSpPr>
        <p:grpSpPr>
          <a:xfrm>
            <a:off x="3790286" y="2375192"/>
            <a:ext cx="7347065" cy="1124151"/>
            <a:chOff x="3790286" y="2375192"/>
            <a:chExt cx="7347065" cy="1124151"/>
          </a:xfrm>
          <a:effectLst/>
        </p:grpSpPr>
        <p:cxnSp>
          <p:nvCxnSpPr>
            <p:cNvPr id="48" name="Elbow Connector 47">
              <a:extLst>
                <a:ext uri="{FF2B5EF4-FFF2-40B4-BE49-F238E27FC236}">
                  <a16:creationId xmlns:a16="http://schemas.microsoft.com/office/drawing/2014/main" id="{8FEB0117-96CC-46EC-28AC-EBB2BEC18AD9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15081257-8B98-F805-993A-6910EA97D891}"/>
                </a:ext>
              </a:extLst>
            </p:cNvPr>
            <p:cNvCxnSpPr/>
            <p:nvPr/>
          </p:nvCxnSpPr>
          <p:spPr>
            <a:xfrm>
              <a:off x="3790286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Elbow Connector 50">
              <a:extLst>
                <a:ext uri="{FF2B5EF4-FFF2-40B4-BE49-F238E27FC236}">
                  <a16:creationId xmlns:a16="http://schemas.microsoft.com/office/drawing/2014/main" id="{E56740FB-0BEB-0CD1-316D-928A8A94C793}"/>
                </a:ext>
              </a:extLst>
            </p:cNvPr>
            <p:cNvCxnSpPr>
              <a:cxnSpLocks/>
              <a:stCxn id="52" idx="0"/>
            </p:cNvCxnSpPr>
            <p:nvPr/>
          </p:nvCxnSpPr>
          <p:spPr>
            <a:xfrm flipV="1">
              <a:off x="10817058" y="2375192"/>
              <a:ext cx="320293" cy="1124151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rapezoid 51">
            <a:extLst>
              <a:ext uri="{FF2B5EF4-FFF2-40B4-BE49-F238E27FC236}">
                <a16:creationId xmlns:a16="http://schemas.microsoft.com/office/drawing/2014/main" id="{AE5D2516-7D3B-AF7B-9E5A-6B7FF198E91A}"/>
              </a:ext>
            </a:extLst>
          </p:cNvPr>
          <p:cNvSpPr/>
          <p:nvPr/>
        </p:nvSpPr>
        <p:spPr>
          <a:xfrm rot="5400000">
            <a:off x="10337532" y="3361302"/>
            <a:ext cx="682970" cy="276082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BE8ED30C-AED1-4AAC-6589-F2C5F3CD9FC1}"/>
              </a:ext>
            </a:extLst>
          </p:cNvPr>
          <p:cNvCxnSpPr>
            <a:cxnSpLocks/>
          </p:cNvCxnSpPr>
          <p:nvPr/>
        </p:nvCxnSpPr>
        <p:spPr>
          <a:xfrm flipV="1">
            <a:off x="8929306" y="3375224"/>
            <a:ext cx="1611670" cy="592716"/>
          </a:xfrm>
          <a:prstGeom prst="bentConnector3">
            <a:avLst>
              <a:gd name="adj1" fmla="val 288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4B11C6A0-C133-F7F7-A7F9-D186155CCEFD}"/>
              </a:ext>
            </a:extLst>
          </p:cNvPr>
          <p:cNvSpPr txBox="1"/>
          <p:nvPr/>
        </p:nvSpPr>
        <p:spPr>
          <a:xfrm>
            <a:off x="10106672" y="3087231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9037674-EBD5-FC80-507C-066941011724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1" name="Group 480">
            <a:extLst>
              <a:ext uri="{FF2B5EF4-FFF2-40B4-BE49-F238E27FC236}">
                <a16:creationId xmlns:a16="http://schemas.microsoft.com/office/drawing/2014/main" id="{A0BD89C6-F796-F118-BAD3-E841F9E06C7F}"/>
              </a:ext>
            </a:extLst>
          </p:cNvPr>
          <p:cNvGrpSpPr/>
          <p:nvPr/>
        </p:nvGrpSpPr>
        <p:grpSpPr>
          <a:xfrm>
            <a:off x="4062897" y="5524627"/>
            <a:ext cx="6835927" cy="752471"/>
            <a:chOff x="4062897" y="5524627"/>
            <a:chExt cx="6835927" cy="75247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6CB08AE-EF84-D361-9009-1D984CAE07F5}"/>
                </a:ext>
              </a:extLst>
            </p:cNvPr>
            <p:cNvSpPr txBox="1"/>
            <p:nvPr/>
          </p:nvSpPr>
          <p:spPr>
            <a:xfrm>
              <a:off x="4062897" y="5552119"/>
              <a:ext cx="817853" cy="5201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ImmSel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b="1" dirty="0">
                  <a:solidFill>
                    <a:schemeClr val="accent5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6D242A0-E8FA-7E72-D9D1-434F5D1CFFC8}"/>
                </a:ext>
              </a:extLst>
            </p:cNvPr>
            <p:cNvSpPr txBox="1"/>
            <p:nvPr/>
          </p:nvSpPr>
          <p:spPr>
            <a:xfrm>
              <a:off x="5333604" y="5554208"/>
              <a:ext cx="885179" cy="7228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RegWEn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dirty="0">
                  <a:solidFill>
                    <a:schemeClr val="accent4"/>
                  </a:solidFill>
                  <a:latin typeface="18 VAG Rounded Light   02390" pitchFamily="2" charset="0"/>
                </a:rPr>
                <a:t>1</a:t>
              </a:r>
              <a:br>
                <a:rPr 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18 VAG Rounded Light   02390" pitchFamily="2" charset="0"/>
                </a:rPr>
              </a:br>
              <a:endPara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9E46055-A94A-08AF-62DE-99BE6654A422}"/>
                </a:ext>
              </a:extLst>
            </p:cNvPr>
            <p:cNvSpPr txBox="1"/>
            <p:nvPr/>
          </p:nvSpPr>
          <p:spPr>
            <a:xfrm>
              <a:off x="7558332" y="5524627"/>
              <a:ext cx="4491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1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B2F3760-0073-9212-0898-D7A547D865CA}"/>
                </a:ext>
              </a:extLst>
            </p:cNvPr>
            <p:cNvSpPr txBox="1"/>
            <p:nvPr/>
          </p:nvSpPr>
          <p:spPr>
            <a:xfrm>
              <a:off x="8421291" y="5536765"/>
              <a:ext cx="702436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ALUSel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1"/>
                  </a:solidFill>
                  <a:latin typeface="18 VAG Rounded Light   02390" pitchFamily="2" charset="0"/>
                </a:rPr>
                <a:t>Add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7200860-3D98-4D7B-F434-9C9641EF94FB}"/>
                </a:ext>
              </a:extLst>
            </p:cNvPr>
            <p:cNvSpPr txBox="1"/>
            <p:nvPr/>
          </p:nvSpPr>
          <p:spPr>
            <a:xfrm>
              <a:off x="9285659" y="5555777"/>
              <a:ext cx="817853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MemRW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6"/>
                  </a:solidFill>
                  <a:latin typeface="18 VAG Rounded Light   02390" pitchFamily="2" charset="0"/>
                </a:rPr>
                <a:t>Read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D75BBF7-A5ED-B23F-53CE-8B530D0941F1}"/>
                </a:ext>
              </a:extLst>
            </p:cNvPr>
            <p:cNvSpPr txBox="1"/>
            <p:nvPr/>
          </p:nvSpPr>
          <p:spPr>
            <a:xfrm>
              <a:off x="10252493" y="5557253"/>
              <a:ext cx="646331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WBSel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4"/>
                  </a:solidFill>
                  <a:latin typeface="18 VAG Rounded Light   02390" pitchFamily="2" charset="0"/>
                </a:rPr>
                <a:t>0</a:t>
              </a:r>
            </a:p>
          </p:txBody>
        </p: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049E621-4A3C-223F-5052-BA391451E4AF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EA7F99AA-BFBA-5BF6-30C0-3EE3C7CA9EA9}"/>
              </a:ext>
            </a:extLst>
          </p:cNvPr>
          <p:cNvSpPr txBox="1"/>
          <p:nvPr/>
        </p:nvSpPr>
        <p:spPr>
          <a:xfrm>
            <a:off x="8331951" y="998582"/>
            <a:ext cx="2356549" cy="622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800" dirty="0">
                <a:solidFill>
                  <a:schemeClr val="accent6"/>
                </a:solidFill>
                <a:latin typeface="18 VAG Rounded Light   02390" pitchFamily="2" charset="0"/>
              </a:rPr>
              <a:t>Read memory at address </a:t>
            </a:r>
            <a:r>
              <a:rPr lang="en-US" sz="18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alu</a:t>
            </a:r>
            <a:r>
              <a:rPr lang="en-US" sz="1800" dirty="0">
                <a:solidFill>
                  <a:schemeClr val="accent6"/>
                </a:solidFill>
                <a:latin typeface="18 VAG Rounded Light   02390" pitchFamily="2" charset="0"/>
              </a:rPr>
              <a:t>.</a:t>
            </a:r>
            <a:endParaRPr lang="en-US" sz="18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480" name="Group 479">
            <a:extLst>
              <a:ext uri="{FF2B5EF4-FFF2-40B4-BE49-F238E27FC236}">
                <a16:creationId xmlns:a16="http://schemas.microsoft.com/office/drawing/2014/main" id="{5F11F7EF-397E-845A-CF53-B3B0658E0AB5}"/>
              </a:ext>
            </a:extLst>
          </p:cNvPr>
          <p:cNvGrpSpPr/>
          <p:nvPr/>
        </p:nvGrpSpPr>
        <p:grpSpPr>
          <a:xfrm>
            <a:off x="3790286" y="2375192"/>
            <a:ext cx="7347065" cy="1329829"/>
            <a:chOff x="3790286" y="2375192"/>
            <a:chExt cx="7347065" cy="1329829"/>
          </a:xfrm>
        </p:grpSpPr>
        <p:grpSp>
          <p:nvGrpSpPr>
            <p:cNvPr id="450" name="Group 449">
              <a:extLst>
                <a:ext uri="{FF2B5EF4-FFF2-40B4-BE49-F238E27FC236}">
                  <a16:creationId xmlns:a16="http://schemas.microsoft.com/office/drawing/2014/main" id="{E7F83AC4-41BE-801E-F087-BD8B618614A4}"/>
                </a:ext>
              </a:extLst>
            </p:cNvPr>
            <p:cNvGrpSpPr/>
            <p:nvPr/>
          </p:nvGrpSpPr>
          <p:grpSpPr>
            <a:xfrm>
              <a:off x="3790286" y="2375192"/>
              <a:ext cx="7347065" cy="1124151"/>
              <a:chOff x="3790286" y="2375192"/>
              <a:chExt cx="7347065" cy="1124151"/>
            </a:xfrm>
            <a:effectLst/>
          </p:grpSpPr>
          <p:cxnSp>
            <p:nvCxnSpPr>
              <p:cNvPr id="464" name="Elbow Connector 463">
                <a:extLst>
                  <a:ext uri="{FF2B5EF4-FFF2-40B4-BE49-F238E27FC236}">
                    <a16:creationId xmlns:a16="http://schemas.microsoft.com/office/drawing/2014/main" id="{8064BBCF-500D-1149-3112-E5CE2E73272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970539" y="2216906"/>
                <a:ext cx="657210" cy="993002"/>
              </a:xfrm>
              <a:prstGeom prst="bentConnector2">
                <a:avLst/>
              </a:prstGeom>
              <a:ln w="57150">
                <a:solidFill>
                  <a:schemeClr val="accent4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5" name="Straight Connector 464">
                <a:extLst>
                  <a:ext uri="{FF2B5EF4-FFF2-40B4-BE49-F238E27FC236}">
                    <a16:creationId xmlns:a16="http://schemas.microsoft.com/office/drawing/2014/main" id="{78A2393C-91B1-4015-CC6D-9A11574E781B}"/>
                  </a:ext>
                </a:extLst>
              </p:cNvPr>
              <p:cNvCxnSpPr/>
              <p:nvPr/>
            </p:nvCxnSpPr>
            <p:spPr>
              <a:xfrm>
                <a:off x="3790286" y="2384802"/>
                <a:ext cx="7334708" cy="0"/>
              </a:xfrm>
              <a:prstGeom prst="line">
                <a:avLst/>
              </a:prstGeom>
              <a:ln w="57150">
                <a:solidFill>
                  <a:schemeClr val="accent4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7" name="Elbow Connector 466">
                <a:extLst>
                  <a:ext uri="{FF2B5EF4-FFF2-40B4-BE49-F238E27FC236}">
                    <a16:creationId xmlns:a16="http://schemas.microsoft.com/office/drawing/2014/main" id="{3DDD897E-8BC5-DDA3-53A2-58BB4251BD9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817058" y="2375192"/>
                <a:ext cx="320293" cy="1124151"/>
              </a:xfrm>
              <a:prstGeom prst="bentConnector2">
                <a:avLst/>
              </a:prstGeom>
              <a:ln w="57150">
                <a:solidFill>
                  <a:schemeClr val="accent4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68" name="Freeform 467">
              <a:extLst>
                <a:ext uri="{FF2B5EF4-FFF2-40B4-BE49-F238E27FC236}">
                  <a16:creationId xmlns:a16="http://schemas.microsoft.com/office/drawing/2014/main" id="{7604B5B1-9B8A-DBF9-8622-7090CF42A640}"/>
                </a:ext>
              </a:extLst>
            </p:cNvPr>
            <p:cNvSpPr/>
            <p:nvPr/>
          </p:nvSpPr>
          <p:spPr>
            <a:xfrm>
              <a:off x="10489131" y="3499343"/>
              <a:ext cx="403447" cy="205678"/>
            </a:xfrm>
            <a:custGeom>
              <a:avLst/>
              <a:gdLst>
                <a:gd name="connsiteX0" fmla="*/ 0 w 405114"/>
                <a:gd name="connsiteY0" fmla="*/ 150471 h 162045"/>
                <a:gd name="connsiteX1" fmla="*/ 57873 w 405114"/>
                <a:gd name="connsiteY1" fmla="*/ 162045 h 162045"/>
                <a:gd name="connsiteX2" fmla="*/ 104172 w 405114"/>
                <a:gd name="connsiteY2" fmla="*/ 150471 h 162045"/>
                <a:gd name="connsiteX3" fmla="*/ 208344 w 405114"/>
                <a:gd name="connsiteY3" fmla="*/ 92597 h 162045"/>
                <a:gd name="connsiteX4" fmla="*/ 254643 w 405114"/>
                <a:gd name="connsiteY4" fmla="*/ 46298 h 162045"/>
                <a:gd name="connsiteX5" fmla="*/ 358815 w 405114"/>
                <a:gd name="connsiteY5" fmla="*/ 0 h 162045"/>
                <a:gd name="connsiteX6" fmla="*/ 405114 w 405114"/>
                <a:gd name="connsiteY6" fmla="*/ 0 h 162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5114" h="162045">
                  <a:moveTo>
                    <a:pt x="0" y="150471"/>
                  </a:moveTo>
                  <a:cubicBezTo>
                    <a:pt x="19291" y="154329"/>
                    <a:pt x="38200" y="162045"/>
                    <a:pt x="57873" y="162045"/>
                  </a:cubicBezTo>
                  <a:cubicBezTo>
                    <a:pt x="73781" y="162045"/>
                    <a:pt x="88876" y="154841"/>
                    <a:pt x="104172" y="150471"/>
                  </a:cubicBezTo>
                  <a:cubicBezTo>
                    <a:pt x="144925" y="138827"/>
                    <a:pt x="175184" y="125757"/>
                    <a:pt x="208344" y="92597"/>
                  </a:cubicBezTo>
                  <a:cubicBezTo>
                    <a:pt x="223777" y="77164"/>
                    <a:pt x="236483" y="58405"/>
                    <a:pt x="254643" y="46298"/>
                  </a:cubicBezTo>
                  <a:cubicBezTo>
                    <a:pt x="286113" y="25318"/>
                    <a:pt x="317492" y="0"/>
                    <a:pt x="358815" y="0"/>
                  </a:cubicBezTo>
                  <a:lnTo>
                    <a:pt x="405114" y="0"/>
                  </a:lnTo>
                </a:path>
              </a:pathLst>
            </a:custGeom>
            <a:noFill/>
            <a:ln w="57150">
              <a:solidFill>
                <a:schemeClr val="accent4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9" name="Group 488">
            <a:extLst>
              <a:ext uri="{FF2B5EF4-FFF2-40B4-BE49-F238E27FC236}">
                <a16:creationId xmlns:a16="http://schemas.microsoft.com/office/drawing/2014/main" id="{B97BE13E-C4F7-BCB5-FD29-1D4C08AAFF9B}"/>
              </a:ext>
            </a:extLst>
          </p:cNvPr>
          <p:cNvGrpSpPr/>
          <p:nvPr/>
        </p:nvGrpSpPr>
        <p:grpSpPr>
          <a:xfrm>
            <a:off x="8868629" y="3366696"/>
            <a:ext cx="1685023" cy="597529"/>
            <a:chOff x="8868629" y="3366696"/>
            <a:chExt cx="1685023" cy="597529"/>
          </a:xfrm>
        </p:grpSpPr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694E5F5E-58D8-25F0-8B1E-5E8687E57EDC}"/>
                </a:ext>
              </a:extLst>
            </p:cNvPr>
            <p:cNvCxnSpPr>
              <a:cxnSpLocks/>
            </p:cNvCxnSpPr>
            <p:nvPr/>
          </p:nvCxnSpPr>
          <p:spPr>
            <a:xfrm>
              <a:off x="8868629" y="3964225"/>
              <a:ext cx="297442" cy="0"/>
            </a:xfrm>
            <a:prstGeom prst="straightConnector1">
              <a:avLst/>
            </a:prstGeom>
            <a:ln w="57150">
              <a:solidFill>
                <a:schemeClr val="accent6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88" name="Group 487">
              <a:extLst>
                <a:ext uri="{FF2B5EF4-FFF2-40B4-BE49-F238E27FC236}">
                  <a16:creationId xmlns:a16="http://schemas.microsoft.com/office/drawing/2014/main" id="{63169F4A-17F5-2280-C528-9AFC952BD125}"/>
                </a:ext>
              </a:extLst>
            </p:cNvPr>
            <p:cNvGrpSpPr/>
            <p:nvPr/>
          </p:nvGrpSpPr>
          <p:grpSpPr>
            <a:xfrm>
              <a:off x="8937740" y="3366696"/>
              <a:ext cx="1615912" cy="592716"/>
              <a:chOff x="8937740" y="3366696"/>
              <a:chExt cx="1615912" cy="592716"/>
            </a:xfrm>
          </p:grpSpPr>
          <p:cxnSp>
            <p:nvCxnSpPr>
              <p:cNvPr id="449" name="Straight Arrow Connector 448">
                <a:extLst>
                  <a:ext uri="{FF2B5EF4-FFF2-40B4-BE49-F238E27FC236}">
                    <a16:creationId xmlns:a16="http://schemas.microsoft.com/office/drawing/2014/main" id="{ED3AB51F-0CA0-7F12-D0EB-186A96DA37A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50196" y="3703397"/>
                <a:ext cx="403456" cy="7631"/>
              </a:xfrm>
              <a:prstGeom prst="straightConnector1">
                <a:avLst/>
              </a:prstGeom>
              <a:ln w="57150">
                <a:solidFill>
                  <a:schemeClr val="accent6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Elbow Connector 486">
                <a:extLst>
                  <a:ext uri="{FF2B5EF4-FFF2-40B4-BE49-F238E27FC236}">
                    <a16:creationId xmlns:a16="http://schemas.microsoft.com/office/drawing/2014/main" id="{2F996031-EA97-5BE8-25EF-C9EE2D507DC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937740" y="3366696"/>
                <a:ext cx="1611670" cy="592716"/>
              </a:xfrm>
              <a:prstGeom prst="bentConnector3">
                <a:avLst>
                  <a:gd name="adj1" fmla="val 288"/>
                </a:avLst>
              </a:prstGeom>
              <a:ln w="57150">
                <a:solidFill>
                  <a:schemeClr val="accent6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709205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43387-1B7C-37D5-0D20-F75F21CAC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2759B88-DE73-FA36-E2DF-38A1BDF4E1E3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E18C59C2-E287-EF04-48AD-2DE022AFD42A}"/>
              </a:ext>
            </a:extLst>
          </p:cNvPr>
          <p:cNvCxnSpPr>
            <a:cxnSpLocks/>
            <a:stCxn id="20" idx="0"/>
          </p:cNvCxnSpPr>
          <p:nvPr/>
        </p:nvCxnSpPr>
        <p:spPr>
          <a:xfrm rot="5400000" flipH="1" flipV="1">
            <a:off x="1830481" y="3046480"/>
            <a:ext cx="703576" cy="542602"/>
          </a:xfrm>
          <a:prstGeom prst="bentConnector3">
            <a:avLst>
              <a:gd name="adj1" fmla="val 100542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6" name="Group 495">
            <a:extLst>
              <a:ext uri="{FF2B5EF4-FFF2-40B4-BE49-F238E27FC236}">
                <a16:creationId xmlns:a16="http://schemas.microsoft.com/office/drawing/2014/main" id="{5757A225-E884-BFAB-12F3-4B41AC034A31}"/>
              </a:ext>
            </a:extLst>
          </p:cNvPr>
          <p:cNvGrpSpPr/>
          <p:nvPr/>
        </p:nvGrpSpPr>
        <p:grpSpPr>
          <a:xfrm>
            <a:off x="659332" y="2260284"/>
            <a:ext cx="2712208" cy="1417320"/>
            <a:chOff x="669619" y="2248996"/>
            <a:chExt cx="2712208" cy="1417320"/>
          </a:xfrm>
        </p:grpSpPr>
        <p:grpSp>
          <p:nvGrpSpPr>
            <p:cNvPr id="497" name="Group 496">
              <a:extLst>
                <a:ext uri="{FF2B5EF4-FFF2-40B4-BE49-F238E27FC236}">
                  <a16:creationId xmlns:a16="http://schemas.microsoft.com/office/drawing/2014/main" id="{09825B56-8037-2624-7A8C-711E2AA8EE8E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389326"/>
              <a:chOff x="669619" y="2260284"/>
              <a:chExt cx="2712208" cy="1389326"/>
            </a:xfrm>
          </p:grpSpPr>
          <p:grpSp>
            <p:nvGrpSpPr>
              <p:cNvPr id="499" name="Group 498">
                <a:extLst>
                  <a:ext uri="{FF2B5EF4-FFF2-40B4-BE49-F238E27FC236}">
                    <a16:creationId xmlns:a16="http://schemas.microsoft.com/office/drawing/2014/main" id="{6030288B-E898-BE66-A4F3-5C65C803A69A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501" name="Elbow Connector 500">
                  <a:extLst>
                    <a:ext uri="{FF2B5EF4-FFF2-40B4-BE49-F238E27FC236}">
                      <a16:creationId xmlns:a16="http://schemas.microsoft.com/office/drawing/2014/main" id="{6DEC1278-423B-1A04-BD31-8957DEDF8D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2" name="Straight Connector 501">
                  <a:extLst>
                    <a:ext uri="{FF2B5EF4-FFF2-40B4-BE49-F238E27FC236}">
                      <a16:creationId xmlns:a16="http://schemas.microsoft.com/office/drawing/2014/main" id="{D42A85BF-0990-5762-DD55-E41CA9F46F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6B6BF05F-27ED-6F4A-16E1-557AAF509E9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649608"/>
                <a:ext cx="768096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98" name="Straight Connector 497">
              <a:extLst>
                <a:ext uri="{FF2B5EF4-FFF2-40B4-BE49-F238E27FC236}">
                  <a16:creationId xmlns:a16="http://schemas.microsoft.com/office/drawing/2014/main" id="{20E51B5F-43CF-A330-7ED3-2A3BFE596DB2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41732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4D311A83-35C6-0C9F-B546-C9EDAF00A288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4274A77-F0BA-5CF0-32EB-CEAB6E2C4311}"/>
              </a:ext>
            </a:extLst>
          </p:cNvPr>
          <p:cNvSpPr txBox="1"/>
          <p:nvPr/>
        </p:nvSpPr>
        <p:spPr>
          <a:xfrm>
            <a:off x="3106523" y="4777354"/>
            <a:ext cx="11192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[31:20]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41072E60-8FF1-00DC-74E6-639C06A6F1A1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5B95B41B-42F9-367E-7264-6823965D1F58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7105645-E314-BE99-20A3-03112E584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10280650" algn="r"/>
              </a:tabLst>
            </a:pPr>
            <a:r>
              <a:rPr lang="en-US" dirty="0"/>
              <a:t>Lighting the </a:t>
            </a:r>
            <a:r>
              <a:rPr lang="en-US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LOAD</a:t>
            </a:r>
            <a:r>
              <a:rPr lang="en-US" dirty="0"/>
              <a:t> Datapath (1/7)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2F9D627C-6771-9F3D-2B82-63C6EB65F32A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724B50A8-A0D6-24F5-2962-30DF59D108BA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7F0C36CF-0001-D50E-B996-2BA067245A3D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53DB0646-70E4-6478-CBB0-ECD940400394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B0230B00-83E8-2F86-D1DB-8C2FF7FC6C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CF188F3E-1182-A64E-0BEC-63465F7FC65D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3B83050A-D4A1-C375-268A-5894124E8802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3C53519D-FD24-D071-A176-6F9C6505A782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8B55C549-9AA3-684B-9BBA-7B390F3C4531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" name="TextBox 377">
            <a:extLst>
              <a:ext uri="{FF2B5EF4-FFF2-40B4-BE49-F238E27FC236}">
                <a16:creationId xmlns:a16="http://schemas.microsoft.com/office/drawing/2014/main" id="{332F0B8B-13CA-6D35-A9BA-A65E27055550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6E93E184-F226-90E8-A4E1-8CEC312C3B2A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6674F735-0434-1813-D3C4-369D0FB8CE8B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2374637C-0B74-3B56-C67A-B7F0A8CBEABF}"/>
              </a:ext>
            </a:extLst>
          </p:cNvPr>
          <p:cNvSpPr txBox="1"/>
          <p:nvPr/>
        </p:nvSpPr>
        <p:spPr>
          <a:xfrm>
            <a:off x="6200437" y="345514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A9D6B55F-B6A3-80C6-EFEA-6C881B51A081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DF65A73D-DBE8-0EED-A245-578C8D7A6ECB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63457A44-AB2F-8D7F-25BE-BCD013F19155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52B69E3A-1A37-7AA4-FADA-F445407B5FEA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8424FC9F-5646-C1A4-8180-656EAC4D8924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D63784F2-4854-5DDC-9E07-6612B6DAE4B2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5228778E-59F9-F40D-BFEF-8F83F2E99B8F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2" name="TextBox 421">
            <a:extLst>
              <a:ext uri="{FF2B5EF4-FFF2-40B4-BE49-F238E27FC236}">
                <a16:creationId xmlns:a16="http://schemas.microsoft.com/office/drawing/2014/main" id="{416824CA-C21E-F764-0BE6-EED394658186}"/>
              </a:ext>
            </a:extLst>
          </p:cNvPr>
          <p:cNvSpPr txBox="1"/>
          <p:nvPr/>
        </p:nvSpPr>
        <p:spPr>
          <a:xfrm>
            <a:off x="6200437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0B769A-DEC1-DBD4-0826-504E6B2E238E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45201B-DEF1-7786-AFA4-D677661409A7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404732-5C77-C135-5BCE-1F721BB40532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7441E9-89F4-FC29-0626-97E291392FAC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7DDE418A-A9BD-A27A-6950-EBEBBE2A0E37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4C3A4EF4-7502-C3B6-D032-77DA14E20AE0}"/>
              </a:ext>
            </a:extLst>
          </p:cNvPr>
          <p:cNvSpPr txBox="1"/>
          <p:nvPr/>
        </p:nvSpPr>
        <p:spPr>
          <a:xfrm>
            <a:off x="4062897" y="5552119"/>
            <a:ext cx="817853" cy="304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ImmSel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95C9AB61-294F-15FD-B137-2F3A82C34E5C}"/>
              </a:ext>
            </a:extLst>
          </p:cNvPr>
          <p:cNvSpPr txBox="1"/>
          <p:nvPr/>
        </p:nvSpPr>
        <p:spPr>
          <a:xfrm>
            <a:off x="5333604" y="5554208"/>
            <a:ext cx="885179" cy="513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RegWEn</a:t>
            </a:r>
            <a:b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</a:b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18 VAG Rounded Light   02390" pitchFamily="2" charset="0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D530DFEE-A886-C5B2-3E68-7AC4FB0E3812}"/>
              </a:ext>
            </a:extLst>
          </p:cNvPr>
          <p:cNvSpPr txBox="1"/>
          <p:nvPr/>
        </p:nvSpPr>
        <p:spPr>
          <a:xfrm>
            <a:off x="7558332" y="5524627"/>
            <a:ext cx="449161" cy="2513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BSel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4B74345A-E37A-2335-A929-313CBFB975B9}"/>
              </a:ext>
            </a:extLst>
          </p:cNvPr>
          <p:cNvSpPr txBox="1"/>
          <p:nvPr/>
        </p:nvSpPr>
        <p:spPr>
          <a:xfrm>
            <a:off x="8421291" y="5536765"/>
            <a:ext cx="702436" cy="2778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ALUSel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B2C1467F-4728-2D6E-68C2-D28B7B8E440B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D81E4176-4A48-022D-D46E-B57F6919CDF1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1E922F24-61EC-D05C-E04F-9F302F1F1126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E73F456C-B108-D093-0B0F-C07773AF112D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rapezoid 13">
            <a:extLst>
              <a:ext uri="{FF2B5EF4-FFF2-40B4-BE49-F238E27FC236}">
                <a16:creationId xmlns:a16="http://schemas.microsoft.com/office/drawing/2014/main" id="{CE99DDB0-78C1-E806-F996-09B7A9847F3B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B3336F77-115C-5A03-D824-CF7C746BC391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solidFill>
            <a:srgbClr val="011223"/>
          </a:solidFill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0E2553A-9827-8DC6-5A62-8201E7B64847}"/>
              </a:ext>
            </a:extLst>
          </p:cNvPr>
          <p:cNvCxnSpPr>
            <a:cxnSpLocks/>
          </p:cNvCxnSpPr>
          <p:nvPr/>
        </p:nvCxnSpPr>
        <p:spPr>
          <a:xfrm>
            <a:off x="6246032" y="3676635"/>
            <a:ext cx="203911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Freeform 318">
            <a:extLst>
              <a:ext uri="{FF2B5EF4-FFF2-40B4-BE49-F238E27FC236}">
                <a16:creationId xmlns:a16="http://schemas.microsoft.com/office/drawing/2014/main" id="{E3551703-6406-3515-30E9-40E50B463507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6F3A0DA-83D4-03C5-4AC5-F994336079AC}"/>
              </a:ext>
            </a:extLst>
          </p:cNvPr>
          <p:cNvCxnSpPr>
            <a:cxnSpLocks/>
          </p:cNvCxnSpPr>
          <p:nvPr/>
        </p:nvCxnSpPr>
        <p:spPr>
          <a:xfrm>
            <a:off x="6261052" y="4241300"/>
            <a:ext cx="1484877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69AD2BE-C9F8-EC5F-CE55-D4FAF45EDDF6}"/>
              </a:ext>
            </a:extLst>
          </p:cNvPr>
          <p:cNvSpPr txBox="1"/>
          <p:nvPr/>
        </p:nvSpPr>
        <p:spPr>
          <a:xfrm>
            <a:off x="6200437" y="4004802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503C090-23AA-B2C4-BCE3-CDEB9BB04CE1}"/>
              </a:ext>
            </a:extLst>
          </p:cNvPr>
          <p:cNvSpPr txBox="1"/>
          <p:nvPr/>
        </p:nvSpPr>
        <p:spPr>
          <a:xfrm>
            <a:off x="1740001" y="3662940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4" name="Isosceles Triangle 59">
            <a:extLst>
              <a:ext uri="{FF2B5EF4-FFF2-40B4-BE49-F238E27FC236}">
                <a16:creationId xmlns:a16="http://schemas.microsoft.com/office/drawing/2014/main" id="{565DC7D6-9E97-7C69-B2A1-F715751FB7FE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59B49B2-8BAD-EFBC-4FEF-1C188C554CDE}"/>
              </a:ext>
            </a:extLst>
          </p:cNvPr>
          <p:cNvSpPr/>
          <p:nvPr/>
        </p:nvSpPr>
        <p:spPr>
          <a:xfrm>
            <a:off x="9120628" y="3586419"/>
            <a:ext cx="1021734" cy="1127284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</a:t>
            </a: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>
              <a:spcBef>
                <a:spcPts val="400"/>
              </a:spcBef>
              <a:tabLst>
                <a:tab pos="1249363" algn="r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DMEM</a:t>
            </a:r>
          </a:p>
          <a:p>
            <a:pPr>
              <a:spcBef>
                <a:spcPts val="400"/>
              </a:spcBef>
              <a:spcAft>
                <a:spcPts val="400"/>
              </a:spcAft>
              <a:tabLst>
                <a:tab pos="1249363" algn="r"/>
              </a:tabLst>
            </a:pPr>
            <a:r>
              <a:rPr lang="en-US" sz="1200" i="1" dirty="0" err="1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rPr>
              <a:t>wdata</a:t>
            </a:r>
            <a:r>
              <a:rPr lang="en-US" sz="16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rPr>
              <a:t> </a:t>
            </a:r>
            <a:endParaRPr lang="en-US" sz="1200" i="1" dirty="0">
              <a:solidFill>
                <a:schemeClr val="bg1"/>
              </a:solidFill>
              <a:latin typeface="18 VAG ROUNDED LIGHT   02390" pitchFamily="2" charset="0"/>
              <a:cs typeface="Courier New" panose="02070309020205020404" pitchFamily="49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562D640-979D-6C8A-458A-345958042705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CC46380-E3EA-7686-0795-CDB98D153B15}"/>
              </a:ext>
            </a:extLst>
          </p:cNvPr>
          <p:cNvCxnSpPr>
            <a:cxnSpLocks/>
            <a:stCxn id="39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DCEF8909-2F78-91D1-C979-17AB543B451B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127F21B-B123-519B-4F01-4C642BEE1496}"/>
              </a:ext>
            </a:extLst>
          </p:cNvPr>
          <p:cNvCxnSpPr>
            <a:cxnSpLocks/>
          </p:cNvCxnSpPr>
          <p:nvPr/>
        </p:nvCxnSpPr>
        <p:spPr>
          <a:xfrm>
            <a:off x="8861193" y="3967940"/>
            <a:ext cx="29744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4375817-3AA4-0E4C-57A2-7238CDEBFF00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56E9155-A85C-4055-3A3A-BFF5CB4776D0}"/>
              </a:ext>
            </a:extLst>
          </p:cNvPr>
          <p:cNvGrpSpPr/>
          <p:nvPr/>
        </p:nvGrpSpPr>
        <p:grpSpPr>
          <a:xfrm>
            <a:off x="3790286" y="2375192"/>
            <a:ext cx="7347065" cy="1124151"/>
            <a:chOff x="3790286" y="2375192"/>
            <a:chExt cx="7347065" cy="1124151"/>
          </a:xfrm>
          <a:effectLst/>
        </p:grpSpPr>
        <p:cxnSp>
          <p:nvCxnSpPr>
            <p:cNvPr id="48" name="Elbow Connector 47">
              <a:extLst>
                <a:ext uri="{FF2B5EF4-FFF2-40B4-BE49-F238E27FC236}">
                  <a16:creationId xmlns:a16="http://schemas.microsoft.com/office/drawing/2014/main" id="{4667C90B-EC3C-7240-4673-EC4CA4512F3C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EC2464B9-5D61-9525-1704-75F4347F1532}"/>
                </a:ext>
              </a:extLst>
            </p:cNvPr>
            <p:cNvCxnSpPr/>
            <p:nvPr/>
          </p:nvCxnSpPr>
          <p:spPr>
            <a:xfrm>
              <a:off x="3790286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Elbow Connector 50">
              <a:extLst>
                <a:ext uri="{FF2B5EF4-FFF2-40B4-BE49-F238E27FC236}">
                  <a16:creationId xmlns:a16="http://schemas.microsoft.com/office/drawing/2014/main" id="{09B64D7A-4980-351E-61D6-AE0A83E212F8}"/>
                </a:ext>
              </a:extLst>
            </p:cNvPr>
            <p:cNvCxnSpPr>
              <a:cxnSpLocks/>
              <a:stCxn id="52" idx="0"/>
            </p:cNvCxnSpPr>
            <p:nvPr/>
          </p:nvCxnSpPr>
          <p:spPr>
            <a:xfrm flipV="1">
              <a:off x="10817058" y="2375192"/>
              <a:ext cx="320293" cy="1124151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rapezoid 51">
            <a:extLst>
              <a:ext uri="{FF2B5EF4-FFF2-40B4-BE49-F238E27FC236}">
                <a16:creationId xmlns:a16="http://schemas.microsoft.com/office/drawing/2014/main" id="{0677D579-F595-5018-9CD7-05AA3EC9609D}"/>
              </a:ext>
            </a:extLst>
          </p:cNvPr>
          <p:cNvSpPr/>
          <p:nvPr/>
        </p:nvSpPr>
        <p:spPr>
          <a:xfrm rot="5400000">
            <a:off x="10337532" y="3361302"/>
            <a:ext cx="682970" cy="276082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FE9BACFD-846D-DF8F-5426-BC181A7484CD}"/>
              </a:ext>
            </a:extLst>
          </p:cNvPr>
          <p:cNvCxnSpPr>
            <a:cxnSpLocks/>
          </p:cNvCxnSpPr>
          <p:nvPr/>
        </p:nvCxnSpPr>
        <p:spPr>
          <a:xfrm flipV="1">
            <a:off x="8929306" y="3375224"/>
            <a:ext cx="1611670" cy="592716"/>
          </a:xfrm>
          <a:prstGeom prst="bentConnector3">
            <a:avLst>
              <a:gd name="adj1" fmla="val 288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400962D1-C1E3-4CBF-6967-B8FE72758FF7}"/>
              </a:ext>
            </a:extLst>
          </p:cNvPr>
          <p:cNvSpPr txBox="1"/>
          <p:nvPr/>
        </p:nvSpPr>
        <p:spPr>
          <a:xfrm>
            <a:off x="10106672" y="3087231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5B3EDC7-ACDF-2640-A242-D000C69D2E93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CE58E1F-CCFF-5CBE-3060-671F5ED00E03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4218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C252B-E3F1-5151-7A49-0760957AD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55ACA25-220E-FB8A-031D-51A0A37DD74E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832BBC84-22AF-7741-33DF-12E388DD3F24}"/>
              </a:ext>
            </a:extLst>
          </p:cNvPr>
          <p:cNvCxnSpPr>
            <a:cxnSpLocks/>
            <a:stCxn id="20" idx="0"/>
          </p:cNvCxnSpPr>
          <p:nvPr/>
        </p:nvCxnSpPr>
        <p:spPr>
          <a:xfrm rot="5400000" flipH="1" flipV="1">
            <a:off x="1830481" y="3046480"/>
            <a:ext cx="703576" cy="542602"/>
          </a:xfrm>
          <a:prstGeom prst="bentConnector3">
            <a:avLst>
              <a:gd name="adj1" fmla="val 100542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6" name="Group 495">
            <a:extLst>
              <a:ext uri="{FF2B5EF4-FFF2-40B4-BE49-F238E27FC236}">
                <a16:creationId xmlns:a16="http://schemas.microsoft.com/office/drawing/2014/main" id="{4A75B30C-4E44-FB78-D2BA-D987690399FB}"/>
              </a:ext>
            </a:extLst>
          </p:cNvPr>
          <p:cNvGrpSpPr/>
          <p:nvPr/>
        </p:nvGrpSpPr>
        <p:grpSpPr>
          <a:xfrm>
            <a:off x="659332" y="2260284"/>
            <a:ext cx="2712208" cy="1417320"/>
            <a:chOff x="669619" y="2248996"/>
            <a:chExt cx="2712208" cy="1417320"/>
          </a:xfrm>
        </p:grpSpPr>
        <p:grpSp>
          <p:nvGrpSpPr>
            <p:cNvPr id="497" name="Group 496">
              <a:extLst>
                <a:ext uri="{FF2B5EF4-FFF2-40B4-BE49-F238E27FC236}">
                  <a16:creationId xmlns:a16="http://schemas.microsoft.com/office/drawing/2014/main" id="{85F0D75C-B51E-D58C-E20F-6F6604BFB7B9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389326"/>
              <a:chOff x="669619" y="2260284"/>
              <a:chExt cx="2712208" cy="1389326"/>
            </a:xfrm>
          </p:grpSpPr>
          <p:grpSp>
            <p:nvGrpSpPr>
              <p:cNvPr id="499" name="Group 498">
                <a:extLst>
                  <a:ext uri="{FF2B5EF4-FFF2-40B4-BE49-F238E27FC236}">
                    <a16:creationId xmlns:a16="http://schemas.microsoft.com/office/drawing/2014/main" id="{AB8F3379-4AFC-EFA2-A5CE-45F830188EFB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501" name="Elbow Connector 500">
                  <a:extLst>
                    <a:ext uri="{FF2B5EF4-FFF2-40B4-BE49-F238E27FC236}">
                      <a16:creationId xmlns:a16="http://schemas.microsoft.com/office/drawing/2014/main" id="{6410E6EB-DFF0-9951-F035-9F1D8D5367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2" name="Straight Connector 501">
                  <a:extLst>
                    <a:ext uri="{FF2B5EF4-FFF2-40B4-BE49-F238E27FC236}">
                      <a16:creationId xmlns:a16="http://schemas.microsoft.com/office/drawing/2014/main" id="{B7ADD514-E861-4F45-2A73-C3AC7FA81C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B1B5CEFD-34E1-8E32-9B6D-B34AA312AFE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649608"/>
                <a:ext cx="768096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98" name="Straight Connector 497">
              <a:extLst>
                <a:ext uri="{FF2B5EF4-FFF2-40B4-BE49-F238E27FC236}">
                  <a16:creationId xmlns:a16="http://schemas.microsoft.com/office/drawing/2014/main" id="{0A7B73C8-7D1A-720A-FF80-038BE5BF7837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41732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07A9E5B-1313-4D02-6E99-B5AB0668D08B}"/>
              </a:ext>
            </a:extLst>
          </p:cNvPr>
          <p:cNvGrpSpPr/>
          <p:nvPr/>
        </p:nvGrpSpPr>
        <p:grpSpPr>
          <a:xfrm>
            <a:off x="659332" y="2260284"/>
            <a:ext cx="2743200" cy="1409285"/>
            <a:chOff x="659332" y="2260284"/>
            <a:chExt cx="2743200" cy="1409285"/>
          </a:xfrm>
          <a:effectLst>
            <a:glow rad="63500">
              <a:schemeClr val="accent2">
                <a:satMod val="175000"/>
                <a:alpha val="40000"/>
              </a:schemeClr>
            </a:glow>
          </a:effectLst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7037222A-B7CF-A995-7E40-A153BA853EB5}"/>
                </a:ext>
              </a:extLst>
            </p:cNvPr>
            <p:cNvGrpSpPr/>
            <p:nvPr/>
          </p:nvGrpSpPr>
          <p:grpSpPr>
            <a:xfrm>
              <a:off x="659332" y="2260284"/>
              <a:ext cx="2743200" cy="1409285"/>
              <a:chOff x="659332" y="2260284"/>
              <a:chExt cx="2743200" cy="1409285"/>
            </a:xfrm>
          </p:grpSpPr>
          <p:cxnSp>
            <p:nvCxnSpPr>
              <p:cNvPr id="43" name="Elbow Connector 42">
                <a:extLst>
                  <a:ext uri="{FF2B5EF4-FFF2-40B4-BE49-F238E27FC236}">
                    <a16:creationId xmlns:a16="http://schemas.microsoft.com/office/drawing/2014/main" id="{88C375DD-6951-278F-8F1F-F281DAB443B2}"/>
                  </a:ext>
                </a:extLst>
              </p:cNvPr>
              <p:cNvCxnSpPr>
                <a:cxnSpLocks/>
                <a:endCxn id="331" idx="1"/>
              </p:cNvCxnSpPr>
              <p:nvPr/>
            </p:nvCxnSpPr>
            <p:spPr>
              <a:xfrm rot="16200000" flipH="1">
                <a:off x="368042" y="2581247"/>
                <a:ext cx="1383680" cy="741756"/>
              </a:xfrm>
              <a:prstGeom prst="bentConnector2">
                <a:avLst/>
              </a:prstGeom>
              <a:ln w="57150">
                <a:solidFill>
                  <a:schemeClr val="accent2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6135520D-92B7-E246-1164-A0979A0B7824}"/>
                  </a:ext>
                </a:extLst>
              </p:cNvPr>
              <p:cNvGrpSpPr/>
              <p:nvPr/>
            </p:nvGrpSpPr>
            <p:grpSpPr>
              <a:xfrm>
                <a:off x="1780532" y="2965993"/>
                <a:ext cx="673038" cy="703576"/>
                <a:chOff x="1780532" y="2965993"/>
                <a:chExt cx="673038" cy="703576"/>
              </a:xfrm>
            </p:grpSpPr>
            <p:cxnSp>
              <p:nvCxnSpPr>
                <p:cNvPr id="44" name="Elbow Connector 43">
                  <a:extLst>
                    <a:ext uri="{FF2B5EF4-FFF2-40B4-BE49-F238E27FC236}">
                      <a16:creationId xmlns:a16="http://schemas.microsoft.com/office/drawing/2014/main" id="{DB443133-9547-1890-4E73-CF8D2CA1A9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1830481" y="3046480"/>
                  <a:ext cx="703576" cy="542602"/>
                </a:xfrm>
                <a:prstGeom prst="bentConnector3">
                  <a:avLst>
                    <a:gd name="adj1" fmla="val 100542"/>
                  </a:avLst>
                </a:prstGeom>
                <a:ln w="57150">
                  <a:solidFill>
                    <a:schemeClr val="accent2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24E660EC-410D-BF19-338D-BF64BE3097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80532" y="3655540"/>
                  <a:ext cx="130436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B6EB2A7B-BF56-B706-ECB4-1748A6F1B86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9332" y="2260284"/>
                <a:ext cx="2743200" cy="1985"/>
              </a:xfrm>
              <a:prstGeom prst="line">
                <a:avLst/>
              </a:prstGeom>
              <a:ln w="57150">
                <a:solidFill>
                  <a:schemeClr val="accent2"/>
                </a:solidFill>
                <a:headEnd w="sm" len="sm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Elbow Connector 37">
                <a:extLst>
                  <a:ext uri="{FF2B5EF4-FFF2-40B4-BE49-F238E27FC236}">
                    <a16:creationId xmlns:a16="http://schemas.microsoft.com/office/drawing/2014/main" id="{57D72C86-3CA1-CB88-7A71-A2A18FE5400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2993946" y="2363686"/>
                <a:ext cx="477525" cy="270723"/>
              </a:xfrm>
              <a:prstGeom prst="bentConnector3">
                <a:avLst>
                  <a:gd name="adj1" fmla="val -5318"/>
                </a:avLst>
              </a:prstGeom>
              <a:ln w="57150">
                <a:solidFill>
                  <a:schemeClr val="accent2"/>
                </a:solidFill>
                <a:headEnd w="sm" len="sm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05F7CA59-A172-688F-ADF8-CA3767EFA5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799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A0ED0258-4799-46EE-AA42-CC44B84E1421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E5616AA-6F8E-2CB3-CE30-E6714B57D529}"/>
              </a:ext>
            </a:extLst>
          </p:cNvPr>
          <p:cNvSpPr txBox="1"/>
          <p:nvPr/>
        </p:nvSpPr>
        <p:spPr>
          <a:xfrm>
            <a:off x="3106523" y="4777354"/>
            <a:ext cx="11192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[31:20]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A9E7FC40-F9D4-4764-65F3-AFD94B2CCF8A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0B411E6B-21CD-784B-0677-58480CCBBCAC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339F93A-7140-87CB-D97E-B2725C842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10280650" algn="r"/>
              </a:tabLst>
            </a:pPr>
            <a:r>
              <a:rPr lang="en-US" dirty="0"/>
              <a:t>Lighting the </a:t>
            </a:r>
            <a:r>
              <a:rPr lang="en-US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LOAD</a:t>
            </a:r>
            <a:r>
              <a:rPr lang="en-US" dirty="0"/>
              <a:t> Datapath (2/7)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9FECE151-869E-B1DB-D12B-23FEB4E4E2D7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AF3A8251-C213-5F68-523E-70A0EC4969C2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B962D3EC-C4B0-0FF6-93AB-A5008ABC64C7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1723C708-E13E-D7E4-E927-1C7F4B8B4A73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B4CBD477-2B6C-CA75-41C5-05225FE5FD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9ABCCDD2-FA93-8E66-E6FF-E2811EA1A7D4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19959C31-FF95-FC96-5AA1-E6016B2DD93A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9D56FFCC-2070-3356-F8EC-31C6077032C8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770BA579-C037-F904-DF06-428E40CE778B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" name="TextBox 377">
            <a:extLst>
              <a:ext uri="{FF2B5EF4-FFF2-40B4-BE49-F238E27FC236}">
                <a16:creationId xmlns:a16="http://schemas.microsoft.com/office/drawing/2014/main" id="{0D10101D-29DD-AEA8-1E60-2F7DCA6EF749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4303F358-1B19-0671-E099-452B26BA0FA2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7EFE9FE8-807D-3C2F-86DE-D6259598EF4D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CAE717BD-6A2F-7C91-411D-6154A5423445}"/>
              </a:ext>
            </a:extLst>
          </p:cNvPr>
          <p:cNvSpPr txBox="1"/>
          <p:nvPr/>
        </p:nvSpPr>
        <p:spPr>
          <a:xfrm>
            <a:off x="6200437" y="345514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6FBEC41D-BD70-3356-97B3-CA73FD1BB126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4102568C-EBF9-C729-2698-20AFC277104A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80E8F475-E2FD-EA85-7B94-567F15F61A4E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7F7EFD7B-135D-C322-1685-E29814431873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9AAD3846-BD6F-38AA-FC0F-074B76470AE8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24BDA88D-2D93-B981-78AB-6F49FE62393D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F798E66A-6102-267C-FD3F-CD819482545F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2" name="TextBox 421">
            <a:extLst>
              <a:ext uri="{FF2B5EF4-FFF2-40B4-BE49-F238E27FC236}">
                <a16:creationId xmlns:a16="http://schemas.microsoft.com/office/drawing/2014/main" id="{235BCE70-6F85-418C-25B2-D1DBAE401DB4}"/>
              </a:ext>
            </a:extLst>
          </p:cNvPr>
          <p:cNvSpPr txBox="1"/>
          <p:nvPr/>
        </p:nvSpPr>
        <p:spPr>
          <a:xfrm>
            <a:off x="6200437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84C033-E53F-47B9-BE64-65E37CB08C45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CA80C-1FB7-D875-9F25-5C9710401329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1CA5A6-9BE6-81DD-4222-A65EF697B2B3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65F4E6D-1E8B-4894-EBFD-1556D1843C29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BD0A1893-C8D1-D77A-EA26-FECE99FC35FC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B77870CA-4E69-A79C-1FB0-46B185C3BF0F}"/>
              </a:ext>
            </a:extLst>
          </p:cNvPr>
          <p:cNvSpPr txBox="1"/>
          <p:nvPr/>
        </p:nvSpPr>
        <p:spPr>
          <a:xfrm>
            <a:off x="4062897" y="5552119"/>
            <a:ext cx="817853" cy="304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ImmSel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63B16355-47A9-7379-81DC-FFBF821B289A}"/>
              </a:ext>
            </a:extLst>
          </p:cNvPr>
          <p:cNvSpPr txBox="1"/>
          <p:nvPr/>
        </p:nvSpPr>
        <p:spPr>
          <a:xfrm>
            <a:off x="5333604" y="5554208"/>
            <a:ext cx="885179" cy="513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RegWEn</a:t>
            </a:r>
            <a:b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</a:b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18 VAG Rounded Light   02390" pitchFamily="2" charset="0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3466A91B-CA35-E325-F580-9632083DB10A}"/>
              </a:ext>
            </a:extLst>
          </p:cNvPr>
          <p:cNvSpPr txBox="1"/>
          <p:nvPr/>
        </p:nvSpPr>
        <p:spPr>
          <a:xfrm>
            <a:off x="7558332" y="5524627"/>
            <a:ext cx="449161" cy="2513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BSel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9A41DB4E-360C-FDBD-FFB9-67352E045D3C}"/>
              </a:ext>
            </a:extLst>
          </p:cNvPr>
          <p:cNvSpPr txBox="1"/>
          <p:nvPr/>
        </p:nvSpPr>
        <p:spPr>
          <a:xfrm>
            <a:off x="8421291" y="5536765"/>
            <a:ext cx="702436" cy="2778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ALUSel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6048AB04-45E7-09F7-DAE4-E542B550B089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B26E3B47-2631-9BE4-A197-C44369396F6E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EB5D415A-F339-0B22-0366-294276818F6D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2C53F30D-02A6-E9B1-3F70-D584523D9069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rapezoid 13">
            <a:extLst>
              <a:ext uri="{FF2B5EF4-FFF2-40B4-BE49-F238E27FC236}">
                <a16:creationId xmlns:a16="http://schemas.microsoft.com/office/drawing/2014/main" id="{6123339F-DB5E-832C-D24A-657FD09BDF82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3AC26120-D00C-1414-962A-E7CAA2402F5D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solidFill>
            <a:srgbClr val="011223"/>
          </a:solidFill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3535214-03D6-E3FC-BC83-CB5AEC708DF7}"/>
              </a:ext>
            </a:extLst>
          </p:cNvPr>
          <p:cNvCxnSpPr>
            <a:cxnSpLocks/>
          </p:cNvCxnSpPr>
          <p:nvPr/>
        </p:nvCxnSpPr>
        <p:spPr>
          <a:xfrm>
            <a:off x="6246032" y="3676635"/>
            <a:ext cx="203911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Freeform 318">
            <a:extLst>
              <a:ext uri="{FF2B5EF4-FFF2-40B4-BE49-F238E27FC236}">
                <a16:creationId xmlns:a16="http://schemas.microsoft.com/office/drawing/2014/main" id="{8C6613B8-5FC6-7339-8AC9-7A24364D74A3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454BDB1-F61F-0107-710A-D00077695950}"/>
              </a:ext>
            </a:extLst>
          </p:cNvPr>
          <p:cNvCxnSpPr>
            <a:cxnSpLocks/>
          </p:cNvCxnSpPr>
          <p:nvPr/>
        </p:nvCxnSpPr>
        <p:spPr>
          <a:xfrm>
            <a:off x="6261052" y="4241300"/>
            <a:ext cx="1484877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7953A94-754A-D141-DBA8-F56F8D8D5EE6}"/>
              </a:ext>
            </a:extLst>
          </p:cNvPr>
          <p:cNvSpPr txBox="1"/>
          <p:nvPr/>
        </p:nvSpPr>
        <p:spPr>
          <a:xfrm>
            <a:off x="6200437" y="4004802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DDBA37E-4ED0-5EA9-D67D-D8C7C905DBBD}"/>
              </a:ext>
            </a:extLst>
          </p:cNvPr>
          <p:cNvSpPr txBox="1"/>
          <p:nvPr/>
        </p:nvSpPr>
        <p:spPr>
          <a:xfrm>
            <a:off x="1740001" y="3662940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8B922FEA-3C36-516D-D8BB-18644B1069F8}"/>
              </a:ext>
            </a:extLst>
          </p:cNvPr>
          <p:cNvSpPr txBox="1"/>
          <p:nvPr/>
        </p:nvSpPr>
        <p:spPr>
          <a:xfrm>
            <a:off x="293424" y="1001583"/>
            <a:ext cx="2639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dirty="0">
                <a:solidFill>
                  <a:schemeClr val="accent2"/>
                </a:solidFill>
                <a:latin typeface="18 VAG Rounded Light   02390" pitchFamily="2" charset="0"/>
              </a:rPr>
              <a:t>Increment PC to next instruction.</a:t>
            </a:r>
          </a:p>
        </p:txBody>
      </p:sp>
      <p:sp>
        <p:nvSpPr>
          <p:cNvPr id="24" name="Isosceles Triangle 59">
            <a:extLst>
              <a:ext uri="{FF2B5EF4-FFF2-40B4-BE49-F238E27FC236}">
                <a16:creationId xmlns:a16="http://schemas.microsoft.com/office/drawing/2014/main" id="{D0CD2768-FB95-C167-2AF3-69437CE4788D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6A0F595-2606-7F46-CE3E-5E65620F11C0}"/>
              </a:ext>
            </a:extLst>
          </p:cNvPr>
          <p:cNvSpPr/>
          <p:nvPr/>
        </p:nvSpPr>
        <p:spPr>
          <a:xfrm>
            <a:off x="9120628" y="3586419"/>
            <a:ext cx="1021734" cy="1127284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</a:t>
            </a: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>
              <a:spcBef>
                <a:spcPts val="400"/>
              </a:spcBef>
              <a:tabLst>
                <a:tab pos="1249363" algn="r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DMEM</a:t>
            </a:r>
          </a:p>
          <a:p>
            <a:pPr>
              <a:spcBef>
                <a:spcPts val="400"/>
              </a:spcBef>
              <a:spcAft>
                <a:spcPts val="400"/>
              </a:spcAft>
              <a:tabLst>
                <a:tab pos="1249363" algn="r"/>
              </a:tabLst>
            </a:pPr>
            <a:r>
              <a:rPr lang="en-US" sz="1200" i="1" dirty="0" err="1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rPr>
              <a:t>wdata</a:t>
            </a:r>
            <a:r>
              <a:rPr lang="en-US" sz="16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rPr>
              <a:t> </a:t>
            </a:r>
            <a:endParaRPr lang="en-US" sz="1200" i="1" dirty="0">
              <a:solidFill>
                <a:schemeClr val="bg1"/>
              </a:solidFill>
              <a:latin typeface="18 VAG ROUNDED LIGHT   02390" pitchFamily="2" charset="0"/>
              <a:cs typeface="Courier New" panose="02070309020205020404" pitchFamily="49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5EB2EE0-AB87-7A89-111F-4F6777A3F35B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7D81E88-C9AE-1E8E-F9A6-764029AFC957}"/>
              </a:ext>
            </a:extLst>
          </p:cNvPr>
          <p:cNvCxnSpPr>
            <a:cxnSpLocks/>
            <a:stCxn id="39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573CC86E-4321-1A54-27AF-1E5C81BA9AE8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9BDD3D8-90F9-C330-D2D1-AB3EB7EB8030}"/>
              </a:ext>
            </a:extLst>
          </p:cNvPr>
          <p:cNvCxnSpPr>
            <a:cxnSpLocks/>
          </p:cNvCxnSpPr>
          <p:nvPr/>
        </p:nvCxnSpPr>
        <p:spPr>
          <a:xfrm>
            <a:off x="8861193" y="3967940"/>
            <a:ext cx="29744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91671F8-B079-9FA1-5E34-D2971B9D7369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7442202-6441-8738-CF0B-4CCC37ABDA49}"/>
              </a:ext>
            </a:extLst>
          </p:cNvPr>
          <p:cNvGrpSpPr/>
          <p:nvPr/>
        </p:nvGrpSpPr>
        <p:grpSpPr>
          <a:xfrm>
            <a:off x="3790286" y="2375192"/>
            <a:ext cx="7347065" cy="1124151"/>
            <a:chOff x="3790286" y="2375192"/>
            <a:chExt cx="7347065" cy="1124151"/>
          </a:xfrm>
          <a:effectLst/>
        </p:grpSpPr>
        <p:cxnSp>
          <p:nvCxnSpPr>
            <p:cNvPr id="48" name="Elbow Connector 47">
              <a:extLst>
                <a:ext uri="{FF2B5EF4-FFF2-40B4-BE49-F238E27FC236}">
                  <a16:creationId xmlns:a16="http://schemas.microsoft.com/office/drawing/2014/main" id="{C71261E4-29C6-8AC5-4BDC-B3DEA3524F87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65853380-B401-3581-1924-16042FB41A4B}"/>
                </a:ext>
              </a:extLst>
            </p:cNvPr>
            <p:cNvCxnSpPr/>
            <p:nvPr/>
          </p:nvCxnSpPr>
          <p:spPr>
            <a:xfrm>
              <a:off x="3790286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Elbow Connector 50">
              <a:extLst>
                <a:ext uri="{FF2B5EF4-FFF2-40B4-BE49-F238E27FC236}">
                  <a16:creationId xmlns:a16="http://schemas.microsoft.com/office/drawing/2014/main" id="{914DB45E-1C1E-A53F-EB6D-4762A28CC288}"/>
                </a:ext>
              </a:extLst>
            </p:cNvPr>
            <p:cNvCxnSpPr>
              <a:cxnSpLocks/>
              <a:stCxn id="52" idx="0"/>
            </p:cNvCxnSpPr>
            <p:nvPr/>
          </p:nvCxnSpPr>
          <p:spPr>
            <a:xfrm flipV="1">
              <a:off x="10817058" y="2375192"/>
              <a:ext cx="320293" cy="1124151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rapezoid 51">
            <a:extLst>
              <a:ext uri="{FF2B5EF4-FFF2-40B4-BE49-F238E27FC236}">
                <a16:creationId xmlns:a16="http://schemas.microsoft.com/office/drawing/2014/main" id="{AF378111-0C48-A4CB-8270-7B0C43DAC8C7}"/>
              </a:ext>
            </a:extLst>
          </p:cNvPr>
          <p:cNvSpPr/>
          <p:nvPr/>
        </p:nvSpPr>
        <p:spPr>
          <a:xfrm rot="5400000">
            <a:off x="10337532" y="3361302"/>
            <a:ext cx="682970" cy="276082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444920F4-61BB-B966-3A9B-E4DCC1950E73}"/>
              </a:ext>
            </a:extLst>
          </p:cNvPr>
          <p:cNvCxnSpPr>
            <a:cxnSpLocks/>
          </p:cNvCxnSpPr>
          <p:nvPr/>
        </p:nvCxnSpPr>
        <p:spPr>
          <a:xfrm flipV="1">
            <a:off x="8929306" y="3375224"/>
            <a:ext cx="1611670" cy="592716"/>
          </a:xfrm>
          <a:prstGeom prst="bentConnector3">
            <a:avLst>
              <a:gd name="adj1" fmla="val 288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F0832D0E-D30D-B82C-2DBF-84BC2B4BFB5F}"/>
              </a:ext>
            </a:extLst>
          </p:cNvPr>
          <p:cNvSpPr txBox="1"/>
          <p:nvPr/>
        </p:nvSpPr>
        <p:spPr>
          <a:xfrm>
            <a:off x="10106672" y="3087231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5B64B47-6AC7-01B5-32DB-B2763DAB8EFE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E516C776-234E-0244-48F0-C98DD5462023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1152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25BA5-2FCC-E5B4-76FE-B98A915A5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801751C-5CA8-1729-2D79-70E1E368EDB9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02F80224-2580-02B4-85FD-BF645F7F5A27}"/>
              </a:ext>
            </a:extLst>
          </p:cNvPr>
          <p:cNvCxnSpPr>
            <a:cxnSpLocks/>
            <a:stCxn id="20" idx="0"/>
          </p:cNvCxnSpPr>
          <p:nvPr/>
        </p:nvCxnSpPr>
        <p:spPr>
          <a:xfrm rot="5400000" flipH="1" flipV="1">
            <a:off x="1830481" y="3046480"/>
            <a:ext cx="703576" cy="542602"/>
          </a:xfrm>
          <a:prstGeom prst="bentConnector3">
            <a:avLst>
              <a:gd name="adj1" fmla="val 100542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6" name="Group 495">
            <a:extLst>
              <a:ext uri="{FF2B5EF4-FFF2-40B4-BE49-F238E27FC236}">
                <a16:creationId xmlns:a16="http://schemas.microsoft.com/office/drawing/2014/main" id="{8964ECE9-804F-7378-67E1-1EAF13D0F029}"/>
              </a:ext>
            </a:extLst>
          </p:cNvPr>
          <p:cNvGrpSpPr/>
          <p:nvPr/>
        </p:nvGrpSpPr>
        <p:grpSpPr>
          <a:xfrm>
            <a:off x="659332" y="2260284"/>
            <a:ext cx="2712208" cy="1417320"/>
            <a:chOff x="669619" y="2248996"/>
            <a:chExt cx="2712208" cy="1417320"/>
          </a:xfrm>
        </p:grpSpPr>
        <p:grpSp>
          <p:nvGrpSpPr>
            <p:cNvPr id="497" name="Group 496">
              <a:extLst>
                <a:ext uri="{FF2B5EF4-FFF2-40B4-BE49-F238E27FC236}">
                  <a16:creationId xmlns:a16="http://schemas.microsoft.com/office/drawing/2014/main" id="{A1E1AD36-A9AC-089E-7543-2970E645DC16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389326"/>
              <a:chOff x="669619" y="2260284"/>
              <a:chExt cx="2712208" cy="1389326"/>
            </a:xfrm>
          </p:grpSpPr>
          <p:grpSp>
            <p:nvGrpSpPr>
              <p:cNvPr id="499" name="Group 498">
                <a:extLst>
                  <a:ext uri="{FF2B5EF4-FFF2-40B4-BE49-F238E27FC236}">
                    <a16:creationId xmlns:a16="http://schemas.microsoft.com/office/drawing/2014/main" id="{F26F49BF-83FF-461A-780B-4DFB5771F369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501" name="Elbow Connector 500">
                  <a:extLst>
                    <a:ext uri="{FF2B5EF4-FFF2-40B4-BE49-F238E27FC236}">
                      <a16:creationId xmlns:a16="http://schemas.microsoft.com/office/drawing/2014/main" id="{A97A687A-6011-CC38-7D0F-3E3D625B1F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2" name="Straight Connector 501">
                  <a:extLst>
                    <a:ext uri="{FF2B5EF4-FFF2-40B4-BE49-F238E27FC236}">
                      <a16:creationId xmlns:a16="http://schemas.microsoft.com/office/drawing/2014/main" id="{D9958080-B307-CC84-7F5A-E0731132D1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42A978C0-B9A2-4899-5ED1-E5371EBA5A2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649608"/>
                <a:ext cx="768096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98" name="Straight Connector 497">
              <a:extLst>
                <a:ext uri="{FF2B5EF4-FFF2-40B4-BE49-F238E27FC236}">
                  <a16:creationId xmlns:a16="http://schemas.microsoft.com/office/drawing/2014/main" id="{5B6D088A-9C5B-05A4-4307-48DD7D8717C7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41732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EBB8A8A-4CEF-7F5B-469F-006905B5110F}"/>
              </a:ext>
            </a:extLst>
          </p:cNvPr>
          <p:cNvGrpSpPr/>
          <p:nvPr/>
        </p:nvGrpSpPr>
        <p:grpSpPr>
          <a:xfrm>
            <a:off x="659332" y="2260284"/>
            <a:ext cx="2743200" cy="1409285"/>
            <a:chOff x="659332" y="2260284"/>
            <a:chExt cx="2743200" cy="1409285"/>
          </a:xfrm>
          <a:effectLst>
            <a:glow rad="63500">
              <a:schemeClr val="accent2">
                <a:satMod val="175000"/>
                <a:alpha val="40000"/>
              </a:schemeClr>
            </a:glow>
          </a:effectLst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9DD148D-F2BC-AD8C-F6E4-2207740EBD94}"/>
                </a:ext>
              </a:extLst>
            </p:cNvPr>
            <p:cNvGrpSpPr/>
            <p:nvPr/>
          </p:nvGrpSpPr>
          <p:grpSpPr>
            <a:xfrm>
              <a:off x="659332" y="2260284"/>
              <a:ext cx="2743200" cy="1409285"/>
              <a:chOff x="659332" y="2260284"/>
              <a:chExt cx="2743200" cy="1409285"/>
            </a:xfrm>
          </p:grpSpPr>
          <p:cxnSp>
            <p:nvCxnSpPr>
              <p:cNvPr id="43" name="Elbow Connector 42">
                <a:extLst>
                  <a:ext uri="{FF2B5EF4-FFF2-40B4-BE49-F238E27FC236}">
                    <a16:creationId xmlns:a16="http://schemas.microsoft.com/office/drawing/2014/main" id="{AB344A6E-0C92-B52A-97FF-018F072A8E55}"/>
                  </a:ext>
                </a:extLst>
              </p:cNvPr>
              <p:cNvCxnSpPr>
                <a:cxnSpLocks/>
                <a:endCxn id="331" idx="1"/>
              </p:cNvCxnSpPr>
              <p:nvPr/>
            </p:nvCxnSpPr>
            <p:spPr>
              <a:xfrm rot="16200000" flipH="1">
                <a:off x="368042" y="2581247"/>
                <a:ext cx="1383680" cy="741756"/>
              </a:xfrm>
              <a:prstGeom prst="bentConnector2">
                <a:avLst/>
              </a:prstGeom>
              <a:ln w="57150">
                <a:solidFill>
                  <a:schemeClr val="accent2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4B655E46-7E80-EA87-54AA-3F4C00FFDE79}"/>
                  </a:ext>
                </a:extLst>
              </p:cNvPr>
              <p:cNvGrpSpPr/>
              <p:nvPr/>
            </p:nvGrpSpPr>
            <p:grpSpPr>
              <a:xfrm>
                <a:off x="1780532" y="2965993"/>
                <a:ext cx="673038" cy="703576"/>
                <a:chOff x="1780532" y="2965993"/>
                <a:chExt cx="673038" cy="703576"/>
              </a:xfrm>
            </p:grpSpPr>
            <p:cxnSp>
              <p:nvCxnSpPr>
                <p:cNvPr id="44" name="Elbow Connector 43">
                  <a:extLst>
                    <a:ext uri="{FF2B5EF4-FFF2-40B4-BE49-F238E27FC236}">
                      <a16:creationId xmlns:a16="http://schemas.microsoft.com/office/drawing/2014/main" id="{BD3CD1F7-87F4-A679-774F-5F3117DA0D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1830481" y="3046480"/>
                  <a:ext cx="703576" cy="542602"/>
                </a:xfrm>
                <a:prstGeom prst="bentConnector3">
                  <a:avLst>
                    <a:gd name="adj1" fmla="val 100542"/>
                  </a:avLst>
                </a:prstGeom>
                <a:ln w="57150">
                  <a:solidFill>
                    <a:schemeClr val="accent2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4DC0521F-485C-4E4E-AB98-6B740DFBA3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80532" y="3655540"/>
                  <a:ext cx="130436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B8467D67-1F9B-053C-3B66-D12C37C65D6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9332" y="2260284"/>
                <a:ext cx="2743200" cy="1985"/>
              </a:xfrm>
              <a:prstGeom prst="line">
                <a:avLst/>
              </a:prstGeom>
              <a:ln w="57150">
                <a:solidFill>
                  <a:schemeClr val="accent2"/>
                </a:solidFill>
                <a:headEnd w="sm" len="sm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Elbow Connector 37">
                <a:extLst>
                  <a:ext uri="{FF2B5EF4-FFF2-40B4-BE49-F238E27FC236}">
                    <a16:creationId xmlns:a16="http://schemas.microsoft.com/office/drawing/2014/main" id="{C47B834E-1B05-E5F3-01AD-527FA82B56B9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2993946" y="2363686"/>
                <a:ext cx="477525" cy="270723"/>
              </a:xfrm>
              <a:prstGeom prst="bentConnector3">
                <a:avLst>
                  <a:gd name="adj1" fmla="val -5318"/>
                </a:avLst>
              </a:prstGeom>
              <a:ln w="57150">
                <a:solidFill>
                  <a:schemeClr val="accent2"/>
                </a:solidFill>
                <a:headEnd w="sm" len="sm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AD9D4A35-404F-A684-9E3D-A8705101F5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799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6C47BCCE-16FB-E9F9-BCD4-719085328723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FD89E1C-E9A6-C893-7CFA-922C9DF7B770}"/>
              </a:ext>
            </a:extLst>
          </p:cNvPr>
          <p:cNvSpPr txBox="1"/>
          <p:nvPr/>
        </p:nvSpPr>
        <p:spPr>
          <a:xfrm>
            <a:off x="3106523" y="4777354"/>
            <a:ext cx="11192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[31:20]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BE9F18C1-8D6C-651B-C1BC-EE08D7E16F6E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ED05FADF-F9C8-5752-D3EB-7D70E02A8DBA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A877C4B-74C7-9253-1CA6-88545EFF0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10280650" algn="r"/>
              </a:tabLst>
            </a:pPr>
            <a:r>
              <a:rPr lang="en-US" dirty="0"/>
              <a:t>Lighting the </a:t>
            </a:r>
            <a:r>
              <a:rPr lang="en-US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LOAD</a:t>
            </a:r>
            <a:r>
              <a:rPr lang="en-US" dirty="0"/>
              <a:t> Datapath (3/7)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EC1AC254-0FE2-45DC-DC48-A83BB5C689CF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A45733E6-06C3-1EF4-CB9F-5F579AC8366E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2C7DE223-2EA0-349A-0352-290B499664C6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E24F1C34-86A7-B68E-182E-078354938B51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8039DCFC-9C32-78B6-3E27-8B26727C28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C73480A8-DA96-EFBB-5ABB-C62D0F81FAC0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804CAFF3-A59B-1BF5-9268-7F56024A07D6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18493539-3ECD-E361-F984-543A9B356A51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61C368AE-1AE6-7823-61BD-B359D1225B3D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" name="TextBox 377">
            <a:extLst>
              <a:ext uri="{FF2B5EF4-FFF2-40B4-BE49-F238E27FC236}">
                <a16:creationId xmlns:a16="http://schemas.microsoft.com/office/drawing/2014/main" id="{1D106028-3444-7C02-25B8-8C470F59DD99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D42E80AD-BAE4-8596-0D8E-788913C58C7C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7626CE9D-7377-0566-2028-95EFB93F06EF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D5BDA33C-57AA-5260-2B60-9B4655FC46B8}"/>
              </a:ext>
            </a:extLst>
          </p:cNvPr>
          <p:cNvSpPr txBox="1"/>
          <p:nvPr/>
        </p:nvSpPr>
        <p:spPr>
          <a:xfrm>
            <a:off x="6200437" y="345514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1CA3F124-71C5-C805-A2F5-C6B6408825AD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04CF3174-DA11-B0DD-A6AC-98E59A5B0A82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8BEDF7E0-321F-FD50-48FB-2EA7D7C5BBF0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B5DFFC12-6CB3-D7D9-6A3C-A9A4C24CC709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E6D6C1A4-7A7F-25B7-5AC4-F44CC8643246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978F140C-EC0F-E5CE-4C45-647DFC167014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5F5A376D-6E59-E867-FCAB-33A89380BF3A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2" name="TextBox 421">
            <a:extLst>
              <a:ext uri="{FF2B5EF4-FFF2-40B4-BE49-F238E27FC236}">
                <a16:creationId xmlns:a16="http://schemas.microsoft.com/office/drawing/2014/main" id="{1F3C3CA6-EEA2-03C0-7135-F0524BB0CC74}"/>
              </a:ext>
            </a:extLst>
          </p:cNvPr>
          <p:cNvSpPr txBox="1"/>
          <p:nvPr/>
        </p:nvSpPr>
        <p:spPr>
          <a:xfrm>
            <a:off x="6200437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4DECDD-25FF-BCAD-69C4-025CED36F8E6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D568C9-0CEA-2F76-3B75-B938A7140E10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063281-5155-8B2A-AF58-E9C2129F1EEB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1837575-6CCB-538E-C882-87649E0AA580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9CBCFE3A-7BDA-A30F-D0FE-2EC75BE81948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606C7EEA-6DE7-1353-70C0-BF92A46526AF}"/>
              </a:ext>
            </a:extLst>
          </p:cNvPr>
          <p:cNvSpPr txBox="1"/>
          <p:nvPr/>
        </p:nvSpPr>
        <p:spPr>
          <a:xfrm>
            <a:off x="4062897" y="5552119"/>
            <a:ext cx="817853" cy="304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ImmSel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21A66928-A661-BD08-4BB5-CC0DA3F60ED7}"/>
              </a:ext>
            </a:extLst>
          </p:cNvPr>
          <p:cNvSpPr txBox="1"/>
          <p:nvPr/>
        </p:nvSpPr>
        <p:spPr>
          <a:xfrm>
            <a:off x="5333604" y="5554208"/>
            <a:ext cx="885179" cy="513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RegWEn</a:t>
            </a:r>
            <a:b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</a:b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18 VAG Rounded Light   02390" pitchFamily="2" charset="0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140C1A4D-D84C-371B-0E38-E201BE1EA0C3}"/>
              </a:ext>
            </a:extLst>
          </p:cNvPr>
          <p:cNvSpPr txBox="1"/>
          <p:nvPr/>
        </p:nvSpPr>
        <p:spPr>
          <a:xfrm>
            <a:off x="7558332" y="5524627"/>
            <a:ext cx="449161" cy="2513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BSel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1BA572C3-CB30-3CE7-25B0-879C6D941F32}"/>
              </a:ext>
            </a:extLst>
          </p:cNvPr>
          <p:cNvSpPr txBox="1"/>
          <p:nvPr/>
        </p:nvSpPr>
        <p:spPr>
          <a:xfrm>
            <a:off x="8421291" y="5536765"/>
            <a:ext cx="702436" cy="2778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ALUSel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510DB553-53F7-1F83-B6E9-43B3F5E3FE18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83CD0B80-D9DA-89F1-70A1-7913B8EBC4AB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37D2D780-4D1F-6D57-537A-888DAB71DF97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70B31D72-FBC4-52B0-4B7D-A461087FDFE2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rapezoid 13">
            <a:extLst>
              <a:ext uri="{FF2B5EF4-FFF2-40B4-BE49-F238E27FC236}">
                <a16:creationId xmlns:a16="http://schemas.microsoft.com/office/drawing/2014/main" id="{41B58B65-E571-CE1D-DD10-98C1DDB42EEB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CF24ACD1-2B7A-2F06-A89E-1F63614C916C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solidFill>
            <a:srgbClr val="011223"/>
          </a:solidFill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B5D3D7D-F975-2FC9-76AC-90D98BCBBE9D}"/>
              </a:ext>
            </a:extLst>
          </p:cNvPr>
          <p:cNvCxnSpPr>
            <a:cxnSpLocks/>
          </p:cNvCxnSpPr>
          <p:nvPr/>
        </p:nvCxnSpPr>
        <p:spPr>
          <a:xfrm>
            <a:off x="6246032" y="3676635"/>
            <a:ext cx="203911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Freeform 318">
            <a:extLst>
              <a:ext uri="{FF2B5EF4-FFF2-40B4-BE49-F238E27FC236}">
                <a16:creationId xmlns:a16="http://schemas.microsoft.com/office/drawing/2014/main" id="{081BA02E-F96A-10BD-D6A6-7C6BB614F847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45F8440-450E-D0D1-E478-91EAE4351D0A}"/>
              </a:ext>
            </a:extLst>
          </p:cNvPr>
          <p:cNvCxnSpPr>
            <a:cxnSpLocks/>
          </p:cNvCxnSpPr>
          <p:nvPr/>
        </p:nvCxnSpPr>
        <p:spPr>
          <a:xfrm>
            <a:off x="6261052" y="4241300"/>
            <a:ext cx="1484877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E01C844-B5DF-AB07-284A-3BCC72FCFA43}"/>
              </a:ext>
            </a:extLst>
          </p:cNvPr>
          <p:cNvSpPr txBox="1"/>
          <p:nvPr/>
        </p:nvSpPr>
        <p:spPr>
          <a:xfrm>
            <a:off x="6200437" y="4004802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3283519-2097-DEFB-B5C5-56DE652AB1BD}"/>
              </a:ext>
            </a:extLst>
          </p:cNvPr>
          <p:cNvSpPr txBox="1"/>
          <p:nvPr/>
        </p:nvSpPr>
        <p:spPr>
          <a:xfrm>
            <a:off x="1740001" y="3662940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1B8CD22C-907E-3F8D-D684-259F9F3E6A34}"/>
              </a:ext>
            </a:extLst>
          </p:cNvPr>
          <p:cNvSpPr txBox="1"/>
          <p:nvPr/>
        </p:nvSpPr>
        <p:spPr>
          <a:xfrm>
            <a:off x="293424" y="1001583"/>
            <a:ext cx="2639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dirty="0">
                <a:solidFill>
                  <a:schemeClr val="accent2"/>
                </a:solidFill>
                <a:latin typeface="18 VAG Rounded Light   02390" pitchFamily="2" charset="0"/>
              </a:rPr>
              <a:t>Increment PC to next instruction.</a:t>
            </a: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ADB87565-2B24-B7CC-0A02-76468C160332}"/>
              </a:ext>
            </a:extLst>
          </p:cNvPr>
          <p:cNvSpPr txBox="1"/>
          <p:nvPr/>
        </p:nvSpPr>
        <p:spPr>
          <a:xfrm>
            <a:off x="3118252" y="1001582"/>
            <a:ext cx="2664586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1800" i="1" dirty="0">
                <a:solidFill>
                  <a:schemeClr val="accent5"/>
                </a:solidFill>
                <a:latin typeface="18 VAG Rounded Light   02390" pitchFamily="2" charset="0"/>
              </a:rPr>
              <a:t>Immediate Generation Block </a:t>
            </a: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builds a 32-bit immediate </a:t>
            </a:r>
            <a:r>
              <a:rPr lang="en-US" sz="18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1EC82D9-75EA-0B76-4FD7-87E87B6C23D7}"/>
              </a:ext>
            </a:extLst>
          </p:cNvPr>
          <p:cNvGrpSpPr/>
          <p:nvPr/>
        </p:nvGrpSpPr>
        <p:grpSpPr>
          <a:xfrm>
            <a:off x="3062791" y="3425699"/>
            <a:ext cx="4696255" cy="2111811"/>
            <a:chOff x="3062791" y="3425699"/>
            <a:chExt cx="4696255" cy="2111811"/>
          </a:xfrm>
        </p:grpSpPr>
        <p:grpSp>
          <p:nvGrpSpPr>
            <p:cNvPr id="466" name="Group 465">
              <a:extLst>
                <a:ext uri="{FF2B5EF4-FFF2-40B4-BE49-F238E27FC236}">
                  <a16:creationId xmlns:a16="http://schemas.microsoft.com/office/drawing/2014/main" id="{9F736AF0-ABD8-4D44-D14C-DE5341CA9691}"/>
                </a:ext>
              </a:extLst>
            </p:cNvPr>
            <p:cNvGrpSpPr/>
            <p:nvPr/>
          </p:nvGrpSpPr>
          <p:grpSpPr>
            <a:xfrm>
              <a:off x="3191225" y="3962068"/>
              <a:ext cx="4567821" cy="1575442"/>
              <a:chOff x="3191225" y="3962068"/>
              <a:chExt cx="4567821" cy="1575442"/>
            </a:xfrm>
          </p:grpSpPr>
          <p:cxnSp>
            <p:nvCxnSpPr>
              <p:cNvPr id="469" name="Straight Arrow Connector 468">
                <a:extLst>
                  <a:ext uri="{FF2B5EF4-FFF2-40B4-BE49-F238E27FC236}">
                    <a16:creationId xmlns:a16="http://schemas.microsoft.com/office/drawing/2014/main" id="{D4E8E0A5-4AEA-E671-6639-7DD9556D914D}"/>
                  </a:ext>
                </a:extLst>
              </p:cNvPr>
              <p:cNvCxnSpPr/>
              <p:nvPr/>
            </p:nvCxnSpPr>
            <p:spPr>
              <a:xfrm>
                <a:off x="3193946" y="3962068"/>
                <a:ext cx="0" cy="1575442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0" name="Straight Arrow Connector 469">
                <a:extLst>
                  <a:ext uri="{FF2B5EF4-FFF2-40B4-BE49-F238E27FC236}">
                    <a16:creationId xmlns:a16="http://schemas.microsoft.com/office/drawing/2014/main" id="{4E40B8EA-2EE0-4416-6FB0-DDB8131AAC9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91225" y="5015025"/>
                <a:ext cx="923544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" name="Elbow Connector 470">
                <a:extLst>
                  <a:ext uri="{FF2B5EF4-FFF2-40B4-BE49-F238E27FC236}">
                    <a16:creationId xmlns:a16="http://schemas.microsoft.com/office/drawing/2014/main" id="{AB8EA54F-A59B-4D89-889D-4127E056C783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>
                <a:off x="4822076" y="4530234"/>
                <a:ext cx="2936970" cy="596712"/>
              </a:xfrm>
              <a:prstGeom prst="bentConnector3">
                <a:avLst>
                  <a:gd name="adj1" fmla="val 92537"/>
                </a:avLst>
              </a:prstGeom>
              <a:ln w="57150">
                <a:solidFill>
                  <a:schemeClr val="accent5"/>
                </a:solidFill>
                <a:tailEnd type="triangle" w="med" len="med"/>
              </a:ln>
              <a:effectLst>
                <a:glow rad="63500">
                  <a:srgbClr val="011223">
                    <a:alpha val="40000"/>
                  </a:srgb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867A10D-F82A-66CB-42FC-CBBADF3E0466}"/>
                </a:ext>
              </a:extLst>
            </p:cNvPr>
            <p:cNvGrpSpPr/>
            <p:nvPr/>
          </p:nvGrpSpPr>
          <p:grpSpPr>
            <a:xfrm>
              <a:off x="3062791" y="3425699"/>
              <a:ext cx="1761928" cy="524103"/>
              <a:chOff x="3062789" y="3425699"/>
              <a:chExt cx="1774643" cy="524103"/>
            </a:xfrm>
          </p:grpSpPr>
          <p:cxnSp>
            <p:nvCxnSpPr>
              <p:cNvPr id="8" name="Elbow Connector 7">
                <a:extLst>
                  <a:ext uri="{FF2B5EF4-FFF2-40B4-BE49-F238E27FC236}">
                    <a16:creationId xmlns:a16="http://schemas.microsoft.com/office/drawing/2014/main" id="{3EEE8366-E1D6-B213-EC0E-B493371CBC1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62789" y="3425699"/>
                <a:ext cx="1765694" cy="524103"/>
              </a:xfrm>
              <a:prstGeom prst="bentConnector3">
                <a:avLst>
                  <a:gd name="adj1" fmla="val 17967"/>
                </a:avLst>
              </a:prstGeom>
              <a:ln w="57150">
                <a:solidFill>
                  <a:schemeClr val="accent5"/>
                </a:solidFill>
                <a:headEnd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D5C6BA6A-E049-1A75-251F-7B433E8E19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73043" y="3685038"/>
                <a:ext cx="1464389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4" name="Isosceles Triangle 59">
            <a:extLst>
              <a:ext uri="{FF2B5EF4-FFF2-40B4-BE49-F238E27FC236}">
                <a16:creationId xmlns:a16="http://schemas.microsoft.com/office/drawing/2014/main" id="{323EBE78-1638-74A0-7BA0-92288EEB788B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7139D84-64EF-E69A-7419-2580FFB28634}"/>
              </a:ext>
            </a:extLst>
          </p:cNvPr>
          <p:cNvSpPr/>
          <p:nvPr/>
        </p:nvSpPr>
        <p:spPr>
          <a:xfrm>
            <a:off x="9120628" y="3586419"/>
            <a:ext cx="1021734" cy="1127284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</a:t>
            </a: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>
              <a:spcBef>
                <a:spcPts val="400"/>
              </a:spcBef>
              <a:tabLst>
                <a:tab pos="1249363" algn="r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DMEM</a:t>
            </a:r>
          </a:p>
          <a:p>
            <a:pPr>
              <a:spcBef>
                <a:spcPts val="400"/>
              </a:spcBef>
              <a:spcAft>
                <a:spcPts val="400"/>
              </a:spcAft>
              <a:tabLst>
                <a:tab pos="1249363" algn="r"/>
              </a:tabLst>
            </a:pPr>
            <a:r>
              <a:rPr lang="en-US" sz="1200" i="1" dirty="0" err="1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rPr>
              <a:t>wdata</a:t>
            </a:r>
            <a:r>
              <a:rPr lang="en-US" sz="16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rPr>
              <a:t> </a:t>
            </a:r>
            <a:endParaRPr lang="en-US" sz="1200" i="1" dirty="0">
              <a:solidFill>
                <a:schemeClr val="bg1"/>
              </a:solidFill>
              <a:latin typeface="18 VAG ROUNDED LIGHT   02390" pitchFamily="2" charset="0"/>
              <a:cs typeface="Courier New" panose="02070309020205020404" pitchFamily="49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8D3EBB4-A7FD-7B3C-AB01-F0D0093E0DB7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34A755B-60CC-EA59-130B-210913072B45}"/>
              </a:ext>
            </a:extLst>
          </p:cNvPr>
          <p:cNvCxnSpPr>
            <a:cxnSpLocks/>
            <a:stCxn id="39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4E3587B-453D-BDCD-9888-876A91C17D6C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AFB4741-02B4-0769-4346-5BB544A63F54}"/>
              </a:ext>
            </a:extLst>
          </p:cNvPr>
          <p:cNvCxnSpPr>
            <a:cxnSpLocks/>
          </p:cNvCxnSpPr>
          <p:nvPr/>
        </p:nvCxnSpPr>
        <p:spPr>
          <a:xfrm>
            <a:off x="8861193" y="3967940"/>
            <a:ext cx="29744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DC14350-86FC-D654-66A8-BB1AAAAB8A4E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E93BD5E-C1DF-F1C8-4BF6-BFF08048F81A}"/>
              </a:ext>
            </a:extLst>
          </p:cNvPr>
          <p:cNvGrpSpPr/>
          <p:nvPr/>
        </p:nvGrpSpPr>
        <p:grpSpPr>
          <a:xfrm>
            <a:off x="3790286" y="2375192"/>
            <a:ext cx="7347065" cy="1124151"/>
            <a:chOff x="3790286" y="2375192"/>
            <a:chExt cx="7347065" cy="1124151"/>
          </a:xfrm>
          <a:effectLst/>
        </p:grpSpPr>
        <p:cxnSp>
          <p:nvCxnSpPr>
            <p:cNvPr id="48" name="Elbow Connector 47">
              <a:extLst>
                <a:ext uri="{FF2B5EF4-FFF2-40B4-BE49-F238E27FC236}">
                  <a16:creationId xmlns:a16="http://schemas.microsoft.com/office/drawing/2014/main" id="{6844DC5B-B408-BEC5-124E-D4D9CBAFD4D1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B3C73238-5751-7E60-2232-BD530EF662D5}"/>
                </a:ext>
              </a:extLst>
            </p:cNvPr>
            <p:cNvCxnSpPr/>
            <p:nvPr/>
          </p:nvCxnSpPr>
          <p:spPr>
            <a:xfrm>
              <a:off x="3790286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Elbow Connector 50">
              <a:extLst>
                <a:ext uri="{FF2B5EF4-FFF2-40B4-BE49-F238E27FC236}">
                  <a16:creationId xmlns:a16="http://schemas.microsoft.com/office/drawing/2014/main" id="{4787FA04-5BCE-14C1-D0BD-8EEDAC9B1A6E}"/>
                </a:ext>
              </a:extLst>
            </p:cNvPr>
            <p:cNvCxnSpPr>
              <a:cxnSpLocks/>
              <a:stCxn id="52" idx="0"/>
            </p:cNvCxnSpPr>
            <p:nvPr/>
          </p:nvCxnSpPr>
          <p:spPr>
            <a:xfrm flipV="1">
              <a:off x="10817058" y="2375192"/>
              <a:ext cx="320293" cy="1124151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rapezoid 51">
            <a:extLst>
              <a:ext uri="{FF2B5EF4-FFF2-40B4-BE49-F238E27FC236}">
                <a16:creationId xmlns:a16="http://schemas.microsoft.com/office/drawing/2014/main" id="{44916924-676E-04EC-4831-5EBED381BBE2}"/>
              </a:ext>
            </a:extLst>
          </p:cNvPr>
          <p:cNvSpPr/>
          <p:nvPr/>
        </p:nvSpPr>
        <p:spPr>
          <a:xfrm rot="5400000">
            <a:off x="10337532" y="3361302"/>
            <a:ext cx="682970" cy="276082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8D48EEF3-B461-23A4-B373-410B68100AF4}"/>
              </a:ext>
            </a:extLst>
          </p:cNvPr>
          <p:cNvCxnSpPr>
            <a:cxnSpLocks/>
          </p:cNvCxnSpPr>
          <p:nvPr/>
        </p:nvCxnSpPr>
        <p:spPr>
          <a:xfrm flipV="1">
            <a:off x="8929306" y="3375224"/>
            <a:ext cx="1611670" cy="592716"/>
          </a:xfrm>
          <a:prstGeom prst="bentConnector3">
            <a:avLst>
              <a:gd name="adj1" fmla="val 288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528A2865-8EFB-DAE8-91EA-B92B6DAE6864}"/>
              </a:ext>
            </a:extLst>
          </p:cNvPr>
          <p:cNvSpPr txBox="1"/>
          <p:nvPr/>
        </p:nvSpPr>
        <p:spPr>
          <a:xfrm>
            <a:off x="10106672" y="3087231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7F8044F-E37C-6B5E-24CE-BA13D89DFEAE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7A05BE5-C8A7-887F-A022-D76CB2C78401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8A6134E-8C57-F6A5-2254-1C82A14E362A}"/>
              </a:ext>
            </a:extLst>
          </p:cNvPr>
          <p:cNvSpPr txBox="1"/>
          <p:nvPr/>
        </p:nvSpPr>
        <p:spPr>
          <a:xfrm>
            <a:off x="4062897" y="5552119"/>
            <a:ext cx="817853" cy="5201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ImmSel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677092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1EA7A-F19A-6B39-0E9B-590BB8CD4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2B0AE06-3C78-3597-E1BB-D4A9C710789C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96CCE627-D476-C054-44EC-9C6D90B60129}"/>
              </a:ext>
            </a:extLst>
          </p:cNvPr>
          <p:cNvCxnSpPr>
            <a:cxnSpLocks/>
            <a:stCxn id="20" idx="0"/>
          </p:cNvCxnSpPr>
          <p:nvPr/>
        </p:nvCxnSpPr>
        <p:spPr>
          <a:xfrm rot="5400000" flipH="1" flipV="1">
            <a:off x="1830481" y="3046480"/>
            <a:ext cx="703576" cy="542602"/>
          </a:xfrm>
          <a:prstGeom prst="bentConnector3">
            <a:avLst>
              <a:gd name="adj1" fmla="val 100542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6" name="Group 495">
            <a:extLst>
              <a:ext uri="{FF2B5EF4-FFF2-40B4-BE49-F238E27FC236}">
                <a16:creationId xmlns:a16="http://schemas.microsoft.com/office/drawing/2014/main" id="{7BECAB93-130F-0417-9FA8-4981F0E7E552}"/>
              </a:ext>
            </a:extLst>
          </p:cNvPr>
          <p:cNvGrpSpPr/>
          <p:nvPr/>
        </p:nvGrpSpPr>
        <p:grpSpPr>
          <a:xfrm>
            <a:off x="659332" y="2260284"/>
            <a:ext cx="2712208" cy="1417320"/>
            <a:chOff x="669619" y="2248996"/>
            <a:chExt cx="2712208" cy="1417320"/>
          </a:xfrm>
        </p:grpSpPr>
        <p:grpSp>
          <p:nvGrpSpPr>
            <p:cNvPr id="497" name="Group 496">
              <a:extLst>
                <a:ext uri="{FF2B5EF4-FFF2-40B4-BE49-F238E27FC236}">
                  <a16:creationId xmlns:a16="http://schemas.microsoft.com/office/drawing/2014/main" id="{0A5FD773-9DDA-38ED-36DA-58D720ECC11A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389326"/>
              <a:chOff x="669619" y="2260284"/>
              <a:chExt cx="2712208" cy="1389326"/>
            </a:xfrm>
          </p:grpSpPr>
          <p:grpSp>
            <p:nvGrpSpPr>
              <p:cNvPr id="499" name="Group 498">
                <a:extLst>
                  <a:ext uri="{FF2B5EF4-FFF2-40B4-BE49-F238E27FC236}">
                    <a16:creationId xmlns:a16="http://schemas.microsoft.com/office/drawing/2014/main" id="{78D3D2F9-894E-9E8B-964A-283D3EE55B82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501" name="Elbow Connector 500">
                  <a:extLst>
                    <a:ext uri="{FF2B5EF4-FFF2-40B4-BE49-F238E27FC236}">
                      <a16:creationId xmlns:a16="http://schemas.microsoft.com/office/drawing/2014/main" id="{55815559-D964-D1B9-C0C1-D0B1277D7B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2" name="Straight Connector 501">
                  <a:extLst>
                    <a:ext uri="{FF2B5EF4-FFF2-40B4-BE49-F238E27FC236}">
                      <a16:creationId xmlns:a16="http://schemas.microsoft.com/office/drawing/2014/main" id="{55CE05FE-DD5B-6ABD-7B13-9811AD03DA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F27C0B18-49FE-B48A-0917-B828FFC62B8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649608"/>
                <a:ext cx="768096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98" name="Straight Connector 497">
              <a:extLst>
                <a:ext uri="{FF2B5EF4-FFF2-40B4-BE49-F238E27FC236}">
                  <a16:creationId xmlns:a16="http://schemas.microsoft.com/office/drawing/2014/main" id="{7D02737E-6A2F-0CC8-CAC4-71534B6AD569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41732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54AF08D-BD37-1CCD-F493-2612153FE307}"/>
              </a:ext>
            </a:extLst>
          </p:cNvPr>
          <p:cNvGrpSpPr/>
          <p:nvPr/>
        </p:nvGrpSpPr>
        <p:grpSpPr>
          <a:xfrm>
            <a:off x="659332" y="2260284"/>
            <a:ext cx="2743200" cy="1409285"/>
            <a:chOff x="659332" y="2260284"/>
            <a:chExt cx="2743200" cy="1409285"/>
          </a:xfrm>
          <a:effectLst>
            <a:glow rad="63500">
              <a:schemeClr val="accent2">
                <a:satMod val="175000"/>
                <a:alpha val="40000"/>
              </a:schemeClr>
            </a:glow>
          </a:effectLst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C16CFC11-B303-C02F-3CD3-F6C10D0F2A18}"/>
                </a:ext>
              </a:extLst>
            </p:cNvPr>
            <p:cNvGrpSpPr/>
            <p:nvPr/>
          </p:nvGrpSpPr>
          <p:grpSpPr>
            <a:xfrm>
              <a:off x="659332" y="2260284"/>
              <a:ext cx="2743200" cy="1409285"/>
              <a:chOff x="659332" y="2260284"/>
              <a:chExt cx="2743200" cy="1409285"/>
            </a:xfrm>
          </p:grpSpPr>
          <p:cxnSp>
            <p:nvCxnSpPr>
              <p:cNvPr id="43" name="Elbow Connector 42">
                <a:extLst>
                  <a:ext uri="{FF2B5EF4-FFF2-40B4-BE49-F238E27FC236}">
                    <a16:creationId xmlns:a16="http://schemas.microsoft.com/office/drawing/2014/main" id="{4E870835-5538-EF48-05C5-B732B1A7910F}"/>
                  </a:ext>
                </a:extLst>
              </p:cNvPr>
              <p:cNvCxnSpPr>
                <a:cxnSpLocks/>
                <a:endCxn id="331" idx="1"/>
              </p:cNvCxnSpPr>
              <p:nvPr/>
            </p:nvCxnSpPr>
            <p:spPr>
              <a:xfrm rot="16200000" flipH="1">
                <a:off x="368042" y="2581247"/>
                <a:ext cx="1383680" cy="741756"/>
              </a:xfrm>
              <a:prstGeom prst="bentConnector2">
                <a:avLst/>
              </a:prstGeom>
              <a:ln w="57150">
                <a:solidFill>
                  <a:schemeClr val="accent2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FD9C536F-1C07-9C73-4610-A988C240FADE}"/>
                  </a:ext>
                </a:extLst>
              </p:cNvPr>
              <p:cNvGrpSpPr/>
              <p:nvPr/>
            </p:nvGrpSpPr>
            <p:grpSpPr>
              <a:xfrm>
                <a:off x="1780532" y="2965993"/>
                <a:ext cx="673038" cy="703576"/>
                <a:chOff x="1780532" y="2965993"/>
                <a:chExt cx="673038" cy="703576"/>
              </a:xfrm>
            </p:grpSpPr>
            <p:cxnSp>
              <p:nvCxnSpPr>
                <p:cNvPr id="44" name="Elbow Connector 43">
                  <a:extLst>
                    <a:ext uri="{FF2B5EF4-FFF2-40B4-BE49-F238E27FC236}">
                      <a16:creationId xmlns:a16="http://schemas.microsoft.com/office/drawing/2014/main" id="{03462A1C-9C1A-28A2-C077-CE8285196C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1830481" y="3046480"/>
                  <a:ext cx="703576" cy="542602"/>
                </a:xfrm>
                <a:prstGeom prst="bentConnector3">
                  <a:avLst>
                    <a:gd name="adj1" fmla="val 100542"/>
                  </a:avLst>
                </a:prstGeom>
                <a:ln w="57150">
                  <a:solidFill>
                    <a:schemeClr val="accent2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CED73855-B2CF-F3E1-646F-5CDD61D1D7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80532" y="3655540"/>
                  <a:ext cx="130436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119FE66C-033C-76DF-C15F-E4A5D1D5007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9332" y="2260284"/>
                <a:ext cx="2743200" cy="1985"/>
              </a:xfrm>
              <a:prstGeom prst="line">
                <a:avLst/>
              </a:prstGeom>
              <a:ln w="57150">
                <a:solidFill>
                  <a:schemeClr val="accent2"/>
                </a:solidFill>
                <a:headEnd w="sm" len="sm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Elbow Connector 37">
                <a:extLst>
                  <a:ext uri="{FF2B5EF4-FFF2-40B4-BE49-F238E27FC236}">
                    <a16:creationId xmlns:a16="http://schemas.microsoft.com/office/drawing/2014/main" id="{FF380809-F599-7762-D54D-7BDA3599386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2993946" y="2363686"/>
                <a:ext cx="477525" cy="270723"/>
              </a:xfrm>
              <a:prstGeom prst="bentConnector3">
                <a:avLst>
                  <a:gd name="adj1" fmla="val -5318"/>
                </a:avLst>
              </a:prstGeom>
              <a:ln w="57150">
                <a:solidFill>
                  <a:schemeClr val="accent2"/>
                </a:solidFill>
                <a:headEnd w="sm" len="sm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65754EE-FB63-E45C-7A91-74F595672D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799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4D350BC4-998A-1EAA-FC99-8617E9A071A9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FB1EF5C-E5DA-4A05-8E81-650B8E19AFA3}"/>
              </a:ext>
            </a:extLst>
          </p:cNvPr>
          <p:cNvSpPr txBox="1"/>
          <p:nvPr/>
        </p:nvSpPr>
        <p:spPr>
          <a:xfrm>
            <a:off x="3106523" y="4777354"/>
            <a:ext cx="11192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[31:20]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01522EF7-DC78-7FD4-3614-F6C3AFED3690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C38148BE-07E5-8F81-C721-CE8891AA74A9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65DCFC3-7475-E88D-36BF-DE3F2F57C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10280650" algn="r"/>
              </a:tabLst>
            </a:pPr>
            <a:r>
              <a:rPr lang="en-US" dirty="0"/>
              <a:t>Lighting the </a:t>
            </a:r>
            <a:r>
              <a:rPr lang="en-US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LOAD</a:t>
            </a:r>
            <a:r>
              <a:rPr lang="en-US" dirty="0"/>
              <a:t> Datapath (4/7)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52D4E16C-C6FD-B50A-55B0-3578B3C163C1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B362EFED-4248-0F46-2CB5-C1A42348B161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7E9A96D0-D22A-01EF-2122-B78526A5CC4C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E5ACB2C6-CA6A-0086-0EBB-24142B5854CC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1893DC3F-4680-69F9-A9F8-2F953A709D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EEFAFA57-8587-7702-3EEB-1ECCEA93E03E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A45DE32A-6072-4AC3-A5BF-A598556562E3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7F5A2430-3E33-B8A2-99AE-A5835745530B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49388F17-887D-28E6-9161-19FEE02550BB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" name="TextBox 377">
            <a:extLst>
              <a:ext uri="{FF2B5EF4-FFF2-40B4-BE49-F238E27FC236}">
                <a16:creationId xmlns:a16="http://schemas.microsoft.com/office/drawing/2014/main" id="{972DD66C-0410-418F-066C-0D8113E874A6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42CECD5D-982D-7FF0-4716-919F3BD52587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8853722A-BE44-D04C-2CFE-EB585CEC59A9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DCFD3022-3B63-8374-DE82-FFE49ACF318F}"/>
              </a:ext>
            </a:extLst>
          </p:cNvPr>
          <p:cNvSpPr txBox="1"/>
          <p:nvPr/>
        </p:nvSpPr>
        <p:spPr>
          <a:xfrm>
            <a:off x="6200437" y="345514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D768C652-4D3E-C64B-DCA9-0EA52EBCA83A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645E3D26-F713-6163-70A4-E315D778ED4F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3A9D7C2C-2CCD-A2BA-8795-DE9DDD9C98B9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AF6B5D32-9DEF-D14A-9204-156DD93C0BEB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C71E1517-34FB-F8C5-D516-0268D0D608D8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D5EE1605-3926-CDE7-357C-36C9BCB974BA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44EDB770-4656-02BD-8E1D-B1FF65838074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2" name="TextBox 421">
            <a:extLst>
              <a:ext uri="{FF2B5EF4-FFF2-40B4-BE49-F238E27FC236}">
                <a16:creationId xmlns:a16="http://schemas.microsoft.com/office/drawing/2014/main" id="{608A04C9-A951-3C09-80A0-E73E6842532B}"/>
              </a:ext>
            </a:extLst>
          </p:cNvPr>
          <p:cNvSpPr txBox="1"/>
          <p:nvPr/>
        </p:nvSpPr>
        <p:spPr>
          <a:xfrm>
            <a:off x="6200437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F99E22-E393-21EF-847C-F6C47AABB9E9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435EFA-112D-DEB6-CB31-3C438E9D7BE1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B918694-E138-273D-D634-06DDEA875383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13E6F79-6788-7B97-0126-9D7A4B5F741B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DA160EE2-CDCD-872E-670B-90BC6D2A0D46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1A73AD1E-9D38-3021-41CD-87C11E28682A}"/>
              </a:ext>
            </a:extLst>
          </p:cNvPr>
          <p:cNvSpPr txBox="1"/>
          <p:nvPr/>
        </p:nvSpPr>
        <p:spPr>
          <a:xfrm>
            <a:off x="4062897" y="5552119"/>
            <a:ext cx="817853" cy="304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ImmSel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9D590AE4-E3DB-D800-C555-91D080E05225}"/>
              </a:ext>
            </a:extLst>
          </p:cNvPr>
          <p:cNvSpPr txBox="1"/>
          <p:nvPr/>
        </p:nvSpPr>
        <p:spPr>
          <a:xfrm>
            <a:off x="5333604" y="5554208"/>
            <a:ext cx="885179" cy="513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RegWEn</a:t>
            </a:r>
            <a:b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</a:b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18 VAG Rounded Light   02390" pitchFamily="2" charset="0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27BA2B3D-9F11-686F-6BCE-99C7CA8278B6}"/>
              </a:ext>
            </a:extLst>
          </p:cNvPr>
          <p:cNvSpPr txBox="1"/>
          <p:nvPr/>
        </p:nvSpPr>
        <p:spPr>
          <a:xfrm>
            <a:off x="7558332" y="5524627"/>
            <a:ext cx="449161" cy="2513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BSel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4C94AB31-CAE9-EE1B-42F8-61D39CA08E17}"/>
              </a:ext>
            </a:extLst>
          </p:cNvPr>
          <p:cNvSpPr txBox="1"/>
          <p:nvPr/>
        </p:nvSpPr>
        <p:spPr>
          <a:xfrm>
            <a:off x="8421291" y="5536765"/>
            <a:ext cx="702436" cy="2778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ALUSel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28D3E533-BA36-AA3A-9341-817E5707DB47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C9598778-6C87-E8B6-4AF2-49CA7DBFC040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7745DDFC-BD7E-CB88-847D-CC6470938DF4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F16306A0-93C9-B61E-1AA4-45CC09817CFB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rapezoid 13">
            <a:extLst>
              <a:ext uri="{FF2B5EF4-FFF2-40B4-BE49-F238E27FC236}">
                <a16:creationId xmlns:a16="http://schemas.microsoft.com/office/drawing/2014/main" id="{ED6FDBE3-1D49-5335-43DB-69F23C8A384D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2320763A-1F8E-1EDC-EC6D-4873C0AA8B83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solidFill>
            <a:srgbClr val="011223"/>
          </a:solidFill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9CBCC5B-116A-D5C2-DAA7-1A95DB8721D1}"/>
              </a:ext>
            </a:extLst>
          </p:cNvPr>
          <p:cNvCxnSpPr>
            <a:cxnSpLocks/>
          </p:cNvCxnSpPr>
          <p:nvPr/>
        </p:nvCxnSpPr>
        <p:spPr>
          <a:xfrm>
            <a:off x="6246032" y="3676635"/>
            <a:ext cx="203911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Freeform 318">
            <a:extLst>
              <a:ext uri="{FF2B5EF4-FFF2-40B4-BE49-F238E27FC236}">
                <a16:creationId xmlns:a16="http://schemas.microsoft.com/office/drawing/2014/main" id="{D2B7E8DF-DF75-0F5E-6835-EF838F20BFA1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9AA4000-F313-459F-688C-B86E3492E410}"/>
              </a:ext>
            </a:extLst>
          </p:cNvPr>
          <p:cNvCxnSpPr>
            <a:cxnSpLocks/>
          </p:cNvCxnSpPr>
          <p:nvPr/>
        </p:nvCxnSpPr>
        <p:spPr>
          <a:xfrm>
            <a:off x="6261052" y="4241300"/>
            <a:ext cx="1484877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CD79F0B-FBED-AC27-2BEB-91DDE9F043FC}"/>
              </a:ext>
            </a:extLst>
          </p:cNvPr>
          <p:cNvSpPr txBox="1"/>
          <p:nvPr/>
        </p:nvSpPr>
        <p:spPr>
          <a:xfrm>
            <a:off x="6200437" y="4004802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284589F-08C3-E120-B709-661A745F9505}"/>
              </a:ext>
            </a:extLst>
          </p:cNvPr>
          <p:cNvSpPr txBox="1"/>
          <p:nvPr/>
        </p:nvSpPr>
        <p:spPr>
          <a:xfrm>
            <a:off x="1740001" y="3662940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D5154F23-D77F-F224-3D0F-4F4675AD8A99}"/>
              </a:ext>
            </a:extLst>
          </p:cNvPr>
          <p:cNvSpPr txBox="1"/>
          <p:nvPr/>
        </p:nvSpPr>
        <p:spPr>
          <a:xfrm>
            <a:off x="293424" y="1001583"/>
            <a:ext cx="2639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dirty="0">
                <a:solidFill>
                  <a:schemeClr val="accent2"/>
                </a:solidFill>
                <a:latin typeface="18 VAG Rounded Light   02390" pitchFamily="2" charset="0"/>
              </a:rPr>
              <a:t>Increment PC to next instruction.</a:t>
            </a: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5E149E72-4291-D5E1-FF61-87CFF7706516}"/>
              </a:ext>
            </a:extLst>
          </p:cNvPr>
          <p:cNvSpPr txBox="1"/>
          <p:nvPr/>
        </p:nvSpPr>
        <p:spPr>
          <a:xfrm>
            <a:off x="3118252" y="1001582"/>
            <a:ext cx="2664586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1800" i="1" dirty="0">
                <a:solidFill>
                  <a:schemeClr val="accent5"/>
                </a:solidFill>
                <a:latin typeface="18 VAG Rounded Light   02390" pitchFamily="2" charset="0"/>
              </a:rPr>
              <a:t>Immediate Generation Block </a:t>
            </a: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builds a 32-bit immediate </a:t>
            </a:r>
            <a:r>
              <a:rPr lang="en-US" sz="18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41BFA1C-BF18-DEFA-40A6-D07535BB1552}"/>
              </a:ext>
            </a:extLst>
          </p:cNvPr>
          <p:cNvGrpSpPr/>
          <p:nvPr/>
        </p:nvGrpSpPr>
        <p:grpSpPr>
          <a:xfrm>
            <a:off x="3062791" y="3425699"/>
            <a:ext cx="4696255" cy="2111811"/>
            <a:chOff x="3062791" y="3425699"/>
            <a:chExt cx="4696255" cy="2111811"/>
          </a:xfrm>
        </p:grpSpPr>
        <p:grpSp>
          <p:nvGrpSpPr>
            <p:cNvPr id="466" name="Group 465">
              <a:extLst>
                <a:ext uri="{FF2B5EF4-FFF2-40B4-BE49-F238E27FC236}">
                  <a16:creationId xmlns:a16="http://schemas.microsoft.com/office/drawing/2014/main" id="{F2C9CC52-52E3-DB59-FCB9-62967D5C87D2}"/>
                </a:ext>
              </a:extLst>
            </p:cNvPr>
            <p:cNvGrpSpPr/>
            <p:nvPr/>
          </p:nvGrpSpPr>
          <p:grpSpPr>
            <a:xfrm>
              <a:off x="3191225" y="3962068"/>
              <a:ext cx="4567821" cy="1575442"/>
              <a:chOff x="3191225" y="3962068"/>
              <a:chExt cx="4567821" cy="1575442"/>
            </a:xfrm>
          </p:grpSpPr>
          <p:cxnSp>
            <p:nvCxnSpPr>
              <p:cNvPr id="469" name="Straight Arrow Connector 468">
                <a:extLst>
                  <a:ext uri="{FF2B5EF4-FFF2-40B4-BE49-F238E27FC236}">
                    <a16:creationId xmlns:a16="http://schemas.microsoft.com/office/drawing/2014/main" id="{55A70C26-4BE3-201C-5933-406B805E985C}"/>
                  </a:ext>
                </a:extLst>
              </p:cNvPr>
              <p:cNvCxnSpPr/>
              <p:nvPr/>
            </p:nvCxnSpPr>
            <p:spPr>
              <a:xfrm>
                <a:off x="3193946" y="3962068"/>
                <a:ext cx="0" cy="1575442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0" name="Straight Arrow Connector 469">
                <a:extLst>
                  <a:ext uri="{FF2B5EF4-FFF2-40B4-BE49-F238E27FC236}">
                    <a16:creationId xmlns:a16="http://schemas.microsoft.com/office/drawing/2014/main" id="{717B4FE3-6869-A209-8AC2-220D6769E1A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91225" y="5015025"/>
                <a:ext cx="923544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" name="Elbow Connector 470">
                <a:extLst>
                  <a:ext uri="{FF2B5EF4-FFF2-40B4-BE49-F238E27FC236}">
                    <a16:creationId xmlns:a16="http://schemas.microsoft.com/office/drawing/2014/main" id="{61E65DFD-B34E-C37F-64E3-CC4292B01CAB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>
                <a:off x="4822076" y="4530234"/>
                <a:ext cx="2936970" cy="596712"/>
              </a:xfrm>
              <a:prstGeom prst="bentConnector3">
                <a:avLst>
                  <a:gd name="adj1" fmla="val 92537"/>
                </a:avLst>
              </a:prstGeom>
              <a:ln w="57150">
                <a:solidFill>
                  <a:schemeClr val="accent5"/>
                </a:solidFill>
                <a:tailEnd type="triangle" w="med" len="med"/>
              </a:ln>
              <a:effectLst>
                <a:glow rad="63500">
                  <a:srgbClr val="011223">
                    <a:alpha val="40000"/>
                  </a:srgb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2FAE795-5950-9B39-C528-07A251605F29}"/>
                </a:ext>
              </a:extLst>
            </p:cNvPr>
            <p:cNvGrpSpPr/>
            <p:nvPr/>
          </p:nvGrpSpPr>
          <p:grpSpPr>
            <a:xfrm>
              <a:off x="3062791" y="3425699"/>
              <a:ext cx="1761928" cy="524103"/>
              <a:chOff x="3062789" y="3425699"/>
              <a:chExt cx="1774643" cy="524103"/>
            </a:xfrm>
          </p:grpSpPr>
          <p:cxnSp>
            <p:nvCxnSpPr>
              <p:cNvPr id="8" name="Elbow Connector 7">
                <a:extLst>
                  <a:ext uri="{FF2B5EF4-FFF2-40B4-BE49-F238E27FC236}">
                    <a16:creationId xmlns:a16="http://schemas.microsoft.com/office/drawing/2014/main" id="{863B2C3A-7898-B246-1D0E-6AC1EF9358E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62789" y="3425699"/>
                <a:ext cx="1765694" cy="524103"/>
              </a:xfrm>
              <a:prstGeom prst="bentConnector3">
                <a:avLst>
                  <a:gd name="adj1" fmla="val 17967"/>
                </a:avLst>
              </a:prstGeom>
              <a:ln w="57150">
                <a:solidFill>
                  <a:schemeClr val="accent5"/>
                </a:solidFill>
                <a:headEnd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0EDD19B7-7ED6-D5DF-1D3B-DDD2E29C3C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73043" y="3685038"/>
                <a:ext cx="1464389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4" name="Isosceles Triangle 59">
            <a:extLst>
              <a:ext uri="{FF2B5EF4-FFF2-40B4-BE49-F238E27FC236}">
                <a16:creationId xmlns:a16="http://schemas.microsoft.com/office/drawing/2014/main" id="{516EE710-9664-75DD-8CC3-84B8C5ED58C0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4C2D047-72E1-370A-A256-6B181BCBD869}"/>
              </a:ext>
            </a:extLst>
          </p:cNvPr>
          <p:cNvSpPr/>
          <p:nvPr/>
        </p:nvSpPr>
        <p:spPr>
          <a:xfrm>
            <a:off x="9120628" y="3586419"/>
            <a:ext cx="1021734" cy="1127284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</a:t>
            </a: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>
              <a:spcBef>
                <a:spcPts val="400"/>
              </a:spcBef>
              <a:tabLst>
                <a:tab pos="1249363" algn="r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DMEM</a:t>
            </a:r>
          </a:p>
          <a:p>
            <a:pPr>
              <a:spcBef>
                <a:spcPts val="400"/>
              </a:spcBef>
              <a:spcAft>
                <a:spcPts val="400"/>
              </a:spcAft>
              <a:tabLst>
                <a:tab pos="1249363" algn="r"/>
              </a:tabLst>
            </a:pPr>
            <a:r>
              <a:rPr lang="en-US" sz="1200" i="1" dirty="0" err="1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rPr>
              <a:t>wdata</a:t>
            </a:r>
            <a:r>
              <a:rPr lang="en-US" sz="16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rPr>
              <a:t> </a:t>
            </a:r>
            <a:endParaRPr lang="en-US" sz="1200" i="1" dirty="0">
              <a:solidFill>
                <a:schemeClr val="bg1"/>
              </a:solidFill>
              <a:latin typeface="18 VAG ROUNDED LIGHT   02390" pitchFamily="2" charset="0"/>
              <a:cs typeface="Courier New" panose="02070309020205020404" pitchFamily="49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E22119F-0299-8032-78AB-C4032B1DBA07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63E2E14-8F77-1879-F9FD-49FC5BFEB109}"/>
              </a:ext>
            </a:extLst>
          </p:cNvPr>
          <p:cNvCxnSpPr>
            <a:cxnSpLocks/>
            <a:stCxn id="39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6050BBEA-5679-810D-5B08-31DDAF91E9CF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080FFD1-BBA0-DF99-A003-771D623012BD}"/>
              </a:ext>
            </a:extLst>
          </p:cNvPr>
          <p:cNvCxnSpPr>
            <a:cxnSpLocks/>
          </p:cNvCxnSpPr>
          <p:nvPr/>
        </p:nvCxnSpPr>
        <p:spPr>
          <a:xfrm>
            <a:off x="8861193" y="3967940"/>
            <a:ext cx="29744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9762A1D-5A51-218F-87EB-EC93EBCF4D83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2DAE37B-62D3-81AE-CFEE-95F84854540A}"/>
              </a:ext>
            </a:extLst>
          </p:cNvPr>
          <p:cNvGrpSpPr/>
          <p:nvPr/>
        </p:nvGrpSpPr>
        <p:grpSpPr>
          <a:xfrm>
            <a:off x="3790286" y="2375192"/>
            <a:ext cx="7347065" cy="1124151"/>
            <a:chOff x="3790286" y="2375192"/>
            <a:chExt cx="7347065" cy="1124151"/>
          </a:xfrm>
          <a:effectLst/>
        </p:grpSpPr>
        <p:cxnSp>
          <p:nvCxnSpPr>
            <p:cNvPr id="48" name="Elbow Connector 47">
              <a:extLst>
                <a:ext uri="{FF2B5EF4-FFF2-40B4-BE49-F238E27FC236}">
                  <a16:creationId xmlns:a16="http://schemas.microsoft.com/office/drawing/2014/main" id="{2C637A89-C85A-3CDA-949F-57640872EC0A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50D6E541-46F9-18B3-2076-979B96A732DB}"/>
                </a:ext>
              </a:extLst>
            </p:cNvPr>
            <p:cNvCxnSpPr/>
            <p:nvPr/>
          </p:nvCxnSpPr>
          <p:spPr>
            <a:xfrm>
              <a:off x="3790286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Elbow Connector 50">
              <a:extLst>
                <a:ext uri="{FF2B5EF4-FFF2-40B4-BE49-F238E27FC236}">
                  <a16:creationId xmlns:a16="http://schemas.microsoft.com/office/drawing/2014/main" id="{FE84FD74-0B3D-1C65-C3FF-BB4F5F9A2BAF}"/>
                </a:ext>
              </a:extLst>
            </p:cNvPr>
            <p:cNvCxnSpPr>
              <a:cxnSpLocks/>
              <a:stCxn id="52" idx="0"/>
            </p:cNvCxnSpPr>
            <p:nvPr/>
          </p:nvCxnSpPr>
          <p:spPr>
            <a:xfrm flipV="1">
              <a:off x="10817058" y="2375192"/>
              <a:ext cx="320293" cy="1124151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rapezoid 51">
            <a:extLst>
              <a:ext uri="{FF2B5EF4-FFF2-40B4-BE49-F238E27FC236}">
                <a16:creationId xmlns:a16="http://schemas.microsoft.com/office/drawing/2014/main" id="{E49B9DFC-4E84-BECB-EB0C-4E9955072E5B}"/>
              </a:ext>
            </a:extLst>
          </p:cNvPr>
          <p:cNvSpPr/>
          <p:nvPr/>
        </p:nvSpPr>
        <p:spPr>
          <a:xfrm rot="5400000">
            <a:off x="10337532" y="3361302"/>
            <a:ext cx="682970" cy="276082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E4278DA9-E7A5-7051-B1DA-68870DE8C781}"/>
              </a:ext>
            </a:extLst>
          </p:cNvPr>
          <p:cNvCxnSpPr>
            <a:cxnSpLocks/>
          </p:cNvCxnSpPr>
          <p:nvPr/>
        </p:nvCxnSpPr>
        <p:spPr>
          <a:xfrm flipV="1">
            <a:off x="8929306" y="3375224"/>
            <a:ext cx="1611670" cy="592716"/>
          </a:xfrm>
          <a:prstGeom prst="bentConnector3">
            <a:avLst>
              <a:gd name="adj1" fmla="val 288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DADA6ED0-8D49-0611-672A-348CE52CFAFB}"/>
              </a:ext>
            </a:extLst>
          </p:cNvPr>
          <p:cNvSpPr txBox="1"/>
          <p:nvPr/>
        </p:nvSpPr>
        <p:spPr>
          <a:xfrm>
            <a:off x="10106672" y="3087231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6A6C0C8-227D-5BC5-49D6-EB5AE7FC66BA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1" name="Group 480">
            <a:extLst>
              <a:ext uri="{FF2B5EF4-FFF2-40B4-BE49-F238E27FC236}">
                <a16:creationId xmlns:a16="http://schemas.microsoft.com/office/drawing/2014/main" id="{9C8CBB4E-EB71-06CF-6BEC-1A0A4CFD8FA5}"/>
              </a:ext>
            </a:extLst>
          </p:cNvPr>
          <p:cNvGrpSpPr/>
          <p:nvPr/>
        </p:nvGrpSpPr>
        <p:grpSpPr>
          <a:xfrm>
            <a:off x="4062897" y="5524627"/>
            <a:ext cx="6835927" cy="752471"/>
            <a:chOff x="4062897" y="5524627"/>
            <a:chExt cx="6835927" cy="75247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DECC6AE-9349-C445-1A2D-551C5BF86B0E}"/>
                </a:ext>
              </a:extLst>
            </p:cNvPr>
            <p:cNvSpPr txBox="1"/>
            <p:nvPr/>
          </p:nvSpPr>
          <p:spPr>
            <a:xfrm>
              <a:off x="4062897" y="5552119"/>
              <a:ext cx="817853" cy="5201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ImmSel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b="1" dirty="0">
                  <a:solidFill>
                    <a:schemeClr val="accent5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965D2EF-615D-5958-7876-8652A38E6E5D}"/>
                </a:ext>
              </a:extLst>
            </p:cNvPr>
            <p:cNvSpPr txBox="1"/>
            <p:nvPr/>
          </p:nvSpPr>
          <p:spPr>
            <a:xfrm>
              <a:off x="5333604" y="5554208"/>
              <a:ext cx="885179" cy="7228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RegWEn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dirty="0">
                  <a:solidFill>
                    <a:schemeClr val="accent4"/>
                  </a:solidFill>
                  <a:latin typeface="18 VAG Rounded Light   02390" pitchFamily="2" charset="0"/>
                </a:rPr>
                <a:t>1</a:t>
              </a:r>
              <a:br>
                <a:rPr 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18 VAG Rounded Light   02390" pitchFamily="2" charset="0"/>
                </a:rPr>
              </a:br>
              <a:endPara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5E5A676-9683-EBDF-0E68-3296A53E5BC6}"/>
                </a:ext>
              </a:extLst>
            </p:cNvPr>
            <p:cNvSpPr txBox="1"/>
            <p:nvPr/>
          </p:nvSpPr>
          <p:spPr>
            <a:xfrm>
              <a:off x="7558332" y="5524627"/>
              <a:ext cx="4491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1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DE877EA-4BED-FD80-BA39-1E3D432AD7FA}"/>
                </a:ext>
              </a:extLst>
            </p:cNvPr>
            <p:cNvSpPr txBox="1"/>
            <p:nvPr/>
          </p:nvSpPr>
          <p:spPr>
            <a:xfrm>
              <a:off x="8421291" y="5536765"/>
              <a:ext cx="702436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ALUSel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1"/>
                  </a:solidFill>
                  <a:latin typeface="18 VAG Rounded Light   02390" pitchFamily="2" charset="0"/>
                </a:rPr>
                <a:t>Add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E04A175-76FC-535F-4FA6-7B28C51C4CF5}"/>
                </a:ext>
              </a:extLst>
            </p:cNvPr>
            <p:cNvSpPr txBox="1"/>
            <p:nvPr/>
          </p:nvSpPr>
          <p:spPr>
            <a:xfrm>
              <a:off x="9285659" y="5555777"/>
              <a:ext cx="817853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MemRW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6"/>
                  </a:solidFill>
                  <a:latin typeface="18 VAG Rounded Light   02390" pitchFamily="2" charset="0"/>
                </a:rPr>
                <a:t>Read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99F4A2B-58E1-F747-B55D-9434ABDED7F2}"/>
                </a:ext>
              </a:extLst>
            </p:cNvPr>
            <p:cNvSpPr txBox="1"/>
            <p:nvPr/>
          </p:nvSpPr>
          <p:spPr>
            <a:xfrm>
              <a:off x="10252493" y="5557253"/>
              <a:ext cx="646331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WBSel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4"/>
                  </a:solidFill>
                  <a:latin typeface="18 VAG Rounded Light   02390" pitchFamily="2" charset="0"/>
                </a:rPr>
                <a:t>0</a:t>
              </a:r>
            </a:p>
          </p:txBody>
        </p: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236DD3E-990E-355C-28A1-F14587B8EEA9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6373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35918-6C5F-6B04-9F34-209EAD871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790579D-4340-6EA7-07EE-9A851C87B591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0855B60C-944D-6AD3-BE75-28314A9132AC}"/>
              </a:ext>
            </a:extLst>
          </p:cNvPr>
          <p:cNvCxnSpPr>
            <a:cxnSpLocks/>
            <a:stCxn id="20" idx="0"/>
          </p:cNvCxnSpPr>
          <p:nvPr/>
        </p:nvCxnSpPr>
        <p:spPr>
          <a:xfrm rot="5400000" flipH="1" flipV="1">
            <a:off x="1830481" y="3046480"/>
            <a:ext cx="703576" cy="542602"/>
          </a:xfrm>
          <a:prstGeom prst="bentConnector3">
            <a:avLst>
              <a:gd name="adj1" fmla="val 100542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6" name="Group 495">
            <a:extLst>
              <a:ext uri="{FF2B5EF4-FFF2-40B4-BE49-F238E27FC236}">
                <a16:creationId xmlns:a16="http://schemas.microsoft.com/office/drawing/2014/main" id="{ACF9A8AB-2BB1-AFEB-1779-B784D72FB82D}"/>
              </a:ext>
            </a:extLst>
          </p:cNvPr>
          <p:cNvGrpSpPr/>
          <p:nvPr/>
        </p:nvGrpSpPr>
        <p:grpSpPr>
          <a:xfrm>
            <a:off x="659332" y="2260284"/>
            <a:ext cx="2712208" cy="1417320"/>
            <a:chOff x="669619" y="2248996"/>
            <a:chExt cx="2712208" cy="1417320"/>
          </a:xfrm>
        </p:grpSpPr>
        <p:grpSp>
          <p:nvGrpSpPr>
            <p:cNvPr id="497" name="Group 496">
              <a:extLst>
                <a:ext uri="{FF2B5EF4-FFF2-40B4-BE49-F238E27FC236}">
                  <a16:creationId xmlns:a16="http://schemas.microsoft.com/office/drawing/2014/main" id="{3CCB8925-4F45-0693-BD78-BFB371DC5364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389326"/>
              <a:chOff x="669619" y="2260284"/>
              <a:chExt cx="2712208" cy="1389326"/>
            </a:xfrm>
          </p:grpSpPr>
          <p:grpSp>
            <p:nvGrpSpPr>
              <p:cNvPr id="499" name="Group 498">
                <a:extLst>
                  <a:ext uri="{FF2B5EF4-FFF2-40B4-BE49-F238E27FC236}">
                    <a16:creationId xmlns:a16="http://schemas.microsoft.com/office/drawing/2014/main" id="{B9CC9AF3-83F3-A365-3CDC-788079220921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501" name="Elbow Connector 500">
                  <a:extLst>
                    <a:ext uri="{FF2B5EF4-FFF2-40B4-BE49-F238E27FC236}">
                      <a16:creationId xmlns:a16="http://schemas.microsoft.com/office/drawing/2014/main" id="{1F261285-F4CF-AD89-89CC-78A14CA34D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2" name="Straight Connector 501">
                  <a:extLst>
                    <a:ext uri="{FF2B5EF4-FFF2-40B4-BE49-F238E27FC236}">
                      <a16:creationId xmlns:a16="http://schemas.microsoft.com/office/drawing/2014/main" id="{87E22B50-CBCC-A927-F034-A0F25BDBE7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8375E06F-506D-2692-EB79-DB75835E295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649608"/>
                <a:ext cx="768096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98" name="Straight Connector 497">
              <a:extLst>
                <a:ext uri="{FF2B5EF4-FFF2-40B4-BE49-F238E27FC236}">
                  <a16:creationId xmlns:a16="http://schemas.microsoft.com/office/drawing/2014/main" id="{F5C7FF0E-70EE-0893-E9FB-55D643B51C4C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41732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82D80F6-8CDF-9FC2-0F24-000C517589BC}"/>
              </a:ext>
            </a:extLst>
          </p:cNvPr>
          <p:cNvGrpSpPr/>
          <p:nvPr/>
        </p:nvGrpSpPr>
        <p:grpSpPr>
          <a:xfrm>
            <a:off x="659332" y="2260284"/>
            <a:ext cx="2743200" cy="1409285"/>
            <a:chOff x="659332" y="2260284"/>
            <a:chExt cx="2743200" cy="1409285"/>
          </a:xfrm>
          <a:effectLst>
            <a:glow rad="63500">
              <a:schemeClr val="accent2">
                <a:satMod val="175000"/>
                <a:alpha val="40000"/>
              </a:schemeClr>
            </a:glow>
          </a:effectLst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327AEFF-7681-5CA6-ABC2-D8D24CE93AE6}"/>
                </a:ext>
              </a:extLst>
            </p:cNvPr>
            <p:cNvGrpSpPr/>
            <p:nvPr/>
          </p:nvGrpSpPr>
          <p:grpSpPr>
            <a:xfrm>
              <a:off x="659332" y="2260284"/>
              <a:ext cx="2743200" cy="1409285"/>
              <a:chOff x="659332" y="2260284"/>
              <a:chExt cx="2743200" cy="1409285"/>
            </a:xfrm>
          </p:grpSpPr>
          <p:cxnSp>
            <p:nvCxnSpPr>
              <p:cNvPr id="43" name="Elbow Connector 42">
                <a:extLst>
                  <a:ext uri="{FF2B5EF4-FFF2-40B4-BE49-F238E27FC236}">
                    <a16:creationId xmlns:a16="http://schemas.microsoft.com/office/drawing/2014/main" id="{DD42A19C-64EA-5F47-6DBE-69C61451FA5A}"/>
                  </a:ext>
                </a:extLst>
              </p:cNvPr>
              <p:cNvCxnSpPr>
                <a:cxnSpLocks/>
                <a:endCxn id="331" idx="1"/>
              </p:cNvCxnSpPr>
              <p:nvPr/>
            </p:nvCxnSpPr>
            <p:spPr>
              <a:xfrm rot="16200000" flipH="1">
                <a:off x="368042" y="2581247"/>
                <a:ext cx="1383680" cy="741756"/>
              </a:xfrm>
              <a:prstGeom prst="bentConnector2">
                <a:avLst/>
              </a:prstGeom>
              <a:ln w="57150">
                <a:solidFill>
                  <a:schemeClr val="accent2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9078AA86-3879-EA94-DB9A-7962ACA57BE0}"/>
                  </a:ext>
                </a:extLst>
              </p:cNvPr>
              <p:cNvGrpSpPr/>
              <p:nvPr/>
            </p:nvGrpSpPr>
            <p:grpSpPr>
              <a:xfrm>
                <a:off x="1780532" y="2965993"/>
                <a:ext cx="673038" cy="703576"/>
                <a:chOff x="1780532" y="2965993"/>
                <a:chExt cx="673038" cy="703576"/>
              </a:xfrm>
            </p:grpSpPr>
            <p:cxnSp>
              <p:nvCxnSpPr>
                <p:cNvPr id="44" name="Elbow Connector 43">
                  <a:extLst>
                    <a:ext uri="{FF2B5EF4-FFF2-40B4-BE49-F238E27FC236}">
                      <a16:creationId xmlns:a16="http://schemas.microsoft.com/office/drawing/2014/main" id="{AE4E6661-AC37-4353-2673-C299EA0D95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1830481" y="3046480"/>
                  <a:ext cx="703576" cy="542602"/>
                </a:xfrm>
                <a:prstGeom prst="bentConnector3">
                  <a:avLst>
                    <a:gd name="adj1" fmla="val 100542"/>
                  </a:avLst>
                </a:prstGeom>
                <a:ln w="57150">
                  <a:solidFill>
                    <a:schemeClr val="accent2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EBA81FC9-BF6F-F5AA-79D8-7BD1EFD041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80532" y="3655540"/>
                  <a:ext cx="130436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EFBF9DAF-1796-FFB1-6EA9-AE5A7788A15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9332" y="2260284"/>
                <a:ext cx="2743200" cy="1985"/>
              </a:xfrm>
              <a:prstGeom prst="line">
                <a:avLst/>
              </a:prstGeom>
              <a:ln w="57150">
                <a:solidFill>
                  <a:schemeClr val="accent2"/>
                </a:solidFill>
                <a:headEnd w="sm" len="sm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Elbow Connector 37">
                <a:extLst>
                  <a:ext uri="{FF2B5EF4-FFF2-40B4-BE49-F238E27FC236}">
                    <a16:creationId xmlns:a16="http://schemas.microsoft.com/office/drawing/2014/main" id="{983CCA30-A463-6011-AFA9-861BA8BFD25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2993946" y="2363686"/>
                <a:ext cx="477525" cy="270723"/>
              </a:xfrm>
              <a:prstGeom prst="bentConnector3">
                <a:avLst>
                  <a:gd name="adj1" fmla="val -5318"/>
                </a:avLst>
              </a:prstGeom>
              <a:ln w="57150">
                <a:solidFill>
                  <a:schemeClr val="accent2"/>
                </a:solidFill>
                <a:headEnd w="sm" len="sm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AA43153-36B2-BF51-6B70-9A2B0DCD20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799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72347B2C-A506-3C8B-553A-0D0BD78D36B0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4070F6A-762E-5A0F-7F17-FC72D12C0B2A}"/>
              </a:ext>
            </a:extLst>
          </p:cNvPr>
          <p:cNvSpPr txBox="1"/>
          <p:nvPr/>
        </p:nvSpPr>
        <p:spPr>
          <a:xfrm>
            <a:off x="3106523" y="4777354"/>
            <a:ext cx="11192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[31:20]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ECEB0A80-85F8-0CF6-9E1C-311AF8D0B195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8694B176-2E74-FF67-4483-A396FD30D0B6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6EF3A49-9150-7B9F-A448-1003A38EC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10280650" algn="r"/>
              </a:tabLst>
            </a:pPr>
            <a:r>
              <a:rPr lang="en-US" dirty="0"/>
              <a:t>Lighting the </a:t>
            </a:r>
            <a:r>
              <a:rPr lang="en-US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LOAD</a:t>
            </a:r>
            <a:r>
              <a:rPr lang="en-US" dirty="0"/>
              <a:t> Datapath (5/7)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52C5403D-69A3-6D62-5DEC-DDAB256D9CF9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B55DD6EE-76B8-7D70-3808-EB94C7F0A09D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3030923E-57AC-1557-8878-B5EFC6527B77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7D7A5329-40C8-1BF4-FD6A-3628D1492009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1C4C01B2-7D5A-FF59-F112-98766F4C86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143DE1A0-F27A-4B85-0768-1D8B9704E52B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5DDBFC0D-142A-22B6-A225-CDDEA1FFA50E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A8CEB9C1-4AF8-95AC-E2B6-24AF7C857ED9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98E5B1FB-39AC-64C3-224F-BD4B59391E73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" name="TextBox 377">
            <a:extLst>
              <a:ext uri="{FF2B5EF4-FFF2-40B4-BE49-F238E27FC236}">
                <a16:creationId xmlns:a16="http://schemas.microsoft.com/office/drawing/2014/main" id="{F65022F4-79D6-54BC-E3FF-C38B216721AB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F2EBFF4C-CBF1-49DC-8C3F-89F2C3B28632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C14E931C-DA50-1283-7F1C-84F7F1BE284F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F28741C3-441D-F50B-748F-49DD8FD005B9}"/>
              </a:ext>
            </a:extLst>
          </p:cNvPr>
          <p:cNvSpPr txBox="1"/>
          <p:nvPr/>
        </p:nvSpPr>
        <p:spPr>
          <a:xfrm>
            <a:off x="6200437" y="345514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166D40B7-2E5F-0DCB-8C85-C25A61E75B71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EAFC2316-DCF3-95D3-7D0F-01967DBCBB4F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53036BA5-EE62-B1E2-88EC-018529153C1D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F3C2DCE1-DB15-0AA6-BD7C-CE4BCD263690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26AD8E1A-59E1-C842-3154-1A0565409CFF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263DD225-76E5-EFFA-4D0D-6AFC63F553F1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7DB2F657-869A-6265-58C3-BF5D7D9CBFE0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2" name="TextBox 421">
            <a:extLst>
              <a:ext uri="{FF2B5EF4-FFF2-40B4-BE49-F238E27FC236}">
                <a16:creationId xmlns:a16="http://schemas.microsoft.com/office/drawing/2014/main" id="{2694AA81-CA6E-70DD-DEF4-590FA99C880A}"/>
              </a:ext>
            </a:extLst>
          </p:cNvPr>
          <p:cNvSpPr txBox="1"/>
          <p:nvPr/>
        </p:nvSpPr>
        <p:spPr>
          <a:xfrm>
            <a:off x="6200437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0EDC77-D8A6-F287-EE7B-D8B7B21D0023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830241-9631-E239-6BC1-14C1A47BE3BE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7BAC4C-D134-0A17-0F3C-BFDF2232A648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AFF7B3F-7CD0-6737-EEE1-DC3C0CA6DAF1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4B8F692D-5B7F-BBB6-ACCC-6AB107020FB1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FE799D3D-41C2-AADB-A3AD-5183CDBE056D}"/>
              </a:ext>
            </a:extLst>
          </p:cNvPr>
          <p:cNvSpPr txBox="1"/>
          <p:nvPr/>
        </p:nvSpPr>
        <p:spPr>
          <a:xfrm>
            <a:off x="4062897" y="5552119"/>
            <a:ext cx="817853" cy="304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ImmSel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271166DA-37F5-9B30-E731-1E9EC0064297}"/>
              </a:ext>
            </a:extLst>
          </p:cNvPr>
          <p:cNvSpPr txBox="1"/>
          <p:nvPr/>
        </p:nvSpPr>
        <p:spPr>
          <a:xfrm>
            <a:off x="5333604" y="5554208"/>
            <a:ext cx="885179" cy="513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RegWEn</a:t>
            </a:r>
            <a:b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</a:b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18 VAG Rounded Light   02390" pitchFamily="2" charset="0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EBC65BC2-AB22-85FB-849F-5E1EE0138B6F}"/>
              </a:ext>
            </a:extLst>
          </p:cNvPr>
          <p:cNvSpPr txBox="1"/>
          <p:nvPr/>
        </p:nvSpPr>
        <p:spPr>
          <a:xfrm>
            <a:off x="7558332" y="5524627"/>
            <a:ext cx="449161" cy="2513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BSel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BA0BB42A-0809-592C-1D5E-D3D740D27C02}"/>
              </a:ext>
            </a:extLst>
          </p:cNvPr>
          <p:cNvSpPr txBox="1"/>
          <p:nvPr/>
        </p:nvSpPr>
        <p:spPr>
          <a:xfrm>
            <a:off x="8421291" y="5536765"/>
            <a:ext cx="702436" cy="2778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ALUSel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7F857AA1-28BE-BA58-0667-E57C48B1575B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7AE93DD0-64AB-8809-A56D-842FDBC8D308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76075A48-DF9B-AF0F-E3EE-E89850AA8E4F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4A064A60-A310-9C01-DDFA-B4B61F5AD221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rapezoid 13">
            <a:extLst>
              <a:ext uri="{FF2B5EF4-FFF2-40B4-BE49-F238E27FC236}">
                <a16:creationId xmlns:a16="http://schemas.microsoft.com/office/drawing/2014/main" id="{31A1C3E8-9245-5285-9FD4-86327C40DD34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1F6E15C4-D3A1-EC2C-C8FA-0C12D1870481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solidFill>
            <a:srgbClr val="011223"/>
          </a:solidFill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AB17B17-C2A9-0387-096D-1E87C7039FCA}"/>
              </a:ext>
            </a:extLst>
          </p:cNvPr>
          <p:cNvCxnSpPr>
            <a:cxnSpLocks/>
          </p:cNvCxnSpPr>
          <p:nvPr/>
        </p:nvCxnSpPr>
        <p:spPr>
          <a:xfrm>
            <a:off x="6246032" y="3676635"/>
            <a:ext cx="203911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Freeform 318">
            <a:extLst>
              <a:ext uri="{FF2B5EF4-FFF2-40B4-BE49-F238E27FC236}">
                <a16:creationId xmlns:a16="http://schemas.microsoft.com/office/drawing/2014/main" id="{EDFAD8DE-0FDD-472D-BFCE-F8C4F0DA527E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B7F6B1F-FB6A-59D7-7AEB-D7B01D64C120}"/>
              </a:ext>
            </a:extLst>
          </p:cNvPr>
          <p:cNvCxnSpPr>
            <a:cxnSpLocks/>
          </p:cNvCxnSpPr>
          <p:nvPr/>
        </p:nvCxnSpPr>
        <p:spPr>
          <a:xfrm>
            <a:off x="6261052" y="4241300"/>
            <a:ext cx="1484877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E918FF0-124A-62CE-01D2-F3F2693DD306}"/>
              </a:ext>
            </a:extLst>
          </p:cNvPr>
          <p:cNvSpPr txBox="1"/>
          <p:nvPr/>
        </p:nvSpPr>
        <p:spPr>
          <a:xfrm>
            <a:off x="6200437" y="4004802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FB1CD61-BF4C-7CD7-A820-891D0F6056C5}"/>
              </a:ext>
            </a:extLst>
          </p:cNvPr>
          <p:cNvSpPr txBox="1"/>
          <p:nvPr/>
        </p:nvSpPr>
        <p:spPr>
          <a:xfrm>
            <a:off x="1740001" y="3662940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D133CC2-698B-C0A6-1DC6-8EBE068B4D18}"/>
              </a:ext>
            </a:extLst>
          </p:cNvPr>
          <p:cNvCxnSpPr>
            <a:cxnSpLocks/>
          </p:cNvCxnSpPr>
          <p:nvPr/>
        </p:nvCxnSpPr>
        <p:spPr>
          <a:xfrm>
            <a:off x="7996240" y="4431194"/>
            <a:ext cx="301752" cy="149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Freeform 60">
            <a:extLst>
              <a:ext uri="{FF2B5EF4-FFF2-40B4-BE49-F238E27FC236}">
                <a16:creationId xmlns:a16="http://schemas.microsoft.com/office/drawing/2014/main" id="{40F5B0CD-B175-8FFD-80C4-7EC496116B08}"/>
              </a:ext>
            </a:extLst>
          </p:cNvPr>
          <p:cNvSpPr/>
          <p:nvPr/>
        </p:nvSpPr>
        <p:spPr>
          <a:xfrm>
            <a:off x="7685590" y="4433105"/>
            <a:ext cx="405114" cy="94053"/>
          </a:xfrm>
          <a:custGeom>
            <a:avLst/>
            <a:gdLst>
              <a:gd name="connsiteX0" fmla="*/ 0 w 405114"/>
              <a:gd name="connsiteY0" fmla="*/ 150471 h 162045"/>
              <a:gd name="connsiteX1" fmla="*/ 57873 w 405114"/>
              <a:gd name="connsiteY1" fmla="*/ 162045 h 162045"/>
              <a:gd name="connsiteX2" fmla="*/ 104172 w 405114"/>
              <a:gd name="connsiteY2" fmla="*/ 150471 h 162045"/>
              <a:gd name="connsiteX3" fmla="*/ 208344 w 405114"/>
              <a:gd name="connsiteY3" fmla="*/ 92597 h 162045"/>
              <a:gd name="connsiteX4" fmla="*/ 254643 w 405114"/>
              <a:gd name="connsiteY4" fmla="*/ 46298 h 162045"/>
              <a:gd name="connsiteX5" fmla="*/ 358815 w 405114"/>
              <a:gd name="connsiteY5" fmla="*/ 0 h 162045"/>
              <a:gd name="connsiteX6" fmla="*/ 405114 w 405114"/>
              <a:gd name="connsiteY6" fmla="*/ 0 h 162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5114" h="162045">
                <a:moveTo>
                  <a:pt x="0" y="150471"/>
                </a:moveTo>
                <a:cubicBezTo>
                  <a:pt x="19291" y="154329"/>
                  <a:pt x="38200" y="162045"/>
                  <a:pt x="57873" y="162045"/>
                </a:cubicBezTo>
                <a:cubicBezTo>
                  <a:pt x="73781" y="162045"/>
                  <a:pt x="88876" y="154841"/>
                  <a:pt x="104172" y="150471"/>
                </a:cubicBezTo>
                <a:cubicBezTo>
                  <a:pt x="144925" y="138827"/>
                  <a:pt x="175184" y="125757"/>
                  <a:pt x="208344" y="92597"/>
                </a:cubicBezTo>
                <a:cubicBezTo>
                  <a:pt x="223777" y="77164"/>
                  <a:pt x="236483" y="58405"/>
                  <a:pt x="254643" y="46298"/>
                </a:cubicBezTo>
                <a:cubicBezTo>
                  <a:pt x="286113" y="25318"/>
                  <a:pt x="317492" y="0"/>
                  <a:pt x="358815" y="0"/>
                </a:cubicBezTo>
                <a:lnTo>
                  <a:pt x="405114" y="0"/>
                </a:lnTo>
              </a:path>
            </a:pathLst>
          </a:custGeom>
          <a:noFill/>
          <a:ln w="57150">
            <a:solidFill>
              <a:schemeClr val="accent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1EF81C92-B4FF-16A3-4985-063A742A4A13}"/>
              </a:ext>
            </a:extLst>
          </p:cNvPr>
          <p:cNvCxnSpPr>
            <a:cxnSpLocks/>
          </p:cNvCxnSpPr>
          <p:nvPr/>
        </p:nvCxnSpPr>
        <p:spPr>
          <a:xfrm>
            <a:off x="6246032" y="3676635"/>
            <a:ext cx="2048256" cy="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3" name="TextBox 482">
            <a:extLst>
              <a:ext uri="{FF2B5EF4-FFF2-40B4-BE49-F238E27FC236}">
                <a16:creationId xmlns:a16="http://schemas.microsoft.com/office/drawing/2014/main" id="{B162DE9B-AB6D-2D91-3739-A55F5321DCBD}"/>
              </a:ext>
            </a:extLst>
          </p:cNvPr>
          <p:cNvSpPr txBox="1"/>
          <p:nvPr/>
        </p:nvSpPr>
        <p:spPr>
          <a:xfrm>
            <a:off x="293424" y="1001583"/>
            <a:ext cx="2639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dirty="0">
                <a:solidFill>
                  <a:schemeClr val="accent2"/>
                </a:solidFill>
                <a:latin typeface="18 VAG Rounded Light   02390" pitchFamily="2" charset="0"/>
              </a:rPr>
              <a:t>Increment PC to next instruction.</a:t>
            </a:r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C4C75FD8-F8D7-7604-8ED0-4FEA102E7E97}"/>
              </a:ext>
            </a:extLst>
          </p:cNvPr>
          <p:cNvSpPr txBox="1"/>
          <p:nvPr/>
        </p:nvSpPr>
        <p:spPr>
          <a:xfrm>
            <a:off x="6156903" y="998582"/>
            <a:ext cx="2356549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ALU computes</a:t>
            </a:r>
            <a:b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</a:b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address </a:t>
            </a: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alu =</a:t>
            </a:r>
            <a:b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R[rs1] + </a:t>
            </a:r>
            <a:r>
              <a:rPr lang="en-US" sz="18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.</a:t>
            </a:r>
            <a:endParaRPr lang="en-US" sz="1800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224ADB10-2776-E7CF-B2B1-5AC75FBEE938}"/>
              </a:ext>
            </a:extLst>
          </p:cNvPr>
          <p:cNvSpPr txBox="1"/>
          <p:nvPr/>
        </p:nvSpPr>
        <p:spPr>
          <a:xfrm>
            <a:off x="3118252" y="1001582"/>
            <a:ext cx="2664586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1800" i="1" dirty="0">
                <a:solidFill>
                  <a:schemeClr val="accent5"/>
                </a:solidFill>
                <a:latin typeface="18 VAG Rounded Light   02390" pitchFamily="2" charset="0"/>
              </a:rPr>
              <a:t>Immediate Generation Block </a:t>
            </a: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builds a 32-bit immediate </a:t>
            </a:r>
            <a:r>
              <a:rPr lang="en-US" sz="18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597C250-FBA6-FA09-4F89-6307A242FC78}"/>
              </a:ext>
            </a:extLst>
          </p:cNvPr>
          <p:cNvGrpSpPr/>
          <p:nvPr/>
        </p:nvGrpSpPr>
        <p:grpSpPr>
          <a:xfrm>
            <a:off x="3062791" y="3425699"/>
            <a:ext cx="4696255" cy="2111811"/>
            <a:chOff x="3062791" y="3425699"/>
            <a:chExt cx="4696255" cy="2111811"/>
          </a:xfrm>
        </p:grpSpPr>
        <p:grpSp>
          <p:nvGrpSpPr>
            <p:cNvPr id="466" name="Group 465">
              <a:extLst>
                <a:ext uri="{FF2B5EF4-FFF2-40B4-BE49-F238E27FC236}">
                  <a16:creationId xmlns:a16="http://schemas.microsoft.com/office/drawing/2014/main" id="{4A64D990-8321-5CA5-3C1D-CAFD2A8823C9}"/>
                </a:ext>
              </a:extLst>
            </p:cNvPr>
            <p:cNvGrpSpPr/>
            <p:nvPr/>
          </p:nvGrpSpPr>
          <p:grpSpPr>
            <a:xfrm>
              <a:off x="3191225" y="3962068"/>
              <a:ext cx="4567821" cy="1575442"/>
              <a:chOff x="3191225" y="3962068"/>
              <a:chExt cx="4567821" cy="1575442"/>
            </a:xfrm>
          </p:grpSpPr>
          <p:cxnSp>
            <p:nvCxnSpPr>
              <p:cNvPr id="469" name="Straight Arrow Connector 468">
                <a:extLst>
                  <a:ext uri="{FF2B5EF4-FFF2-40B4-BE49-F238E27FC236}">
                    <a16:creationId xmlns:a16="http://schemas.microsoft.com/office/drawing/2014/main" id="{27C51069-4701-4B7B-1BFC-546E1D054B2D}"/>
                  </a:ext>
                </a:extLst>
              </p:cNvPr>
              <p:cNvCxnSpPr/>
              <p:nvPr/>
            </p:nvCxnSpPr>
            <p:spPr>
              <a:xfrm>
                <a:off x="3193946" y="3962068"/>
                <a:ext cx="0" cy="1575442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0" name="Straight Arrow Connector 469">
                <a:extLst>
                  <a:ext uri="{FF2B5EF4-FFF2-40B4-BE49-F238E27FC236}">
                    <a16:creationId xmlns:a16="http://schemas.microsoft.com/office/drawing/2014/main" id="{D579BF36-D607-2052-3CA7-5B9BCB1EBBC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91225" y="5015025"/>
                <a:ext cx="923544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" name="Elbow Connector 470">
                <a:extLst>
                  <a:ext uri="{FF2B5EF4-FFF2-40B4-BE49-F238E27FC236}">
                    <a16:creationId xmlns:a16="http://schemas.microsoft.com/office/drawing/2014/main" id="{66FDDF0A-E011-73EA-AC9C-AA5A25984F90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>
                <a:off x="4822076" y="4530234"/>
                <a:ext cx="2936970" cy="596712"/>
              </a:xfrm>
              <a:prstGeom prst="bentConnector3">
                <a:avLst>
                  <a:gd name="adj1" fmla="val 92537"/>
                </a:avLst>
              </a:prstGeom>
              <a:ln w="57150">
                <a:solidFill>
                  <a:schemeClr val="accent5"/>
                </a:solidFill>
                <a:tailEnd type="triangle" w="med" len="med"/>
              </a:ln>
              <a:effectLst>
                <a:glow rad="63500">
                  <a:srgbClr val="011223">
                    <a:alpha val="40000"/>
                  </a:srgb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A0C7102-207F-2322-B9ED-96F0F3831CEC}"/>
                </a:ext>
              </a:extLst>
            </p:cNvPr>
            <p:cNvGrpSpPr/>
            <p:nvPr/>
          </p:nvGrpSpPr>
          <p:grpSpPr>
            <a:xfrm>
              <a:off x="3062791" y="3425699"/>
              <a:ext cx="1761928" cy="524103"/>
              <a:chOff x="3062789" y="3425699"/>
              <a:chExt cx="1774643" cy="524103"/>
            </a:xfrm>
          </p:grpSpPr>
          <p:cxnSp>
            <p:nvCxnSpPr>
              <p:cNvPr id="8" name="Elbow Connector 7">
                <a:extLst>
                  <a:ext uri="{FF2B5EF4-FFF2-40B4-BE49-F238E27FC236}">
                    <a16:creationId xmlns:a16="http://schemas.microsoft.com/office/drawing/2014/main" id="{4F6D8564-43B0-DE1E-D34D-5DDD51932E3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62789" y="3425699"/>
                <a:ext cx="1765694" cy="524103"/>
              </a:xfrm>
              <a:prstGeom prst="bentConnector3">
                <a:avLst>
                  <a:gd name="adj1" fmla="val 17967"/>
                </a:avLst>
              </a:prstGeom>
              <a:ln w="57150">
                <a:solidFill>
                  <a:schemeClr val="accent5"/>
                </a:solidFill>
                <a:headEnd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58AE471E-F4F5-5CFE-FBD4-017D4C55B0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73043" y="3685038"/>
                <a:ext cx="1464389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4" name="Isosceles Triangle 59">
            <a:extLst>
              <a:ext uri="{FF2B5EF4-FFF2-40B4-BE49-F238E27FC236}">
                <a16:creationId xmlns:a16="http://schemas.microsoft.com/office/drawing/2014/main" id="{36081A3E-22B4-46B5-6C1E-3146D5B43E52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8A4F462-01AB-5EBD-8FD3-A4A9A723CB54}"/>
              </a:ext>
            </a:extLst>
          </p:cNvPr>
          <p:cNvSpPr/>
          <p:nvPr/>
        </p:nvSpPr>
        <p:spPr>
          <a:xfrm>
            <a:off x="9120628" y="3586419"/>
            <a:ext cx="1021734" cy="1127284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</a:t>
            </a: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>
              <a:spcBef>
                <a:spcPts val="400"/>
              </a:spcBef>
              <a:tabLst>
                <a:tab pos="1249363" algn="r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DMEM</a:t>
            </a:r>
          </a:p>
          <a:p>
            <a:pPr>
              <a:spcBef>
                <a:spcPts val="400"/>
              </a:spcBef>
              <a:spcAft>
                <a:spcPts val="400"/>
              </a:spcAft>
              <a:tabLst>
                <a:tab pos="1249363" algn="r"/>
              </a:tabLst>
            </a:pPr>
            <a:r>
              <a:rPr lang="en-US" sz="1200" i="1" dirty="0" err="1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rPr>
              <a:t>wdata</a:t>
            </a:r>
            <a:r>
              <a:rPr lang="en-US" sz="16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rPr>
              <a:t> </a:t>
            </a:r>
            <a:endParaRPr lang="en-US" sz="1200" i="1" dirty="0">
              <a:solidFill>
                <a:schemeClr val="bg1"/>
              </a:solidFill>
              <a:latin typeface="18 VAG ROUNDED LIGHT   02390" pitchFamily="2" charset="0"/>
              <a:cs typeface="Courier New" panose="02070309020205020404" pitchFamily="49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DBBC889-D2B2-0604-492E-63A62369D31A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09265FF-1ECA-7B82-C63E-74F09C14A0E0}"/>
              </a:ext>
            </a:extLst>
          </p:cNvPr>
          <p:cNvCxnSpPr>
            <a:cxnSpLocks/>
            <a:stCxn id="39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0CDF8846-4B61-2B12-FE0A-4EA13BBB2F09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5A52720-910D-B681-E132-76278CA05095}"/>
              </a:ext>
            </a:extLst>
          </p:cNvPr>
          <p:cNvCxnSpPr>
            <a:cxnSpLocks/>
          </p:cNvCxnSpPr>
          <p:nvPr/>
        </p:nvCxnSpPr>
        <p:spPr>
          <a:xfrm>
            <a:off x="8861193" y="3967940"/>
            <a:ext cx="29744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DEADF06-E7ED-C7AF-B562-FED1E2A2F89E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0379C01-6BE6-1E22-04D0-56F0B42CCAF2}"/>
              </a:ext>
            </a:extLst>
          </p:cNvPr>
          <p:cNvGrpSpPr/>
          <p:nvPr/>
        </p:nvGrpSpPr>
        <p:grpSpPr>
          <a:xfrm>
            <a:off x="3790286" y="2375192"/>
            <a:ext cx="7347065" cy="1124151"/>
            <a:chOff x="3790286" y="2375192"/>
            <a:chExt cx="7347065" cy="1124151"/>
          </a:xfrm>
          <a:effectLst/>
        </p:grpSpPr>
        <p:cxnSp>
          <p:nvCxnSpPr>
            <p:cNvPr id="48" name="Elbow Connector 47">
              <a:extLst>
                <a:ext uri="{FF2B5EF4-FFF2-40B4-BE49-F238E27FC236}">
                  <a16:creationId xmlns:a16="http://schemas.microsoft.com/office/drawing/2014/main" id="{4486A42B-2D74-1021-AB5A-0E2BAF5EA480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D86D5D8E-91A2-FBAB-D059-DB0352FD4277}"/>
                </a:ext>
              </a:extLst>
            </p:cNvPr>
            <p:cNvCxnSpPr/>
            <p:nvPr/>
          </p:nvCxnSpPr>
          <p:spPr>
            <a:xfrm>
              <a:off x="3790286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Elbow Connector 50">
              <a:extLst>
                <a:ext uri="{FF2B5EF4-FFF2-40B4-BE49-F238E27FC236}">
                  <a16:creationId xmlns:a16="http://schemas.microsoft.com/office/drawing/2014/main" id="{5F7FA4D0-B20A-1222-4767-FEEE0D56AD5C}"/>
                </a:ext>
              </a:extLst>
            </p:cNvPr>
            <p:cNvCxnSpPr>
              <a:cxnSpLocks/>
              <a:stCxn id="52" idx="0"/>
            </p:cNvCxnSpPr>
            <p:nvPr/>
          </p:nvCxnSpPr>
          <p:spPr>
            <a:xfrm flipV="1">
              <a:off x="10817058" y="2375192"/>
              <a:ext cx="320293" cy="1124151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rapezoid 51">
            <a:extLst>
              <a:ext uri="{FF2B5EF4-FFF2-40B4-BE49-F238E27FC236}">
                <a16:creationId xmlns:a16="http://schemas.microsoft.com/office/drawing/2014/main" id="{B596D2B8-4DF3-48B4-6AFE-9324B0761417}"/>
              </a:ext>
            </a:extLst>
          </p:cNvPr>
          <p:cNvSpPr/>
          <p:nvPr/>
        </p:nvSpPr>
        <p:spPr>
          <a:xfrm rot="5400000">
            <a:off x="10337532" y="3361302"/>
            <a:ext cx="682970" cy="276082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DD61DD1E-FC8C-A3FF-649F-6CA8B6CE5BF6}"/>
              </a:ext>
            </a:extLst>
          </p:cNvPr>
          <p:cNvCxnSpPr>
            <a:cxnSpLocks/>
          </p:cNvCxnSpPr>
          <p:nvPr/>
        </p:nvCxnSpPr>
        <p:spPr>
          <a:xfrm flipV="1">
            <a:off x="8929306" y="3375224"/>
            <a:ext cx="1611670" cy="592716"/>
          </a:xfrm>
          <a:prstGeom prst="bentConnector3">
            <a:avLst>
              <a:gd name="adj1" fmla="val 288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9C9CE39B-6818-8C97-8452-7A3E47579392}"/>
              </a:ext>
            </a:extLst>
          </p:cNvPr>
          <p:cNvSpPr txBox="1"/>
          <p:nvPr/>
        </p:nvSpPr>
        <p:spPr>
          <a:xfrm>
            <a:off x="10106672" y="3087231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05D99F5-8846-4327-F854-2FCBA3CD48A2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1" name="Group 480">
            <a:extLst>
              <a:ext uri="{FF2B5EF4-FFF2-40B4-BE49-F238E27FC236}">
                <a16:creationId xmlns:a16="http://schemas.microsoft.com/office/drawing/2014/main" id="{7796B240-0328-8114-46E2-4674541769C4}"/>
              </a:ext>
            </a:extLst>
          </p:cNvPr>
          <p:cNvGrpSpPr/>
          <p:nvPr/>
        </p:nvGrpSpPr>
        <p:grpSpPr>
          <a:xfrm>
            <a:off x="4062897" y="5524627"/>
            <a:ext cx="6835927" cy="752471"/>
            <a:chOff x="4062897" y="5524627"/>
            <a:chExt cx="6835927" cy="75247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483910D-A9DF-8B92-67D7-676241644765}"/>
                </a:ext>
              </a:extLst>
            </p:cNvPr>
            <p:cNvSpPr txBox="1"/>
            <p:nvPr/>
          </p:nvSpPr>
          <p:spPr>
            <a:xfrm>
              <a:off x="4062897" y="5552119"/>
              <a:ext cx="817853" cy="5201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ImmSel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b="1" dirty="0">
                  <a:solidFill>
                    <a:schemeClr val="accent5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D84836B-D36E-8115-9A1A-1FA3C751ABF8}"/>
                </a:ext>
              </a:extLst>
            </p:cNvPr>
            <p:cNvSpPr txBox="1"/>
            <p:nvPr/>
          </p:nvSpPr>
          <p:spPr>
            <a:xfrm>
              <a:off x="5333604" y="5554208"/>
              <a:ext cx="885179" cy="7228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RegWEn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dirty="0">
                  <a:solidFill>
                    <a:schemeClr val="accent4"/>
                  </a:solidFill>
                  <a:latin typeface="18 VAG Rounded Light   02390" pitchFamily="2" charset="0"/>
                </a:rPr>
                <a:t>1</a:t>
              </a:r>
              <a:br>
                <a:rPr 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18 VAG Rounded Light   02390" pitchFamily="2" charset="0"/>
                </a:rPr>
              </a:br>
              <a:endPara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8447B24-595A-A5CC-6775-B126D899B425}"/>
                </a:ext>
              </a:extLst>
            </p:cNvPr>
            <p:cNvSpPr txBox="1"/>
            <p:nvPr/>
          </p:nvSpPr>
          <p:spPr>
            <a:xfrm>
              <a:off x="7558332" y="5524627"/>
              <a:ext cx="4491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1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EEA8B76-8B5F-599C-36DB-F7B84CE708C7}"/>
                </a:ext>
              </a:extLst>
            </p:cNvPr>
            <p:cNvSpPr txBox="1"/>
            <p:nvPr/>
          </p:nvSpPr>
          <p:spPr>
            <a:xfrm>
              <a:off x="8421291" y="5536765"/>
              <a:ext cx="702436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ALUSel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1"/>
                  </a:solidFill>
                  <a:latin typeface="18 VAG Rounded Light   02390" pitchFamily="2" charset="0"/>
                </a:rPr>
                <a:t>Add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849D0F6-A665-8329-9157-0E9BEBBED1B4}"/>
                </a:ext>
              </a:extLst>
            </p:cNvPr>
            <p:cNvSpPr txBox="1"/>
            <p:nvPr/>
          </p:nvSpPr>
          <p:spPr>
            <a:xfrm>
              <a:off x="9285659" y="5555777"/>
              <a:ext cx="817853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MemRW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6"/>
                  </a:solidFill>
                  <a:latin typeface="18 VAG Rounded Light   02390" pitchFamily="2" charset="0"/>
                </a:rPr>
                <a:t>Read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EFC62267-D081-72DD-5E66-CEF654BA047D}"/>
                </a:ext>
              </a:extLst>
            </p:cNvPr>
            <p:cNvSpPr txBox="1"/>
            <p:nvPr/>
          </p:nvSpPr>
          <p:spPr>
            <a:xfrm>
              <a:off x="10252493" y="5557253"/>
              <a:ext cx="646331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WBSel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4"/>
                  </a:solidFill>
                  <a:latin typeface="18 VAG Rounded Light   02390" pitchFamily="2" charset="0"/>
                </a:rPr>
                <a:t>0</a:t>
              </a:r>
            </a:p>
          </p:txBody>
        </p: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1B6F9AA-9BEB-749B-591B-B4ED8AB98B14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290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4E267-2C33-59D5-6B42-ACEB32BB2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5B733F7-162B-3581-B9B6-49F6BF6C8F4C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DA251571-76DC-4FEC-0272-73DE93680DAA}"/>
              </a:ext>
            </a:extLst>
          </p:cNvPr>
          <p:cNvCxnSpPr>
            <a:cxnSpLocks/>
            <a:stCxn id="20" idx="0"/>
          </p:cNvCxnSpPr>
          <p:nvPr/>
        </p:nvCxnSpPr>
        <p:spPr>
          <a:xfrm rot="5400000" flipH="1" flipV="1">
            <a:off x="1830481" y="3046480"/>
            <a:ext cx="703576" cy="542602"/>
          </a:xfrm>
          <a:prstGeom prst="bentConnector3">
            <a:avLst>
              <a:gd name="adj1" fmla="val 100542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6" name="Group 495">
            <a:extLst>
              <a:ext uri="{FF2B5EF4-FFF2-40B4-BE49-F238E27FC236}">
                <a16:creationId xmlns:a16="http://schemas.microsoft.com/office/drawing/2014/main" id="{7D466120-6A1E-9A14-CF29-05506E538080}"/>
              </a:ext>
            </a:extLst>
          </p:cNvPr>
          <p:cNvGrpSpPr/>
          <p:nvPr/>
        </p:nvGrpSpPr>
        <p:grpSpPr>
          <a:xfrm>
            <a:off x="659332" y="2260284"/>
            <a:ext cx="2712208" cy="1417320"/>
            <a:chOff x="669619" y="2248996"/>
            <a:chExt cx="2712208" cy="1417320"/>
          </a:xfrm>
        </p:grpSpPr>
        <p:grpSp>
          <p:nvGrpSpPr>
            <p:cNvPr id="497" name="Group 496">
              <a:extLst>
                <a:ext uri="{FF2B5EF4-FFF2-40B4-BE49-F238E27FC236}">
                  <a16:creationId xmlns:a16="http://schemas.microsoft.com/office/drawing/2014/main" id="{4D767669-80A7-4F51-A564-13EAB1A2709F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389326"/>
              <a:chOff x="669619" y="2260284"/>
              <a:chExt cx="2712208" cy="1389326"/>
            </a:xfrm>
          </p:grpSpPr>
          <p:grpSp>
            <p:nvGrpSpPr>
              <p:cNvPr id="499" name="Group 498">
                <a:extLst>
                  <a:ext uri="{FF2B5EF4-FFF2-40B4-BE49-F238E27FC236}">
                    <a16:creationId xmlns:a16="http://schemas.microsoft.com/office/drawing/2014/main" id="{092D8361-75D7-4058-4782-9F5181BE41B3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501" name="Elbow Connector 500">
                  <a:extLst>
                    <a:ext uri="{FF2B5EF4-FFF2-40B4-BE49-F238E27FC236}">
                      <a16:creationId xmlns:a16="http://schemas.microsoft.com/office/drawing/2014/main" id="{841EC65F-D7C8-31B1-1309-C9C5C42851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2" name="Straight Connector 501">
                  <a:extLst>
                    <a:ext uri="{FF2B5EF4-FFF2-40B4-BE49-F238E27FC236}">
                      <a16:creationId xmlns:a16="http://schemas.microsoft.com/office/drawing/2014/main" id="{091ADA9B-941C-2905-4A9B-2A66C956E5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E4763DF1-484D-183B-0461-0602DA6C431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649608"/>
                <a:ext cx="768096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98" name="Straight Connector 497">
              <a:extLst>
                <a:ext uri="{FF2B5EF4-FFF2-40B4-BE49-F238E27FC236}">
                  <a16:creationId xmlns:a16="http://schemas.microsoft.com/office/drawing/2014/main" id="{EB23CB9E-D737-38EB-FC49-A941117D12D9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41732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502EB26-D104-1982-D5AD-AA3C5A5A73FA}"/>
              </a:ext>
            </a:extLst>
          </p:cNvPr>
          <p:cNvGrpSpPr/>
          <p:nvPr/>
        </p:nvGrpSpPr>
        <p:grpSpPr>
          <a:xfrm>
            <a:off x="659332" y="2260284"/>
            <a:ext cx="2743200" cy="1409285"/>
            <a:chOff x="659332" y="2260284"/>
            <a:chExt cx="2743200" cy="1409285"/>
          </a:xfrm>
          <a:effectLst>
            <a:glow rad="63500">
              <a:schemeClr val="accent2">
                <a:satMod val="175000"/>
                <a:alpha val="40000"/>
              </a:schemeClr>
            </a:glow>
          </a:effectLst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956E459-4932-6407-9005-44D5322E1494}"/>
                </a:ext>
              </a:extLst>
            </p:cNvPr>
            <p:cNvGrpSpPr/>
            <p:nvPr/>
          </p:nvGrpSpPr>
          <p:grpSpPr>
            <a:xfrm>
              <a:off x="659332" y="2260284"/>
              <a:ext cx="2743200" cy="1409285"/>
              <a:chOff x="659332" y="2260284"/>
              <a:chExt cx="2743200" cy="1409285"/>
            </a:xfrm>
          </p:grpSpPr>
          <p:cxnSp>
            <p:nvCxnSpPr>
              <p:cNvPr id="43" name="Elbow Connector 42">
                <a:extLst>
                  <a:ext uri="{FF2B5EF4-FFF2-40B4-BE49-F238E27FC236}">
                    <a16:creationId xmlns:a16="http://schemas.microsoft.com/office/drawing/2014/main" id="{999635AF-5D89-F9DB-4E56-2B1AF5F7E39D}"/>
                  </a:ext>
                </a:extLst>
              </p:cNvPr>
              <p:cNvCxnSpPr>
                <a:cxnSpLocks/>
                <a:endCxn id="331" idx="1"/>
              </p:cNvCxnSpPr>
              <p:nvPr/>
            </p:nvCxnSpPr>
            <p:spPr>
              <a:xfrm rot="16200000" flipH="1">
                <a:off x="368042" y="2581247"/>
                <a:ext cx="1383680" cy="741756"/>
              </a:xfrm>
              <a:prstGeom prst="bentConnector2">
                <a:avLst/>
              </a:prstGeom>
              <a:ln w="57150">
                <a:solidFill>
                  <a:schemeClr val="accent2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244812E6-7D96-0548-FF55-233F71DB4AF5}"/>
                  </a:ext>
                </a:extLst>
              </p:cNvPr>
              <p:cNvGrpSpPr/>
              <p:nvPr/>
            </p:nvGrpSpPr>
            <p:grpSpPr>
              <a:xfrm>
                <a:off x="1780532" y="2965993"/>
                <a:ext cx="673038" cy="703576"/>
                <a:chOff x="1780532" y="2965993"/>
                <a:chExt cx="673038" cy="703576"/>
              </a:xfrm>
            </p:grpSpPr>
            <p:cxnSp>
              <p:nvCxnSpPr>
                <p:cNvPr id="44" name="Elbow Connector 43">
                  <a:extLst>
                    <a:ext uri="{FF2B5EF4-FFF2-40B4-BE49-F238E27FC236}">
                      <a16:creationId xmlns:a16="http://schemas.microsoft.com/office/drawing/2014/main" id="{57CD4DD1-C661-DDDD-8690-05EC658BEB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1830481" y="3046480"/>
                  <a:ext cx="703576" cy="542602"/>
                </a:xfrm>
                <a:prstGeom prst="bentConnector3">
                  <a:avLst>
                    <a:gd name="adj1" fmla="val 100542"/>
                  </a:avLst>
                </a:prstGeom>
                <a:ln w="57150">
                  <a:solidFill>
                    <a:schemeClr val="accent2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183C6A7F-32B0-A103-8D89-6C0044396D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80532" y="3655540"/>
                  <a:ext cx="130436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232322AA-4823-7F42-CAB2-BDDBDD11B3C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9332" y="2260284"/>
                <a:ext cx="2743200" cy="1985"/>
              </a:xfrm>
              <a:prstGeom prst="line">
                <a:avLst/>
              </a:prstGeom>
              <a:ln w="57150">
                <a:solidFill>
                  <a:schemeClr val="accent2"/>
                </a:solidFill>
                <a:headEnd w="sm" len="sm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Elbow Connector 37">
                <a:extLst>
                  <a:ext uri="{FF2B5EF4-FFF2-40B4-BE49-F238E27FC236}">
                    <a16:creationId xmlns:a16="http://schemas.microsoft.com/office/drawing/2014/main" id="{9535E548-ABB5-A535-73EA-9C062E6452D7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2993946" y="2363686"/>
                <a:ext cx="477525" cy="270723"/>
              </a:xfrm>
              <a:prstGeom prst="bentConnector3">
                <a:avLst>
                  <a:gd name="adj1" fmla="val -5318"/>
                </a:avLst>
              </a:prstGeom>
              <a:ln w="57150">
                <a:solidFill>
                  <a:schemeClr val="accent2"/>
                </a:solidFill>
                <a:headEnd w="sm" len="sm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BA8D900-CEAE-728B-568A-E9839D9715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799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43F900F5-FB47-CCFC-A5EB-A86E21A78CBD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70AF4AB-AD36-4606-54A7-42BD97107341}"/>
              </a:ext>
            </a:extLst>
          </p:cNvPr>
          <p:cNvSpPr txBox="1"/>
          <p:nvPr/>
        </p:nvSpPr>
        <p:spPr>
          <a:xfrm>
            <a:off x="3106523" y="4777354"/>
            <a:ext cx="11192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[31:20]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E05644E1-88E9-CE5B-C6DC-18E4EC34F46D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0D0EA341-24FF-94F9-26AB-B76A98EF4B3A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4DE79B4-A22F-823C-1182-0A5CEE8C5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10280650" algn="r"/>
              </a:tabLst>
            </a:pPr>
            <a:r>
              <a:rPr lang="en-US" dirty="0"/>
              <a:t>Lighting the </a:t>
            </a:r>
            <a:r>
              <a:rPr lang="en-US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LOAD</a:t>
            </a:r>
            <a:r>
              <a:rPr lang="en-US" dirty="0"/>
              <a:t> Datapath (6/7)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745C981D-A870-3C72-69D2-B85EF3EA6A55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35F7213B-7A5B-788B-6155-8F5C038611D4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3516F719-19B3-5576-DCCD-71AB8ADE7158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F4522385-1C2F-80DB-5D96-15ECAE565C98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4ABC646A-7CD0-4949-245A-36263E7A89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BB25CB74-F420-C6E5-1441-1F0871674A1E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27F82856-6A0F-458B-C810-3990595A78FF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3012129C-8880-8CC2-D189-85312FD85391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7E5C90A2-1161-A46C-6BD6-6A8D0696F9CF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" name="TextBox 377">
            <a:extLst>
              <a:ext uri="{FF2B5EF4-FFF2-40B4-BE49-F238E27FC236}">
                <a16:creationId xmlns:a16="http://schemas.microsoft.com/office/drawing/2014/main" id="{7F61D4EC-12FD-1F75-7610-85CD8934E9CE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D1322344-3CFE-48D1-B7B5-2DFBD3E86FF1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36224BF2-6700-9C64-B451-B3B547B539C6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D136A8BD-55B6-D34D-3D44-8656CB7281CF}"/>
              </a:ext>
            </a:extLst>
          </p:cNvPr>
          <p:cNvSpPr txBox="1"/>
          <p:nvPr/>
        </p:nvSpPr>
        <p:spPr>
          <a:xfrm>
            <a:off x="6200437" y="345514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A44BBBBA-3262-8304-9F61-AB432CC1946B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99F6E92E-74F5-3C45-E4C0-ED0BDD1AB4C7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74F520DB-6063-6F8F-7091-6CD16EABB83E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76D0ACF5-9517-AA7F-72D1-99BC47096B5E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7FA4ACF1-75DC-5B90-5A46-47AA691573F7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16FF1174-BE81-71D1-8118-229B0A4D2944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6ABE0EAF-BD5E-E938-3855-FC7C7515A262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2" name="TextBox 421">
            <a:extLst>
              <a:ext uri="{FF2B5EF4-FFF2-40B4-BE49-F238E27FC236}">
                <a16:creationId xmlns:a16="http://schemas.microsoft.com/office/drawing/2014/main" id="{FF296716-0608-6092-5119-D303725EFE89}"/>
              </a:ext>
            </a:extLst>
          </p:cNvPr>
          <p:cNvSpPr txBox="1"/>
          <p:nvPr/>
        </p:nvSpPr>
        <p:spPr>
          <a:xfrm>
            <a:off x="6200437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D7DC1F-1E6D-6C35-7A45-31D4C045A06A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1A84B3-1C2F-5183-D473-5B9B3E209268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944A81-EFE8-7E32-09AB-AA3EC18EE33F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C399F37-3EE1-4972-A735-9ACE1BDE3692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26240530-EC0A-9B99-8A5B-66FAC8DC55C6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F949E74F-0ECA-F9C4-A33F-1B84606BC9DF}"/>
              </a:ext>
            </a:extLst>
          </p:cNvPr>
          <p:cNvSpPr txBox="1"/>
          <p:nvPr/>
        </p:nvSpPr>
        <p:spPr>
          <a:xfrm>
            <a:off x="4062897" y="5552119"/>
            <a:ext cx="817853" cy="304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ImmSel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F4F0F202-BB47-E155-A37B-95157DC78FB4}"/>
              </a:ext>
            </a:extLst>
          </p:cNvPr>
          <p:cNvSpPr txBox="1"/>
          <p:nvPr/>
        </p:nvSpPr>
        <p:spPr>
          <a:xfrm>
            <a:off x="5333604" y="5554208"/>
            <a:ext cx="885179" cy="513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RegWEn</a:t>
            </a:r>
            <a:b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</a:b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18 VAG Rounded Light   02390" pitchFamily="2" charset="0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71DC02A0-C98B-34DC-03F8-1A0C7AA09DE2}"/>
              </a:ext>
            </a:extLst>
          </p:cNvPr>
          <p:cNvSpPr txBox="1"/>
          <p:nvPr/>
        </p:nvSpPr>
        <p:spPr>
          <a:xfrm>
            <a:off x="7558332" y="5524627"/>
            <a:ext cx="449161" cy="2513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BSel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D2381D13-F487-EE48-C548-B384E62EE417}"/>
              </a:ext>
            </a:extLst>
          </p:cNvPr>
          <p:cNvSpPr txBox="1"/>
          <p:nvPr/>
        </p:nvSpPr>
        <p:spPr>
          <a:xfrm>
            <a:off x="8421291" y="5536765"/>
            <a:ext cx="702436" cy="2778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ALUSel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70C30B8E-1BE0-76FC-8A25-23D1C8A70A47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D35332CF-70D0-4257-B5D4-3A63105D0E83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00295BE8-65EB-C8CF-7751-D54217B508DB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4C7B87E6-4375-DD14-8C67-DA4893C6FCB9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rapezoid 13">
            <a:extLst>
              <a:ext uri="{FF2B5EF4-FFF2-40B4-BE49-F238E27FC236}">
                <a16:creationId xmlns:a16="http://schemas.microsoft.com/office/drawing/2014/main" id="{04FAD8E1-DF2C-CA6E-6BBD-BC1FBAC32BF2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6BDBEBAB-F976-B4AE-F139-AC8CF2423694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solidFill>
            <a:srgbClr val="011223"/>
          </a:solidFill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A3B5982-C7CD-A877-EE4A-854D14ECC046}"/>
              </a:ext>
            </a:extLst>
          </p:cNvPr>
          <p:cNvCxnSpPr>
            <a:cxnSpLocks/>
          </p:cNvCxnSpPr>
          <p:nvPr/>
        </p:nvCxnSpPr>
        <p:spPr>
          <a:xfrm>
            <a:off x="6246032" y="3676635"/>
            <a:ext cx="203911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Freeform 318">
            <a:extLst>
              <a:ext uri="{FF2B5EF4-FFF2-40B4-BE49-F238E27FC236}">
                <a16:creationId xmlns:a16="http://schemas.microsoft.com/office/drawing/2014/main" id="{12F7A78C-90E7-9BED-46D5-2C1209C554F5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55DF626-84BA-AED7-AF64-8100847CABCE}"/>
              </a:ext>
            </a:extLst>
          </p:cNvPr>
          <p:cNvCxnSpPr>
            <a:cxnSpLocks/>
          </p:cNvCxnSpPr>
          <p:nvPr/>
        </p:nvCxnSpPr>
        <p:spPr>
          <a:xfrm>
            <a:off x="6261052" y="4241300"/>
            <a:ext cx="1484877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5FEEE5F-B779-D0AF-1154-3D006971D8BA}"/>
              </a:ext>
            </a:extLst>
          </p:cNvPr>
          <p:cNvSpPr txBox="1"/>
          <p:nvPr/>
        </p:nvSpPr>
        <p:spPr>
          <a:xfrm>
            <a:off x="6200437" y="4004802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06EA9E5-7EF9-12C2-8A5E-D50C29EB007C}"/>
              </a:ext>
            </a:extLst>
          </p:cNvPr>
          <p:cNvSpPr txBox="1"/>
          <p:nvPr/>
        </p:nvSpPr>
        <p:spPr>
          <a:xfrm>
            <a:off x="1740001" y="3662940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7EA4E08-D766-1487-EE7E-45B2410CCBC7}"/>
              </a:ext>
            </a:extLst>
          </p:cNvPr>
          <p:cNvCxnSpPr>
            <a:cxnSpLocks/>
          </p:cNvCxnSpPr>
          <p:nvPr/>
        </p:nvCxnSpPr>
        <p:spPr>
          <a:xfrm>
            <a:off x="7996240" y="4431194"/>
            <a:ext cx="301752" cy="149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Freeform 60">
            <a:extLst>
              <a:ext uri="{FF2B5EF4-FFF2-40B4-BE49-F238E27FC236}">
                <a16:creationId xmlns:a16="http://schemas.microsoft.com/office/drawing/2014/main" id="{A2F72675-5D99-AA07-A996-37D9459405BC}"/>
              </a:ext>
            </a:extLst>
          </p:cNvPr>
          <p:cNvSpPr/>
          <p:nvPr/>
        </p:nvSpPr>
        <p:spPr>
          <a:xfrm>
            <a:off x="7685590" y="4433105"/>
            <a:ext cx="405114" cy="94053"/>
          </a:xfrm>
          <a:custGeom>
            <a:avLst/>
            <a:gdLst>
              <a:gd name="connsiteX0" fmla="*/ 0 w 405114"/>
              <a:gd name="connsiteY0" fmla="*/ 150471 h 162045"/>
              <a:gd name="connsiteX1" fmla="*/ 57873 w 405114"/>
              <a:gd name="connsiteY1" fmla="*/ 162045 h 162045"/>
              <a:gd name="connsiteX2" fmla="*/ 104172 w 405114"/>
              <a:gd name="connsiteY2" fmla="*/ 150471 h 162045"/>
              <a:gd name="connsiteX3" fmla="*/ 208344 w 405114"/>
              <a:gd name="connsiteY3" fmla="*/ 92597 h 162045"/>
              <a:gd name="connsiteX4" fmla="*/ 254643 w 405114"/>
              <a:gd name="connsiteY4" fmla="*/ 46298 h 162045"/>
              <a:gd name="connsiteX5" fmla="*/ 358815 w 405114"/>
              <a:gd name="connsiteY5" fmla="*/ 0 h 162045"/>
              <a:gd name="connsiteX6" fmla="*/ 405114 w 405114"/>
              <a:gd name="connsiteY6" fmla="*/ 0 h 162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5114" h="162045">
                <a:moveTo>
                  <a:pt x="0" y="150471"/>
                </a:moveTo>
                <a:cubicBezTo>
                  <a:pt x="19291" y="154329"/>
                  <a:pt x="38200" y="162045"/>
                  <a:pt x="57873" y="162045"/>
                </a:cubicBezTo>
                <a:cubicBezTo>
                  <a:pt x="73781" y="162045"/>
                  <a:pt x="88876" y="154841"/>
                  <a:pt x="104172" y="150471"/>
                </a:cubicBezTo>
                <a:cubicBezTo>
                  <a:pt x="144925" y="138827"/>
                  <a:pt x="175184" y="125757"/>
                  <a:pt x="208344" y="92597"/>
                </a:cubicBezTo>
                <a:cubicBezTo>
                  <a:pt x="223777" y="77164"/>
                  <a:pt x="236483" y="58405"/>
                  <a:pt x="254643" y="46298"/>
                </a:cubicBezTo>
                <a:cubicBezTo>
                  <a:pt x="286113" y="25318"/>
                  <a:pt x="317492" y="0"/>
                  <a:pt x="358815" y="0"/>
                </a:cubicBezTo>
                <a:lnTo>
                  <a:pt x="405114" y="0"/>
                </a:lnTo>
              </a:path>
            </a:pathLst>
          </a:custGeom>
          <a:noFill/>
          <a:ln w="57150">
            <a:solidFill>
              <a:schemeClr val="accent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3675E1FE-AD93-E7BF-8AC9-EE65A377FC9F}"/>
              </a:ext>
            </a:extLst>
          </p:cNvPr>
          <p:cNvCxnSpPr>
            <a:cxnSpLocks/>
          </p:cNvCxnSpPr>
          <p:nvPr/>
        </p:nvCxnSpPr>
        <p:spPr>
          <a:xfrm>
            <a:off x="6246032" y="3676635"/>
            <a:ext cx="2048256" cy="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3" name="TextBox 482">
            <a:extLst>
              <a:ext uri="{FF2B5EF4-FFF2-40B4-BE49-F238E27FC236}">
                <a16:creationId xmlns:a16="http://schemas.microsoft.com/office/drawing/2014/main" id="{B0C7836A-C769-33D0-636D-85B4D3A3F009}"/>
              </a:ext>
            </a:extLst>
          </p:cNvPr>
          <p:cNvSpPr txBox="1"/>
          <p:nvPr/>
        </p:nvSpPr>
        <p:spPr>
          <a:xfrm>
            <a:off x="293424" y="1001583"/>
            <a:ext cx="2639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dirty="0">
                <a:solidFill>
                  <a:schemeClr val="accent2"/>
                </a:solidFill>
                <a:latin typeface="18 VAG Rounded Light   02390" pitchFamily="2" charset="0"/>
              </a:rPr>
              <a:t>Increment PC to next instruction.</a:t>
            </a:r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012C7A57-9D4B-4960-2EFE-22E0085A5951}"/>
              </a:ext>
            </a:extLst>
          </p:cNvPr>
          <p:cNvSpPr txBox="1"/>
          <p:nvPr/>
        </p:nvSpPr>
        <p:spPr>
          <a:xfrm>
            <a:off x="6156903" y="998582"/>
            <a:ext cx="2356549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ALU computes</a:t>
            </a:r>
            <a:b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</a:b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address </a:t>
            </a: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alu =</a:t>
            </a:r>
            <a:b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R[rs1] + </a:t>
            </a:r>
            <a:r>
              <a:rPr lang="en-US" sz="18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.</a:t>
            </a:r>
            <a:endParaRPr lang="en-US" sz="1800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EFEE35E9-0EF4-E0D1-0030-10176E0381E1}"/>
              </a:ext>
            </a:extLst>
          </p:cNvPr>
          <p:cNvSpPr txBox="1"/>
          <p:nvPr/>
        </p:nvSpPr>
        <p:spPr>
          <a:xfrm>
            <a:off x="3118252" y="1001582"/>
            <a:ext cx="2664586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1800" i="1" dirty="0">
                <a:solidFill>
                  <a:schemeClr val="accent5"/>
                </a:solidFill>
                <a:latin typeface="18 VAG Rounded Light   02390" pitchFamily="2" charset="0"/>
              </a:rPr>
              <a:t>Immediate Generation Block </a:t>
            </a: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builds a 32-bit immediate </a:t>
            </a:r>
            <a:r>
              <a:rPr lang="en-US" sz="18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412192D-5320-59FE-F01E-8AAB4EC884D3}"/>
              </a:ext>
            </a:extLst>
          </p:cNvPr>
          <p:cNvGrpSpPr/>
          <p:nvPr/>
        </p:nvGrpSpPr>
        <p:grpSpPr>
          <a:xfrm>
            <a:off x="3062791" y="3425699"/>
            <a:ext cx="4696255" cy="2111811"/>
            <a:chOff x="3062791" y="3425699"/>
            <a:chExt cx="4696255" cy="2111811"/>
          </a:xfrm>
        </p:grpSpPr>
        <p:grpSp>
          <p:nvGrpSpPr>
            <p:cNvPr id="466" name="Group 465">
              <a:extLst>
                <a:ext uri="{FF2B5EF4-FFF2-40B4-BE49-F238E27FC236}">
                  <a16:creationId xmlns:a16="http://schemas.microsoft.com/office/drawing/2014/main" id="{AD35504C-24E4-2712-4744-CA257EC67DA7}"/>
                </a:ext>
              </a:extLst>
            </p:cNvPr>
            <p:cNvGrpSpPr/>
            <p:nvPr/>
          </p:nvGrpSpPr>
          <p:grpSpPr>
            <a:xfrm>
              <a:off x="3191225" y="3962068"/>
              <a:ext cx="4567821" cy="1575442"/>
              <a:chOff x="3191225" y="3962068"/>
              <a:chExt cx="4567821" cy="1575442"/>
            </a:xfrm>
          </p:grpSpPr>
          <p:cxnSp>
            <p:nvCxnSpPr>
              <p:cNvPr id="469" name="Straight Arrow Connector 468">
                <a:extLst>
                  <a:ext uri="{FF2B5EF4-FFF2-40B4-BE49-F238E27FC236}">
                    <a16:creationId xmlns:a16="http://schemas.microsoft.com/office/drawing/2014/main" id="{49A36648-EEDB-45C8-3D73-F2176E72B7CA}"/>
                  </a:ext>
                </a:extLst>
              </p:cNvPr>
              <p:cNvCxnSpPr/>
              <p:nvPr/>
            </p:nvCxnSpPr>
            <p:spPr>
              <a:xfrm>
                <a:off x="3193946" y="3962068"/>
                <a:ext cx="0" cy="1575442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0" name="Straight Arrow Connector 469">
                <a:extLst>
                  <a:ext uri="{FF2B5EF4-FFF2-40B4-BE49-F238E27FC236}">
                    <a16:creationId xmlns:a16="http://schemas.microsoft.com/office/drawing/2014/main" id="{B2EB910E-277B-F484-8AEE-700C5006A01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91225" y="5015025"/>
                <a:ext cx="923544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" name="Elbow Connector 470">
                <a:extLst>
                  <a:ext uri="{FF2B5EF4-FFF2-40B4-BE49-F238E27FC236}">
                    <a16:creationId xmlns:a16="http://schemas.microsoft.com/office/drawing/2014/main" id="{E7E4AF2F-252D-1591-DB51-E3C9664F45EB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>
                <a:off x="4822076" y="4530234"/>
                <a:ext cx="2936970" cy="596712"/>
              </a:xfrm>
              <a:prstGeom prst="bentConnector3">
                <a:avLst>
                  <a:gd name="adj1" fmla="val 92537"/>
                </a:avLst>
              </a:prstGeom>
              <a:ln w="57150">
                <a:solidFill>
                  <a:schemeClr val="accent5"/>
                </a:solidFill>
                <a:tailEnd type="triangle" w="med" len="med"/>
              </a:ln>
              <a:effectLst>
                <a:glow rad="63500">
                  <a:srgbClr val="011223">
                    <a:alpha val="40000"/>
                  </a:srgb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B2F6564-7FD6-1D0D-8712-115870BD1D90}"/>
                </a:ext>
              </a:extLst>
            </p:cNvPr>
            <p:cNvGrpSpPr/>
            <p:nvPr/>
          </p:nvGrpSpPr>
          <p:grpSpPr>
            <a:xfrm>
              <a:off x="3062791" y="3425699"/>
              <a:ext cx="1761928" cy="524103"/>
              <a:chOff x="3062789" y="3425699"/>
              <a:chExt cx="1774643" cy="524103"/>
            </a:xfrm>
          </p:grpSpPr>
          <p:cxnSp>
            <p:nvCxnSpPr>
              <p:cNvPr id="8" name="Elbow Connector 7">
                <a:extLst>
                  <a:ext uri="{FF2B5EF4-FFF2-40B4-BE49-F238E27FC236}">
                    <a16:creationId xmlns:a16="http://schemas.microsoft.com/office/drawing/2014/main" id="{9EF9D7D6-D56F-FE73-CDCF-4B79D098D01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62789" y="3425699"/>
                <a:ext cx="1765694" cy="524103"/>
              </a:xfrm>
              <a:prstGeom prst="bentConnector3">
                <a:avLst>
                  <a:gd name="adj1" fmla="val 17967"/>
                </a:avLst>
              </a:prstGeom>
              <a:ln w="57150">
                <a:solidFill>
                  <a:schemeClr val="accent5"/>
                </a:solidFill>
                <a:headEnd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C2F7974D-338D-B3D5-00E7-BADB446C74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73043" y="3685038"/>
                <a:ext cx="1464389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4" name="Isosceles Triangle 59">
            <a:extLst>
              <a:ext uri="{FF2B5EF4-FFF2-40B4-BE49-F238E27FC236}">
                <a16:creationId xmlns:a16="http://schemas.microsoft.com/office/drawing/2014/main" id="{1583D6A3-BC98-BE13-A207-ED10049BB4A1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781DA58-30B1-575C-1166-A2E9D28E9041}"/>
              </a:ext>
            </a:extLst>
          </p:cNvPr>
          <p:cNvSpPr/>
          <p:nvPr/>
        </p:nvSpPr>
        <p:spPr>
          <a:xfrm>
            <a:off x="9120628" y="3586419"/>
            <a:ext cx="1021734" cy="1127284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</a:t>
            </a: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>
              <a:spcBef>
                <a:spcPts val="400"/>
              </a:spcBef>
              <a:tabLst>
                <a:tab pos="1249363" algn="r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DMEM</a:t>
            </a:r>
          </a:p>
          <a:p>
            <a:pPr>
              <a:spcBef>
                <a:spcPts val="400"/>
              </a:spcBef>
              <a:spcAft>
                <a:spcPts val="400"/>
              </a:spcAft>
              <a:tabLst>
                <a:tab pos="1249363" algn="r"/>
              </a:tabLst>
            </a:pPr>
            <a:r>
              <a:rPr lang="en-US" sz="1200" i="1" dirty="0" err="1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rPr>
              <a:t>wdata</a:t>
            </a:r>
            <a:r>
              <a:rPr lang="en-US" sz="16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rPr>
              <a:t> </a:t>
            </a:r>
            <a:endParaRPr lang="en-US" sz="1200" i="1" dirty="0">
              <a:solidFill>
                <a:schemeClr val="bg1"/>
              </a:solidFill>
              <a:latin typeface="18 VAG ROUNDED LIGHT   02390" pitchFamily="2" charset="0"/>
              <a:cs typeface="Courier New" panose="02070309020205020404" pitchFamily="49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5933037-AA14-FB9C-9958-4D6832057943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6EDCC52-9E68-6484-F91D-798ECEDF848F}"/>
              </a:ext>
            </a:extLst>
          </p:cNvPr>
          <p:cNvCxnSpPr>
            <a:cxnSpLocks/>
            <a:stCxn id="39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B1D6195E-8320-5D82-DD16-7C4CB3A87302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53EA2D3-C6B6-3A91-4D0F-26E710AB2090}"/>
              </a:ext>
            </a:extLst>
          </p:cNvPr>
          <p:cNvCxnSpPr>
            <a:cxnSpLocks/>
          </p:cNvCxnSpPr>
          <p:nvPr/>
        </p:nvCxnSpPr>
        <p:spPr>
          <a:xfrm>
            <a:off x="8861193" y="3967940"/>
            <a:ext cx="29744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B9D5A32-C155-C7B9-2F9A-75666490C442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9631AD0-43D2-AFA4-2B70-0174D0B5CD44}"/>
              </a:ext>
            </a:extLst>
          </p:cNvPr>
          <p:cNvGrpSpPr/>
          <p:nvPr/>
        </p:nvGrpSpPr>
        <p:grpSpPr>
          <a:xfrm>
            <a:off x="3790286" y="2375192"/>
            <a:ext cx="7347065" cy="1124151"/>
            <a:chOff x="3790286" y="2375192"/>
            <a:chExt cx="7347065" cy="1124151"/>
          </a:xfrm>
          <a:effectLst/>
        </p:grpSpPr>
        <p:cxnSp>
          <p:nvCxnSpPr>
            <p:cNvPr id="48" name="Elbow Connector 47">
              <a:extLst>
                <a:ext uri="{FF2B5EF4-FFF2-40B4-BE49-F238E27FC236}">
                  <a16:creationId xmlns:a16="http://schemas.microsoft.com/office/drawing/2014/main" id="{99A26077-81BF-9CFB-AE31-9642400D1B8E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1AB1B159-F4EC-E7EC-674F-0F4F73F9B5EE}"/>
                </a:ext>
              </a:extLst>
            </p:cNvPr>
            <p:cNvCxnSpPr/>
            <p:nvPr/>
          </p:nvCxnSpPr>
          <p:spPr>
            <a:xfrm>
              <a:off x="3790286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Elbow Connector 50">
              <a:extLst>
                <a:ext uri="{FF2B5EF4-FFF2-40B4-BE49-F238E27FC236}">
                  <a16:creationId xmlns:a16="http://schemas.microsoft.com/office/drawing/2014/main" id="{F81BBBFC-BB01-EEEB-45E8-851D06FB4D87}"/>
                </a:ext>
              </a:extLst>
            </p:cNvPr>
            <p:cNvCxnSpPr>
              <a:cxnSpLocks/>
              <a:stCxn id="52" idx="0"/>
            </p:cNvCxnSpPr>
            <p:nvPr/>
          </p:nvCxnSpPr>
          <p:spPr>
            <a:xfrm flipV="1">
              <a:off x="10817058" y="2375192"/>
              <a:ext cx="320293" cy="1124151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rapezoid 51">
            <a:extLst>
              <a:ext uri="{FF2B5EF4-FFF2-40B4-BE49-F238E27FC236}">
                <a16:creationId xmlns:a16="http://schemas.microsoft.com/office/drawing/2014/main" id="{8A29E02A-661D-A5D4-C2A1-FAE96F55BA2A}"/>
              </a:ext>
            </a:extLst>
          </p:cNvPr>
          <p:cNvSpPr/>
          <p:nvPr/>
        </p:nvSpPr>
        <p:spPr>
          <a:xfrm rot="5400000">
            <a:off x="10337532" y="3361302"/>
            <a:ext cx="682970" cy="276082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F3F0B632-8407-2223-E9D1-18B7277F0CDF}"/>
              </a:ext>
            </a:extLst>
          </p:cNvPr>
          <p:cNvCxnSpPr>
            <a:cxnSpLocks/>
          </p:cNvCxnSpPr>
          <p:nvPr/>
        </p:nvCxnSpPr>
        <p:spPr>
          <a:xfrm flipV="1">
            <a:off x="8929306" y="3375224"/>
            <a:ext cx="1611670" cy="592716"/>
          </a:xfrm>
          <a:prstGeom prst="bentConnector3">
            <a:avLst>
              <a:gd name="adj1" fmla="val 288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4487A93E-4C7C-CA19-7C87-A378F90C613D}"/>
              </a:ext>
            </a:extLst>
          </p:cNvPr>
          <p:cNvSpPr txBox="1"/>
          <p:nvPr/>
        </p:nvSpPr>
        <p:spPr>
          <a:xfrm>
            <a:off x="10106672" y="3087231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D2F0871-F93D-3B40-7811-2AE68E5DF071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1" name="Group 480">
            <a:extLst>
              <a:ext uri="{FF2B5EF4-FFF2-40B4-BE49-F238E27FC236}">
                <a16:creationId xmlns:a16="http://schemas.microsoft.com/office/drawing/2014/main" id="{B4F4C7BF-F7D0-7EAC-660E-1E948C1499CA}"/>
              </a:ext>
            </a:extLst>
          </p:cNvPr>
          <p:cNvGrpSpPr/>
          <p:nvPr/>
        </p:nvGrpSpPr>
        <p:grpSpPr>
          <a:xfrm>
            <a:off x="4062897" y="5524627"/>
            <a:ext cx="6835927" cy="752471"/>
            <a:chOff x="4062897" y="5524627"/>
            <a:chExt cx="6835927" cy="75247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E3FDE97-D872-8A8D-1957-AB4748312024}"/>
                </a:ext>
              </a:extLst>
            </p:cNvPr>
            <p:cNvSpPr txBox="1"/>
            <p:nvPr/>
          </p:nvSpPr>
          <p:spPr>
            <a:xfrm>
              <a:off x="4062897" y="5552119"/>
              <a:ext cx="817853" cy="5201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ImmSel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b="1" dirty="0">
                  <a:solidFill>
                    <a:schemeClr val="accent5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EA6BAD6-7011-013D-6DEC-9D10D366EDC6}"/>
                </a:ext>
              </a:extLst>
            </p:cNvPr>
            <p:cNvSpPr txBox="1"/>
            <p:nvPr/>
          </p:nvSpPr>
          <p:spPr>
            <a:xfrm>
              <a:off x="5333604" y="5554208"/>
              <a:ext cx="885179" cy="7228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RegWEn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dirty="0">
                  <a:solidFill>
                    <a:schemeClr val="accent4"/>
                  </a:solidFill>
                  <a:latin typeface="18 VAG Rounded Light   02390" pitchFamily="2" charset="0"/>
                </a:rPr>
                <a:t>1</a:t>
              </a:r>
              <a:br>
                <a:rPr 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18 VAG Rounded Light   02390" pitchFamily="2" charset="0"/>
                </a:rPr>
              </a:br>
              <a:endPara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97B8C13-77E3-4B65-67F9-27334A035862}"/>
                </a:ext>
              </a:extLst>
            </p:cNvPr>
            <p:cNvSpPr txBox="1"/>
            <p:nvPr/>
          </p:nvSpPr>
          <p:spPr>
            <a:xfrm>
              <a:off x="7558332" y="5524627"/>
              <a:ext cx="4491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1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ECA1B17-3B11-ABA5-60B1-BF47AFADF319}"/>
                </a:ext>
              </a:extLst>
            </p:cNvPr>
            <p:cNvSpPr txBox="1"/>
            <p:nvPr/>
          </p:nvSpPr>
          <p:spPr>
            <a:xfrm>
              <a:off x="8421291" y="5536765"/>
              <a:ext cx="702436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ALUSel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1"/>
                  </a:solidFill>
                  <a:latin typeface="18 VAG Rounded Light   02390" pitchFamily="2" charset="0"/>
                </a:rPr>
                <a:t>Add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34505328-A20D-2F3E-69A9-C5B705FFB8BC}"/>
                </a:ext>
              </a:extLst>
            </p:cNvPr>
            <p:cNvSpPr txBox="1"/>
            <p:nvPr/>
          </p:nvSpPr>
          <p:spPr>
            <a:xfrm>
              <a:off x="9285659" y="5555777"/>
              <a:ext cx="817853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MemRW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6"/>
                  </a:solidFill>
                  <a:latin typeface="18 VAG Rounded Light   02390" pitchFamily="2" charset="0"/>
                </a:rPr>
                <a:t>Read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7028E89-0D2A-2F24-8957-1B1CC59686B4}"/>
                </a:ext>
              </a:extLst>
            </p:cNvPr>
            <p:cNvSpPr txBox="1"/>
            <p:nvPr/>
          </p:nvSpPr>
          <p:spPr>
            <a:xfrm>
              <a:off x="10252493" y="5557253"/>
              <a:ext cx="646331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WBSel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4"/>
                  </a:solidFill>
                  <a:latin typeface="18 VAG Rounded Light   02390" pitchFamily="2" charset="0"/>
                </a:rPr>
                <a:t>0</a:t>
              </a:r>
            </a:p>
          </p:txBody>
        </p: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64A5CE2-7D83-AF45-206A-1B80DFE9B959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02C5CE39-A253-941D-998D-A03CF6165CD1}"/>
              </a:ext>
            </a:extLst>
          </p:cNvPr>
          <p:cNvSpPr txBox="1"/>
          <p:nvPr/>
        </p:nvSpPr>
        <p:spPr>
          <a:xfrm>
            <a:off x="8331951" y="998582"/>
            <a:ext cx="2356549" cy="622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800" dirty="0">
                <a:solidFill>
                  <a:schemeClr val="accent6"/>
                </a:solidFill>
                <a:latin typeface="18 VAG Rounded Light   02390" pitchFamily="2" charset="0"/>
              </a:rPr>
              <a:t>Read memory at address </a:t>
            </a:r>
            <a:r>
              <a:rPr lang="en-US" sz="18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alu</a:t>
            </a:r>
            <a:r>
              <a:rPr lang="en-US" sz="1800" dirty="0">
                <a:solidFill>
                  <a:schemeClr val="accent6"/>
                </a:solidFill>
                <a:latin typeface="18 VAG Rounded Light   02390" pitchFamily="2" charset="0"/>
              </a:rPr>
              <a:t>.</a:t>
            </a:r>
            <a:endParaRPr lang="en-US" sz="18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489" name="Group 488">
            <a:extLst>
              <a:ext uri="{FF2B5EF4-FFF2-40B4-BE49-F238E27FC236}">
                <a16:creationId xmlns:a16="http://schemas.microsoft.com/office/drawing/2014/main" id="{218DA3F1-49C2-CF94-5A02-315907BCDD7F}"/>
              </a:ext>
            </a:extLst>
          </p:cNvPr>
          <p:cNvGrpSpPr/>
          <p:nvPr/>
        </p:nvGrpSpPr>
        <p:grpSpPr>
          <a:xfrm>
            <a:off x="8868629" y="3366696"/>
            <a:ext cx="1685023" cy="597529"/>
            <a:chOff x="8868629" y="3366696"/>
            <a:chExt cx="1685023" cy="597529"/>
          </a:xfrm>
        </p:grpSpPr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771A52B7-3647-3AE7-C072-58A80E1C1884}"/>
                </a:ext>
              </a:extLst>
            </p:cNvPr>
            <p:cNvCxnSpPr>
              <a:cxnSpLocks/>
            </p:cNvCxnSpPr>
            <p:nvPr/>
          </p:nvCxnSpPr>
          <p:spPr>
            <a:xfrm>
              <a:off x="8868629" y="3964225"/>
              <a:ext cx="297442" cy="0"/>
            </a:xfrm>
            <a:prstGeom prst="straightConnector1">
              <a:avLst/>
            </a:prstGeom>
            <a:ln w="57150">
              <a:solidFill>
                <a:schemeClr val="accent6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88" name="Group 487">
              <a:extLst>
                <a:ext uri="{FF2B5EF4-FFF2-40B4-BE49-F238E27FC236}">
                  <a16:creationId xmlns:a16="http://schemas.microsoft.com/office/drawing/2014/main" id="{9D5F3BF2-0C69-E73F-64F6-35B54F902EEC}"/>
                </a:ext>
              </a:extLst>
            </p:cNvPr>
            <p:cNvGrpSpPr/>
            <p:nvPr/>
          </p:nvGrpSpPr>
          <p:grpSpPr>
            <a:xfrm>
              <a:off x="8937740" y="3366696"/>
              <a:ext cx="1615912" cy="592716"/>
              <a:chOff x="8937740" y="3366696"/>
              <a:chExt cx="1615912" cy="592716"/>
            </a:xfrm>
          </p:grpSpPr>
          <p:cxnSp>
            <p:nvCxnSpPr>
              <p:cNvPr id="449" name="Straight Arrow Connector 448">
                <a:extLst>
                  <a:ext uri="{FF2B5EF4-FFF2-40B4-BE49-F238E27FC236}">
                    <a16:creationId xmlns:a16="http://schemas.microsoft.com/office/drawing/2014/main" id="{C8B18B15-6A7F-DEE7-06DD-7E857743602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50196" y="3703397"/>
                <a:ext cx="403456" cy="7631"/>
              </a:xfrm>
              <a:prstGeom prst="straightConnector1">
                <a:avLst/>
              </a:prstGeom>
              <a:ln w="57150">
                <a:solidFill>
                  <a:schemeClr val="accent6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Elbow Connector 486">
                <a:extLst>
                  <a:ext uri="{FF2B5EF4-FFF2-40B4-BE49-F238E27FC236}">
                    <a16:creationId xmlns:a16="http://schemas.microsoft.com/office/drawing/2014/main" id="{E0A9D804-F205-BBFA-0D22-85A5DB9C6E9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937740" y="3366696"/>
                <a:ext cx="1611670" cy="592716"/>
              </a:xfrm>
              <a:prstGeom prst="bentConnector3">
                <a:avLst>
                  <a:gd name="adj1" fmla="val 288"/>
                </a:avLst>
              </a:prstGeom>
              <a:ln w="57150">
                <a:solidFill>
                  <a:schemeClr val="accent6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164423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48420-8EA9-8871-1D2D-AFD66D93A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A2D9CC0-0B57-C071-44CC-BBA438B912DC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D759EBA8-EA2E-2D7F-70CA-DF1053D91ACE}"/>
              </a:ext>
            </a:extLst>
          </p:cNvPr>
          <p:cNvCxnSpPr>
            <a:cxnSpLocks/>
            <a:stCxn id="20" idx="0"/>
          </p:cNvCxnSpPr>
          <p:nvPr/>
        </p:nvCxnSpPr>
        <p:spPr>
          <a:xfrm rot="5400000" flipH="1" flipV="1">
            <a:off x="1830481" y="3046480"/>
            <a:ext cx="703576" cy="542602"/>
          </a:xfrm>
          <a:prstGeom prst="bentConnector3">
            <a:avLst>
              <a:gd name="adj1" fmla="val 100542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6" name="Group 495">
            <a:extLst>
              <a:ext uri="{FF2B5EF4-FFF2-40B4-BE49-F238E27FC236}">
                <a16:creationId xmlns:a16="http://schemas.microsoft.com/office/drawing/2014/main" id="{7F34698E-5FE0-4BAD-3E8F-3709041D6226}"/>
              </a:ext>
            </a:extLst>
          </p:cNvPr>
          <p:cNvGrpSpPr/>
          <p:nvPr/>
        </p:nvGrpSpPr>
        <p:grpSpPr>
          <a:xfrm>
            <a:off x="659332" y="2260284"/>
            <a:ext cx="2712208" cy="1417320"/>
            <a:chOff x="669619" y="2248996"/>
            <a:chExt cx="2712208" cy="1417320"/>
          </a:xfrm>
        </p:grpSpPr>
        <p:grpSp>
          <p:nvGrpSpPr>
            <p:cNvPr id="497" name="Group 496">
              <a:extLst>
                <a:ext uri="{FF2B5EF4-FFF2-40B4-BE49-F238E27FC236}">
                  <a16:creationId xmlns:a16="http://schemas.microsoft.com/office/drawing/2014/main" id="{F524CFFA-3C97-E230-39B8-07736E69B48C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389326"/>
              <a:chOff x="669619" y="2260284"/>
              <a:chExt cx="2712208" cy="1389326"/>
            </a:xfrm>
          </p:grpSpPr>
          <p:grpSp>
            <p:nvGrpSpPr>
              <p:cNvPr id="499" name="Group 498">
                <a:extLst>
                  <a:ext uri="{FF2B5EF4-FFF2-40B4-BE49-F238E27FC236}">
                    <a16:creationId xmlns:a16="http://schemas.microsoft.com/office/drawing/2014/main" id="{477011CD-CC6A-465F-EB19-0D0FE6CC3039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501" name="Elbow Connector 500">
                  <a:extLst>
                    <a:ext uri="{FF2B5EF4-FFF2-40B4-BE49-F238E27FC236}">
                      <a16:creationId xmlns:a16="http://schemas.microsoft.com/office/drawing/2014/main" id="{DFBF9999-E888-FDE1-B6A6-A750C2F0F58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2" name="Straight Connector 501">
                  <a:extLst>
                    <a:ext uri="{FF2B5EF4-FFF2-40B4-BE49-F238E27FC236}">
                      <a16:creationId xmlns:a16="http://schemas.microsoft.com/office/drawing/2014/main" id="{91D933FF-A475-166F-328E-0D9DBBA3D8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35BD8A17-F7AE-12B5-B4E0-4E47C9FFE48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649608"/>
                <a:ext cx="768096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98" name="Straight Connector 497">
              <a:extLst>
                <a:ext uri="{FF2B5EF4-FFF2-40B4-BE49-F238E27FC236}">
                  <a16:creationId xmlns:a16="http://schemas.microsoft.com/office/drawing/2014/main" id="{7B770C34-D3E9-F745-5B38-650AA287CFE1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41732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3EE03C5-9D55-D6BF-2C71-CDCD27E1793E}"/>
              </a:ext>
            </a:extLst>
          </p:cNvPr>
          <p:cNvGrpSpPr/>
          <p:nvPr/>
        </p:nvGrpSpPr>
        <p:grpSpPr>
          <a:xfrm>
            <a:off x="659332" y="2260284"/>
            <a:ext cx="2743200" cy="1409285"/>
            <a:chOff x="659332" y="2260284"/>
            <a:chExt cx="2743200" cy="1409285"/>
          </a:xfrm>
          <a:effectLst>
            <a:glow rad="63500">
              <a:schemeClr val="accent2">
                <a:satMod val="175000"/>
                <a:alpha val="40000"/>
              </a:schemeClr>
            </a:glow>
          </a:effectLst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68540C5-BDA7-EE8B-6E72-2E91AFCF3462}"/>
                </a:ext>
              </a:extLst>
            </p:cNvPr>
            <p:cNvGrpSpPr/>
            <p:nvPr/>
          </p:nvGrpSpPr>
          <p:grpSpPr>
            <a:xfrm>
              <a:off x="659332" y="2260284"/>
              <a:ext cx="2743200" cy="1409285"/>
              <a:chOff x="659332" y="2260284"/>
              <a:chExt cx="2743200" cy="1409285"/>
            </a:xfrm>
          </p:grpSpPr>
          <p:cxnSp>
            <p:nvCxnSpPr>
              <p:cNvPr id="43" name="Elbow Connector 42">
                <a:extLst>
                  <a:ext uri="{FF2B5EF4-FFF2-40B4-BE49-F238E27FC236}">
                    <a16:creationId xmlns:a16="http://schemas.microsoft.com/office/drawing/2014/main" id="{22009DE4-911F-B7A6-9B36-EAAD40EFF736}"/>
                  </a:ext>
                </a:extLst>
              </p:cNvPr>
              <p:cNvCxnSpPr>
                <a:cxnSpLocks/>
                <a:endCxn id="331" idx="1"/>
              </p:cNvCxnSpPr>
              <p:nvPr/>
            </p:nvCxnSpPr>
            <p:spPr>
              <a:xfrm rot="16200000" flipH="1">
                <a:off x="368042" y="2581247"/>
                <a:ext cx="1383680" cy="741756"/>
              </a:xfrm>
              <a:prstGeom prst="bentConnector2">
                <a:avLst/>
              </a:prstGeom>
              <a:ln w="57150">
                <a:solidFill>
                  <a:schemeClr val="accent2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35D7D6C1-06DA-12E1-8F5E-C7E0166273E5}"/>
                  </a:ext>
                </a:extLst>
              </p:cNvPr>
              <p:cNvGrpSpPr/>
              <p:nvPr/>
            </p:nvGrpSpPr>
            <p:grpSpPr>
              <a:xfrm>
                <a:off x="1780532" y="2965993"/>
                <a:ext cx="673038" cy="703576"/>
                <a:chOff x="1780532" y="2965993"/>
                <a:chExt cx="673038" cy="703576"/>
              </a:xfrm>
            </p:grpSpPr>
            <p:cxnSp>
              <p:nvCxnSpPr>
                <p:cNvPr id="44" name="Elbow Connector 43">
                  <a:extLst>
                    <a:ext uri="{FF2B5EF4-FFF2-40B4-BE49-F238E27FC236}">
                      <a16:creationId xmlns:a16="http://schemas.microsoft.com/office/drawing/2014/main" id="{693E0576-66CC-E882-DFC8-DF1011D7A6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1830481" y="3046480"/>
                  <a:ext cx="703576" cy="542602"/>
                </a:xfrm>
                <a:prstGeom prst="bentConnector3">
                  <a:avLst>
                    <a:gd name="adj1" fmla="val 100542"/>
                  </a:avLst>
                </a:prstGeom>
                <a:ln w="57150">
                  <a:solidFill>
                    <a:schemeClr val="accent2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4B7C1B91-07FD-55B8-2FF2-05A02993EC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80532" y="3655540"/>
                  <a:ext cx="130436" cy="0"/>
                </a:xfrm>
                <a:prstGeom prst="line">
                  <a:avLst/>
                </a:prstGeom>
                <a:ln w="57150">
                  <a:solidFill>
                    <a:schemeClr val="accent2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837B43D8-D7E8-A1FE-342B-48A1B1D8E81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9332" y="2260284"/>
                <a:ext cx="2743200" cy="1985"/>
              </a:xfrm>
              <a:prstGeom prst="line">
                <a:avLst/>
              </a:prstGeom>
              <a:ln w="57150">
                <a:solidFill>
                  <a:schemeClr val="accent2"/>
                </a:solidFill>
                <a:headEnd w="sm" len="sm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Elbow Connector 37">
                <a:extLst>
                  <a:ext uri="{FF2B5EF4-FFF2-40B4-BE49-F238E27FC236}">
                    <a16:creationId xmlns:a16="http://schemas.microsoft.com/office/drawing/2014/main" id="{2B4388A1-77D2-4943-9EAD-AF57C7A1B20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2993946" y="2363686"/>
                <a:ext cx="477525" cy="270723"/>
              </a:xfrm>
              <a:prstGeom prst="bentConnector3">
                <a:avLst>
                  <a:gd name="adj1" fmla="val -5318"/>
                </a:avLst>
              </a:prstGeom>
              <a:ln w="57150">
                <a:solidFill>
                  <a:schemeClr val="accent2"/>
                </a:solidFill>
                <a:headEnd w="sm" len="sm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39BDC389-0272-474B-5446-F6FA091DA4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799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EB08FF6-DCA4-790D-7B5F-69E74BF82C25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C2363C4-835C-E0A4-2DA4-37FAB12361C2}"/>
              </a:ext>
            </a:extLst>
          </p:cNvPr>
          <p:cNvSpPr txBox="1"/>
          <p:nvPr/>
        </p:nvSpPr>
        <p:spPr>
          <a:xfrm>
            <a:off x="3106523" y="4777354"/>
            <a:ext cx="11192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[31:20]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19D4B2B3-769F-CF30-D3B6-F5378A8B9FF0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A52332AE-760E-D206-F7DD-71B8C1F13782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C3EF843-8E72-5751-934A-C4352379D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10280650" algn="r"/>
              </a:tabLst>
            </a:pPr>
            <a:r>
              <a:rPr lang="en-US" dirty="0"/>
              <a:t>Lighting the </a:t>
            </a:r>
            <a:r>
              <a:rPr lang="en-US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LOAD</a:t>
            </a:r>
            <a:r>
              <a:rPr lang="en-US" dirty="0"/>
              <a:t> Datapath (7/7)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4E6044F4-12D2-0B93-C8F1-5C105C03C32F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6B9C7F09-998C-0272-3C24-2DD1241A2371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12883E4A-5CC6-7A32-9230-27BE0E10CA7A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FB5197A3-40BC-B5C6-F198-74D6AFF2F937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C5ADD365-7625-9BB4-B69E-7753553742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0A512842-E61B-D036-212E-19607A18B5F0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CF5D1721-145A-F6F3-325D-CA575EDF8306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23C3DE59-9C1A-8904-2B34-4BE043B89BB0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46F4D745-8A2B-0A3D-7D04-5A570E3249A7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" name="TextBox 377">
            <a:extLst>
              <a:ext uri="{FF2B5EF4-FFF2-40B4-BE49-F238E27FC236}">
                <a16:creationId xmlns:a16="http://schemas.microsoft.com/office/drawing/2014/main" id="{11DF2463-03C3-EDDB-5909-7E367401676D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73CD6C15-63AC-DE5E-6C92-571E23279883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A8D4FD16-3C65-CEFF-F9B7-2C56C5005C4E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9EE89B74-F4F8-1C30-B7C4-05E346DB789B}"/>
              </a:ext>
            </a:extLst>
          </p:cNvPr>
          <p:cNvSpPr txBox="1"/>
          <p:nvPr/>
        </p:nvSpPr>
        <p:spPr>
          <a:xfrm>
            <a:off x="6200437" y="345514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C7438798-1B53-8BE9-7392-FDC32F84A218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D69EB06B-DC4A-DC9D-6DAF-2DD5B008DC0C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6DF48C16-0E57-F8AA-7B74-01D9B971B7C9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1014DEB4-0888-B561-C88E-285A5034B3C3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C6AE29DD-5415-D54D-371C-CE1C8297BE01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52C74182-35BB-E3A6-473A-CF522B834ABA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61C00F8B-1565-A37D-0BC4-0E79637D7035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2" name="TextBox 421">
            <a:extLst>
              <a:ext uri="{FF2B5EF4-FFF2-40B4-BE49-F238E27FC236}">
                <a16:creationId xmlns:a16="http://schemas.microsoft.com/office/drawing/2014/main" id="{78003529-B377-606E-8227-8891BBA341F9}"/>
              </a:ext>
            </a:extLst>
          </p:cNvPr>
          <p:cNvSpPr txBox="1"/>
          <p:nvPr/>
        </p:nvSpPr>
        <p:spPr>
          <a:xfrm>
            <a:off x="6200437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7C0738-C2A4-7778-78C2-50BF1AEABC40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4525D6-F214-79B9-245E-FE45B80E0E4B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6567911-525D-E0D0-0173-C9B22B338EA8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06591AC-EF7D-9823-433C-6807CFA85D0F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4295B037-92A5-3EA6-FBBD-315991AA6131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FB57CC25-5F08-8048-49D1-A9103BD0B423}"/>
              </a:ext>
            </a:extLst>
          </p:cNvPr>
          <p:cNvSpPr txBox="1"/>
          <p:nvPr/>
        </p:nvSpPr>
        <p:spPr>
          <a:xfrm>
            <a:off x="4062897" y="5552119"/>
            <a:ext cx="817853" cy="304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ImmSel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192E7A37-D0BD-4A02-C55D-78355DAB7C35}"/>
              </a:ext>
            </a:extLst>
          </p:cNvPr>
          <p:cNvSpPr txBox="1"/>
          <p:nvPr/>
        </p:nvSpPr>
        <p:spPr>
          <a:xfrm>
            <a:off x="5333604" y="5554208"/>
            <a:ext cx="885179" cy="513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RegWEn</a:t>
            </a:r>
            <a:b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</a:b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18 VAG Rounded Light   02390" pitchFamily="2" charset="0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F0121039-9853-3E09-205B-82EEDB836F5A}"/>
              </a:ext>
            </a:extLst>
          </p:cNvPr>
          <p:cNvSpPr txBox="1"/>
          <p:nvPr/>
        </p:nvSpPr>
        <p:spPr>
          <a:xfrm>
            <a:off x="7558332" y="5524627"/>
            <a:ext cx="449161" cy="2513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BSel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D87201BE-CBCE-7CBA-4304-B3A457388514}"/>
              </a:ext>
            </a:extLst>
          </p:cNvPr>
          <p:cNvSpPr txBox="1"/>
          <p:nvPr/>
        </p:nvSpPr>
        <p:spPr>
          <a:xfrm>
            <a:off x="8421291" y="5536765"/>
            <a:ext cx="702436" cy="2778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ALUSel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E90811D4-A34D-C6B2-7F80-789F6EAA3105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E43756E5-C12F-801B-4838-C133DCACEC3B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A9E6850F-EA43-30A2-0F8E-140FAFD13C4A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C89C82B4-BDEE-F59C-DD95-11003BA4D685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rapezoid 13">
            <a:extLst>
              <a:ext uri="{FF2B5EF4-FFF2-40B4-BE49-F238E27FC236}">
                <a16:creationId xmlns:a16="http://schemas.microsoft.com/office/drawing/2014/main" id="{560CD262-110D-2D4A-E97E-5E0CC0F51B87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E43D31C2-0DE1-9FA5-067B-CC09146A54D8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solidFill>
            <a:srgbClr val="011223"/>
          </a:solidFill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BDE9EC4-3E83-E132-C71D-6052AD228449}"/>
              </a:ext>
            </a:extLst>
          </p:cNvPr>
          <p:cNvCxnSpPr>
            <a:cxnSpLocks/>
          </p:cNvCxnSpPr>
          <p:nvPr/>
        </p:nvCxnSpPr>
        <p:spPr>
          <a:xfrm>
            <a:off x="6246032" y="3676635"/>
            <a:ext cx="203911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Freeform 318">
            <a:extLst>
              <a:ext uri="{FF2B5EF4-FFF2-40B4-BE49-F238E27FC236}">
                <a16:creationId xmlns:a16="http://schemas.microsoft.com/office/drawing/2014/main" id="{FE78BE64-2EB9-6B71-5BD0-91361EA3399D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EEC7CEB-FE35-011C-983B-16FB5B009318}"/>
              </a:ext>
            </a:extLst>
          </p:cNvPr>
          <p:cNvCxnSpPr>
            <a:cxnSpLocks/>
          </p:cNvCxnSpPr>
          <p:nvPr/>
        </p:nvCxnSpPr>
        <p:spPr>
          <a:xfrm>
            <a:off x="6261052" y="4241300"/>
            <a:ext cx="1484877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871D7B5-BB6D-405E-41EE-65386C77D835}"/>
              </a:ext>
            </a:extLst>
          </p:cNvPr>
          <p:cNvSpPr txBox="1"/>
          <p:nvPr/>
        </p:nvSpPr>
        <p:spPr>
          <a:xfrm>
            <a:off x="6200437" y="4004802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5AC71D8-6B03-17F3-A728-7FA8C8C4F4B3}"/>
              </a:ext>
            </a:extLst>
          </p:cNvPr>
          <p:cNvSpPr txBox="1"/>
          <p:nvPr/>
        </p:nvSpPr>
        <p:spPr>
          <a:xfrm>
            <a:off x="1740001" y="3662940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C4E4265-0638-7F05-89A7-7701937DC394}"/>
              </a:ext>
            </a:extLst>
          </p:cNvPr>
          <p:cNvCxnSpPr>
            <a:cxnSpLocks/>
          </p:cNvCxnSpPr>
          <p:nvPr/>
        </p:nvCxnSpPr>
        <p:spPr>
          <a:xfrm>
            <a:off x="7996240" y="4431194"/>
            <a:ext cx="301752" cy="149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Freeform 60">
            <a:extLst>
              <a:ext uri="{FF2B5EF4-FFF2-40B4-BE49-F238E27FC236}">
                <a16:creationId xmlns:a16="http://schemas.microsoft.com/office/drawing/2014/main" id="{3A5F6BA6-6FD2-BAA3-C8A9-D8CD66D78822}"/>
              </a:ext>
            </a:extLst>
          </p:cNvPr>
          <p:cNvSpPr/>
          <p:nvPr/>
        </p:nvSpPr>
        <p:spPr>
          <a:xfrm>
            <a:off x="7685590" y="4433105"/>
            <a:ext cx="405114" cy="94053"/>
          </a:xfrm>
          <a:custGeom>
            <a:avLst/>
            <a:gdLst>
              <a:gd name="connsiteX0" fmla="*/ 0 w 405114"/>
              <a:gd name="connsiteY0" fmla="*/ 150471 h 162045"/>
              <a:gd name="connsiteX1" fmla="*/ 57873 w 405114"/>
              <a:gd name="connsiteY1" fmla="*/ 162045 h 162045"/>
              <a:gd name="connsiteX2" fmla="*/ 104172 w 405114"/>
              <a:gd name="connsiteY2" fmla="*/ 150471 h 162045"/>
              <a:gd name="connsiteX3" fmla="*/ 208344 w 405114"/>
              <a:gd name="connsiteY3" fmla="*/ 92597 h 162045"/>
              <a:gd name="connsiteX4" fmla="*/ 254643 w 405114"/>
              <a:gd name="connsiteY4" fmla="*/ 46298 h 162045"/>
              <a:gd name="connsiteX5" fmla="*/ 358815 w 405114"/>
              <a:gd name="connsiteY5" fmla="*/ 0 h 162045"/>
              <a:gd name="connsiteX6" fmla="*/ 405114 w 405114"/>
              <a:gd name="connsiteY6" fmla="*/ 0 h 162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5114" h="162045">
                <a:moveTo>
                  <a:pt x="0" y="150471"/>
                </a:moveTo>
                <a:cubicBezTo>
                  <a:pt x="19291" y="154329"/>
                  <a:pt x="38200" y="162045"/>
                  <a:pt x="57873" y="162045"/>
                </a:cubicBezTo>
                <a:cubicBezTo>
                  <a:pt x="73781" y="162045"/>
                  <a:pt x="88876" y="154841"/>
                  <a:pt x="104172" y="150471"/>
                </a:cubicBezTo>
                <a:cubicBezTo>
                  <a:pt x="144925" y="138827"/>
                  <a:pt x="175184" y="125757"/>
                  <a:pt x="208344" y="92597"/>
                </a:cubicBezTo>
                <a:cubicBezTo>
                  <a:pt x="223777" y="77164"/>
                  <a:pt x="236483" y="58405"/>
                  <a:pt x="254643" y="46298"/>
                </a:cubicBezTo>
                <a:cubicBezTo>
                  <a:pt x="286113" y="25318"/>
                  <a:pt x="317492" y="0"/>
                  <a:pt x="358815" y="0"/>
                </a:cubicBezTo>
                <a:lnTo>
                  <a:pt x="405114" y="0"/>
                </a:lnTo>
              </a:path>
            </a:pathLst>
          </a:custGeom>
          <a:noFill/>
          <a:ln w="57150">
            <a:solidFill>
              <a:schemeClr val="accent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F35310FB-B1B7-D058-44ED-05A5A6857B2B}"/>
              </a:ext>
            </a:extLst>
          </p:cNvPr>
          <p:cNvCxnSpPr>
            <a:cxnSpLocks/>
          </p:cNvCxnSpPr>
          <p:nvPr/>
        </p:nvCxnSpPr>
        <p:spPr>
          <a:xfrm>
            <a:off x="6246032" y="3676635"/>
            <a:ext cx="2048256" cy="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3" name="TextBox 482">
            <a:extLst>
              <a:ext uri="{FF2B5EF4-FFF2-40B4-BE49-F238E27FC236}">
                <a16:creationId xmlns:a16="http://schemas.microsoft.com/office/drawing/2014/main" id="{C83791B0-F696-EF6A-5C96-A2DC50EECA1D}"/>
              </a:ext>
            </a:extLst>
          </p:cNvPr>
          <p:cNvSpPr txBox="1"/>
          <p:nvPr/>
        </p:nvSpPr>
        <p:spPr>
          <a:xfrm>
            <a:off x="293424" y="1001583"/>
            <a:ext cx="2639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dirty="0">
                <a:solidFill>
                  <a:schemeClr val="accent2"/>
                </a:solidFill>
                <a:latin typeface="18 VAG Rounded Light   02390" pitchFamily="2" charset="0"/>
              </a:rPr>
              <a:t>Increment PC to next instruction.</a:t>
            </a:r>
          </a:p>
        </p:txBody>
      </p:sp>
      <p:sp>
        <p:nvSpPr>
          <p:cNvPr id="484" name="TextBox 483">
            <a:extLst>
              <a:ext uri="{FF2B5EF4-FFF2-40B4-BE49-F238E27FC236}">
                <a16:creationId xmlns:a16="http://schemas.microsoft.com/office/drawing/2014/main" id="{25F15EF8-2B76-7FC5-0AF0-19153F8667FE}"/>
              </a:ext>
            </a:extLst>
          </p:cNvPr>
          <p:cNvSpPr txBox="1"/>
          <p:nvPr/>
        </p:nvSpPr>
        <p:spPr>
          <a:xfrm>
            <a:off x="10229952" y="998582"/>
            <a:ext cx="19071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4"/>
                </a:solidFill>
                <a:latin typeface="18 VAG Rounded Light   02390" pitchFamily="2" charset="0"/>
              </a:rPr>
              <a:t>Write loaded memory value </a:t>
            </a:r>
            <a:r>
              <a:rPr lang="en-US" sz="20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mem</a:t>
            </a:r>
            <a:r>
              <a:rPr lang="en-US" sz="2000" dirty="0">
                <a:solidFill>
                  <a:schemeClr val="accent4"/>
                </a:solidFill>
                <a:latin typeface="18 VAG Rounded Light   02390" pitchFamily="2" charset="0"/>
              </a:rPr>
              <a:t> to register.</a:t>
            </a:r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42B7A141-3FB3-39CF-28C0-67FD9B4D5B97}"/>
              </a:ext>
            </a:extLst>
          </p:cNvPr>
          <p:cNvSpPr txBox="1"/>
          <p:nvPr/>
        </p:nvSpPr>
        <p:spPr>
          <a:xfrm>
            <a:off x="6156903" y="998582"/>
            <a:ext cx="2356549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ALU computes</a:t>
            </a:r>
            <a:b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</a:b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address </a:t>
            </a: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alu =</a:t>
            </a:r>
            <a:b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R[rs1] + </a:t>
            </a:r>
            <a:r>
              <a:rPr lang="en-US" sz="18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.</a:t>
            </a:r>
            <a:endParaRPr lang="en-US" sz="1800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5050955F-0E25-A4FD-31DE-00D2F384346C}"/>
              </a:ext>
            </a:extLst>
          </p:cNvPr>
          <p:cNvSpPr txBox="1"/>
          <p:nvPr/>
        </p:nvSpPr>
        <p:spPr>
          <a:xfrm>
            <a:off x="3118252" y="1001582"/>
            <a:ext cx="2664586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1800" i="1" dirty="0">
                <a:solidFill>
                  <a:schemeClr val="accent5"/>
                </a:solidFill>
                <a:latin typeface="18 VAG Rounded Light   02390" pitchFamily="2" charset="0"/>
              </a:rPr>
              <a:t>Immediate Generation Block </a:t>
            </a: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builds a 32-bit immediate </a:t>
            </a:r>
            <a:r>
              <a:rPr lang="en-US" sz="18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8186798-8731-FAD9-A708-6812446DA745}"/>
              </a:ext>
            </a:extLst>
          </p:cNvPr>
          <p:cNvGrpSpPr/>
          <p:nvPr/>
        </p:nvGrpSpPr>
        <p:grpSpPr>
          <a:xfrm>
            <a:off x="3062791" y="3425699"/>
            <a:ext cx="4696255" cy="2111811"/>
            <a:chOff x="3062791" y="3425699"/>
            <a:chExt cx="4696255" cy="2111811"/>
          </a:xfrm>
        </p:grpSpPr>
        <p:grpSp>
          <p:nvGrpSpPr>
            <p:cNvPr id="466" name="Group 465">
              <a:extLst>
                <a:ext uri="{FF2B5EF4-FFF2-40B4-BE49-F238E27FC236}">
                  <a16:creationId xmlns:a16="http://schemas.microsoft.com/office/drawing/2014/main" id="{D0A96BF0-68CC-C3F5-B608-FB82DD213E95}"/>
                </a:ext>
              </a:extLst>
            </p:cNvPr>
            <p:cNvGrpSpPr/>
            <p:nvPr/>
          </p:nvGrpSpPr>
          <p:grpSpPr>
            <a:xfrm>
              <a:off x="3191225" y="3962068"/>
              <a:ext cx="4567821" cy="1575442"/>
              <a:chOff x="3191225" y="3962068"/>
              <a:chExt cx="4567821" cy="1575442"/>
            </a:xfrm>
          </p:grpSpPr>
          <p:cxnSp>
            <p:nvCxnSpPr>
              <p:cNvPr id="469" name="Straight Arrow Connector 468">
                <a:extLst>
                  <a:ext uri="{FF2B5EF4-FFF2-40B4-BE49-F238E27FC236}">
                    <a16:creationId xmlns:a16="http://schemas.microsoft.com/office/drawing/2014/main" id="{0761088F-66CE-9D31-3922-89FA48E1D33A}"/>
                  </a:ext>
                </a:extLst>
              </p:cNvPr>
              <p:cNvCxnSpPr/>
              <p:nvPr/>
            </p:nvCxnSpPr>
            <p:spPr>
              <a:xfrm>
                <a:off x="3193946" y="3962068"/>
                <a:ext cx="0" cy="1575442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0" name="Straight Arrow Connector 469">
                <a:extLst>
                  <a:ext uri="{FF2B5EF4-FFF2-40B4-BE49-F238E27FC236}">
                    <a16:creationId xmlns:a16="http://schemas.microsoft.com/office/drawing/2014/main" id="{B6207074-FB47-1868-9FC1-8FAA41B82B4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91225" y="5015025"/>
                <a:ext cx="923544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" name="Elbow Connector 470">
                <a:extLst>
                  <a:ext uri="{FF2B5EF4-FFF2-40B4-BE49-F238E27FC236}">
                    <a16:creationId xmlns:a16="http://schemas.microsoft.com/office/drawing/2014/main" id="{D8C864CB-C5A0-BE2C-A8F3-20D6912C6908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>
                <a:off x="4822076" y="4530234"/>
                <a:ext cx="2936970" cy="596712"/>
              </a:xfrm>
              <a:prstGeom prst="bentConnector3">
                <a:avLst>
                  <a:gd name="adj1" fmla="val 92537"/>
                </a:avLst>
              </a:prstGeom>
              <a:ln w="57150">
                <a:solidFill>
                  <a:schemeClr val="accent5"/>
                </a:solidFill>
                <a:tailEnd type="triangle" w="med" len="med"/>
              </a:ln>
              <a:effectLst>
                <a:glow rad="63500">
                  <a:srgbClr val="011223">
                    <a:alpha val="40000"/>
                  </a:srgb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F0122C4-68F2-2C84-4AB7-8EF2E38B0611}"/>
                </a:ext>
              </a:extLst>
            </p:cNvPr>
            <p:cNvGrpSpPr/>
            <p:nvPr/>
          </p:nvGrpSpPr>
          <p:grpSpPr>
            <a:xfrm>
              <a:off x="3062791" y="3425699"/>
              <a:ext cx="1761928" cy="524103"/>
              <a:chOff x="3062789" y="3425699"/>
              <a:chExt cx="1774643" cy="524103"/>
            </a:xfrm>
          </p:grpSpPr>
          <p:cxnSp>
            <p:nvCxnSpPr>
              <p:cNvPr id="8" name="Elbow Connector 7">
                <a:extLst>
                  <a:ext uri="{FF2B5EF4-FFF2-40B4-BE49-F238E27FC236}">
                    <a16:creationId xmlns:a16="http://schemas.microsoft.com/office/drawing/2014/main" id="{FEA5ECC3-DBA8-DEC1-8F1F-C76E348EB08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62789" y="3425699"/>
                <a:ext cx="1765694" cy="524103"/>
              </a:xfrm>
              <a:prstGeom prst="bentConnector3">
                <a:avLst>
                  <a:gd name="adj1" fmla="val 17967"/>
                </a:avLst>
              </a:prstGeom>
              <a:ln w="57150">
                <a:solidFill>
                  <a:schemeClr val="accent5"/>
                </a:solidFill>
                <a:headEnd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C4E865C4-5F54-0EAF-0A94-9BB4109E3E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73043" y="3685038"/>
                <a:ext cx="1464389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4" name="Isosceles Triangle 59">
            <a:extLst>
              <a:ext uri="{FF2B5EF4-FFF2-40B4-BE49-F238E27FC236}">
                <a16:creationId xmlns:a16="http://schemas.microsoft.com/office/drawing/2014/main" id="{CB5D061F-CBE5-D7C3-7BE6-83511443F9D3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C0FD9BA-9643-BE92-21AD-AB60A3763486}"/>
              </a:ext>
            </a:extLst>
          </p:cNvPr>
          <p:cNvSpPr/>
          <p:nvPr/>
        </p:nvSpPr>
        <p:spPr>
          <a:xfrm>
            <a:off x="9120628" y="3586419"/>
            <a:ext cx="1021734" cy="1127284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</a:t>
            </a: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>
              <a:spcBef>
                <a:spcPts val="400"/>
              </a:spcBef>
              <a:tabLst>
                <a:tab pos="1249363" algn="r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DMEM</a:t>
            </a:r>
          </a:p>
          <a:p>
            <a:pPr>
              <a:spcBef>
                <a:spcPts val="400"/>
              </a:spcBef>
              <a:spcAft>
                <a:spcPts val="400"/>
              </a:spcAft>
              <a:tabLst>
                <a:tab pos="1249363" algn="r"/>
              </a:tabLst>
            </a:pPr>
            <a:r>
              <a:rPr lang="en-US" sz="1200" i="1" dirty="0" err="1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rPr>
              <a:t>wdata</a:t>
            </a:r>
            <a:r>
              <a:rPr lang="en-US" sz="16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rPr>
              <a:t> </a:t>
            </a:r>
            <a:endParaRPr lang="en-US" sz="1200" i="1" dirty="0">
              <a:solidFill>
                <a:schemeClr val="bg1"/>
              </a:solidFill>
              <a:latin typeface="18 VAG ROUNDED LIGHT   02390" pitchFamily="2" charset="0"/>
              <a:cs typeface="Courier New" panose="02070309020205020404" pitchFamily="49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8675195-059F-A5A6-92EB-2481A7113C7E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8A04CC6-E6DE-4A69-45CB-A07F0FF3061B}"/>
              </a:ext>
            </a:extLst>
          </p:cNvPr>
          <p:cNvCxnSpPr>
            <a:cxnSpLocks/>
            <a:stCxn id="39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66507E2-03F9-BEA0-37BB-A6D9406F40EE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114D6BD-158D-A678-CF1C-FD10EFF3CECA}"/>
              </a:ext>
            </a:extLst>
          </p:cNvPr>
          <p:cNvCxnSpPr>
            <a:cxnSpLocks/>
          </p:cNvCxnSpPr>
          <p:nvPr/>
        </p:nvCxnSpPr>
        <p:spPr>
          <a:xfrm>
            <a:off x="8861193" y="3967940"/>
            <a:ext cx="29744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64A92BD-09CE-62B4-652C-67E42FE4B6B8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1409784-7AB3-6009-6953-02F7B25C24C8}"/>
              </a:ext>
            </a:extLst>
          </p:cNvPr>
          <p:cNvGrpSpPr/>
          <p:nvPr/>
        </p:nvGrpSpPr>
        <p:grpSpPr>
          <a:xfrm>
            <a:off x="3790286" y="2375192"/>
            <a:ext cx="7347065" cy="1124151"/>
            <a:chOff x="3790286" y="2375192"/>
            <a:chExt cx="7347065" cy="1124151"/>
          </a:xfrm>
          <a:effectLst/>
        </p:grpSpPr>
        <p:cxnSp>
          <p:nvCxnSpPr>
            <p:cNvPr id="48" name="Elbow Connector 47">
              <a:extLst>
                <a:ext uri="{FF2B5EF4-FFF2-40B4-BE49-F238E27FC236}">
                  <a16:creationId xmlns:a16="http://schemas.microsoft.com/office/drawing/2014/main" id="{9A5DD02B-75CB-5F12-1665-2073BCE7E44E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1BCF06F8-C1C1-2E4B-BECB-B0B1BF81CDF4}"/>
                </a:ext>
              </a:extLst>
            </p:cNvPr>
            <p:cNvCxnSpPr/>
            <p:nvPr/>
          </p:nvCxnSpPr>
          <p:spPr>
            <a:xfrm>
              <a:off x="3790286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Elbow Connector 50">
              <a:extLst>
                <a:ext uri="{FF2B5EF4-FFF2-40B4-BE49-F238E27FC236}">
                  <a16:creationId xmlns:a16="http://schemas.microsoft.com/office/drawing/2014/main" id="{D6BA6295-EB6B-6F73-44B4-0703E99444FD}"/>
                </a:ext>
              </a:extLst>
            </p:cNvPr>
            <p:cNvCxnSpPr>
              <a:cxnSpLocks/>
              <a:stCxn id="52" idx="0"/>
            </p:cNvCxnSpPr>
            <p:nvPr/>
          </p:nvCxnSpPr>
          <p:spPr>
            <a:xfrm flipV="1">
              <a:off x="10817058" y="2375192"/>
              <a:ext cx="320293" cy="1124151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rapezoid 51">
            <a:extLst>
              <a:ext uri="{FF2B5EF4-FFF2-40B4-BE49-F238E27FC236}">
                <a16:creationId xmlns:a16="http://schemas.microsoft.com/office/drawing/2014/main" id="{2BA46457-A047-ABEB-4506-A5D70932C5C0}"/>
              </a:ext>
            </a:extLst>
          </p:cNvPr>
          <p:cNvSpPr/>
          <p:nvPr/>
        </p:nvSpPr>
        <p:spPr>
          <a:xfrm rot="5400000">
            <a:off x="10337532" y="3361302"/>
            <a:ext cx="682970" cy="276082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4ECDF685-F72B-98AB-F591-9FA4F859CEAF}"/>
              </a:ext>
            </a:extLst>
          </p:cNvPr>
          <p:cNvCxnSpPr>
            <a:cxnSpLocks/>
          </p:cNvCxnSpPr>
          <p:nvPr/>
        </p:nvCxnSpPr>
        <p:spPr>
          <a:xfrm flipV="1">
            <a:off x="8929306" y="3375224"/>
            <a:ext cx="1611670" cy="592716"/>
          </a:xfrm>
          <a:prstGeom prst="bentConnector3">
            <a:avLst>
              <a:gd name="adj1" fmla="val 288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15ADA33B-744F-1723-01F5-B23A3BC3E0FB}"/>
              </a:ext>
            </a:extLst>
          </p:cNvPr>
          <p:cNvSpPr txBox="1"/>
          <p:nvPr/>
        </p:nvSpPr>
        <p:spPr>
          <a:xfrm>
            <a:off x="10106672" y="3087231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D118A75-1E71-46AA-5ECB-10A5EA283E5A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1" name="Group 480">
            <a:extLst>
              <a:ext uri="{FF2B5EF4-FFF2-40B4-BE49-F238E27FC236}">
                <a16:creationId xmlns:a16="http://schemas.microsoft.com/office/drawing/2014/main" id="{A271A1BC-CC5F-8C77-8269-2DDCC5365F82}"/>
              </a:ext>
            </a:extLst>
          </p:cNvPr>
          <p:cNvGrpSpPr/>
          <p:nvPr/>
        </p:nvGrpSpPr>
        <p:grpSpPr>
          <a:xfrm>
            <a:off x="4062897" y="5524627"/>
            <a:ext cx="6835927" cy="752471"/>
            <a:chOff x="4062897" y="5524627"/>
            <a:chExt cx="6835927" cy="75247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35472C8-FF78-4294-FAAE-AD6B26D6B4DF}"/>
                </a:ext>
              </a:extLst>
            </p:cNvPr>
            <p:cNvSpPr txBox="1"/>
            <p:nvPr/>
          </p:nvSpPr>
          <p:spPr>
            <a:xfrm>
              <a:off x="4062897" y="5552119"/>
              <a:ext cx="817853" cy="5201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ImmSel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b="1" dirty="0">
                  <a:solidFill>
                    <a:schemeClr val="accent5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C6CF778-930E-E8F8-86E4-DE7FF1C3E839}"/>
                </a:ext>
              </a:extLst>
            </p:cNvPr>
            <p:cNvSpPr txBox="1"/>
            <p:nvPr/>
          </p:nvSpPr>
          <p:spPr>
            <a:xfrm>
              <a:off x="5333604" y="5554208"/>
              <a:ext cx="885179" cy="7228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RegWEn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dirty="0">
                  <a:solidFill>
                    <a:schemeClr val="accent4"/>
                  </a:solidFill>
                  <a:latin typeface="18 VAG Rounded Light   02390" pitchFamily="2" charset="0"/>
                </a:rPr>
                <a:t>1</a:t>
              </a:r>
              <a:br>
                <a:rPr 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18 VAG Rounded Light   02390" pitchFamily="2" charset="0"/>
                </a:rPr>
              </a:br>
              <a:endPara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9C4814D-6E7E-D269-9568-73235868CA46}"/>
                </a:ext>
              </a:extLst>
            </p:cNvPr>
            <p:cNvSpPr txBox="1"/>
            <p:nvPr/>
          </p:nvSpPr>
          <p:spPr>
            <a:xfrm>
              <a:off x="7558332" y="5524627"/>
              <a:ext cx="4491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1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8C4F34B-2071-8CAE-CD8A-FB0FF8986E7B}"/>
                </a:ext>
              </a:extLst>
            </p:cNvPr>
            <p:cNvSpPr txBox="1"/>
            <p:nvPr/>
          </p:nvSpPr>
          <p:spPr>
            <a:xfrm>
              <a:off x="8421291" y="5536765"/>
              <a:ext cx="702436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ALUSel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1"/>
                  </a:solidFill>
                  <a:latin typeface="18 VAG Rounded Light   02390" pitchFamily="2" charset="0"/>
                </a:rPr>
                <a:t>Add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DDDA16D-F710-790A-3B75-9B5A35C22DCD}"/>
                </a:ext>
              </a:extLst>
            </p:cNvPr>
            <p:cNvSpPr txBox="1"/>
            <p:nvPr/>
          </p:nvSpPr>
          <p:spPr>
            <a:xfrm>
              <a:off x="9285659" y="5555777"/>
              <a:ext cx="817853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MemRW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6"/>
                  </a:solidFill>
                  <a:latin typeface="18 VAG Rounded Light   02390" pitchFamily="2" charset="0"/>
                </a:rPr>
                <a:t>Read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ABD36C8D-7453-4DFA-D674-CC97C1D34803}"/>
                </a:ext>
              </a:extLst>
            </p:cNvPr>
            <p:cNvSpPr txBox="1"/>
            <p:nvPr/>
          </p:nvSpPr>
          <p:spPr>
            <a:xfrm>
              <a:off x="10252493" y="5557253"/>
              <a:ext cx="646331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WBSel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4"/>
                  </a:solidFill>
                  <a:latin typeface="18 VAG Rounded Light   02390" pitchFamily="2" charset="0"/>
                </a:rPr>
                <a:t>0</a:t>
              </a:r>
            </a:p>
          </p:txBody>
        </p: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2B1FD92-64A0-AA5C-CA83-9B013FBBCBDD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56B9A13B-0FF7-6FCB-A8E0-12552FCDDA14}"/>
              </a:ext>
            </a:extLst>
          </p:cNvPr>
          <p:cNvSpPr txBox="1"/>
          <p:nvPr/>
        </p:nvSpPr>
        <p:spPr>
          <a:xfrm>
            <a:off x="8331951" y="998582"/>
            <a:ext cx="2356549" cy="622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800" dirty="0">
                <a:solidFill>
                  <a:schemeClr val="accent6"/>
                </a:solidFill>
                <a:latin typeface="18 VAG Rounded Light   02390" pitchFamily="2" charset="0"/>
              </a:rPr>
              <a:t>Read memory at address </a:t>
            </a:r>
            <a:r>
              <a:rPr lang="en-US" sz="18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alu</a:t>
            </a:r>
            <a:r>
              <a:rPr lang="en-US" sz="1800" dirty="0">
                <a:solidFill>
                  <a:schemeClr val="accent6"/>
                </a:solidFill>
                <a:latin typeface="18 VAG Rounded Light   02390" pitchFamily="2" charset="0"/>
              </a:rPr>
              <a:t>.</a:t>
            </a:r>
            <a:endParaRPr lang="en-US" sz="18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480" name="Group 479">
            <a:extLst>
              <a:ext uri="{FF2B5EF4-FFF2-40B4-BE49-F238E27FC236}">
                <a16:creationId xmlns:a16="http://schemas.microsoft.com/office/drawing/2014/main" id="{D0C9D780-BD7C-DA27-157F-5623A48309CD}"/>
              </a:ext>
            </a:extLst>
          </p:cNvPr>
          <p:cNvGrpSpPr/>
          <p:nvPr/>
        </p:nvGrpSpPr>
        <p:grpSpPr>
          <a:xfrm>
            <a:off x="3790286" y="2375192"/>
            <a:ext cx="7347065" cy="1329829"/>
            <a:chOff x="3790286" y="2375192"/>
            <a:chExt cx="7347065" cy="1329829"/>
          </a:xfrm>
        </p:grpSpPr>
        <p:grpSp>
          <p:nvGrpSpPr>
            <p:cNvPr id="450" name="Group 449">
              <a:extLst>
                <a:ext uri="{FF2B5EF4-FFF2-40B4-BE49-F238E27FC236}">
                  <a16:creationId xmlns:a16="http://schemas.microsoft.com/office/drawing/2014/main" id="{1596FD12-D3B3-5054-35F4-30BF8AA1B16C}"/>
                </a:ext>
              </a:extLst>
            </p:cNvPr>
            <p:cNvGrpSpPr/>
            <p:nvPr/>
          </p:nvGrpSpPr>
          <p:grpSpPr>
            <a:xfrm>
              <a:off x="3790286" y="2375192"/>
              <a:ext cx="7347065" cy="1124151"/>
              <a:chOff x="3790286" y="2375192"/>
              <a:chExt cx="7347065" cy="1124151"/>
            </a:xfrm>
            <a:effectLst/>
          </p:grpSpPr>
          <p:cxnSp>
            <p:nvCxnSpPr>
              <p:cNvPr id="464" name="Elbow Connector 463">
                <a:extLst>
                  <a:ext uri="{FF2B5EF4-FFF2-40B4-BE49-F238E27FC236}">
                    <a16:creationId xmlns:a16="http://schemas.microsoft.com/office/drawing/2014/main" id="{17832F4B-7C16-87F6-1A56-92AC76BA6E7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970539" y="2216906"/>
                <a:ext cx="657210" cy="993002"/>
              </a:xfrm>
              <a:prstGeom prst="bentConnector2">
                <a:avLst/>
              </a:prstGeom>
              <a:ln w="57150">
                <a:solidFill>
                  <a:schemeClr val="accent4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5" name="Straight Connector 464">
                <a:extLst>
                  <a:ext uri="{FF2B5EF4-FFF2-40B4-BE49-F238E27FC236}">
                    <a16:creationId xmlns:a16="http://schemas.microsoft.com/office/drawing/2014/main" id="{C4B59C5D-62A6-0369-D5F2-4E066BF7ECB2}"/>
                  </a:ext>
                </a:extLst>
              </p:cNvPr>
              <p:cNvCxnSpPr/>
              <p:nvPr/>
            </p:nvCxnSpPr>
            <p:spPr>
              <a:xfrm>
                <a:off x="3790286" y="2384802"/>
                <a:ext cx="7334708" cy="0"/>
              </a:xfrm>
              <a:prstGeom prst="line">
                <a:avLst/>
              </a:prstGeom>
              <a:ln w="57150">
                <a:solidFill>
                  <a:schemeClr val="accent4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7" name="Elbow Connector 466">
                <a:extLst>
                  <a:ext uri="{FF2B5EF4-FFF2-40B4-BE49-F238E27FC236}">
                    <a16:creationId xmlns:a16="http://schemas.microsoft.com/office/drawing/2014/main" id="{69BDA77B-9A83-33A7-9014-5B8B0D36F4E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817058" y="2375192"/>
                <a:ext cx="320293" cy="1124151"/>
              </a:xfrm>
              <a:prstGeom prst="bentConnector2">
                <a:avLst/>
              </a:prstGeom>
              <a:ln w="57150">
                <a:solidFill>
                  <a:schemeClr val="accent4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68" name="Freeform 467">
              <a:extLst>
                <a:ext uri="{FF2B5EF4-FFF2-40B4-BE49-F238E27FC236}">
                  <a16:creationId xmlns:a16="http://schemas.microsoft.com/office/drawing/2014/main" id="{A973D6C3-ECD9-0111-859E-5AF2775EA9D1}"/>
                </a:ext>
              </a:extLst>
            </p:cNvPr>
            <p:cNvSpPr/>
            <p:nvPr/>
          </p:nvSpPr>
          <p:spPr>
            <a:xfrm>
              <a:off x="10489131" y="3499343"/>
              <a:ext cx="403447" cy="205678"/>
            </a:xfrm>
            <a:custGeom>
              <a:avLst/>
              <a:gdLst>
                <a:gd name="connsiteX0" fmla="*/ 0 w 405114"/>
                <a:gd name="connsiteY0" fmla="*/ 150471 h 162045"/>
                <a:gd name="connsiteX1" fmla="*/ 57873 w 405114"/>
                <a:gd name="connsiteY1" fmla="*/ 162045 h 162045"/>
                <a:gd name="connsiteX2" fmla="*/ 104172 w 405114"/>
                <a:gd name="connsiteY2" fmla="*/ 150471 h 162045"/>
                <a:gd name="connsiteX3" fmla="*/ 208344 w 405114"/>
                <a:gd name="connsiteY3" fmla="*/ 92597 h 162045"/>
                <a:gd name="connsiteX4" fmla="*/ 254643 w 405114"/>
                <a:gd name="connsiteY4" fmla="*/ 46298 h 162045"/>
                <a:gd name="connsiteX5" fmla="*/ 358815 w 405114"/>
                <a:gd name="connsiteY5" fmla="*/ 0 h 162045"/>
                <a:gd name="connsiteX6" fmla="*/ 405114 w 405114"/>
                <a:gd name="connsiteY6" fmla="*/ 0 h 162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5114" h="162045">
                  <a:moveTo>
                    <a:pt x="0" y="150471"/>
                  </a:moveTo>
                  <a:cubicBezTo>
                    <a:pt x="19291" y="154329"/>
                    <a:pt x="38200" y="162045"/>
                    <a:pt x="57873" y="162045"/>
                  </a:cubicBezTo>
                  <a:cubicBezTo>
                    <a:pt x="73781" y="162045"/>
                    <a:pt x="88876" y="154841"/>
                    <a:pt x="104172" y="150471"/>
                  </a:cubicBezTo>
                  <a:cubicBezTo>
                    <a:pt x="144925" y="138827"/>
                    <a:pt x="175184" y="125757"/>
                    <a:pt x="208344" y="92597"/>
                  </a:cubicBezTo>
                  <a:cubicBezTo>
                    <a:pt x="223777" y="77164"/>
                    <a:pt x="236483" y="58405"/>
                    <a:pt x="254643" y="46298"/>
                  </a:cubicBezTo>
                  <a:cubicBezTo>
                    <a:pt x="286113" y="25318"/>
                    <a:pt x="317492" y="0"/>
                    <a:pt x="358815" y="0"/>
                  </a:cubicBezTo>
                  <a:lnTo>
                    <a:pt x="405114" y="0"/>
                  </a:lnTo>
                </a:path>
              </a:pathLst>
            </a:custGeom>
            <a:noFill/>
            <a:ln w="57150">
              <a:solidFill>
                <a:schemeClr val="accent4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9" name="Group 488">
            <a:extLst>
              <a:ext uri="{FF2B5EF4-FFF2-40B4-BE49-F238E27FC236}">
                <a16:creationId xmlns:a16="http://schemas.microsoft.com/office/drawing/2014/main" id="{587F156A-E5B1-8DA7-D791-8860A3D3FCF4}"/>
              </a:ext>
            </a:extLst>
          </p:cNvPr>
          <p:cNvGrpSpPr/>
          <p:nvPr/>
        </p:nvGrpSpPr>
        <p:grpSpPr>
          <a:xfrm>
            <a:off x="8868629" y="3366696"/>
            <a:ext cx="1685023" cy="597529"/>
            <a:chOff x="8868629" y="3366696"/>
            <a:chExt cx="1685023" cy="597529"/>
          </a:xfrm>
        </p:grpSpPr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A0AD28C0-9175-01FB-469B-9DB125BCF900}"/>
                </a:ext>
              </a:extLst>
            </p:cNvPr>
            <p:cNvCxnSpPr>
              <a:cxnSpLocks/>
            </p:cNvCxnSpPr>
            <p:nvPr/>
          </p:nvCxnSpPr>
          <p:spPr>
            <a:xfrm>
              <a:off x="8868629" y="3964225"/>
              <a:ext cx="297442" cy="0"/>
            </a:xfrm>
            <a:prstGeom prst="straightConnector1">
              <a:avLst/>
            </a:prstGeom>
            <a:ln w="57150">
              <a:solidFill>
                <a:schemeClr val="accent6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88" name="Group 487">
              <a:extLst>
                <a:ext uri="{FF2B5EF4-FFF2-40B4-BE49-F238E27FC236}">
                  <a16:creationId xmlns:a16="http://schemas.microsoft.com/office/drawing/2014/main" id="{AEE0E030-35F4-0608-4C95-9E2D70C68EB7}"/>
                </a:ext>
              </a:extLst>
            </p:cNvPr>
            <p:cNvGrpSpPr/>
            <p:nvPr/>
          </p:nvGrpSpPr>
          <p:grpSpPr>
            <a:xfrm>
              <a:off x="8937740" y="3366696"/>
              <a:ext cx="1615912" cy="592716"/>
              <a:chOff x="8937740" y="3366696"/>
              <a:chExt cx="1615912" cy="592716"/>
            </a:xfrm>
          </p:grpSpPr>
          <p:cxnSp>
            <p:nvCxnSpPr>
              <p:cNvPr id="449" name="Straight Arrow Connector 448">
                <a:extLst>
                  <a:ext uri="{FF2B5EF4-FFF2-40B4-BE49-F238E27FC236}">
                    <a16:creationId xmlns:a16="http://schemas.microsoft.com/office/drawing/2014/main" id="{AC1BDD0C-E732-E8B6-4257-6FEB3E42F2E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50196" y="3703397"/>
                <a:ext cx="403456" cy="7631"/>
              </a:xfrm>
              <a:prstGeom prst="straightConnector1">
                <a:avLst/>
              </a:prstGeom>
              <a:ln w="57150">
                <a:solidFill>
                  <a:schemeClr val="accent6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Elbow Connector 486">
                <a:extLst>
                  <a:ext uri="{FF2B5EF4-FFF2-40B4-BE49-F238E27FC236}">
                    <a16:creationId xmlns:a16="http://schemas.microsoft.com/office/drawing/2014/main" id="{51F825F5-263A-B6C6-BC72-8B06E514241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937740" y="3366696"/>
                <a:ext cx="1611670" cy="592716"/>
              </a:xfrm>
              <a:prstGeom prst="bentConnector3">
                <a:avLst>
                  <a:gd name="adj1" fmla="val 288"/>
                </a:avLst>
              </a:prstGeom>
              <a:ln w="57150">
                <a:solidFill>
                  <a:schemeClr val="accent6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487254108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CS61C-ly-new">
  <a:themeElements>
    <a:clrScheme name="Custom 10">
      <a:dk1>
        <a:srgbClr val="000000"/>
      </a:dk1>
      <a:lt1>
        <a:srgbClr val="FFFFFF"/>
      </a:lt1>
      <a:dk2>
        <a:srgbClr val="002E5D"/>
      </a:dk2>
      <a:lt2>
        <a:srgbClr val="E5DCD1"/>
      </a:lt2>
      <a:accent1>
        <a:srgbClr val="00BDE2"/>
      </a:accent1>
      <a:accent2>
        <a:srgbClr val="C6DAC3"/>
      </a:accent2>
      <a:accent3>
        <a:srgbClr val="FEC016"/>
      </a:accent3>
      <a:accent4>
        <a:srgbClr val="D9E056"/>
      </a:accent4>
      <a:accent5>
        <a:srgbClr val="EB1379"/>
      </a:accent5>
      <a:accent6>
        <a:srgbClr val="A97EFA"/>
      </a:accent6>
      <a:hlink>
        <a:srgbClr val="9ED1FF"/>
      </a:hlink>
      <a:folHlink>
        <a:srgbClr val="93C9F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tailEnd type="triangle" w="lg" len="lg"/>
        </a:ln>
      </a:spPr>
      <a:bodyPr rtlCol="0" anchor="ctr"/>
      <a:lstStyle>
        <a:defPPr algn="ctr">
          <a:defRPr sz="2000" dirty="0">
            <a:solidFill>
              <a:schemeClr val="accent1"/>
            </a:solidFill>
            <a:latin typeface="18 VAG Rounded Light   02390" pitchFamily="2" charset="0"/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8575">
          <a:tailEnd type="triangl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400" dirty="0">
            <a:solidFill>
              <a:schemeClr val="accent1"/>
            </a:solidFill>
            <a:latin typeface="18 VAG Rounded Light   0239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S61C-ly-new" id="{DFFA2BFF-9357-A24D-A947-9735921D71C4}" vid="{3C32BE93-C896-F84B-BEA8-5E6C5AC7E2C8}"/>
    </a:ext>
  </a:extLst>
</a:theme>
</file>

<file path=ppt/theme/theme2.xml><?xml version="1.0" encoding="utf-8"?>
<a:theme xmlns:a="http://schemas.openxmlformats.org/drawingml/2006/main" name="Metro">
  <a:themeElements>
    <a:clrScheme name="Custom 1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134770"/>
      </a:hlink>
      <a:folHlink>
        <a:srgbClr val="7AF8CC"/>
      </a:folHlink>
    </a:clrScheme>
    <a:fontScheme name="Custom 1">
      <a:majorFont>
        <a:latin typeface="VAGRundschriftD"/>
        <a:ea typeface=""/>
        <a:cs typeface=""/>
      </a:majorFont>
      <a:minorFont>
        <a:latin typeface="VAGRundschriftD"/>
        <a:ea typeface=""/>
        <a:cs typeface=""/>
      </a:minorFont>
    </a:fontScheme>
    <a:fmtScheme name="Me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400" dirty="0">
            <a:latin typeface="18 VAG Rounded Thin   55390" pitchFamily="2" charset="0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CS61C-ly-new</Template>
  <TotalTime>24991</TotalTime>
  <Words>1025</Words>
  <Application>Microsoft Macintosh PowerPoint</Application>
  <PresentationFormat>Widescreen</PresentationFormat>
  <Paragraphs>484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27" baseType="lpstr">
      <vt:lpstr>18 VAG Rounded Black   09390</vt:lpstr>
      <vt:lpstr>18 VAG Rounded Bold   07390</vt:lpstr>
      <vt:lpstr>18 VAG ROUNDED LIGHT   02390</vt:lpstr>
      <vt:lpstr>18 VAG ROUNDED LIGHT   02390</vt:lpstr>
      <vt:lpstr>18 VAG Rounded Thin   55390</vt:lpstr>
      <vt:lpstr>VAG Rundschrift D Light</vt:lpstr>
      <vt:lpstr>VAGRundschriftD</vt:lpstr>
      <vt:lpstr>VAGRundschriftDLig</vt:lpstr>
      <vt:lpstr>Arial</vt:lpstr>
      <vt:lpstr>Calibri</vt:lpstr>
      <vt:lpstr>Corbel</vt:lpstr>
      <vt:lpstr>Courier</vt:lpstr>
      <vt:lpstr>Courier New</vt:lpstr>
      <vt:lpstr>Helvetica</vt:lpstr>
      <vt:lpstr>Helvetica Neue</vt:lpstr>
      <vt:lpstr>Wingdings</vt:lpstr>
      <vt:lpstr>Wingdings 2</vt:lpstr>
      <vt:lpstr>CS61C-ly-new</vt:lpstr>
      <vt:lpstr>Metro</vt:lpstr>
      <vt:lpstr>Lighting the LOAD Datapath (6/6)</vt:lpstr>
      <vt:lpstr>Lighting the LOAD Datapath (1/7)</vt:lpstr>
      <vt:lpstr>Lighting the LOAD Datapath (2/7)</vt:lpstr>
      <vt:lpstr>Lighting the LOAD Datapath (3/7)</vt:lpstr>
      <vt:lpstr>Lighting the LOAD Datapath (4/7)</vt:lpstr>
      <vt:lpstr>Lighting the LOAD Datapath (5/7)</vt:lpstr>
      <vt:lpstr>Lighting the LOAD Datapath (6/7)</vt:lpstr>
      <vt:lpstr>Lighting the LOAD Datapath (7/7)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RISC-V (California Gold)</dc:title>
  <dc:creator>Lisa Yan</dc:creator>
  <cp:lastModifiedBy>Lisa Yan</cp:lastModifiedBy>
  <cp:revision>900</cp:revision>
  <cp:lastPrinted>2022-09-30T17:03:13Z</cp:lastPrinted>
  <dcterms:created xsi:type="dcterms:W3CDTF">2022-09-05T20:39:51Z</dcterms:created>
  <dcterms:modified xsi:type="dcterms:W3CDTF">2026-03-26T00:24:12Z</dcterms:modified>
</cp:coreProperties>
</file>