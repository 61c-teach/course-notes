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  <p:sldMasterId id="2147483709" r:id="rId2"/>
  </p:sldMasterIdLst>
  <p:notesMasterIdLst>
    <p:notesMasterId r:id="rId12"/>
  </p:notesMasterIdLst>
  <p:sldIdLst>
    <p:sldId id="1456" r:id="rId3"/>
    <p:sldId id="1457" r:id="rId4"/>
    <p:sldId id="1465" r:id="rId5"/>
    <p:sldId id="1463" r:id="rId6"/>
    <p:sldId id="1464" r:id="rId7"/>
    <p:sldId id="1461" r:id="rId8"/>
    <p:sldId id="1460" r:id="rId9"/>
    <p:sldId id="1459" r:id="rId10"/>
    <p:sldId id="1458" r:id="rId11"/>
  </p:sldIdLst>
  <p:sldSz cx="12192000" cy="6858000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223"/>
    <a:srgbClr val="00264A"/>
    <a:srgbClr val="00152A"/>
    <a:srgbClr val="002548"/>
    <a:srgbClr val="4991B2"/>
    <a:srgbClr val="000000"/>
    <a:srgbClr val="032141"/>
    <a:srgbClr val="D9E1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68"/>
    <p:restoredTop sz="94304"/>
  </p:normalViewPr>
  <p:slideViewPr>
    <p:cSldViewPr snapToGrid="0">
      <p:cViewPr varScale="1">
        <p:scale>
          <a:sx n="76" d="100"/>
          <a:sy n="76" d="100"/>
        </p:scale>
        <p:origin x="200" y="1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179AFB-556A-7647-8681-E8CCC214AEB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4562F5-9C85-F843-B903-B3B42F5C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76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B216A-977B-304F-7EDA-3BA3B438B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4C088B-2724-775B-765D-63C0F37BC8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FA9F21-0441-A9D7-5BC6-7A133D410E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69325-80C9-8333-4A57-2755CC119B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75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BE312-1883-493B-C1BE-049B3FD2B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7099BE-6F22-42A0-C8CD-7002D78D6F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1717A-510C-2B03-DBFB-024EFEE55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B0F73-EE63-F2C3-42CE-A389C9AA02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522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299A9-EAB7-55D3-C6A0-C52430DA3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0A89ED-3C9E-5D49-B509-10C91CE2DD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3D2277-0BED-7F88-A3B5-2B81EF6DDB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EEF51-93BE-0094-3508-0F1C629215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175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DD563-FA7E-759B-2D79-99633D913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03F7B0-4CA1-E2F0-500A-03ED236040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EBD786-FF2F-8FD2-C838-4E8C7ACFD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98F22-2F7F-FCBE-645C-8BF0B1DCC8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7206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E212D-D89A-19ED-B3DE-5DE3C7615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880AA5-789D-1335-C34B-CAF8149B62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28AD9-2F83-8F20-FB21-02A1A539FA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58B09-B4E6-6EC7-80A3-04DC8A3969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9120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5D454-CBBA-B9FB-B70A-7A31CA736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720658-C99D-D591-6236-48B21C815F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EDAEA5-4123-CDA8-5FE5-07B7865C06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A7569-73E7-4CDB-9008-A8ADBC8801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9050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4EB56-6014-B665-93F2-221829ACE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89A7FC-F10D-0C7E-B2BB-D60D4E5E2B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759498-7029-90E0-39B7-2584CEEB2F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1AA4F-EC2B-7B19-8B77-ECB4A6685B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1275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B26A3-587D-938C-6806-E1CE3861F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B1C89D-1950-351C-BA29-1482BB4CE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B02E2D-7CCC-7D56-EED5-9A4FE84FC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99557B-6AF5-242D-DCF1-287726063C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9726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36A87-F81A-4EA2-37FB-4B4EF6AA1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7D2DD6-AE70-DFA7-289F-CD2079CFB0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7AB831-0646-406C-4301-0F70BCAEB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5DB963-93A9-419A-3353-E79A3F65C9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237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2.tiff"/><Relationship Id="rId4" Type="http://schemas.openxmlformats.org/officeDocument/2006/relationships/image" Target="../media/image9.jp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emf"/><Relationship Id="rId4" Type="http://schemas.openxmlformats.org/officeDocument/2006/relationships/image" Target="../media/image2.tiff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emf"/><Relationship Id="rId4" Type="http://schemas.openxmlformats.org/officeDocument/2006/relationships/image" Target="../media/image2.tiff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emf"/><Relationship Id="rId4" Type="http://schemas.openxmlformats.org/officeDocument/2006/relationships/image" Target="../media/image2.tiff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11.png"/><Relationship Id="rId7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.tiff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emf"/><Relationship Id="rId5" Type="http://schemas.openxmlformats.org/officeDocument/2006/relationships/image" Target="../media/image2.tiff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504D8-8C6A-A1BE-E710-691D034BA2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7B3F4E-7F7A-7010-DF2B-2B5FC40C0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36350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185DB5B-BEBF-6B87-32BE-E3D2FAA3F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1021" y="4561558"/>
            <a:ext cx="7789961" cy="761999"/>
          </a:xfrm>
          <a:prstGeom prst="rect">
            <a:avLst/>
          </a:prstGeom>
        </p:spPr>
        <p:txBody>
          <a:bodyPr/>
          <a:lstStyle>
            <a:lvl1pPr algn="ctr">
              <a:defRPr sz="4267" b="1" i="0">
                <a:solidFill>
                  <a:schemeClr val="accent3">
                    <a:alpha val="99000"/>
                  </a:schemeClr>
                </a:solidFill>
                <a:latin typeface="18 VAG Rounded Bold   0739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BD695780-6F13-8D58-9C18-35AACFB35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405076"/>
            <a:ext cx="6908800" cy="163284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38100" h="3175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dirty="0">
                <a:ln w="0"/>
                <a:solidFill>
                  <a:srgbClr val="4991B1">
                    <a:alpha val="99000"/>
                  </a:srgbClr>
                </a:solidFill>
                <a:effectLst/>
                <a:latin typeface="18 VAG Rounded Bold   07390" charset="0"/>
              </a:rPr>
              <a:t>CS61C</a:t>
            </a:r>
            <a:endParaRPr lang="en-US" sz="6400" b="1" dirty="0">
              <a:solidFill>
                <a:srgbClr val="4991B1">
                  <a:alpha val="99000"/>
                </a:srgbClr>
              </a:solidFill>
              <a:latin typeface="18 VAG Rounded Bold   07390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62D69298-76B5-35A4-3319-24FFE4F5C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1859824"/>
            <a:ext cx="6908800" cy="154050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  <a:t>in</a:t>
            </a:r>
            <a:b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</a:br>
            <a: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chemeClr val="bg2">
                    <a:alpha val="99000"/>
                  </a:schemeClr>
                </a:solidFill>
                <a:latin typeface="18 VAG Rounded Thin   55390" pitchFamily="2" charset="0"/>
              </a:rPr>
              <a:t>(a.k.a. Machine Structures)</a:t>
            </a:r>
            <a:endParaRPr lang="en-US" sz="3833" b="1" dirty="0">
              <a:solidFill>
                <a:schemeClr val="bg2">
                  <a:alpha val="99000"/>
                </a:schemeClr>
              </a:solidFill>
              <a:latin typeface="18 VAG Rounded Bold   07390" charset="0"/>
            </a:endParaRPr>
          </a:p>
        </p:txBody>
      </p:sp>
      <p:pic>
        <p:nvPicPr>
          <p:cNvPr id="16" name="Google Shape;23;p49">
            <a:extLst>
              <a:ext uri="{FF2B5EF4-FFF2-40B4-BE49-F238E27FC236}">
                <a16:creationId xmlns:a16="http://schemas.microsoft.com/office/drawing/2014/main" id="{34967360-50B3-A7B0-0715-41A94158E827}"/>
              </a:ext>
            </a:extLst>
          </p:cNvPr>
          <p:cNvPicPr preferRelativeResize="0"/>
          <p:nvPr/>
        </p:nvPicPr>
        <p:blipFill>
          <a:blip r:embed="rId2"/>
          <a:srcRect l="481" r="481"/>
          <a:stretch/>
        </p:blipFill>
        <p:spPr>
          <a:xfrm>
            <a:off x="8888173" y="410681"/>
            <a:ext cx="1266560" cy="1705135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BECC42E-4CE3-4707-674B-71A0975151E3}"/>
              </a:ext>
            </a:extLst>
          </p:cNvPr>
          <p:cNvSpPr txBox="1"/>
          <p:nvPr/>
        </p:nvSpPr>
        <p:spPr>
          <a:xfrm>
            <a:off x="8410205" y="2493787"/>
            <a:ext cx="2222500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bg1">
                    <a:lumMod val="50000"/>
                    <a:alpha val="99000"/>
                  </a:schemeClr>
                </a:solidFill>
                <a:latin typeface="18 VAG Rounded Bold   07390"/>
              </a:rPr>
              <a:t>Assistant Teaching Professor</a:t>
            </a:r>
            <a:br>
              <a:rPr lang="en-US" sz="1667" b="1" dirty="0">
                <a:solidFill>
                  <a:schemeClr val="bg1">
                    <a:lumMod val="50000"/>
                    <a:alpha val="99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bg1">
                    <a:lumMod val="50000"/>
                    <a:alpha val="99000"/>
                  </a:schemeClr>
                </a:solidFill>
                <a:latin typeface="18 VAG Rounded Bold   07390"/>
              </a:rPr>
              <a:t>Lisa Yan</a:t>
            </a:r>
          </a:p>
        </p:txBody>
      </p:sp>
      <p:sp>
        <p:nvSpPr>
          <p:cNvPr id="19" name="Google Shape;24;p49">
            <a:extLst>
              <a:ext uri="{FF2B5EF4-FFF2-40B4-BE49-F238E27FC236}">
                <a16:creationId xmlns:a16="http://schemas.microsoft.com/office/drawing/2014/main" id="{55D34F2F-A07D-B6C8-15A2-8BEA5F388780}"/>
              </a:ext>
            </a:extLst>
          </p:cNvPr>
          <p:cNvSpPr/>
          <p:nvPr/>
        </p:nvSpPr>
        <p:spPr>
          <a:xfrm>
            <a:off x="3822337" y="6370191"/>
            <a:ext cx="4547326" cy="492388"/>
          </a:xfrm>
          <a:prstGeom prst="rect">
            <a:avLst/>
          </a:prstGeom>
          <a:gradFill>
            <a:gsLst>
              <a:gs pos="0">
                <a:srgbClr val="002A52"/>
              </a:gs>
              <a:gs pos="100000">
                <a:srgbClr val="003262"/>
              </a:gs>
            </a:gsLst>
            <a:lin ang="5400000" scaled="0"/>
          </a:gradFill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7" b="1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cs61c.org</a:t>
            </a:r>
            <a:r>
              <a:rPr lang="en-US"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21199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" name="Google Shape;19;p49">
            <a:extLst>
              <a:ext uri="{FF2B5EF4-FFF2-40B4-BE49-F238E27FC236}">
                <a16:creationId xmlns:a16="http://schemas.microsoft.com/office/drawing/2014/main" id="{6FB1CB93-C34B-732D-69A5-FDC99B477111}"/>
              </a:ext>
            </a:extLst>
          </p:cNvPr>
          <p:cNvSpPr/>
          <p:nvPr/>
        </p:nvSpPr>
        <p:spPr>
          <a:xfrm>
            <a:off x="3108960" y="5135309"/>
            <a:ext cx="5974080" cy="471948"/>
          </a:xfrm>
          <a:prstGeom prst="ellipse">
            <a:avLst/>
          </a:prstGeom>
          <a:solidFill>
            <a:srgbClr val="3A7EA2">
              <a:alpha val="16862"/>
            </a:srgbClr>
          </a:solidFill>
          <a:ln>
            <a:noFill/>
          </a:ln>
        </p:spPr>
        <p:txBody>
          <a:bodyPr spcFirstLastPara="1" wrap="square" lIns="108833" tIns="54400" rIns="108833" bIns="54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62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754323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540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8D4BA-5CFB-7F64-C19D-CFBCDCDDF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42475" y="909321"/>
            <a:ext cx="5998909" cy="5364480"/>
          </a:xfrm>
        </p:spPr>
        <p:txBody>
          <a:bodyPr anchor="ctr">
            <a:normAutofit/>
          </a:bodyPr>
          <a:lstStyle>
            <a:lvl1pPr marL="609585" indent="-531271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3600" b="0" i="0">
                <a:solidFill>
                  <a:schemeClr val="bg1"/>
                </a:solidFill>
                <a:latin typeface="18 VAG Rounded Light   02390" pitchFamily="2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5CEBC6-3272-877B-6FC0-88185C9300D1}"/>
              </a:ext>
            </a:extLst>
          </p:cNvPr>
          <p:cNvSpPr/>
          <p:nvPr/>
        </p:nvSpPr>
        <p:spPr>
          <a:xfrm>
            <a:off x="0" y="908051"/>
            <a:ext cx="5514021" cy="5365751"/>
          </a:xfrm>
          <a:prstGeom prst="rect">
            <a:avLst/>
          </a:prstGeom>
          <a:gradFill>
            <a:gsLst>
              <a:gs pos="0">
                <a:schemeClr val="tx1">
                  <a:alpha val="15000"/>
                </a:schemeClr>
              </a:gs>
              <a:gs pos="100000">
                <a:srgbClr val="3A7EA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0" i="0">
              <a:latin typeface="18 VAG Rounded Light   0239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C5CA34-43CE-D2B0-CA59-D41610FD01AD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A31750-A405-1B89-FEC0-D5EA9AD8CE83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6AF6151-774C-D88A-F797-71D61040C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437" y="886850"/>
            <a:ext cx="5181600" cy="536575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78315" indent="0">
              <a:tabLst/>
              <a:defRPr sz="5867" b="1" i="0">
                <a:solidFill>
                  <a:schemeClr val="accent3">
                    <a:alpha val="99000"/>
                  </a:schemeClr>
                </a:solidFill>
                <a:latin typeface="18 VAG Rounded Bold   0739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Google Shape;19;p49">
            <a:extLst>
              <a:ext uri="{FF2B5EF4-FFF2-40B4-BE49-F238E27FC236}">
                <a16:creationId xmlns:a16="http://schemas.microsoft.com/office/drawing/2014/main" id="{EE6D3610-51E7-072A-C443-EB48D2CE05B3}"/>
              </a:ext>
            </a:extLst>
          </p:cNvPr>
          <p:cNvSpPr/>
          <p:nvPr/>
        </p:nvSpPr>
        <p:spPr>
          <a:xfrm>
            <a:off x="330438" y="5084098"/>
            <a:ext cx="4740068" cy="471948"/>
          </a:xfrm>
          <a:prstGeom prst="ellipse">
            <a:avLst/>
          </a:prstGeom>
          <a:solidFill>
            <a:srgbClr val="3A7EA2">
              <a:alpha val="16862"/>
            </a:srgbClr>
          </a:solidFill>
          <a:ln>
            <a:noFill/>
          </a:ln>
        </p:spPr>
        <p:txBody>
          <a:bodyPr spcFirstLastPara="1" wrap="square" lIns="108833" tIns="54400" rIns="108833" bIns="54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62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02920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23AF8-3354-C1AF-87B5-7D4A7143A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D4C7F-8368-7F6B-D89B-1288477CF3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8413" y="916710"/>
            <a:ext cx="5303520" cy="5260254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006F8F-A65B-D532-67B0-48E3513EB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33316"/>
            <a:ext cx="5394960" cy="5243648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77D10F-3A40-C609-3618-CF470B0B02F3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7E0520-96D2-C5AA-6269-0C2469184946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5543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1067-BA44-3904-7E43-138A62BA9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714379-5477-4D73-C7EF-823FDEF56496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6669C0-8787-EED5-07F5-111A4D70AA8F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11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512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9A3CF7-6031-BD55-66FF-DEF78D03F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7465" y="2306249"/>
            <a:ext cx="8137073" cy="2245505"/>
          </a:xfrm>
        </p:spPr>
        <p:txBody>
          <a:bodyPr>
            <a:noAutofit/>
          </a:bodyPr>
          <a:lstStyle>
            <a:lvl1pPr algn="ctr">
              <a:defRPr sz="8533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830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75D6C36-AF3C-3D5D-85D0-B0BCB39B2FA3}"/>
              </a:ext>
            </a:extLst>
          </p:cNvPr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656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lumn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ABD31BE-11B0-12C9-4F44-86656D6D03F8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68580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29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a20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898041"/>
            <a:ext cx="8572491" cy="52789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49E1F49-FF31-2B00-2304-6BCA27806331}"/>
              </a:ext>
            </a:extLst>
          </p:cNvPr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66AFDBD-60BE-5483-0C26-669A37732B99}"/>
              </a:ext>
            </a:extLst>
          </p:cNvPr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913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Fa20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898041"/>
            <a:ext cx="8572491" cy="52789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032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68B2A-FB40-E32F-5166-4622746C42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7CBE5D-916B-9810-03A4-1958ED6BB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45955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food&#10;&#10;Description automatically generated">
            <a:extLst>
              <a:ext uri="{FF2B5EF4-FFF2-40B4-BE49-F238E27FC236}">
                <a16:creationId xmlns:a16="http://schemas.microsoft.com/office/drawing/2014/main" id="{CE9ED49C-E0F6-3E47-BD59-EA863495A6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748BE3-3690-A64C-B81F-5D4836EA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1" y="4561556"/>
            <a:ext cx="7823200" cy="762000"/>
          </a:xfrm>
        </p:spPr>
        <p:txBody>
          <a:bodyPr/>
          <a:lstStyle>
            <a:lvl1pPr algn="ctr">
              <a:defRPr>
                <a:solidFill>
                  <a:srgbClr val="FFC117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1F4736C-1B40-EF40-A4E6-C67F6BA9BB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4531" y="405525"/>
            <a:ext cx="6908800" cy="16319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38100" h="3175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dirty="0">
                <a:ln w="0"/>
                <a:solidFill>
                  <a:srgbClr val="4991B1"/>
                </a:solidFill>
                <a:effectLst/>
                <a:latin typeface="VAGRundschriftD" panose="00000500000000000000" pitchFamily="50" charset="0"/>
              </a:rPr>
              <a:t>CS61C</a:t>
            </a:r>
            <a:endParaRPr lang="en-US" sz="6400" b="1" dirty="0">
              <a:solidFill>
                <a:srgbClr val="4991B1"/>
              </a:solidFill>
              <a:latin typeface="VAGRundschriftD" panose="00000500000000000000" pitchFamily="50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2742FAC-A915-9940-B071-1ACD580B8818}"/>
              </a:ext>
            </a:extLst>
          </p:cNvPr>
          <p:cNvSpPr/>
          <p:nvPr userDrawn="1"/>
        </p:nvSpPr>
        <p:spPr>
          <a:xfrm>
            <a:off x="3670301" y="5754635"/>
            <a:ext cx="7912099" cy="471948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 eaLnBrk="0" hangingPunct="0">
              <a:defRPr/>
            </a:pPr>
            <a:endParaRPr lang="en-US" sz="19062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7045E-1D2A-D347-9A70-A92ECBAE1DA8}"/>
              </a:ext>
            </a:extLst>
          </p:cNvPr>
          <p:cNvSpPr txBox="1"/>
          <p:nvPr userDrawn="1"/>
        </p:nvSpPr>
        <p:spPr>
          <a:xfrm>
            <a:off x="3083166" y="2494613"/>
            <a:ext cx="2222500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Teaching 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Dan Garcia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8C054-0436-F542-9F61-8E0911ABF73E}"/>
              </a:ext>
            </a:extLst>
          </p:cNvPr>
          <p:cNvSpPr txBox="1"/>
          <p:nvPr userDrawn="1"/>
        </p:nvSpPr>
        <p:spPr>
          <a:xfrm>
            <a:off x="10318235" y="2493787"/>
            <a:ext cx="1672165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Bora </a:t>
            </a:r>
            <a:r>
              <a:rPr lang="en-US" sz="1667" b="1" dirty="0" err="1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Nikolić</a:t>
            </a:r>
            <a:endParaRPr lang="en-US" sz="1667" b="1" dirty="0">
              <a:solidFill>
                <a:schemeClr val="tx1">
                  <a:lumMod val="50000"/>
                </a:schemeClr>
              </a:solidFill>
              <a:latin typeface="18 VAG Rounded Bold   0739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7237754-4208-E64E-8670-01EE7AED6B0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/>
          <a:srcRect l="14185" t="1842" r="32155" b="47377"/>
          <a:stretch/>
        </p:blipFill>
        <p:spPr bwMode="auto">
          <a:xfrm>
            <a:off x="3512032" y="414398"/>
            <a:ext cx="1364768" cy="16905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DD0B12-55F7-2546-8672-7E2D289F69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7" t="8236" r="5233" b="12909"/>
          <a:stretch/>
        </p:blipFill>
        <p:spPr>
          <a:xfrm>
            <a:off x="10521036" y="399773"/>
            <a:ext cx="1266560" cy="17051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BBAC4D5-0EE4-FD4C-8CC9-387D71F8E638}"/>
              </a:ext>
            </a:extLst>
          </p:cNvPr>
          <p:cNvSpPr/>
          <p:nvPr userDrawn="1"/>
        </p:nvSpPr>
        <p:spPr>
          <a:xfrm>
            <a:off x="6297061" y="6390958"/>
            <a:ext cx="26437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c</a:t>
            </a:r>
            <a:r>
              <a:rPr lang="en-U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s61c</a:t>
            </a:r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.org</a:t>
            </a:r>
            <a:r>
              <a:rPr lang="en-US" sz="2400" b="1" dirty="0">
                <a:solidFill>
                  <a:schemeClr val="tx1"/>
                </a:solidFill>
                <a:latin typeface="Helvetica" charset="0"/>
                <a:ea typeface="ＭＳ Ｐゴシック" charset="0"/>
                <a:cs typeface="Helvetica" charset="0"/>
                <a:sym typeface="Helvetica" charset="0"/>
              </a:rPr>
              <a:t> </a:t>
            </a:r>
            <a:endParaRPr lang="en-US" sz="21199" dirty="0">
              <a:solidFill>
                <a:schemeClr val="tx1"/>
              </a:solidFill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4983A71A-E6AB-F34C-BE07-4CD0CE150A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0129" y="1859888"/>
            <a:ext cx="6908800" cy="15403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in</a:t>
            </a:r>
            <a:b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</a:b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rgbClr val="E4DDD2"/>
                </a:solidFill>
                <a:latin typeface="VAGRundschriftD" panose="00000500000000000000" pitchFamily="50" charset="0"/>
              </a:rPr>
              <a:t>(a.k.a. Machine Structures)</a:t>
            </a:r>
            <a:endParaRPr lang="en-US" sz="3833" b="1" dirty="0">
              <a:solidFill>
                <a:srgbClr val="E4DDD2"/>
              </a:solidFill>
              <a:latin typeface="VAGRundschriftD" panose="00000500000000000000" pitchFamily="50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EB3944F9-06D2-8C43-B653-2C25027065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45346C-6CDA-0242-B211-E679E89FE3E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D8CC368-03BC-234A-917E-B8B2D872148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D6AA3AF-E757-5D40-AF18-590283A894E1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03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VAG Rundschrift D Light" pitchFamily="2" charset="77"/>
              </a:defRPr>
            </a:lvl1pPr>
            <a:lvl2pPr>
              <a:defRPr b="0" i="0">
                <a:latin typeface="VAG Rundschrift D Light" pitchFamily="2" charset="77"/>
              </a:defRPr>
            </a:lvl2pPr>
            <a:lvl3pPr>
              <a:defRPr b="0" i="0">
                <a:solidFill>
                  <a:srgbClr val="00BEE2"/>
                </a:solidFill>
                <a:latin typeface="VAG Rundschrift D Light" pitchFamily="2" charset="77"/>
              </a:defRPr>
            </a:lvl3pPr>
            <a:lvl4pPr marL="1685519" indent="-457189">
              <a:buClr>
                <a:srgbClr val="FFC117"/>
              </a:buClr>
              <a:buFont typeface="Arial" panose="020B0604020202020204" pitchFamily="34" charset="0"/>
              <a:buChar char="•"/>
              <a:defRPr sz="2400" b="0" i="0">
                <a:solidFill>
                  <a:srgbClr val="FFC117"/>
                </a:solidFill>
                <a:latin typeface="VAG Rundschrift D Light" pitchFamily="2" charset="77"/>
              </a:defRPr>
            </a:lvl4pPr>
            <a:lvl5pPr>
              <a:buClr>
                <a:srgbClr val="E4DDD2"/>
              </a:buClr>
              <a:defRPr b="0" i="0">
                <a:solidFill>
                  <a:srgbClr val="E4DDD2"/>
                </a:solidFill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A448BC-C94B-E240-BBCC-5B2F3975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8896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ood&#10;&#10;Description automatically generated">
            <a:extLst>
              <a:ext uri="{FF2B5EF4-FFF2-40B4-BE49-F238E27FC236}">
                <a16:creationId xmlns:a16="http://schemas.microsoft.com/office/drawing/2014/main" id="{2677E839-A4BD-EF4E-B7C9-4C82DFEEEF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0" y="928127"/>
            <a:ext cx="3937000" cy="5368340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33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20000" y="928127"/>
            <a:ext cx="4000501" cy="5368340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A538D-CE12-4F4E-B8F9-BE50989C1758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VAGRundschriftD" panose="00000500000000000000" pitchFamily="50" charset="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solidFill>
                  <a:srgbClr val="E4DDD2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DD9E74F-8295-8546-AB63-B09A36C3C5C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278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908050"/>
            <a:ext cx="10502901" cy="5365751"/>
          </a:xfrm>
        </p:spPr>
        <p:txBody>
          <a:bodyPr/>
          <a:lstStyle>
            <a:lvl1pPr>
              <a:defRPr b="0" i="0">
                <a:latin typeface="VAG Rundschrift D Light" pitchFamily="2" charset="77"/>
              </a:defRPr>
            </a:lvl1pPr>
            <a:lvl2pPr>
              <a:defRPr b="0" i="0">
                <a:latin typeface="VAG Rundschrift D Light" pitchFamily="2" charset="77"/>
              </a:defRPr>
            </a:lvl2pPr>
            <a:lvl3pPr>
              <a:defRPr b="0" i="0">
                <a:latin typeface="VAG Rundschrift D Light" pitchFamily="2" charset="77"/>
              </a:defRPr>
            </a:lvl3pPr>
            <a:lvl4pPr>
              <a:defRPr b="0" i="0">
                <a:latin typeface="VAG Rundschrift D Light" pitchFamily="2" charset="77"/>
              </a:defRPr>
            </a:lvl4pPr>
            <a:lvl5pPr>
              <a:defRPr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A448BC-C94B-E240-BBCC-5B2F3975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692833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ood&#10;&#10;Description automatically generated">
            <a:extLst>
              <a:ext uri="{FF2B5EF4-FFF2-40B4-BE49-F238E27FC236}">
                <a16:creationId xmlns:a16="http://schemas.microsoft.com/office/drawing/2014/main" id="{E29CF758-356F-D645-A544-8AD2373E33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825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5843" y="901825"/>
            <a:ext cx="4980157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889000"/>
            <a:ext cx="5422901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A538D-CE12-4F4E-B8F9-BE50989C1758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18 VAG Rounded Black   0939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18 VAG Rounded Black   0939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18 VAG Rounded Black   0939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18 VAG Rounded Black   0939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18 VAG Rounded Black   0939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18 VAG Rounded Thin   55390" pitchFamily="2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solidFill>
                  <a:srgbClr val="E4DDD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A0BEC86-E652-F848-AA3E-EC0AC5D44BB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7006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908050"/>
            <a:ext cx="8572501" cy="536575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A448BC-C94B-E240-BBCC-5B2F3975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49531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ood&#10;&#10;Description automatically generated">
            <a:extLst>
              <a:ext uri="{FF2B5EF4-FFF2-40B4-BE49-F238E27FC236}">
                <a16:creationId xmlns:a16="http://schemas.microsoft.com/office/drawing/2014/main" id="{8ECFEE2E-863C-C649-AF97-D7D700C3CC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889000"/>
            <a:ext cx="3937000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89600" y="889000"/>
            <a:ext cx="4000501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A538D-CE12-4F4E-B8F9-BE50989C1758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VAGRundschriftD" panose="00000500000000000000" pitchFamily="50" charset="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solidFill>
                  <a:srgbClr val="E4DDD2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2AFCD5E-49BF-E247-8C97-949C07F042F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5417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food&#10;&#10;Description automatically generated">
            <a:extLst>
              <a:ext uri="{FF2B5EF4-FFF2-40B4-BE49-F238E27FC236}">
                <a16:creationId xmlns:a16="http://schemas.microsoft.com/office/drawing/2014/main" id="{2DF9A1AA-6E36-A244-B9C8-150E2F1D41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2756" y="681039"/>
            <a:ext cx="6138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5" name="Rectangle 4"/>
          <p:cNvSpPr/>
          <p:nvPr/>
        </p:nvSpPr>
        <p:spPr>
          <a:xfrm>
            <a:off x="357719" y="681039"/>
            <a:ext cx="381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6" name="Rectangle 5"/>
          <p:cNvSpPr/>
          <p:nvPr/>
        </p:nvSpPr>
        <p:spPr>
          <a:xfrm>
            <a:off x="332319" y="681039"/>
            <a:ext cx="127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/>
          </a:p>
        </p:txBody>
      </p:sp>
      <p:sp>
        <p:nvSpPr>
          <p:cNvPr id="7" name="Rectangle 6"/>
          <p:cNvSpPr/>
          <p:nvPr/>
        </p:nvSpPr>
        <p:spPr>
          <a:xfrm>
            <a:off x="296333" y="681039"/>
            <a:ext cx="10584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657600" y="2834640"/>
            <a:ext cx="7924800" cy="1508760"/>
          </a:xfrm>
        </p:spPr>
        <p:txBody>
          <a:bodyPr lIns="143685" anchor="ctr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rgbClr val="D0940C"/>
              </a:contourClr>
            </a:sp3d>
          </a:bodyPr>
          <a:lstStyle>
            <a:lvl1pPr marL="0" indent="0" algn="ctr">
              <a:spcBef>
                <a:spcPts val="0"/>
              </a:spcBef>
              <a:buNone/>
              <a:defRPr sz="8417" b="1" cap="none" spc="0">
                <a:ln w="11430"/>
                <a:solidFill>
                  <a:srgbClr val="D0940C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VAGRundschriftD" panose="00000500000000000000" pitchFamily="50" charset="0"/>
              </a:defRPr>
            </a:lvl1pPr>
            <a:lvl2pPr marL="544245" indent="0" algn="ctr">
              <a:buNone/>
            </a:lvl2pPr>
            <a:lvl3pPr marL="1088490" indent="0" algn="ctr">
              <a:buNone/>
            </a:lvl3pPr>
            <a:lvl4pPr marL="1632735" indent="0" algn="ctr">
              <a:buNone/>
            </a:lvl4pPr>
            <a:lvl5pPr marL="2176980" indent="0" algn="ctr">
              <a:buNone/>
            </a:lvl5pPr>
            <a:lvl6pPr marL="2721224" indent="0" algn="ctr">
              <a:buNone/>
            </a:lvl6pPr>
            <a:lvl7pPr marL="3265469" indent="0" algn="ctr">
              <a:buNone/>
            </a:lvl7pPr>
            <a:lvl8pPr marL="3809714" indent="0" algn="ctr">
              <a:buNone/>
            </a:lvl8pPr>
            <a:lvl9pPr marL="4353959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Oval 10"/>
          <p:cNvSpPr/>
          <p:nvPr userDrawn="1"/>
        </p:nvSpPr>
        <p:spPr>
          <a:xfrm>
            <a:off x="3692918" y="5575709"/>
            <a:ext cx="7864084" cy="393291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>
              <a:defRPr/>
            </a:pPr>
            <a:endParaRPr lang="en-US" sz="19062" dirty="0"/>
          </a:p>
        </p:txBody>
      </p:sp>
    </p:spTree>
    <p:extLst>
      <p:ext uri="{BB962C8B-B14F-4D97-AF65-F5344CB8AC3E}">
        <p14:creationId xmlns:p14="http://schemas.microsoft.com/office/powerpoint/2010/main" val="38010211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food&#10;&#10;Description automatically generated">
            <a:extLst>
              <a:ext uri="{FF2B5EF4-FFF2-40B4-BE49-F238E27FC236}">
                <a16:creationId xmlns:a16="http://schemas.microsoft.com/office/drawing/2014/main" id="{68AA9D09-0281-BC43-ACED-6D4085FEB5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pic>
        <p:nvPicPr>
          <p:cNvPr id="15" name="Picture 14" descr="A picture containing light&#10;&#10;Description automatically generated">
            <a:extLst>
              <a:ext uri="{FF2B5EF4-FFF2-40B4-BE49-F238E27FC236}">
                <a16:creationId xmlns:a16="http://schemas.microsoft.com/office/drawing/2014/main" id="{019910D7-85CB-0247-9141-23A9945206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748BE3-3690-A64C-B81F-5D4836EA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1" y="4561556"/>
            <a:ext cx="7823200" cy="762000"/>
          </a:xfrm>
        </p:spPr>
        <p:txBody>
          <a:bodyPr/>
          <a:lstStyle>
            <a:lvl1pPr algn="ctr">
              <a:defRPr>
                <a:solidFill>
                  <a:srgbClr val="FFC117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2742FAC-A915-9940-B071-1ACD580B8818}"/>
              </a:ext>
            </a:extLst>
          </p:cNvPr>
          <p:cNvSpPr/>
          <p:nvPr userDrawn="1"/>
        </p:nvSpPr>
        <p:spPr>
          <a:xfrm>
            <a:off x="3670301" y="5754635"/>
            <a:ext cx="7912099" cy="471948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 eaLnBrk="0" hangingPunct="0">
              <a:defRPr/>
            </a:pPr>
            <a:endParaRPr lang="en-US" sz="19062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7045E-1D2A-D347-9A70-A92ECBAE1DA8}"/>
              </a:ext>
            </a:extLst>
          </p:cNvPr>
          <p:cNvSpPr txBox="1"/>
          <p:nvPr userDrawn="1"/>
        </p:nvSpPr>
        <p:spPr>
          <a:xfrm>
            <a:off x="3083166" y="2494613"/>
            <a:ext cx="2222500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Teaching 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Dan Garcia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8C054-0436-F542-9F61-8E0911ABF73E}"/>
              </a:ext>
            </a:extLst>
          </p:cNvPr>
          <p:cNvSpPr txBox="1"/>
          <p:nvPr userDrawn="1"/>
        </p:nvSpPr>
        <p:spPr>
          <a:xfrm>
            <a:off x="10318235" y="2493787"/>
            <a:ext cx="1672165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Bora </a:t>
            </a:r>
            <a:r>
              <a:rPr lang="en-US" sz="1667" b="1" dirty="0" err="1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Nikolić</a:t>
            </a:r>
            <a:endParaRPr lang="en-US" sz="1667" b="1" dirty="0">
              <a:solidFill>
                <a:schemeClr val="tx1">
                  <a:lumMod val="50000"/>
                </a:schemeClr>
              </a:solidFill>
              <a:latin typeface="18 VAG Rounded Bold   0739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7237754-4208-E64E-8670-01EE7AED6B0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/>
          <a:srcRect l="14185" t="1842" r="32155" b="47377"/>
          <a:stretch/>
        </p:blipFill>
        <p:spPr bwMode="auto">
          <a:xfrm>
            <a:off x="3512032" y="414398"/>
            <a:ext cx="1364768" cy="16905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DD0B12-55F7-2546-8672-7E2D289F69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7" t="8236" r="5233" b="12909"/>
          <a:stretch/>
        </p:blipFill>
        <p:spPr>
          <a:xfrm>
            <a:off x="10521036" y="399773"/>
            <a:ext cx="1266560" cy="17051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4983A71A-E6AB-F34C-BE07-4CD0CE150A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0129" y="1859888"/>
            <a:ext cx="6908800" cy="15403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in</a:t>
            </a:r>
            <a:b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</a:b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VAGRundschriftD" panose="00000500000000000000" pitchFamily="50" charset="0"/>
              </a:rPr>
              <a:t>(a.k.a. Machine Structures)</a:t>
            </a:r>
            <a:endParaRPr lang="en-US" sz="3833" b="1" dirty="0">
              <a:solidFill>
                <a:schemeClr val="bg2"/>
              </a:solidFill>
              <a:latin typeface="VAGRundschriftD" panose="00000500000000000000" pitchFamily="50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EB3944F9-06D2-8C43-B653-2C25027065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45346C-6CDA-0242-B211-E679E89FE3E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A07AA5D-B271-D84F-A242-5CBE7971CFF9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1A36E3C-0B8E-D148-80CC-68FAAB4D55A7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6BABD46-61F1-7C48-91F4-12BDB7C8B8CB}"/>
              </a:ext>
            </a:extLst>
          </p:cNvPr>
          <p:cNvSpPr/>
          <p:nvPr userDrawn="1"/>
        </p:nvSpPr>
        <p:spPr>
          <a:xfrm>
            <a:off x="6297061" y="6390958"/>
            <a:ext cx="26437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c</a:t>
            </a:r>
            <a:r>
              <a:rPr lang="en-U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s61c</a:t>
            </a:r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.org</a:t>
            </a:r>
            <a:r>
              <a:rPr lang="en-US" sz="2400" b="1" dirty="0">
                <a:solidFill>
                  <a:schemeClr val="tx1"/>
                </a:solidFill>
                <a:latin typeface="Helvetica" charset="0"/>
                <a:ea typeface="ＭＳ Ｐゴシック" charset="0"/>
                <a:cs typeface="Helvetica" charset="0"/>
                <a:sym typeface="Helvetica" charset="0"/>
              </a:rPr>
              <a:t> </a:t>
            </a:r>
            <a:endParaRPr lang="en-US" sz="21199" dirty="0">
              <a:solidFill>
                <a:schemeClr val="tx1"/>
              </a:solidFill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FC28AFEE-91A4-6C48-A147-EC214E5A8FE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4531" y="405525"/>
            <a:ext cx="6908800" cy="16319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38100" h="3175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dirty="0">
                <a:ln w="0"/>
                <a:solidFill>
                  <a:srgbClr val="4991B1"/>
                </a:solidFill>
                <a:effectLst/>
                <a:latin typeface="VAGRundschriftD" panose="00000500000000000000" pitchFamily="50" charset="0"/>
              </a:rPr>
              <a:t>CS61C</a:t>
            </a:r>
            <a:endParaRPr lang="en-US" sz="6400" b="1" dirty="0">
              <a:solidFill>
                <a:srgbClr val="4991B1"/>
              </a:solidFill>
              <a:latin typeface="VAGRundschriftD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9919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lumn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  <a:lvl2pPr>
              <a:defRPr>
                <a:latin typeface="VAGRundschriftD" panose="00000500000000000000" pitchFamily="50" charset="0"/>
              </a:defRPr>
            </a:lvl2pPr>
            <a:lvl3pPr>
              <a:defRPr>
                <a:latin typeface="VAGRundschriftD" panose="00000500000000000000" pitchFamily="50" charset="0"/>
              </a:defRPr>
            </a:lvl3pPr>
            <a:lvl4pPr>
              <a:defRPr>
                <a:latin typeface="VAGRundschriftD" panose="00000500000000000000" pitchFamily="50" charset="0"/>
              </a:defRPr>
            </a:lvl4pPr>
            <a:lvl5pPr>
              <a:defRPr>
                <a:latin typeface="VAGRundschriftD" panose="00000500000000000000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9972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food&#10;&#10;Description automatically generated">
            <a:extLst>
              <a:ext uri="{FF2B5EF4-FFF2-40B4-BE49-F238E27FC236}">
                <a16:creationId xmlns:a16="http://schemas.microsoft.com/office/drawing/2014/main" id="{8ED939BA-A982-714F-AC2A-BE41FDE657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 descr="A picture containing light&#10;&#10;Description automatically generated">
            <a:extLst>
              <a:ext uri="{FF2B5EF4-FFF2-40B4-BE49-F238E27FC236}">
                <a16:creationId xmlns:a16="http://schemas.microsoft.com/office/drawing/2014/main" id="{EC63A20D-21AB-2B40-91E4-4FDA4EB93B4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0" y="889000"/>
            <a:ext cx="3937000" cy="5407467"/>
          </a:xfrm>
        </p:spPr>
        <p:txBody>
          <a:bodyPr/>
          <a:lstStyle>
            <a:lvl1pPr>
              <a:defRPr sz="3333">
                <a:latin typeface="VAGRundschriftD" panose="00000500000000000000" pitchFamily="50" charset="0"/>
              </a:defRPr>
            </a:lvl1pPr>
            <a:lvl2pPr>
              <a:defRPr sz="2833">
                <a:latin typeface="VAGRundschriftD" panose="00000500000000000000" pitchFamily="50" charset="0"/>
              </a:defRPr>
            </a:lvl2pPr>
            <a:lvl3pPr>
              <a:defRPr sz="2417">
                <a:latin typeface="VAGRundschriftD" panose="00000500000000000000" pitchFamily="50" charset="0"/>
              </a:defRPr>
            </a:lvl3pPr>
            <a:lvl4pPr>
              <a:defRPr sz="2167">
                <a:latin typeface="VAGRundschriftD" panose="00000500000000000000" pitchFamily="50" charset="0"/>
              </a:defRPr>
            </a:lvl4pPr>
            <a:lvl5pPr>
              <a:defRPr sz="2167">
                <a:latin typeface="VAGRundschriftD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20000" y="889000"/>
            <a:ext cx="3971925" cy="5407467"/>
          </a:xfrm>
        </p:spPr>
        <p:txBody>
          <a:bodyPr/>
          <a:lstStyle>
            <a:lvl1pPr>
              <a:defRPr sz="3333">
                <a:latin typeface="VAGRundschriftD" panose="00000500000000000000" pitchFamily="50" charset="0"/>
              </a:defRPr>
            </a:lvl1pPr>
            <a:lvl2pPr>
              <a:defRPr sz="2833">
                <a:latin typeface="VAGRundschriftD" panose="00000500000000000000" pitchFamily="50" charset="0"/>
              </a:defRPr>
            </a:lvl2pPr>
            <a:lvl3pPr>
              <a:defRPr sz="2417">
                <a:latin typeface="VAGRundschriftD" panose="00000500000000000000" pitchFamily="50" charset="0"/>
              </a:defRPr>
            </a:lvl3pPr>
            <a:lvl4pPr>
              <a:defRPr sz="2167">
                <a:latin typeface="VAGRundschriftD" panose="00000500000000000000" pitchFamily="50" charset="0"/>
              </a:defRPr>
            </a:lvl4pPr>
            <a:lvl5pPr>
              <a:defRPr sz="2167">
                <a:latin typeface="VAGRundschriftD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VAGRundschriftD" panose="00000500000000000000" pitchFamily="50" charset="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BC76881-1B14-4D4F-83AB-0BD4F70F885A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F1BAD8DF-85B5-244D-B7EE-8DE77A729BC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1068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 Title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food&#10;&#10;Description automatically generated">
            <a:extLst>
              <a:ext uri="{FF2B5EF4-FFF2-40B4-BE49-F238E27FC236}">
                <a16:creationId xmlns:a16="http://schemas.microsoft.com/office/drawing/2014/main" id="{6BD88787-61C8-AE47-8735-AE6C83007A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light&#10;&#10;Description automatically generated">
            <a:extLst>
              <a:ext uri="{FF2B5EF4-FFF2-40B4-BE49-F238E27FC236}">
                <a16:creationId xmlns:a16="http://schemas.microsoft.com/office/drawing/2014/main" id="{ADF33AB0-2DBB-E042-B8C0-EC348F7CC1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2756" y="681039"/>
            <a:ext cx="6138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5" name="Rectangle 4"/>
          <p:cNvSpPr/>
          <p:nvPr/>
        </p:nvSpPr>
        <p:spPr>
          <a:xfrm>
            <a:off x="357719" y="681039"/>
            <a:ext cx="381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6" name="Rectangle 5"/>
          <p:cNvSpPr/>
          <p:nvPr/>
        </p:nvSpPr>
        <p:spPr>
          <a:xfrm>
            <a:off x="332319" y="681039"/>
            <a:ext cx="127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/>
          </a:p>
        </p:txBody>
      </p:sp>
      <p:sp>
        <p:nvSpPr>
          <p:cNvPr id="7" name="Rectangle 6"/>
          <p:cNvSpPr/>
          <p:nvPr/>
        </p:nvSpPr>
        <p:spPr>
          <a:xfrm>
            <a:off x="296333" y="681039"/>
            <a:ext cx="10584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657600" y="2834640"/>
            <a:ext cx="7924800" cy="1508760"/>
          </a:xfrm>
        </p:spPr>
        <p:txBody>
          <a:bodyPr lIns="143685" anchor="ctr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rgbClr val="D0940C"/>
              </a:contourClr>
            </a:sp3d>
          </a:bodyPr>
          <a:lstStyle>
            <a:lvl1pPr marL="0" indent="0" algn="ctr">
              <a:spcBef>
                <a:spcPts val="0"/>
              </a:spcBef>
              <a:buNone/>
              <a:defRPr sz="8417" b="1" cap="none" spc="0">
                <a:ln w="11430"/>
                <a:solidFill>
                  <a:srgbClr val="D0940C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VAGRundschriftD" panose="00000500000000000000" pitchFamily="50" charset="0"/>
              </a:defRPr>
            </a:lvl1pPr>
            <a:lvl2pPr marL="544245" indent="0" algn="ctr">
              <a:buNone/>
            </a:lvl2pPr>
            <a:lvl3pPr marL="1088490" indent="0" algn="ctr">
              <a:buNone/>
            </a:lvl3pPr>
            <a:lvl4pPr marL="1632735" indent="0" algn="ctr">
              <a:buNone/>
            </a:lvl4pPr>
            <a:lvl5pPr marL="2176980" indent="0" algn="ctr">
              <a:buNone/>
            </a:lvl5pPr>
            <a:lvl6pPr marL="2721224" indent="0" algn="ctr">
              <a:buNone/>
            </a:lvl6pPr>
            <a:lvl7pPr marL="3265469" indent="0" algn="ctr">
              <a:buNone/>
            </a:lvl7pPr>
            <a:lvl8pPr marL="3809714" indent="0" algn="ctr">
              <a:buNone/>
            </a:lvl8pPr>
            <a:lvl9pPr marL="4353959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Oval 10"/>
          <p:cNvSpPr/>
          <p:nvPr userDrawn="1"/>
        </p:nvSpPr>
        <p:spPr>
          <a:xfrm>
            <a:off x="3692918" y="5575709"/>
            <a:ext cx="7864084" cy="393291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>
              <a:defRPr/>
            </a:pPr>
            <a:endParaRPr lang="en-US" sz="19062" dirty="0"/>
          </a:p>
        </p:txBody>
      </p:sp>
    </p:spTree>
    <p:extLst>
      <p:ext uri="{BB962C8B-B14F-4D97-AF65-F5344CB8AC3E}">
        <p14:creationId xmlns:p14="http://schemas.microsoft.com/office/powerpoint/2010/main" val="16543147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food&#10;&#10;Description automatically generated">
            <a:extLst>
              <a:ext uri="{FF2B5EF4-FFF2-40B4-BE49-F238E27FC236}">
                <a16:creationId xmlns:a16="http://schemas.microsoft.com/office/drawing/2014/main" id="{6C194DF9-C0AF-304B-88A9-02036DD406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122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food&#10;&#10;Description automatically generated">
            <a:extLst>
              <a:ext uri="{FF2B5EF4-FFF2-40B4-BE49-F238E27FC236}">
                <a16:creationId xmlns:a16="http://schemas.microsoft.com/office/drawing/2014/main" id="{F8288F7D-1E3A-1E47-9FDA-D20C05CD80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2756" y="681039"/>
            <a:ext cx="6138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5" name="Rectangle 4"/>
          <p:cNvSpPr/>
          <p:nvPr/>
        </p:nvSpPr>
        <p:spPr>
          <a:xfrm>
            <a:off x="357719" y="681039"/>
            <a:ext cx="381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6" name="Rectangle 5"/>
          <p:cNvSpPr/>
          <p:nvPr/>
        </p:nvSpPr>
        <p:spPr>
          <a:xfrm>
            <a:off x="332319" y="681039"/>
            <a:ext cx="127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/>
          </a:p>
        </p:txBody>
      </p:sp>
      <p:sp>
        <p:nvSpPr>
          <p:cNvPr id="7" name="Rectangle 6"/>
          <p:cNvSpPr/>
          <p:nvPr/>
        </p:nvSpPr>
        <p:spPr>
          <a:xfrm>
            <a:off x="296333" y="681039"/>
            <a:ext cx="10584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11" name="Oval 10"/>
          <p:cNvSpPr/>
          <p:nvPr userDrawn="1"/>
        </p:nvSpPr>
        <p:spPr>
          <a:xfrm>
            <a:off x="3692918" y="5575709"/>
            <a:ext cx="7864084" cy="393291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>
              <a:defRPr/>
            </a:pPr>
            <a:endParaRPr lang="en-US" sz="19062" dirty="0"/>
          </a:p>
        </p:txBody>
      </p:sp>
      <p:pic>
        <p:nvPicPr>
          <p:cNvPr id="12" name="Picture 11" descr="A picture containing light&#10;&#10;Description automatically generated">
            <a:extLst>
              <a:ext uri="{FF2B5EF4-FFF2-40B4-BE49-F238E27FC236}">
                <a16:creationId xmlns:a16="http://schemas.microsoft.com/office/drawing/2014/main" id="{3F85B7C0-ACB5-AB44-8C40-83F8FCB8A38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7133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19392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tif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5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image" Target="../media/image7.emf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image" Target="../media/image2.tiff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50000">
              <a:schemeClr val="tx1"/>
            </a:gs>
            <a:gs pos="100000">
              <a:srgbClr val="00326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>
            <a:extLst>
              <a:ext uri="{FF2B5EF4-FFF2-40B4-BE49-F238E27FC236}">
                <a16:creationId xmlns:a16="http://schemas.microsoft.com/office/drawing/2014/main" id="{07444E4B-B667-204F-6CBC-6541042F7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997" y="76200"/>
            <a:ext cx="10509504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BFD2F-B4A1-0BFE-9946-F9ACEA1C1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8413" y="916710"/>
            <a:ext cx="11332079" cy="5287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Google Shape;13;p48">
            <a:extLst>
              <a:ext uri="{FF2B5EF4-FFF2-40B4-BE49-F238E27FC236}">
                <a16:creationId xmlns:a16="http://schemas.microsoft.com/office/drawing/2014/main" id="{86EC8A50-6ED8-8792-AC2D-624D27BA987D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9176" y="6362905"/>
            <a:ext cx="1264675" cy="389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6FE450-8072-3EB0-9EC8-CEC906BCB0A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F0B3E7-42CF-CC16-BDE1-F34A834A2E4D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362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267" b="1" i="0" kern="1200">
          <a:solidFill>
            <a:schemeClr val="bg2">
              <a:alpha val="99099"/>
            </a:schemeClr>
          </a:solidFill>
          <a:latin typeface="18 VAG Rounded Bold   07390" pitchFamily="2" charset="0"/>
          <a:ea typeface="+mj-ea"/>
          <a:cs typeface="+mj-cs"/>
        </a:defRPr>
      </a:lvl1pPr>
    </p:titleStyle>
    <p:bodyStyle>
      <a:lvl1pPr marL="467772" indent="-383108" algn="l" defTabSz="914377" rtl="0" eaLnBrk="1" latinLnBrk="0" hangingPunct="1">
        <a:lnSpc>
          <a:spcPct val="100000"/>
        </a:lnSpc>
        <a:spcBef>
          <a:spcPts val="1000"/>
        </a:spcBef>
        <a:buClrTx/>
        <a:buSzPct val="95000"/>
        <a:buFont typeface="Wingdings" pitchFamily="2" charset="2"/>
        <a:buChar char="§"/>
        <a:tabLst/>
        <a:defRPr sz="3600" b="1" i="0" kern="1200">
          <a:ln>
            <a:noFill/>
          </a:ln>
          <a:solidFill>
            <a:schemeClr val="bg1">
              <a:alpha val="99000"/>
            </a:schemeClr>
          </a:solidFill>
          <a:latin typeface="18 VAG Rounded Bold   07390" pitchFamily="2" charset="0"/>
          <a:ea typeface="+mn-ea"/>
          <a:cs typeface="+mn-cs"/>
        </a:defRPr>
      </a:lvl1pPr>
      <a:lvl2pPr marL="768331" indent="-311143" algn="l" defTabSz="914377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SzPct val="100000"/>
        <a:buFont typeface="Wingdings" pitchFamily="2" charset="2"/>
        <a:buChar char="§"/>
        <a:tabLst/>
        <a:defRPr sz="3200" b="0" i="0" kern="1200">
          <a:solidFill>
            <a:schemeClr val="accent2"/>
          </a:solidFill>
          <a:latin typeface="18 VAG Rounded Light   02390" pitchFamily="2" charset="0"/>
          <a:ea typeface="+mn-ea"/>
          <a:cs typeface="+mn-cs"/>
        </a:defRPr>
      </a:lvl2pPr>
      <a:lvl3pPr marL="1066773" indent="-298443" algn="l" defTabSz="914377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Wingdings" pitchFamily="2" charset="2"/>
        <a:buChar char="§"/>
        <a:tabLst/>
        <a:defRPr sz="2800" b="0" i="0" kern="1200">
          <a:solidFill>
            <a:schemeClr val="accent1"/>
          </a:solidFill>
          <a:latin typeface="18 VAG Rounded Light   02390" pitchFamily="2" charset="0"/>
          <a:ea typeface="+mn-ea"/>
          <a:cs typeface="+mn-cs"/>
        </a:defRPr>
      </a:lvl3pPr>
      <a:lvl4pPr marL="1449881" indent="-298443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2400" b="0" i="0" kern="1200">
          <a:solidFill>
            <a:schemeClr val="accent3"/>
          </a:solidFill>
          <a:latin typeface="18 VAG Rounded Light   02390" pitchFamily="2" charset="0"/>
          <a:ea typeface="+mn-ea"/>
          <a:cs typeface="+mn-cs"/>
        </a:defRPr>
      </a:lvl4pPr>
      <a:lvl5pPr marL="1763140" indent="-226478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2000" b="0" i="0" kern="1200">
          <a:solidFill>
            <a:schemeClr val="bg2"/>
          </a:solidFill>
          <a:latin typeface="18 VAG Rounded Light   02390" pitchFamily="2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food&#10;&#10;Description automatically generated">
            <a:extLst>
              <a:ext uri="{FF2B5EF4-FFF2-40B4-BE49-F238E27FC236}">
                <a16:creationId xmlns:a16="http://schemas.microsoft.com/office/drawing/2014/main" id="{DD4C6C20-F48B-6B49-86FF-DB6B770C5747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Rectangle 10"/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5"/>
                </a:solidFill>
                <a:latin typeface="VAGRundschriftD" panose="00000500000000000000" pitchFamily="50" charset="0"/>
                <a:ea typeface="+mn-ea"/>
                <a:cs typeface="+mn-cs"/>
              </a:rPr>
              <a:t>RISC-V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cxnSp>
        <p:nvCxnSpPr>
          <p:cNvPr id="13" name="Straight Connector 12"/>
          <p:cNvCxnSpPr>
            <a:cxnSpLocks/>
          </p:cNvCxnSpPr>
          <p:nvPr userDrawn="1"/>
        </p:nvCxnSpPr>
        <p:spPr>
          <a:xfrm>
            <a:off x="1115843" y="888611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3048000" y="908050"/>
            <a:ext cx="8572501" cy="5365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0" rIns="130622" bIns="653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Rectangle 11"/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18 VAG Rounded Thin   55390" pitchFamily="2" charset="0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4926C7-7ABA-BC4B-B059-3F085BB916B3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73723A-86A7-6746-8062-52657EB054C9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54BFA1-742A-6040-9A02-17161CC49CF5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521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5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67" kern="1200" spc="-119">
          <a:solidFill>
            <a:srgbClr val="E4DDD2"/>
          </a:solidFill>
          <a:latin typeface="18 VAG Rounded Bold   07390"/>
          <a:ea typeface="ＭＳ Ｐゴシック" charset="-128"/>
          <a:cs typeface="AppleGaramond Bd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5pPr>
      <a:lvl6pPr marL="544245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6pPr>
      <a:lvl7pPr marL="1088490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7pPr>
      <a:lvl8pPr marL="1632735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8pPr>
      <a:lvl9pPr marL="2176980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9pPr>
    </p:titleStyle>
    <p:bodyStyle>
      <a:lvl1pPr marL="489442" indent="-408184" algn="l" rtl="0" eaLnBrk="0" fontAlgn="base" hangingPunct="0">
        <a:spcBef>
          <a:spcPts val="833"/>
        </a:spcBef>
        <a:spcAft>
          <a:spcPct val="0"/>
        </a:spcAft>
        <a:buClr>
          <a:srgbClr val="E4DDD2"/>
        </a:buClr>
        <a:buSzPct val="95000"/>
        <a:buFont typeface="Wingdings" pitchFamily="-1" charset="2"/>
        <a:buChar char=""/>
        <a:defRPr sz="3200" b="0" i="0" kern="1200">
          <a:solidFill>
            <a:schemeClr val="tx1"/>
          </a:solidFill>
          <a:latin typeface="VAG Rundschrift D Light" pitchFamily="2" charset="77"/>
          <a:ea typeface="ＭＳ Ｐゴシック" charset="-128"/>
          <a:cs typeface="VAG Rundschrift D Light" pitchFamily="2" charset="77"/>
        </a:defRPr>
      </a:lvl1pPr>
      <a:lvl2pPr marL="880619" indent="-340153" algn="l" rtl="0" eaLnBrk="0" fontAlgn="base" hangingPunct="0">
        <a:spcBef>
          <a:spcPct val="20000"/>
        </a:spcBef>
        <a:spcAft>
          <a:spcPct val="0"/>
        </a:spcAft>
        <a:buSzPct val="90000"/>
        <a:buFont typeface="Wingdings" pitchFamily="-1" charset="2"/>
        <a:buChar char=""/>
        <a:defRPr sz="2667" b="0" i="0" kern="1200">
          <a:solidFill>
            <a:srgbClr val="C5DBC3"/>
          </a:solidFill>
          <a:latin typeface="VAG Rundschrift D Light" pitchFamily="2" charset="77"/>
          <a:ea typeface="ＭＳ Ｐゴシック" charset="-128"/>
          <a:cs typeface="+mn-cs"/>
        </a:defRPr>
      </a:lvl2pPr>
      <a:lvl3pPr marL="1184868" indent="-272123" algn="l" rtl="0" eaLnBrk="0" fontAlgn="base" hangingPunct="0">
        <a:spcBef>
          <a:spcPct val="20000"/>
        </a:spcBef>
        <a:spcAft>
          <a:spcPct val="0"/>
        </a:spcAft>
        <a:buFont typeface="Wingdings 2" pitchFamily="-1" charset="2"/>
        <a:buChar char=""/>
        <a:defRPr sz="2667" b="0" i="0" kern="1200">
          <a:solidFill>
            <a:srgbClr val="00BEE2"/>
          </a:solidFill>
          <a:latin typeface="VAG Rundschrift D Light" pitchFamily="2" charset="77"/>
          <a:ea typeface="ＭＳ Ｐゴシック" charset="-128"/>
          <a:cs typeface="+mn-cs"/>
        </a:defRPr>
      </a:lvl3pPr>
      <a:lvl4pPr marL="1685519" indent="-457189" algn="l" rtl="0" eaLnBrk="0" fontAlgn="base" hangingPunct="0">
        <a:spcBef>
          <a:spcPct val="20000"/>
        </a:spcBef>
        <a:spcAft>
          <a:spcPct val="0"/>
        </a:spcAft>
        <a:buClr>
          <a:srgbClr val="FFC000"/>
        </a:buClr>
        <a:buFont typeface="Arial" panose="020B0604020202020204" pitchFamily="34" charset="0"/>
        <a:buChar char="•"/>
        <a:defRPr sz="2500" b="0" i="0" kern="1200">
          <a:solidFill>
            <a:srgbClr val="FFC117"/>
          </a:solidFill>
          <a:latin typeface="VAG Rundschrift D Light" pitchFamily="2" charset="77"/>
          <a:ea typeface="ＭＳ Ｐゴシック" charset="-128"/>
          <a:cs typeface="+mn-cs"/>
        </a:defRPr>
      </a:lvl4pPr>
      <a:lvl5pPr marL="1763128" indent="-249446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 2" pitchFamily="-1" charset="2"/>
        <a:buChar char=""/>
        <a:defRPr sz="2400" b="0" i="0" kern="1200">
          <a:solidFill>
            <a:srgbClr val="E4DDD2"/>
          </a:solidFill>
          <a:latin typeface="VAG Rundschrift D Light" pitchFamily="2" charset="77"/>
          <a:ea typeface="ＭＳ Ｐゴシック" charset="-128"/>
          <a:cs typeface="+mn-cs"/>
        </a:defRPr>
      </a:lvl5pPr>
      <a:lvl6pPr marL="2035476" indent="-25035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2264058" indent="-217699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833" kern="1200">
          <a:solidFill>
            <a:schemeClr val="tx1"/>
          </a:solidFill>
          <a:latin typeface="+mn-lt"/>
          <a:ea typeface="+mn-ea"/>
          <a:cs typeface="+mn-cs"/>
        </a:defRPr>
      </a:lvl7pPr>
      <a:lvl8pPr marL="2492642" indent="-217699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833" kern="1200">
          <a:solidFill>
            <a:schemeClr val="tx1"/>
          </a:solidFill>
          <a:latin typeface="+mn-lt"/>
          <a:ea typeface="+mn-ea"/>
          <a:cs typeface="+mn-cs"/>
        </a:defRPr>
      </a:lvl8pPr>
      <a:lvl9pPr marL="2721224" indent="-217699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8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54424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08849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3273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17698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72122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26546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80971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35395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43ADD-24F0-2B0A-A556-A86BB95F2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F6A1F49B-401E-0FB7-28ED-1EBE6EDC6F54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636E967F-6D47-31CA-E3BF-7A81EC8B4B91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99EDD467-BFA9-706A-9D09-1973518C009E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2892F0B8-0159-551C-3DC9-CB1F0CE712E3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7C740B4-E3F4-C43C-EE1E-1C36254B4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Tracing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dirty="0"/>
              <a:t> Datapath (8/8)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9B24FF52-AD91-4205-FBA5-D892A1FB2EF9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9F8E6AFE-7B54-A4E0-083E-5ACC053EED5B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20600275-4EE4-4FAE-E480-93D8FC3249A9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32C2AEBB-4233-C01B-B797-B93BBFEEB313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A29C3D53-D0E8-9F0F-FCAC-AF9824154784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7ED4BD91-8DB9-B89B-AF6A-FEDAF62A3DEE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92032E00-B834-2AC0-D6EA-6D4E51A21525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042F38EF-EB1B-A8FD-A306-3A43C4AB6240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06A8F18C-FF9C-3BB6-F5F5-EAB9DD2CE9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BAC68625-3687-54BB-4324-E5AF6AA68BEC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472647B3-1F05-7531-BFF0-D2F5F078EE12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F0D1F2AF-D1FA-9F56-DEA7-9CFF006D3A89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220FC6BA-D640-5302-06EF-DBC415CFA1D2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A9F44A07-B822-CFB8-B9D4-FA353DE7407E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AA094144-4EA6-2A4B-6459-C3617B3FEBCB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B08A00F5-2ECE-2B30-F099-B1885020BEA5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D2161B3C-C9C8-4168-3DDC-A0E8487D27C7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5BB421CF-1882-9D70-97D1-B0CCF1C4BA75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D7C57C45-0DAD-A9C4-A300-F71C888BB6FF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A748311A-4C05-3FB5-2E20-E56D4FCAD73B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457DE5AE-CBA3-3DA3-12FF-B7733115B0B6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78C53581-EE57-00D6-757A-87415D2C4B12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C42627D9-1243-15E7-F474-8CB93E7E4708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E69EE716-49A3-80AF-EFA6-867DFC00FA30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2BDFD5A0-C8F8-EB57-8C3D-22C832A9FD59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40FAE594-F0A4-51FB-1D24-A5EEE5DA4204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58C638DB-EE77-E3E0-5FAB-014DF378462F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ABA810C8-51A6-14F2-3CB4-BF11816B0A34}"/>
              </a:ext>
            </a:extLst>
          </p:cNvPr>
          <p:cNvCxnSpPr>
            <a:stCxn id="457" idx="0"/>
          </p:cNvCxnSpPr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1" name="TextBox 460">
            <a:extLst>
              <a:ext uri="{FF2B5EF4-FFF2-40B4-BE49-F238E27FC236}">
                <a16:creationId xmlns:a16="http://schemas.microsoft.com/office/drawing/2014/main" id="{F6D01837-1DF6-7CFD-FF41-3CA897FD31A1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91335544-B3E6-87E5-BA5A-0D4241876386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B5042C22-7B86-EF37-562B-7EC783A9A2F6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43478428-49C4-A50E-4460-9481E7D680CA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A3A8F6E2-E826-6C8A-B909-6116E89B29F6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90850508-3BA7-6F36-3CC5-EB8D51089105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9CA8C03A-1690-D1A3-C747-9F7507F4A0F5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7D39A733-C65F-8460-DCB1-205ECA9B57E5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9C3CF14C-0D4E-CEAC-19A7-368EA7C05DC5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B97E4917-FF43-D388-D560-8FF10B92BC4F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53CEDA44-38E9-30EC-4477-D8BFDF3B883B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6A4C0989-3444-A788-7619-B3D6D3FE9868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4431231A-1392-2F5A-7F0F-2C0218F1E80A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0CE7CDAE-C82D-B695-B525-E3DA02FE10B3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DFFD5F68-8236-82BD-56CA-54921CE42685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5B2A96-D7FF-F1C0-7CC2-1F7C0C53D49E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1D2D42A-6562-D099-6849-374BC8FC258A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445E304-FAA3-0B19-43F1-2796CDDBB857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6E61533-6983-CB53-D5D6-5C05088F6446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EBD28F1-872F-DE25-18D2-D46C47784BEB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519B07A-3561-6F32-AADB-B34B4B40F981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C83199F4-2DE9-C467-780D-A19E19FAABF9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067C7CEC-D763-5AE7-71E0-EBC568E0B5EF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8BF71198-FEDB-F730-72B2-4DE9ED9F6092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1236C43-4FA6-9393-FAF6-E7ADE7A3C9CA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C71E3B51-D6BB-85E4-8864-D2B50EC6E0D7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72A1FA9B-BC46-0868-68F5-93AEE4329264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2F16226F-3F86-3431-743C-69D656A057C0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925A52AF-E1AA-BD25-5C82-362650E0E083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2E6E1DC2-1ACB-3170-C918-014F67037DD5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F6F69206-7FAE-FE8D-7455-85A631988A1A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8E996384-C21E-4AE5-054F-D2D29E1E332A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1525678C-2B64-6A6D-6051-38109946BB3B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687004C2-97D2-C818-DEF9-736291FCDAFD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848276F0-CF29-B343-E667-F4CAD7012753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55CC6CC-E8E0-9A06-9073-3B639A124D58}"/>
              </a:ext>
            </a:extLst>
          </p:cNvPr>
          <p:cNvGrpSpPr/>
          <p:nvPr/>
        </p:nvGrpSpPr>
        <p:grpSpPr>
          <a:xfrm>
            <a:off x="1780532" y="2965993"/>
            <a:ext cx="673038" cy="703576"/>
            <a:chOff x="1780532" y="2965993"/>
            <a:chExt cx="673038" cy="703576"/>
          </a:xfrm>
        </p:grpSpPr>
        <p:cxnSp>
          <p:nvCxnSpPr>
            <p:cNvPr id="12" name="Elbow Connector 11">
              <a:extLst>
                <a:ext uri="{FF2B5EF4-FFF2-40B4-BE49-F238E27FC236}">
                  <a16:creationId xmlns:a16="http://schemas.microsoft.com/office/drawing/2014/main" id="{751EC38B-AA69-1D58-FA5F-C86A8312FA2E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B4D121E-8379-51D1-B5D3-4105DBF8FC16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96B7906-E533-50C8-E717-A67D656802B9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EEF84B0-3ACA-4BB9-0889-DB2315DEE277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44" name="Elbow Connector 43">
              <a:extLst>
                <a:ext uri="{FF2B5EF4-FFF2-40B4-BE49-F238E27FC236}">
                  <a16:creationId xmlns:a16="http://schemas.microsoft.com/office/drawing/2014/main" id="{3FAD45A1-8BD7-C923-1190-313838D6A131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>
              <a:extLst>
                <a:ext uri="{FF2B5EF4-FFF2-40B4-BE49-F238E27FC236}">
                  <a16:creationId xmlns:a16="http://schemas.microsoft.com/office/drawing/2014/main" id="{57229F66-AC96-C327-35EF-27D7D6603AD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5435D3FE-4C9B-16E7-E7A8-0BE56636122D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4F347663-FBF9-0508-9401-A108338111A2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rapezoid 47">
            <a:extLst>
              <a:ext uri="{FF2B5EF4-FFF2-40B4-BE49-F238E27FC236}">
                <a16:creationId xmlns:a16="http://schemas.microsoft.com/office/drawing/2014/main" id="{73D2EFF5-38C6-D5E2-8B98-A7A206568C60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49" name="Trapezoid 48">
            <a:extLst>
              <a:ext uri="{FF2B5EF4-FFF2-40B4-BE49-F238E27FC236}">
                <a16:creationId xmlns:a16="http://schemas.microsoft.com/office/drawing/2014/main" id="{F30BE90E-9CE2-B290-E96C-26A696F0F76B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50" name="Trapezoid 49">
            <a:extLst>
              <a:ext uri="{FF2B5EF4-FFF2-40B4-BE49-F238E27FC236}">
                <a16:creationId xmlns:a16="http://schemas.microsoft.com/office/drawing/2014/main" id="{2C05B9D0-E049-D8ED-78BC-1062F361219A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3B8429BF-097B-01A9-0DAB-322270472C85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44A6147-E2DE-3BFE-08C8-EDF25B65C8FF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0F06349-136A-6C6A-92D8-366F8C51AC88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A96A175-EFE5-3A6F-EA16-FE438D236A1F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E036B1F-72AC-C2EE-4B93-3A9EBE5E4C38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31BBDCA4-C3E6-F96C-F6BE-9FDD28E4B9C5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4" name="Elbow Connector 53">
                  <a:extLst>
                    <a:ext uri="{FF2B5EF4-FFF2-40B4-BE49-F238E27FC236}">
                      <a16:creationId xmlns:a16="http://schemas.microsoft.com/office/drawing/2014/main" id="{5FF8AA97-FF95-72EC-9422-13BE7018F2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25CD382B-2B4E-81A2-C795-F8344688AC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2657084F-CB5E-5188-BF3B-E6D791632A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3FAE78C-FEEA-51DD-C29D-7975253C6EB0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EBFE009-F80B-841F-D21C-055D2E888B8A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DD03EFB-92C7-3E4C-0DF5-D9CB7DBEED59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chemeClr val="tx1">
                <a:alpha val="67000"/>
              </a:schemeClr>
            </a:glow>
          </a:effectLst>
        </p:grpSpPr>
        <p:cxnSp>
          <p:nvCxnSpPr>
            <p:cNvPr id="6" name="Elbow Connector 5">
              <a:extLst>
                <a:ext uri="{FF2B5EF4-FFF2-40B4-BE49-F238E27FC236}">
                  <a16:creationId xmlns:a16="http://schemas.microsoft.com/office/drawing/2014/main" id="{C6C1F587-4649-85D6-7F0E-24AC9E06FAF7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EC2DFF3-5109-C850-D169-82A09DD4F75A}"/>
                </a:ext>
              </a:extLst>
            </p:cNvPr>
            <p:cNvCxnSpPr>
              <a:cxnSpLocks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19989390-B5EA-6966-C028-3EF96BB408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EC343710-1052-5D30-45D0-57C9AA827E8B}"/>
              </a:ext>
            </a:extLst>
          </p:cNvPr>
          <p:cNvGrpSpPr/>
          <p:nvPr/>
        </p:nvGrpSpPr>
        <p:grpSpPr>
          <a:xfrm>
            <a:off x="10549378" y="2970605"/>
            <a:ext cx="267680" cy="873172"/>
            <a:chOff x="10468098" y="2970605"/>
            <a:chExt cx="267680" cy="873172"/>
          </a:xfrm>
        </p:grpSpPr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8D50FAA6-524D-07A7-FD39-2613132F6365}"/>
                </a:ext>
              </a:extLst>
            </p:cNvPr>
            <p:cNvSpPr/>
            <p:nvPr/>
          </p:nvSpPr>
          <p:spPr>
            <a:xfrm>
              <a:off x="10468098" y="3076083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1C6DF64D-EF33-86E7-67FF-5A6840782C74}"/>
                </a:ext>
              </a:extLst>
            </p:cNvPr>
            <p:cNvSpPr/>
            <p:nvPr/>
          </p:nvSpPr>
          <p:spPr>
            <a:xfrm>
              <a:off x="10468098" y="3321131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4911CDC6-F946-A9CE-77C4-DE815FC6A94A}"/>
                </a:ext>
              </a:extLst>
            </p:cNvPr>
            <p:cNvSpPr/>
            <p:nvPr/>
          </p:nvSpPr>
          <p:spPr>
            <a:xfrm>
              <a:off x="10468098" y="3584336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23" name="Trapezoid 322">
              <a:extLst>
                <a:ext uri="{FF2B5EF4-FFF2-40B4-BE49-F238E27FC236}">
                  <a16:creationId xmlns:a16="http://schemas.microsoft.com/office/drawing/2014/main" id="{3DE7156E-9B81-3E76-BAE0-113724B19631}"/>
                </a:ext>
              </a:extLst>
            </p:cNvPr>
            <p:cNvSpPr/>
            <p:nvPr/>
          </p:nvSpPr>
          <p:spPr>
            <a:xfrm rot="5400000">
              <a:off x="10165352" y="3273351"/>
              <a:ext cx="873172" cy="267680"/>
            </a:xfrm>
            <a:prstGeom prst="trapezoid">
              <a:avLst>
                <a:gd name="adj" fmla="val 62818"/>
              </a:avLst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8ADAB577-ABA2-D261-9FCA-2DE3C1B46445}"/>
              </a:ext>
            </a:extLst>
          </p:cNvPr>
          <p:cNvSpPr txBox="1"/>
          <p:nvPr/>
        </p:nvSpPr>
        <p:spPr>
          <a:xfrm>
            <a:off x="293424" y="1063996"/>
            <a:ext cx="263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2BD0E3E-BC05-6D5E-AF52-CB93517C6077}"/>
              </a:ext>
            </a:extLst>
          </p:cNvPr>
          <p:cNvGrpSpPr/>
          <p:nvPr/>
        </p:nvGrpSpPr>
        <p:grpSpPr>
          <a:xfrm>
            <a:off x="668759" y="2260284"/>
            <a:ext cx="2699311" cy="1670895"/>
            <a:chOff x="668759" y="2260284"/>
            <a:chExt cx="2699311" cy="167089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06B26CC-2D6F-C8FB-6FA4-DDFAF8DDBD72}"/>
                </a:ext>
              </a:extLst>
            </p:cNvPr>
            <p:cNvGrpSpPr/>
            <p:nvPr/>
          </p:nvGrpSpPr>
          <p:grpSpPr>
            <a:xfrm>
              <a:off x="668759" y="2260284"/>
              <a:ext cx="2699311" cy="1670895"/>
              <a:chOff x="668759" y="2260284"/>
              <a:chExt cx="2699311" cy="1670895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F35553C-9F79-BF42-9B65-9411564037B4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7F9FBFC5-8795-6B74-48DC-9833734217D5}"/>
                  </a:ext>
                </a:extLst>
              </p:cNvPr>
              <p:cNvGrpSpPr/>
              <p:nvPr/>
            </p:nvGrpSpPr>
            <p:grpSpPr>
              <a:xfrm>
                <a:off x="668759" y="2260284"/>
                <a:ext cx="2699311" cy="1409285"/>
                <a:chOff x="668759" y="2260284"/>
                <a:chExt cx="2699311" cy="1409285"/>
              </a:xfr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A5AF6BE9-2B4F-9B53-1833-7B4CC7E108FF}"/>
                    </a:ext>
                  </a:extLst>
                </p:cNvPr>
                <p:cNvGrpSpPr/>
                <p:nvPr/>
              </p:nvGrpSpPr>
              <p:grpSpPr>
                <a:xfrm>
                  <a:off x="668759" y="2260284"/>
                  <a:ext cx="2699311" cy="1409285"/>
                  <a:chOff x="668759" y="2260284"/>
                  <a:chExt cx="2699311" cy="1409285"/>
                </a:xfrm>
              </p:grpSpPr>
              <p:cxnSp>
                <p:nvCxnSpPr>
                  <p:cNvPr id="58" name="Straight Arrow Connector 57">
                    <a:extLst>
                      <a:ext uri="{FF2B5EF4-FFF2-40B4-BE49-F238E27FC236}">
                        <a16:creationId xmlns:a16="http://schemas.microsoft.com/office/drawing/2014/main" id="{20F4AAE4-E673-6302-1194-DC4086B222C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70363" y="3643964"/>
                    <a:ext cx="274320" cy="0"/>
                  </a:xfrm>
                  <a:prstGeom prst="straightConnector1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59" name="Group 58">
                    <a:extLst>
                      <a:ext uri="{FF2B5EF4-FFF2-40B4-BE49-F238E27FC236}">
                        <a16:creationId xmlns:a16="http://schemas.microsoft.com/office/drawing/2014/main" id="{5AD306DB-D035-7783-6CD8-DD0775A89853}"/>
                      </a:ext>
                    </a:extLst>
                  </p:cNvPr>
                  <p:cNvGrpSpPr/>
                  <p:nvPr/>
                </p:nvGrpSpPr>
                <p:grpSpPr>
                  <a:xfrm>
                    <a:off x="1780532" y="2965993"/>
                    <a:ext cx="673038" cy="703576"/>
                    <a:chOff x="1780532" y="2965993"/>
                    <a:chExt cx="673038" cy="703576"/>
                  </a:xfrm>
                </p:grpSpPr>
                <p:cxnSp>
                  <p:nvCxnSpPr>
                    <p:cNvPr id="63" name="Elbow Connector 62">
                      <a:extLst>
                        <a:ext uri="{FF2B5EF4-FFF2-40B4-BE49-F238E27FC236}">
                          <a16:creationId xmlns:a16="http://schemas.microsoft.com/office/drawing/2014/main" id="{96168212-1AAC-4812-2F4F-DCB12812220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H="1" flipV="1">
                      <a:off x="1830481" y="3046480"/>
                      <a:ext cx="703576" cy="542602"/>
                    </a:xfrm>
                    <a:prstGeom prst="bentConnector3">
                      <a:avLst>
                        <a:gd name="adj1" fmla="val 100542"/>
                      </a:avLst>
                    </a:prstGeom>
                    <a:ln w="57150">
                      <a:solidFill>
                        <a:schemeClr val="accent2"/>
                      </a:solidFill>
                      <a:headEnd type="oval" w="sm" len="sm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0" name="Straight Connector 449">
                      <a:extLst>
                        <a:ext uri="{FF2B5EF4-FFF2-40B4-BE49-F238E27FC236}">
                          <a16:creationId xmlns:a16="http://schemas.microsoft.com/office/drawing/2014/main" id="{D1B16775-6C7A-FA8E-BB67-D107FB9AAF9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80532" y="3655540"/>
                      <a:ext cx="130436" cy="0"/>
                    </a:xfrm>
                    <a:prstGeom prst="line">
                      <a:avLst/>
                    </a:prstGeom>
                    <a:ln w="57150">
                      <a:solidFill>
                        <a:schemeClr val="accent2"/>
                      </a:solidFill>
                      <a:tailEnd type="non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554726E2-4E68-5EF7-46D4-1E9433C82FB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68759" y="2260284"/>
                    <a:ext cx="2697480" cy="1985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headEnd w="sm" len="sm"/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Elbow Connector 60">
                    <a:extLst>
                      <a:ext uri="{FF2B5EF4-FFF2-40B4-BE49-F238E27FC236}">
                        <a16:creationId xmlns:a16="http://schemas.microsoft.com/office/drawing/2014/main" id="{56D48FA4-5B36-80ED-63D9-A0D1EB073CA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2993946" y="2363686"/>
                    <a:ext cx="477525" cy="270723"/>
                  </a:xfrm>
                  <a:prstGeom prst="bentConnector3">
                    <a:avLst>
                      <a:gd name="adj1" fmla="val -5318"/>
                    </a:avLst>
                  </a:prstGeom>
                  <a:ln w="57150">
                    <a:solidFill>
                      <a:schemeClr val="accent2"/>
                    </a:solidFill>
                    <a:headEnd w="sm" len="sm"/>
                    <a:tailEnd type="oval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Elbow Connector 61">
                    <a:extLst>
                      <a:ext uri="{FF2B5EF4-FFF2-40B4-BE49-F238E27FC236}">
                        <a16:creationId xmlns:a16="http://schemas.microsoft.com/office/drawing/2014/main" id="{67D3069E-0F58-6150-FEA8-10FA9ADD68B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191279" y="2758010"/>
                    <a:ext cx="1230930" cy="235480"/>
                  </a:xfrm>
                  <a:prstGeom prst="bentConnector2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7" name="Freeform 56">
                  <a:extLst>
                    <a:ext uri="{FF2B5EF4-FFF2-40B4-BE49-F238E27FC236}">
                      <a16:creationId xmlns:a16="http://schemas.microsoft.com/office/drawing/2014/main" id="{F4492B86-42E1-217E-701A-B061B60F185D}"/>
                    </a:ext>
                  </a:extLst>
                </p:cNvPr>
                <p:cNvSpPr/>
                <p:nvPr/>
              </p:nvSpPr>
              <p:spPr>
                <a:xfrm flipV="1">
                  <a:off x="881793" y="3462503"/>
                  <a:ext cx="405114" cy="183691"/>
                </a:xfrm>
                <a:custGeom>
                  <a:avLst/>
                  <a:gdLst>
                    <a:gd name="connsiteX0" fmla="*/ 0 w 405114"/>
                    <a:gd name="connsiteY0" fmla="*/ 150471 h 162045"/>
                    <a:gd name="connsiteX1" fmla="*/ 57873 w 405114"/>
                    <a:gd name="connsiteY1" fmla="*/ 162045 h 162045"/>
                    <a:gd name="connsiteX2" fmla="*/ 104172 w 405114"/>
                    <a:gd name="connsiteY2" fmla="*/ 150471 h 162045"/>
                    <a:gd name="connsiteX3" fmla="*/ 208344 w 405114"/>
                    <a:gd name="connsiteY3" fmla="*/ 92597 h 162045"/>
                    <a:gd name="connsiteX4" fmla="*/ 254643 w 405114"/>
                    <a:gd name="connsiteY4" fmla="*/ 46298 h 162045"/>
                    <a:gd name="connsiteX5" fmla="*/ 358815 w 405114"/>
                    <a:gd name="connsiteY5" fmla="*/ 0 h 162045"/>
                    <a:gd name="connsiteX6" fmla="*/ 405114 w 405114"/>
                    <a:gd name="connsiteY6" fmla="*/ 0 h 1620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05114" h="162045">
                      <a:moveTo>
                        <a:pt x="0" y="150471"/>
                      </a:moveTo>
                      <a:cubicBezTo>
                        <a:pt x="19291" y="154329"/>
                        <a:pt x="38200" y="162045"/>
                        <a:pt x="57873" y="162045"/>
                      </a:cubicBezTo>
                      <a:cubicBezTo>
                        <a:pt x="73781" y="162045"/>
                        <a:pt x="88876" y="154841"/>
                        <a:pt x="104172" y="150471"/>
                      </a:cubicBezTo>
                      <a:cubicBezTo>
                        <a:pt x="144925" y="138827"/>
                        <a:pt x="175184" y="125757"/>
                        <a:pt x="208344" y="92597"/>
                      </a:cubicBezTo>
                      <a:cubicBezTo>
                        <a:pt x="223777" y="77164"/>
                        <a:pt x="236483" y="58405"/>
                        <a:pt x="254643" y="46298"/>
                      </a:cubicBezTo>
                      <a:cubicBezTo>
                        <a:pt x="286113" y="25318"/>
                        <a:pt x="317492" y="0"/>
                        <a:pt x="358815" y="0"/>
                      </a:cubicBezTo>
                      <a:lnTo>
                        <a:pt x="405114" y="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8358F81-3CA6-CF71-A392-EBEE418EFF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381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3" name="TextBox 462">
            <a:extLst>
              <a:ext uri="{FF2B5EF4-FFF2-40B4-BE49-F238E27FC236}">
                <a16:creationId xmlns:a16="http://schemas.microsoft.com/office/drawing/2014/main" id="{C9F538D9-FDF4-C3E9-A681-D5CF9967A7B5}"/>
              </a:ext>
            </a:extLst>
          </p:cNvPr>
          <p:cNvSpPr txBox="1"/>
          <p:nvPr/>
        </p:nvSpPr>
        <p:spPr>
          <a:xfrm>
            <a:off x="3486169" y="1063996"/>
            <a:ext cx="2831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Generate </a:t>
            </a:r>
            <a:r>
              <a:rPr lang="en-US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 with upper 12 bits. (I-Type)</a:t>
            </a:r>
          </a:p>
        </p:txBody>
      </p:sp>
      <p:grpSp>
        <p:nvGrpSpPr>
          <p:cNvPr id="467" name="Group 466">
            <a:extLst>
              <a:ext uri="{FF2B5EF4-FFF2-40B4-BE49-F238E27FC236}">
                <a16:creationId xmlns:a16="http://schemas.microsoft.com/office/drawing/2014/main" id="{829F6BF6-AEE7-F4CF-F6DD-BE898AEE1C67}"/>
              </a:ext>
            </a:extLst>
          </p:cNvPr>
          <p:cNvGrpSpPr/>
          <p:nvPr/>
        </p:nvGrpSpPr>
        <p:grpSpPr>
          <a:xfrm>
            <a:off x="3062789" y="3429000"/>
            <a:ext cx="4683138" cy="2117475"/>
            <a:chOff x="3062789" y="3429000"/>
            <a:chExt cx="4683138" cy="2117475"/>
          </a:xfrm>
        </p:grpSpPr>
        <p:grpSp>
          <p:nvGrpSpPr>
            <p:cNvPr id="451" name="Group 450">
              <a:extLst>
                <a:ext uri="{FF2B5EF4-FFF2-40B4-BE49-F238E27FC236}">
                  <a16:creationId xmlns:a16="http://schemas.microsoft.com/office/drawing/2014/main" id="{FC975AED-22B2-E1B1-EAA9-80F1004A4EDF}"/>
                </a:ext>
              </a:extLst>
            </p:cNvPr>
            <p:cNvGrpSpPr/>
            <p:nvPr/>
          </p:nvGrpSpPr>
          <p:grpSpPr>
            <a:xfrm>
              <a:off x="3062789" y="3429000"/>
              <a:ext cx="4683138" cy="2117475"/>
              <a:chOff x="3062789" y="3429000"/>
              <a:chExt cx="4683138" cy="2117475"/>
            </a:xfrm>
          </p:grpSpPr>
          <p:grpSp>
            <p:nvGrpSpPr>
              <p:cNvPr id="452" name="Group 451">
                <a:extLst>
                  <a:ext uri="{FF2B5EF4-FFF2-40B4-BE49-F238E27FC236}">
                    <a16:creationId xmlns:a16="http://schemas.microsoft.com/office/drawing/2014/main" id="{14435F9B-2A5E-AC75-0793-C224C238F778}"/>
                  </a:ext>
                </a:extLst>
              </p:cNvPr>
              <p:cNvGrpSpPr/>
              <p:nvPr/>
            </p:nvGrpSpPr>
            <p:grpSpPr>
              <a:xfrm>
                <a:off x="3191223" y="3971033"/>
                <a:ext cx="4554704" cy="1575442"/>
                <a:chOff x="3191225" y="3962068"/>
                <a:chExt cx="4554704" cy="1575442"/>
              </a:xfrm>
            </p:grpSpPr>
            <p:cxnSp>
              <p:nvCxnSpPr>
                <p:cNvPr id="455" name="Straight Arrow Connector 454">
                  <a:extLst>
                    <a:ext uri="{FF2B5EF4-FFF2-40B4-BE49-F238E27FC236}">
                      <a16:creationId xmlns:a16="http://schemas.microsoft.com/office/drawing/2014/main" id="{5C4F6CD1-A102-B9E8-D723-69690E741DF1}"/>
                    </a:ext>
                  </a:extLst>
                </p:cNvPr>
                <p:cNvCxnSpPr/>
                <p:nvPr/>
              </p:nvCxnSpPr>
              <p:spPr>
                <a:xfrm>
                  <a:off x="3193946" y="3962068"/>
                  <a:ext cx="0" cy="1575442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9" name="Straight Arrow Connector 458">
                  <a:extLst>
                    <a:ext uri="{FF2B5EF4-FFF2-40B4-BE49-F238E27FC236}">
                      <a16:creationId xmlns:a16="http://schemas.microsoft.com/office/drawing/2014/main" id="{ECC02B9E-717B-B881-B186-9E6224E2F9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91225" y="5015025"/>
                  <a:ext cx="932688" cy="0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0" name="Elbow Connector 459">
                  <a:extLst>
                    <a:ext uri="{FF2B5EF4-FFF2-40B4-BE49-F238E27FC236}">
                      <a16:creationId xmlns:a16="http://schemas.microsoft.com/office/drawing/2014/main" id="{87D4169D-16CA-93A4-410F-B9131D9B19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4808959" y="4530234"/>
                  <a:ext cx="2936970" cy="596712"/>
                </a:xfrm>
                <a:prstGeom prst="bentConnector3">
                  <a:avLst>
                    <a:gd name="adj1" fmla="val 92537"/>
                  </a:avLst>
                </a:prstGeom>
                <a:ln w="57150">
                  <a:solidFill>
                    <a:schemeClr val="accent5"/>
                  </a:solidFill>
                  <a:tailEnd type="triangle" w="med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53" name="Elbow Connector 452">
                <a:extLst>
                  <a:ext uri="{FF2B5EF4-FFF2-40B4-BE49-F238E27FC236}">
                    <a16:creationId xmlns:a16="http://schemas.microsoft.com/office/drawing/2014/main" id="{0C71223C-255A-F42F-22F4-B88BF41C27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62789" y="3429000"/>
                <a:ext cx="1765694" cy="524103"/>
              </a:xfrm>
              <a:prstGeom prst="bentConnector3">
                <a:avLst>
                  <a:gd name="adj1" fmla="val 17967"/>
                </a:avLst>
              </a:prstGeom>
              <a:ln w="57150">
                <a:solidFill>
                  <a:schemeClr val="accent5"/>
                </a:solidFill>
                <a:headEnd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64" name="Straight Arrow Connector 463">
              <a:extLst>
                <a:ext uri="{FF2B5EF4-FFF2-40B4-BE49-F238E27FC236}">
                  <a16:creationId xmlns:a16="http://schemas.microsoft.com/office/drawing/2014/main" id="{C274093F-A4BC-A87D-8689-57FA6B07ABA0}"/>
                </a:ext>
              </a:extLst>
            </p:cNvPr>
            <p:cNvCxnSpPr>
              <a:cxnSpLocks/>
            </p:cNvCxnSpPr>
            <p:nvPr/>
          </p:nvCxnSpPr>
          <p:spPr>
            <a:xfrm>
              <a:off x="3370822" y="3685038"/>
              <a:ext cx="1453897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8" name="Group 467">
            <a:extLst>
              <a:ext uri="{FF2B5EF4-FFF2-40B4-BE49-F238E27FC236}">
                <a16:creationId xmlns:a16="http://schemas.microsoft.com/office/drawing/2014/main" id="{5A3E67F1-5E34-29CA-17B6-1763209175F9}"/>
              </a:ext>
            </a:extLst>
          </p:cNvPr>
          <p:cNvGrpSpPr/>
          <p:nvPr/>
        </p:nvGrpSpPr>
        <p:grpSpPr>
          <a:xfrm>
            <a:off x="7709119" y="3666625"/>
            <a:ext cx="585916" cy="88926"/>
            <a:chOff x="7709119" y="3666625"/>
            <a:chExt cx="585916" cy="88926"/>
          </a:xfrm>
        </p:grpSpPr>
        <p:cxnSp>
          <p:nvCxnSpPr>
            <p:cNvPr id="470" name="Straight Arrow Connector 469">
              <a:extLst>
                <a:ext uri="{FF2B5EF4-FFF2-40B4-BE49-F238E27FC236}">
                  <a16:creationId xmlns:a16="http://schemas.microsoft.com/office/drawing/2014/main" id="{B5F6FE33-83D1-60F4-6E35-B0D5D8D29BE8}"/>
                </a:ext>
              </a:extLst>
            </p:cNvPr>
            <p:cNvCxnSpPr>
              <a:cxnSpLocks/>
            </p:cNvCxnSpPr>
            <p:nvPr/>
          </p:nvCxnSpPr>
          <p:spPr>
            <a:xfrm>
              <a:off x="7993283" y="3671810"/>
              <a:ext cx="301752" cy="149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1" name="Freeform 470">
              <a:extLst>
                <a:ext uri="{FF2B5EF4-FFF2-40B4-BE49-F238E27FC236}">
                  <a16:creationId xmlns:a16="http://schemas.microsoft.com/office/drawing/2014/main" id="{30BB4A65-9D79-ED62-A392-7FE4D2391A3A}"/>
                </a:ext>
              </a:extLst>
            </p:cNvPr>
            <p:cNvSpPr/>
            <p:nvPr/>
          </p:nvSpPr>
          <p:spPr>
            <a:xfrm flipV="1">
              <a:off x="7709119" y="3666625"/>
              <a:ext cx="310910" cy="88926"/>
            </a:xfrm>
            <a:custGeom>
              <a:avLst/>
              <a:gdLst>
                <a:gd name="connsiteX0" fmla="*/ 0 w 532436"/>
                <a:gd name="connsiteY0" fmla="*/ 0 h 219937"/>
                <a:gd name="connsiteX1" fmla="*/ 57874 w 532436"/>
                <a:gd name="connsiteY1" fmla="*/ 23150 h 219937"/>
                <a:gd name="connsiteX2" fmla="*/ 127322 w 532436"/>
                <a:gd name="connsiteY2" fmla="*/ 34724 h 219937"/>
                <a:gd name="connsiteX3" fmla="*/ 208344 w 532436"/>
                <a:gd name="connsiteY3" fmla="*/ 57874 h 219937"/>
                <a:gd name="connsiteX4" fmla="*/ 231494 w 532436"/>
                <a:gd name="connsiteY4" fmla="*/ 81023 h 219937"/>
                <a:gd name="connsiteX5" fmla="*/ 300942 w 532436"/>
                <a:gd name="connsiteY5" fmla="*/ 127322 h 219937"/>
                <a:gd name="connsiteX6" fmla="*/ 324091 w 532436"/>
                <a:gd name="connsiteY6" fmla="*/ 162046 h 219937"/>
                <a:gd name="connsiteX7" fmla="*/ 393539 w 532436"/>
                <a:gd name="connsiteY7" fmla="*/ 185195 h 219937"/>
                <a:gd name="connsiteX8" fmla="*/ 416689 w 532436"/>
                <a:gd name="connsiteY8" fmla="*/ 208345 h 219937"/>
                <a:gd name="connsiteX9" fmla="*/ 497712 w 532436"/>
                <a:gd name="connsiteY9" fmla="*/ 208345 h 219937"/>
                <a:gd name="connsiteX10" fmla="*/ 532436 w 532436"/>
                <a:gd name="connsiteY10" fmla="*/ 173621 h 219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32436" h="219937">
                  <a:moveTo>
                    <a:pt x="0" y="0"/>
                  </a:moveTo>
                  <a:cubicBezTo>
                    <a:pt x="19291" y="7717"/>
                    <a:pt x="37829" y="17683"/>
                    <a:pt x="57874" y="23150"/>
                  </a:cubicBezTo>
                  <a:cubicBezTo>
                    <a:pt x="80516" y="29325"/>
                    <a:pt x="104309" y="30121"/>
                    <a:pt x="127322" y="34724"/>
                  </a:cubicBezTo>
                  <a:cubicBezTo>
                    <a:pt x="163652" y="41990"/>
                    <a:pt x="175252" y="46843"/>
                    <a:pt x="208344" y="57874"/>
                  </a:cubicBezTo>
                  <a:cubicBezTo>
                    <a:pt x="216061" y="65590"/>
                    <a:pt x="222764" y="74475"/>
                    <a:pt x="231494" y="81023"/>
                  </a:cubicBezTo>
                  <a:cubicBezTo>
                    <a:pt x="253752" y="97716"/>
                    <a:pt x="300942" y="127322"/>
                    <a:pt x="300942" y="127322"/>
                  </a:cubicBezTo>
                  <a:cubicBezTo>
                    <a:pt x="308658" y="138897"/>
                    <a:pt x="312295" y="154673"/>
                    <a:pt x="324091" y="162046"/>
                  </a:cubicBezTo>
                  <a:cubicBezTo>
                    <a:pt x="344783" y="174979"/>
                    <a:pt x="393539" y="185195"/>
                    <a:pt x="393539" y="185195"/>
                  </a:cubicBezTo>
                  <a:cubicBezTo>
                    <a:pt x="401256" y="192912"/>
                    <a:pt x="407331" y="202730"/>
                    <a:pt x="416689" y="208345"/>
                  </a:cubicBezTo>
                  <a:cubicBezTo>
                    <a:pt x="450875" y="228856"/>
                    <a:pt x="459955" y="217784"/>
                    <a:pt x="497712" y="208345"/>
                  </a:cubicBezTo>
                  <a:lnTo>
                    <a:pt x="532436" y="173621"/>
                  </a:lnTo>
                </a:path>
              </a:pathLst>
            </a:custGeom>
            <a:noFill/>
            <a:ln w="571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EC5EA362-589A-A287-E517-673A2B14508F}"/>
              </a:ext>
            </a:extLst>
          </p:cNvPr>
          <p:cNvGrpSpPr/>
          <p:nvPr/>
        </p:nvGrpSpPr>
        <p:grpSpPr>
          <a:xfrm>
            <a:off x="6249574" y="3670874"/>
            <a:ext cx="1513202" cy="94632"/>
            <a:chOff x="6249574" y="3681034"/>
            <a:chExt cx="1513202" cy="94632"/>
          </a:xfrm>
        </p:grpSpPr>
        <p:cxnSp>
          <p:nvCxnSpPr>
            <p:cNvPr id="480" name="Elbow Connector 479">
              <a:extLst>
                <a:ext uri="{FF2B5EF4-FFF2-40B4-BE49-F238E27FC236}">
                  <a16:creationId xmlns:a16="http://schemas.microsoft.com/office/drawing/2014/main" id="{F8FEEA15-9D83-D877-B476-88FEE4C23BF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031628" y="3044518"/>
              <a:ext cx="94632" cy="1367664"/>
            </a:xfrm>
            <a:prstGeom prst="bentConnector4">
              <a:avLst>
                <a:gd name="adj1" fmla="val -456294"/>
                <a:gd name="adj2" fmla="val 76963"/>
              </a:avLst>
            </a:prstGeom>
            <a:ln w="57150">
              <a:solidFill>
                <a:schemeClr val="accent1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>
              <a:extLst>
                <a:ext uri="{FF2B5EF4-FFF2-40B4-BE49-F238E27FC236}">
                  <a16:creationId xmlns:a16="http://schemas.microsoft.com/office/drawing/2014/main" id="{62AAB035-5E90-0ACB-883C-847F1F9658E4}"/>
                </a:ext>
              </a:extLst>
            </p:cNvPr>
            <p:cNvCxnSpPr/>
            <p:nvPr/>
          </p:nvCxnSpPr>
          <p:spPr>
            <a:xfrm flipH="1" flipV="1">
              <a:off x="6249574" y="3687560"/>
              <a:ext cx="121965" cy="0"/>
            </a:xfrm>
            <a:prstGeom prst="line">
              <a:avLst/>
            </a:prstGeom>
            <a:ln w="571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2" name="Group 481">
            <a:extLst>
              <a:ext uri="{FF2B5EF4-FFF2-40B4-BE49-F238E27FC236}">
                <a16:creationId xmlns:a16="http://schemas.microsoft.com/office/drawing/2014/main" id="{31D86712-8466-A73A-22F4-5BD45F773D0D}"/>
              </a:ext>
            </a:extLst>
          </p:cNvPr>
          <p:cNvGrpSpPr/>
          <p:nvPr/>
        </p:nvGrpSpPr>
        <p:grpSpPr>
          <a:xfrm>
            <a:off x="7685590" y="4427042"/>
            <a:ext cx="599285" cy="120728"/>
            <a:chOff x="7685590" y="4427042"/>
            <a:chExt cx="599285" cy="120728"/>
          </a:xfrm>
        </p:grpSpPr>
        <p:cxnSp>
          <p:nvCxnSpPr>
            <p:cNvPr id="483" name="Straight Arrow Connector 482">
              <a:extLst>
                <a:ext uri="{FF2B5EF4-FFF2-40B4-BE49-F238E27FC236}">
                  <a16:creationId xmlns:a16="http://schemas.microsoft.com/office/drawing/2014/main" id="{D585492C-A13A-707D-1248-D2C351752CE4}"/>
                </a:ext>
              </a:extLst>
            </p:cNvPr>
            <p:cNvCxnSpPr>
              <a:cxnSpLocks/>
            </p:cNvCxnSpPr>
            <p:nvPr/>
          </p:nvCxnSpPr>
          <p:spPr>
            <a:xfrm>
              <a:off x="7983123" y="4427042"/>
              <a:ext cx="301752" cy="1490"/>
            </a:xfrm>
            <a:prstGeom prst="straightConnector1">
              <a:avLst/>
            </a:prstGeom>
            <a:ln w="57150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4" name="Freeform 483">
              <a:extLst>
                <a:ext uri="{FF2B5EF4-FFF2-40B4-BE49-F238E27FC236}">
                  <a16:creationId xmlns:a16="http://schemas.microsoft.com/office/drawing/2014/main" id="{D304A9DB-5702-7AE6-05C2-FAE4B8C8A0B6}"/>
                </a:ext>
              </a:extLst>
            </p:cNvPr>
            <p:cNvSpPr/>
            <p:nvPr/>
          </p:nvSpPr>
          <p:spPr>
            <a:xfrm>
              <a:off x="7685590" y="4433105"/>
              <a:ext cx="405114" cy="114665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5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5" name="TextBox 484">
            <a:extLst>
              <a:ext uri="{FF2B5EF4-FFF2-40B4-BE49-F238E27FC236}">
                <a16:creationId xmlns:a16="http://schemas.microsoft.com/office/drawing/2014/main" id="{D006F3FC-5CF1-43FA-CE56-47002E93A529}"/>
              </a:ext>
            </a:extLst>
          </p:cNvPr>
          <p:cNvSpPr txBox="1"/>
          <p:nvPr/>
        </p:nvSpPr>
        <p:spPr>
          <a:xfrm>
            <a:off x="6277443" y="1060450"/>
            <a:ext cx="2541732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ALU computes</a:t>
            </a:r>
            <a:b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</a:b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address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alu =</a:t>
            </a:r>
            <a:b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R[rs1] + </a:t>
            </a:r>
            <a:r>
              <a:rPr lang="en-US" sz="18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06EE21-60E2-E844-38CB-5772CAC364FD}"/>
              </a:ext>
            </a:extLst>
          </p:cNvPr>
          <p:cNvSpPr txBox="1"/>
          <p:nvPr/>
        </p:nvSpPr>
        <p:spPr>
          <a:xfrm>
            <a:off x="8331951" y="998582"/>
            <a:ext cx="2356549" cy="622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800" dirty="0">
                <a:solidFill>
                  <a:schemeClr val="accent6"/>
                </a:solidFill>
                <a:latin typeface="18 VAG Rounded Light   02390" pitchFamily="2" charset="0"/>
              </a:rPr>
              <a:t>Read memory at address </a:t>
            </a:r>
            <a:r>
              <a:rPr lang="en-US" sz="18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alu</a:t>
            </a:r>
            <a:r>
              <a:rPr lang="en-US" sz="1800" dirty="0">
                <a:solidFill>
                  <a:schemeClr val="accent6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7C9DADA-A73F-0AD4-5CA5-5B43D0C6F57A}"/>
              </a:ext>
            </a:extLst>
          </p:cNvPr>
          <p:cNvGrpSpPr/>
          <p:nvPr/>
        </p:nvGrpSpPr>
        <p:grpSpPr>
          <a:xfrm>
            <a:off x="8868629" y="3703397"/>
            <a:ext cx="1685023" cy="260828"/>
            <a:chOff x="8868629" y="3703397"/>
            <a:chExt cx="1685023" cy="260828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3A91EA0-A833-40A6-93D0-7B588A4F2EB0}"/>
                </a:ext>
              </a:extLst>
            </p:cNvPr>
            <p:cNvCxnSpPr>
              <a:cxnSpLocks/>
            </p:cNvCxnSpPr>
            <p:nvPr/>
          </p:nvCxnSpPr>
          <p:spPr>
            <a:xfrm>
              <a:off x="8868629" y="3964225"/>
              <a:ext cx="297442" cy="0"/>
            </a:xfrm>
            <a:prstGeom prst="straightConnector1">
              <a:avLst/>
            </a:prstGeom>
            <a:ln w="57150">
              <a:solidFill>
                <a:schemeClr val="accent6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A02E118-C5A1-C2FA-CA6E-4D2B8EAECF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50196" y="3703397"/>
              <a:ext cx="403456" cy="7631"/>
            </a:xfrm>
            <a:prstGeom prst="straightConnector1">
              <a:avLst/>
            </a:prstGeom>
            <a:ln w="57150">
              <a:solidFill>
                <a:schemeClr val="accent6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1AE97555-232C-6955-327E-482818C4CE36}"/>
              </a:ext>
            </a:extLst>
          </p:cNvPr>
          <p:cNvSpPr txBox="1"/>
          <p:nvPr/>
        </p:nvSpPr>
        <p:spPr>
          <a:xfrm>
            <a:off x="10229952" y="998582"/>
            <a:ext cx="19071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4"/>
                </a:solidFill>
                <a:latin typeface="18 VAG Rounded Light   02390" pitchFamily="2" charset="0"/>
              </a:rPr>
              <a:t>Write loaded memory value </a:t>
            </a:r>
            <a:r>
              <a:rPr lang="en-US" sz="20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</a:t>
            </a:r>
            <a:r>
              <a:rPr lang="en-US" sz="2000" dirty="0">
                <a:solidFill>
                  <a:schemeClr val="accent4"/>
                </a:solidFill>
                <a:latin typeface="18 VAG Rounded Light   02390" pitchFamily="2" charset="0"/>
              </a:rPr>
              <a:t> to register.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4ABFC8B-C2FF-11DC-C8F9-7AD07BE39413}"/>
              </a:ext>
            </a:extLst>
          </p:cNvPr>
          <p:cNvGrpSpPr/>
          <p:nvPr/>
        </p:nvGrpSpPr>
        <p:grpSpPr>
          <a:xfrm>
            <a:off x="3790286" y="2375192"/>
            <a:ext cx="7347065" cy="1329829"/>
            <a:chOff x="3790286" y="2375192"/>
            <a:chExt cx="7347065" cy="1329829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BDA00FF-A877-2EA7-FB5F-EED9A3DB5E00}"/>
                </a:ext>
              </a:extLst>
            </p:cNvPr>
            <p:cNvGrpSpPr/>
            <p:nvPr/>
          </p:nvGrpSpPr>
          <p:grpSpPr>
            <a:xfrm>
              <a:off x="3790286" y="2375192"/>
              <a:ext cx="7347065" cy="1031999"/>
              <a:chOff x="3790286" y="2375192"/>
              <a:chExt cx="7347065" cy="1031999"/>
            </a:xfrm>
            <a:effectLst/>
          </p:grpSpPr>
          <p:cxnSp>
            <p:nvCxnSpPr>
              <p:cNvPr id="34" name="Elbow Connector 33">
                <a:extLst>
                  <a:ext uri="{FF2B5EF4-FFF2-40B4-BE49-F238E27FC236}">
                    <a16:creationId xmlns:a16="http://schemas.microsoft.com/office/drawing/2014/main" id="{E634817B-1392-73C5-E783-357C4F87C44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970539" y="2216906"/>
                <a:ext cx="657210" cy="993002"/>
              </a:xfrm>
              <a:prstGeom prst="bentConnector2">
                <a:avLst/>
              </a:prstGeom>
              <a:ln w="57150">
                <a:solidFill>
                  <a:schemeClr val="accent4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Connector 485">
                <a:extLst>
                  <a:ext uri="{FF2B5EF4-FFF2-40B4-BE49-F238E27FC236}">
                    <a16:creationId xmlns:a16="http://schemas.microsoft.com/office/drawing/2014/main" id="{A2F94C1E-03BE-B155-D8B6-39DC5463B78B}"/>
                  </a:ext>
                </a:extLst>
              </p:cNvPr>
              <p:cNvCxnSpPr/>
              <p:nvPr/>
            </p:nvCxnSpPr>
            <p:spPr>
              <a:xfrm>
                <a:off x="3790286" y="2384802"/>
                <a:ext cx="7334708" cy="0"/>
              </a:xfrm>
              <a:prstGeom prst="line">
                <a:avLst/>
              </a:prstGeom>
              <a:ln w="57150">
                <a:solidFill>
                  <a:schemeClr val="accent4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Elbow Connector 486">
                <a:extLst>
                  <a:ext uri="{FF2B5EF4-FFF2-40B4-BE49-F238E27FC236}">
                    <a16:creationId xmlns:a16="http://schemas.microsoft.com/office/drawing/2014/main" id="{0B120925-8E45-CFDF-85D1-FFCEB3408EFA}"/>
                  </a:ext>
                </a:extLst>
              </p:cNvPr>
              <p:cNvCxnSpPr>
                <a:cxnSpLocks/>
                <a:stCxn id="323" idx="0"/>
              </p:cNvCxnSpPr>
              <p:nvPr/>
            </p:nvCxnSpPr>
            <p:spPr>
              <a:xfrm flipV="1">
                <a:off x="10817058" y="2375192"/>
                <a:ext cx="320293" cy="1031999"/>
              </a:xfrm>
              <a:prstGeom prst="bentConnector2">
                <a:avLst/>
              </a:prstGeom>
              <a:ln w="57150">
                <a:solidFill>
                  <a:schemeClr val="accent4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F8ED47AE-56EE-1545-17E0-25F193DCE22A}"/>
                </a:ext>
              </a:extLst>
            </p:cNvPr>
            <p:cNvSpPr/>
            <p:nvPr/>
          </p:nvSpPr>
          <p:spPr>
            <a:xfrm>
              <a:off x="10489131" y="3420761"/>
              <a:ext cx="403447" cy="284260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4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8" name="TextBox 487">
            <a:extLst>
              <a:ext uri="{FF2B5EF4-FFF2-40B4-BE49-F238E27FC236}">
                <a16:creationId xmlns:a16="http://schemas.microsoft.com/office/drawing/2014/main" id="{D78E8586-B842-1B2D-DF02-4F4B55CE7364}"/>
              </a:ext>
            </a:extLst>
          </p:cNvPr>
          <p:cNvSpPr txBox="1"/>
          <p:nvPr/>
        </p:nvSpPr>
        <p:spPr>
          <a:xfrm>
            <a:off x="655210" y="5562420"/>
            <a:ext cx="901272" cy="4863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PCSel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2"/>
                </a:solidFill>
                <a:latin typeface="18 VAG Rounded Light   02390" pitchFamily="2" charset="0"/>
              </a:rPr>
              <a:t>not taken</a:t>
            </a: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40361023-7EF0-B714-069C-D1E45D481A4C}"/>
              </a:ext>
            </a:extLst>
          </p:cNvPr>
          <p:cNvSpPr txBox="1"/>
          <p:nvPr/>
        </p:nvSpPr>
        <p:spPr>
          <a:xfrm>
            <a:off x="4070302" y="5553911"/>
            <a:ext cx="806631" cy="5201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1600" dirty="0">
              <a:solidFill>
                <a:schemeClr val="accent5"/>
              </a:solidFill>
              <a:latin typeface="18 VAG Rounded Light   02390" pitchFamily="2" charset="0"/>
            </a:endParaRPr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B2F67AF3-B46A-2F2E-EAB6-EC73B2D5C76D}"/>
              </a:ext>
            </a:extLst>
          </p:cNvPr>
          <p:cNvSpPr txBox="1"/>
          <p:nvPr/>
        </p:nvSpPr>
        <p:spPr>
          <a:xfrm>
            <a:off x="5335397" y="5556000"/>
            <a:ext cx="885179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RegWEn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dirty="0">
                <a:solidFill>
                  <a:schemeClr val="accent4"/>
                </a:solidFill>
                <a:latin typeface="18 VAG Rounded Light   02390" pitchFamily="2" charset="0"/>
              </a:rPr>
              <a:t>1</a:t>
            </a:r>
          </a:p>
        </p:txBody>
      </p:sp>
      <p:sp>
        <p:nvSpPr>
          <p:cNvPr id="491" name="TextBox 490">
            <a:extLst>
              <a:ext uri="{FF2B5EF4-FFF2-40B4-BE49-F238E27FC236}">
                <a16:creationId xmlns:a16="http://schemas.microsoft.com/office/drawing/2014/main" id="{72E0BFF5-4893-E158-A50E-EB5E5AA7C23B}"/>
              </a:ext>
            </a:extLst>
          </p:cNvPr>
          <p:cNvSpPr txBox="1"/>
          <p:nvPr/>
        </p:nvSpPr>
        <p:spPr>
          <a:xfrm>
            <a:off x="6410974" y="5557569"/>
            <a:ext cx="502061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BrUn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*</a:t>
            </a:r>
          </a:p>
        </p:txBody>
      </p:sp>
      <p:sp>
        <p:nvSpPr>
          <p:cNvPr id="492" name="TextBox 491">
            <a:extLst>
              <a:ext uri="{FF2B5EF4-FFF2-40B4-BE49-F238E27FC236}">
                <a16:creationId xmlns:a16="http://schemas.microsoft.com/office/drawing/2014/main" id="{98FAF2DC-5250-5A99-C09F-FEDD148C7519}"/>
              </a:ext>
            </a:extLst>
          </p:cNvPr>
          <p:cNvSpPr txBox="1"/>
          <p:nvPr/>
        </p:nvSpPr>
        <p:spPr>
          <a:xfrm>
            <a:off x="7560125" y="5526419"/>
            <a:ext cx="449161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accent5"/>
                </a:solidFill>
                <a:latin typeface="18 VAG Rounded Light   02390" pitchFamily="2" charset="0"/>
              </a:rPr>
              <a:t>1</a:t>
            </a:r>
          </a:p>
        </p:txBody>
      </p:sp>
      <p:sp>
        <p:nvSpPr>
          <p:cNvPr id="493" name="TextBox 492">
            <a:extLst>
              <a:ext uri="{FF2B5EF4-FFF2-40B4-BE49-F238E27FC236}">
                <a16:creationId xmlns:a16="http://schemas.microsoft.com/office/drawing/2014/main" id="{9FD28806-8968-4E51-CFDF-54DB6F0622E9}"/>
              </a:ext>
            </a:extLst>
          </p:cNvPr>
          <p:cNvSpPr txBox="1"/>
          <p:nvPr/>
        </p:nvSpPr>
        <p:spPr>
          <a:xfrm>
            <a:off x="7955924" y="5518212"/>
            <a:ext cx="460382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ASel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accent1"/>
                </a:solidFill>
                <a:latin typeface="18 VAG Rounded Light   02390" pitchFamily="2" charset="0"/>
              </a:rPr>
              <a:t>0</a:t>
            </a:r>
          </a:p>
        </p:txBody>
      </p:sp>
      <p:sp>
        <p:nvSpPr>
          <p:cNvPr id="494" name="TextBox 493">
            <a:extLst>
              <a:ext uri="{FF2B5EF4-FFF2-40B4-BE49-F238E27FC236}">
                <a16:creationId xmlns:a16="http://schemas.microsoft.com/office/drawing/2014/main" id="{336FF302-A845-27B5-2551-C2031793670C}"/>
              </a:ext>
            </a:extLst>
          </p:cNvPr>
          <p:cNvSpPr txBox="1"/>
          <p:nvPr/>
        </p:nvSpPr>
        <p:spPr>
          <a:xfrm>
            <a:off x="8429817" y="5538557"/>
            <a:ext cx="688971" cy="460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495" name="TextBox 494">
            <a:extLst>
              <a:ext uri="{FF2B5EF4-FFF2-40B4-BE49-F238E27FC236}">
                <a16:creationId xmlns:a16="http://schemas.microsoft.com/office/drawing/2014/main" id="{A96D48ED-9120-9C94-4A85-8E20282E0BB9}"/>
              </a:ext>
            </a:extLst>
          </p:cNvPr>
          <p:cNvSpPr txBox="1"/>
          <p:nvPr/>
        </p:nvSpPr>
        <p:spPr>
          <a:xfrm>
            <a:off x="9282643" y="5557569"/>
            <a:ext cx="827470" cy="460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MemRW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6"/>
                </a:solidFill>
                <a:latin typeface="18 VAG Rounded Light   02390" pitchFamily="2" charset="0"/>
              </a:rPr>
              <a:t>Read</a:t>
            </a:r>
          </a:p>
        </p:txBody>
      </p:sp>
      <p:sp>
        <p:nvSpPr>
          <p:cNvPr id="496" name="TextBox 495">
            <a:extLst>
              <a:ext uri="{FF2B5EF4-FFF2-40B4-BE49-F238E27FC236}">
                <a16:creationId xmlns:a16="http://schemas.microsoft.com/office/drawing/2014/main" id="{4E411471-BC4B-1C67-38CB-4B31EA3CD1C7}"/>
              </a:ext>
            </a:extLst>
          </p:cNvPr>
          <p:cNvSpPr txBox="1"/>
          <p:nvPr/>
        </p:nvSpPr>
        <p:spPr>
          <a:xfrm>
            <a:off x="10249476" y="5559045"/>
            <a:ext cx="655950" cy="460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WBSel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4"/>
                </a:solidFill>
                <a:latin typeface="18 VAG Rounded Light   02390" pitchFamily="2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184486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A7783-8317-E55F-3BF9-F6C059B6D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2E5E12A0-DC44-8343-A7C2-CFEAEB3E018E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CF546DA1-F954-B7E6-0102-1F96AF898885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643C360A-EE98-C88C-B7A9-51B5BC3C1ED3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8769FF2B-01CE-D378-825F-2030708C886A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98350F6-FC08-8FEF-4474-37BC5A66E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Tracing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dirty="0"/>
              <a:t> Datapath (1/8)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9C82D560-F7CF-5070-25AB-6F5C70D6CE28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AE89982E-D7D6-EDB6-C294-DC7FE5C89F1C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07BF6CDA-2217-3EE6-E7B3-2139EAB732D0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595695FA-BB8D-153D-3BB2-1FA38F5145E2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36B7AB21-5867-E90B-2B53-99B50E09EA1B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57452511-DF2F-DCD9-5B85-B2B2FB8EC546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F07FC521-23D6-B84C-0956-A85D6F937D67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C1541F59-B538-BCD1-8268-A98C66DBE32D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4DCD5B81-8467-7076-4D0F-65FECEA71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6CBC1C2A-CCD6-0067-CB38-3F3AC716E813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7E345455-B446-755E-C3C2-FD85CB95728A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C4322507-B2FD-6ECC-1CA9-117A1EC57FF2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FB3B077E-AC38-9E30-BE26-FC084E6CF86F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9B20253C-4EA6-6CF1-EDE7-62EFEB822D81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B35BFE77-672F-5679-B813-D8E1232088ED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958FE623-8964-B7F1-9747-41C124AF08F4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5623BA44-5742-64E7-10EA-5AC399754AA2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00451DCA-6514-E8B1-E3D4-E54FB444B56F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DCD8FC63-0AFB-309C-74CF-C8738DDF7DE7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38CE2BED-6B04-AD8E-5790-27B2C2BAD235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6102CEA4-5BFB-B2F2-4825-00DECA6996D7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CD1F7683-D0F9-4B8D-4E2A-23AFADB67DE4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24DDDE99-EFD2-64A9-A28F-39ADA222BA40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150A5298-6A5E-0AB4-F62F-90CA5B835633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C0C7588A-A66D-4EA5-8481-863FA7CBF65F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C2D8AF33-A91B-5CE6-AD65-539023BE1A5F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03ED5E33-024D-4135-47EE-1883ACBA1A2A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66BE8951-0A7F-A1BE-3F3A-CD19F36FB8EB}"/>
              </a:ext>
            </a:extLst>
          </p:cNvPr>
          <p:cNvCxnSpPr>
            <a:stCxn id="457" idx="0"/>
          </p:cNvCxnSpPr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1" name="TextBox 460">
            <a:extLst>
              <a:ext uri="{FF2B5EF4-FFF2-40B4-BE49-F238E27FC236}">
                <a16:creationId xmlns:a16="http://schemas.microsoft.com/office/drawing/2014/main" id="{C640D9A8-0237-26E9-3943-144ED7E2CEBE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B1315BCB-F901-3B06-F744-A2057E3EA5FA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5CE6FF92-42C9-C8C8-0F7C-A4AFC302099B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114B2172-D2BE-2FD4-16E5-DFB3EE44B4C7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CD53D355-516B-06CB-88A4-287D2E40861C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D49E05E1-E08D-60B1-0C72-0359A5E57674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D2C8FD1C-BDCA-DD0F-30E7-803AE4904E7C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71ABEE42-2237-2CAE-7CE6-551B44D81759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7E844B17-8476-2804-2105-DFA0DA5E41BC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171B8028-987D-33E2-DB20-FBDFD0B2968F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CC4E0328-8826-3E94-D817-946D69B37AE0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780E81CB-2A8C-64CA-EBA8-4CFE49343BDE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9521D6C0-DD8E-D38A-7E31-F01949DBBF18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2E2F26B1-DF7F-1C30-A3B8-6F6D5F31C238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89EDD67A-52BA-2073-8FC7-EA9A32A21098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4B33F0-BE4B-F0A7-39A3-69DF6233387A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63F1A1D-7E9A-2AF1-1342-27975888502F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851ED90-78DB-3583-C0D2-9C3DE5320F1E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5A7BF1D-D469-6C54-2E41-31C0570592F8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E774B39-AF59-E0B7-A216-421B97866709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A490961-7078-6514-252D-E8C96A35C7CF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5624AE88-240E-2363-D1D7-2518B6280521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792AAFCB-F306-6D36-0581-8CEC67EA07B2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A913B185-F9BC-EEDA-FB89-F7D2ECC6C49B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AA6808C4-D0B3-F9A3-78EF-E64EF8470191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3ACE6EE-80AD-A814-5AB5-E16A629570A1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01046C6E-56D9-62DE-72A5-4CC57A3EB5CD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E6503C2C-7D76-734C-5F46-4F1BA6398169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4A00C1C5-7845-1530-9D2C-C6DC049D30D3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FBB29153-8A8B-591D-7280-462F8A13E978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26EEE030-A342-B07A-72A9-1733B095C675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A84B9BA7-E636-77F2-CFE8-AFF6486AE827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202FA61-D44B-75B1-904D-ECBE7DB73665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DE62213C-A219-BB83-FAB3-30A5CE5A186F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95B47F31-F384-64CD-BE98-625DE80570C7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303F166-0C82-D6D8-C806-20EF89BB8328}"/>
              </a:ext>
            </a:extLst>
          </p:cNvPr>
          <p:cNvGrpSpPr/>
          <p:nvPr/>
        </p:nvGrpSpPr>
        <p:grpSpPr>
          <a:xfrm>
            <a:off x="1780532" y="2965993"/>
            <a:ext cx="673038" cy="703576"/>
            <a:chOff x="1780532" y="2965993"/>
            <a:chExt cx="673038" cy="703576"/>
          </a:xfrm>
        </p:grpSpPr>
        <p:cxnSp>
          <p:nvCxnSpPr>
            <p:cNvPr id="12" name="Elbow Connector 11">
              <a:extLst>
                <a:ext uri="{FF2B5EF4-FFF2-40B4-BE49-F238E27FC236}">
                  <a16:creationId xmlns:a16="http://schemas.microsoft.com/office/drawing/2014/main" id="{14F9E0C5-A116-EAE0-E933-D2280554802A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8F7378D-9073-882A-CBA6-8994306DC951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65241D9-CAC4-6CDD-8C8F-5F4FC630368E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BBC4765-211B-C50D-9882-CCC4637B25D5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44" name="Elbow Connector 43">
              <a:extLst>
                <a:ext uri="{FF2B5EF4-FFF2-40B4-BE49-F238E27FC236}">
                  <a16:creationId xmlns:a16="http://schemas.microsoft.com/office/drawing/2014/main" id="{6D49A023-09A3-4033-D833-FCF79A5F1591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>
              <a:extLst>
                <a:ext uri="{FF2B5EF4-FFF2-40B4-BE49-F238E27FC236}">
                  <a16:creationId xmlns:a16="http://schemas.microsoft.com/office/drawing/2014/main" id="{1F2E73F6-1D04-AD41-646C-7967F953D91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E8F3964F-5853-33A8-8C56-B33EDBA7AE50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01E42DCE-33D7-8592-55E4-A87EAD8013C6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rapezoid 47">
            <a:extLst>
              <a:ext uri="{FF2B5EF4-FFF2-40B4-BE49-F238E27FC236}">
                <a16:creationId xmlns:a16="http://schemas.microsoft.com/office/drawing/2014/main" id="{7DB76CE3-7C88-B976-E432-7AF5772DF38B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49" name="Trapezoid 48">
            <a:extLst>
              <a:ext uri="{FF2B5EF4-FFF2-40B4-BE49-F238E27FC236}">
                <a16:creationId xmlns:a16="http://schemas.microsoft.com/office/drawing/2014/main" id="{0FC17C7D-757D-F04A-3291-B3E22A32CAA9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50" name="Trapezoid 49">
            <a:extLst>
              <a:ext uri="{FF2B5EF4-FFF2-40B4-BE49-F238E27FC236}">
                <a16:creationId xmlns:a16="http://schemas.microsoft.com/office/drawing/2014/main" id="{9DCE8CC0-0574-60F7-2FCB-01BEDCF5CE3A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345F7740-B8EB-4FE8-2A2A-209908FB6822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6275758-0D04-55E0-74C8-A8A9466B943B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F9ACCAD-F4DA-FE77-9623-007EED184CF7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391566D-DF62-85C6-9121-E92B97FA4DA6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57AC95E-62EA-4B7C-35A3-10EA4F0D23DA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DB9A9C3B-99B9-BB1B-F853-F125E62DCBD1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4" name="Elbow Connector 53">
                  <a:extLst>
                    <a:ext uri="{FF2B5EF4-FFF2-40B4-BE49-F238E27FC236}">
                      <a16:creationId xmlns:a16="http://schemas.microsoft.com/office/drawing/2014/main" id="{718AC13F-4F9B-8BE0-9B1A-629C209ED4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B3955913-4403-CD3E-A562-E6680E764B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5A8CC0D9-7BDB-3EED-319A-48D0BC1D8A8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0B23D82E-D038-E0AA-F04F-C74B57AC6027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103DDD8-2BC6-6EDE-F503-161A5C5A5287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18616A3-CA1F-67EB-6DF2-7FDC0F0A0A61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chemeClr val="tx1">
                <a:alpha val="67000"/>
              </a:schemeClr>
            </a:glow>
          </a:effectLst>
        </p:grpSpPr>
        <p:cxnSp>
          <p:nvCxnSpPr>
            <p:cNvPr id="6" name="Elbow Connector 5">
              <a:extLst>
                <a:ext uri="{FF2B5EF4-FFF2-40B4-BE49-F238E27FC236}">
                  <a16:creationId xmlns:a16="http://schemas.microsoft.com/office/drawing/2014/main" id="{D3048B2A-5317-72D9-EF2B-DA544CED9D6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2D24352-495B-FFD6-9D6E-B2E1CD25CDCE}"/>
                </a:ext>
              </a:extLst>
            </p:cNvPr>
            <p:cNvCxnSpPr>
              <a:cxnSpLocks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55380C49-3A23-3CF7-6E97-BB102A9745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C3028EFB-2089-59C1-FBEC-9BB5D6197DE2}"/>
              </a:ext>
            </a:extLst>
          </p:cNvPr>
          <p:cNvGrpSpPr/>
          <p:nvPr/>
        </p:nvGrpSpPr>
        <p:grpSpPr>
          <a:xfrm>
            <a:off x="10549378" y="2970605"/>
            <a:ext cx="267680" cy="873172"/>
            <a:chOff x="10468098" y="2970605"/>
            <a:chExt cx="267680" cy="873172"/>
          </a:xfrm>
        </p:grpSpPr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FE8CAF0D-9AE2-0B9D-05CF-4276C5CD440F}"/>
                </a:ext>
              </a:extLst>
            </p:cNvPr>
            <p:cNvSpPr/>
            <p:nvPr/>
          </p:nvSpPr>
          <p:spPr>
            <a:xfrm>
              <a:off x="10468098" y="3076083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CDD73962-2784-BE88-AF2D-C9F08101E1B8}"/>
                </a:ext>
              </a:extLst>
            </p:cNvPr>
            <p:cNvSpPr/>
            <p:nvPr/>
          </p:nvSpPr>
          <p:spPr>
            <a:xfrm>
              <a:off x="10468098" y="3321131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C64B7947-1C4F-0A8A-E748-197668015958}"/>
                </a:ext>
              </a:extLst>
            </p:cNvPr>
            <p:cNvSpPr/>
            <p:nvPr/>
          </p:nvSpPr>
          <p:spPr>
            <a:xfrm>
              <a:off x="10468098" y="3584336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23" name="Trapezoid 322">
              <a:extLst>
                <a:ext uri="{FF2B5EF4-FFF2-40B4-BE49-F238E27FC236}">
                  <a16:creationId xmlns:a16="http://schemas.microsoft.com/office/drawing/2014/main" id="{D89F0813-0F5C-F824-20F1-47E14773B8E2}"/>
                </a:ext>
              </a:extLst>
            </p:cNvPr>
            <p:cNvSpPr/>
            <p:nvPr/>
          </p:nvSpPr>
          <p:spPr>
            <a:xfrm rot="5400000">
              <a:off x="10165352" y="3273351"/>
              <a:ext cx="873172" cy="267680"/>
            </a:xfrm>
            <a:prstGeom prst="trapezoid">
              <a:avLst>
                <a:gd name="adj" fmla="val 62818"/>
              </a:avLst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8432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D2727-233D-DE72-7F5A-959A4AD7E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5EA1E9AA-CC93-A611-10F6-0D564F2CAFC2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2948BE0D-AD9D-0267-4730-A0A90CA7E742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2F998ECE-796A-635C-456F-B3745FBD8170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A8E03B65-8B40-6B04-A9CA-FB5A4A42BA83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F511ED1-1DE4-816A-6C56-67128398D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Tracing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dirty="0"/>
              <a:t> Datapath (2/8)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A560EEFE-DC02-56A3-C67C-FA3708B8448D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8EFCEC04-0505-CAD2-90C0-1B1A42B075AE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1A3A1408-CF8F-80C4-5044-DF7A3E684245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6F0009CA-544F-EC99-3FFA-273159CC894C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26D84C09-7F13-FDA4-94E2-2B1B33ED5FF9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21B5EFF0-2078-DECC-8C0C-5261A4E34336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FDC5985F-61CB-C315-00FB-ACAAD6555AC4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47970984-2911-0E30-52E1-759118CAA8ED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D2D81192-129C-442E-3666-046F5EB63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617C5362-4897-5765-C0E7-6B32D4BB0C96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A0A3E73B-EFE6-54F1-1D41-BB83819FFC75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7C2F4E02-853D-D34B-6EFD-914AFE37D2B6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F983A6D0-86E4-1F29-DC15-1CECD624FDB0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444B98B3-6C73-D808-BA9A-C24BEC582439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7713699F-B321-B8BB-0E48-295AE882BBE5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C76D427C-3ED3-5C44-D0A7-54059B9818DF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2CED9410-C1EE-AD43-DF86-3275A6A93B65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CA987289-37F1-003E-5ECE-4DEB260D9996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46BF442B-9410-F911-33BA-101499EBC352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2B4FCECE-2311-16F5-37B1-A3EEF8EA9F2F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8F7A60D4-4BFC-C745-C021-79A0B17C3BEF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F879BFB3-2DD5-6C1E-E98A-DB8536A55821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CBE1FFFE-375C-85E0-9707-2E29502FCB30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36677D35-F477-92B7-0AB2-3088BDF0A835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E236CE74-2E67-F86A-E015-75DAA8FBB7E5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84DBD186-8532-52DD-C17E-FB2A29778829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0C0656A2-B7F6-A271-F7F8-459EE11BE792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47E6F5E9-C296-33F6-75FE-F268BEF2BCD7}"/>
              </a:ext>
            </a:extLst>
          </p:cNvPr>
          <p:cNvCxnSpPr>
            <a:stCxn id="457" idx="0"/>
          </p:cNvCxnSpPr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1" name="TextBox 460">
            <a:extLst>
              <a:ext uri="{FF2B5EF4-FFF2-40B4-BE49-F238E27FC236}">
                <a16:creationId xmlns:a16="http://schemas.microsoft.com/office/drawing/2014/main" id="{B169E132-9F18-5DEA-FF8C-23AFBC299A00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B9FB5F1B-F24E-D2C0-6F09-B84BCAEEC324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A80A37F5-EF7C-45E7-A3E3-2A648404DC32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581B147A-03DE-46A5-1C2B-24E6767EBDE6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3BBE0FDC-4D0F-0F26-B542-C13F939D3451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3EA499B8-3B5D-CF47-DADD-2EDEB55BC151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D9CC1536-1E81-D4D6-B488-B4F6F7279BAA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22F80CD6-E115-8074-A883-EEFAAE340E8A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13E71D9B-2D08-ACA6-64BB-AF7FB99FB91F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5861B032-D96C-9793-FB6E-9822F52CB616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25340726-499E-2D12-3EAC-D1987EA8F24B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DFEECC45-0B91-B17D-9DD3-EDC65C932DEC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90AE82A0-5C06-1F2D-36F2-200E9ACD8929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7531A053-B0D3-7C92-0DCF-F2F1674ABD22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4A920FBB-50E9-7D90-8E22-2C4DDD0A87C2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5B579A-F7A7-7C94-422F-2EC5B0CA3AD2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B6EBA70-8422-5368-2F22-669FB7D20A7A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A7F1BAA-D093-EE61-3B4C-99489318CFE4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9D275BA-39C8-CCFF-9B6E-FDEABBF3253C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24B003E-CFE7-22F8-20E7-1CD79CD6B8C3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CFAAD52-FE9F-3CDE-AFB8-5D82CAA12296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3CD880FD-C1B3-42DA-9A09-D9258D30EDB0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587825BF-C169-C043-F502-9A0D25A1AF27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448DE844-FDA2-9AFB-FAB2-0B6B9A83FBA4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075D3ADD-AFD1-F631-6C52-DAF223012890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7AD95343-D0EB-1A10-4B33-4B5642286F6E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07FF9051-0B50-590F-7883-6B5C71D15D7C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F2B30ECE-0534-0F36-2DB0-9F414D9F6484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E600AE2A-FA54-D8E3-3D3A-68050C5AAEAD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E744DD64-37E0-57AF-E304-56D9B543335F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AA1A65EE-2839-C55D-D8E2-120CEC4D3158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5317EBEB-FE56-64A9-29BB-89F0633E83BB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BEA16B00-36B6-4886-6208-88F57FC28F54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D69F6AC4-C42C-F02D-E988-ED6E0EB6F1B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5B904A7E-82CB-0471-9ADD-D6BDFA4D950A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30AC02C-83F5-9208-93BA-69244C4624FA}"/>
              </a:ext>
            </a:extLst>
          </p:cNvPr>
          <p:cNvGrpSpPr/>
          <p:nvPr/>
        </p:nvGrpSpPr>
        <p:grpSpPr>
          <a:xfrm>
            <a:off x="1780532" y="2965993"/>
            <a:ext cx="673038" cy="703576"/>
            <a:chOff x="1780532" y="2965993"/>
            <a:chExt cx="673038" cy="703576"/>
          </a:xfrm>
        </p:grpSpPr>
        <p:cxnSp>
          <p:nvCxnSpPr>
            <p:cNvPr id="12" name="Elbow Connector 11">
              <a:extLst>
                <a:ext uri="{FF2B5EF4-FFF2-40B4-BE49-F238E27FC236}">
                  <a16:creationId xmlns:a16="http://schemas.microsoft.com/office/drawing/2014/main" id="{07F6701C-6A07-7406-DABB-2BD490A83643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822219B-5D02-E1DD-7139-EB5F6B2A7538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AB74707-0C00-BE4C-557A-D6ED2FDEEFD7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3D137DA-A810-F3F4-191D-386A06FB4F84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44" name="Elbow Connector 43">
              <a:extLst>
                <a:ext uri="{FF2B5EF4-FFF2-40B4-BE49-F238E27FC236}">
                  <a16:creationId xmlns:a16="http://schemas.microsoft.com/office/drawing/2014/main" id="{61E047AA-922F-6659-2633-515F11AF739F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>
              <a:extLst>
                <a:ext uri="{FF2B5EF4-FFF2-40B4-BE49-F238E27FC236}">
                  <a16:creationId xmlns:a16="http://schemas.microsoft.com/office/drawing/2014/main" id="{E7BF95E9-FB0C-BCAA-B8D2-B54D1DC0E12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4490A6C8-0BB3-A11A-6F4A-A95A09A37BB7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EDADDF8E-7CCB-03B5-46EA-8F055CD2B0E6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rapezoid 47">
            <a:extLst>
              <a:ext uri="{FF2B5EF4-FFF2-40B4-BE49-F238E27FC236}">
                <a16:creationId xmlns:a16="http://schemas.microsoft.com/office/drawing/2014/main" id="{8A9B8749-57CE-BCFD-7499-0A95796FED33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49" name="Trapezoid 48">
            <a:extLst>
              <a:ext uri="{FF2B5EF4-FFF2-40B4-BE49-F238E27FC236}">
                <a16:creationId xmlns:a16="http://schemas.microsoft.com/office/drawing/2014/main" id="{4BA8A07A-E23D-0FFC-2A0E-65F7CCA34EFD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50" name="Trapezoid 49">
            <a:extLst>
              <a:ext uri="{FF2B5EF4-FFF2-40B4-BE49-F238E27FC236}">
                <a16:creationId xmlns:a16="http://schemas.microsoft.com/office/drawing/2014/main" id="{1588C74E-EBED-CD9F-A91B-28464576DC06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51691488-DC2E-3A53-5844-885DB60F2221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0791BF2-F970-EC2B-B9EB-09CB5D8E53C1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EF26798-B3C0-4E5A-2BBB-163BC002918B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6C8FF75-5FA4-173F-4E3A-A31D25BEB3D5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02745621-9A50-D9C0-8B33-7AB4C45C4B29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329C8F9F-70B4-3AC2-CC8E-2855D205144D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4" name="Elbow Connector 53">
                  <a:extLst>
                    <a:ext uri="{FF2B5EF4-FFF2-40B4-BE49-F238E27FC236}">
                      <a16:creationId xmlns:a16="http://schemas.microsoft.com/office/drawing/2014/main" id="{910B0687-7F3C-BBB3-E359-D4C92EF30C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D71CBB3A-BC9F-9D2A-46B0-BAA61AE688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B64A6F31-D2DC-E45B-F0A0-4D06135850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BC99A64-168B-3B1A-6F36-CB477F6D269F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50C5357-E4C7-F119-5699-EA13717DFF47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4F92468-7347-DF40-5F71-21C4F63DB495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chemeClr val="tx1">
                <a:alpha val="67000"/>
              </a:schemeClr>
            </a:glow>
          </a:effectLst>
        </p:grpSpPr>
        <p:cxnSp>
          <p:nvCxnSpPr>
            <p:cNvPr id="6" name="Elbow Connector 5">
              <a:extLst>
                <a:ext uri="{FF2B5EF4-FFF2-40B4-BE49-F238E27FC236}">
                  <a16:creationId xmlns:a16="http://schemas.microsoft.com/office/drawing/2014/main" id="{CA6069D6-77A3-3666-CD67-DB3944CC2632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FC42AF3-87C7-E0AC-9323-F1C294D71D2B}"/>
                </a:ext>
              </a:extLst>
            </p:cNvPr>
            <p:cNvCxnSpPr>
              <a:cxnSpLocks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0816AA04-82FA-0261-24C7-5592AC8851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7099DBF5-AF6B-258C-1876-3249BF5DBCD7}"/>
              </a:ext>
            </a:extLst>
          </p:cNvPr>
          <p:cNvGrpSpPr/>
          <p:nvPr/>
        </p:nvGrpSpPr>
        <p:grpSpPr>
          <a:xfrm>
            <a:off x="10549378" y="2970605"/>
            <a:ext cx="267680" cy="873172"/>
            <a:chOff x="10468098" y="2970605"/>
            <a:chExt cx="267680" cy="873172"/>
          </a:xfrm>
        </p:grpSpPr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9A9891D0-37EC-ED8E-F6C1-C1821A471A2F}"/>
                </a:ext>
              </a:extLst>
            </p:cNvPr>
            <p:cNvSpPr/>
            <p:nvPr/>
          </p:nvSpPr>
          <p:spPr>
            <a:xfrm>
              <a:off x="10468098" y="3076083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4FC44C08-5A18-53B6-67F4-4BCF1C465ABB}"/>
                </a:ext>
              </a:extLst>
            </p:cNvPr>
            <p:cNvSpPr/>
            <p:nvPr/>
          </p:nvSpPr>
          <p:spPr>
            <a:xfrm>
              <a:off x="10468098" y="3321131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F22E289B-8CC9-B494-E4F6-779B92B351E9}"/>
                </a:ext>
              </a:extLst>
            </p:cNvPr>
            <p:cNvSpPr/>
            <p:nvPr/>
          </p:nvSpPr>
          <p:spPr>
            <a:xfrm>
              <a:off x="10468098" y="3584336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23" name="Trapezoid 322">
              <a:extLst>
                <a:ext uri="{FF2B5EF4-FFF2-40B4-BE49-F238E27FC236}">
                  <a16:creationId xmlns:a16="http://schemas.microsoft.com/office/drawing/2014/main" id="{D2774382-E824-C4DF-6075-C82C69240497}"/>
                </a:ext>
              </a:extLst>
            </p:cNvPr>
            <p:cNvSpPr/>
            <p:nvPr/>
          </p:nvSpPr>
          <p:spPr>
            <a:xfrm rot="5400000">
              <a:off x="10165352" y="3273351"/>
              <a:ext cx="873172" cy="267680"/>
            </a:xfrm>
            <a:prstGeom prst="trapezoid">
              <a:avLst>
                <a:gd name="adj" fmla="val 62818"/>
              </a:avLst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5105ED46-675E-462B-1268-962FB129605B}"/>
              </a:ext>
            </a:extLst>
          </p:cNvPr>
          <p:cNvSpPr txBox="1"/>
          <p:nvPr/>
        </p:nvSpPr>
        <p:spPr>
          <a:xfrm>
            <a:off x="293424" y="1063996"/>
            <a:ext cx="263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E341EF7-0970-AB07-3AB8-994E754E6159}"/>
              </a:ext>
            </a:extLst>
          </p:cNvPr>
          <p:cNvGrpSpPr/>
          <p:nvPr/>
        </p:nvGrpSpPr>
        <p:grpSpPr>
          <a:xfrm>
            <a:off x="668759" y="2260284"/>
            <a:ext cx="2699311" cy="1670895"/>
            <a:chOff x="668759" y="2260284"/>
            <a:chExt cx="2699311" cy="167089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AA9DD71F-F243-90CA-D543-A63F3977C0B9}"/>
                </a:ext>
              </a:extLst>
            </p:cNvPr>
            <p:cNvGrpSpPr/>
            <p:nvPr/>
          </p:nvGrpSpPr>
          <p:grpSpPr>
            <a:xfrm>
              <a:off x="668759" y="2260284"/>
              <a:ext cx="2699311" cy="1670895"/>
              <a:chOff x="668759" y="2260284"/>
              <a:chExt cx="2699311" cy="1670895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51313E0-5A18-E353-DA43-99C0624755DD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C510008E-EB12-9919-61CF-5AAA30242EEB}"/>
                  </a:ext>
                </a:extLst>
              </p:cNvPr>
              <p:cNvGrpSpPr/>
              <p:nvPr/>
            </p:nvGrpSpPr>
            <p:grpSpPr>
              <a:xfrm>
                <a:off x="668759" y="2260284"/>
                <a:ext cx="2699311" cy="1409285"/>
                <a:chOff x="668759" y="2260284"/>
                <a:chExt cx="2699311" cy="1409285"/>
              </a:xfr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EDA57057-33F5-64C3-CDF6-BCEA30887FBB}"/>
                    </a:ext>
                  </a:extLst>
                </p:cNvPr>
                <p:cNvGrpSpPr/>
                <p:nvPr/>
              </p:nvGrpSpPr>
              <p:grpSpPr>
                <a:xfrm>
                  <a:off x="668759" y="2260284"/>
                  <a:ext cx="2699311" cy="1409285"/>
                  <a:chOff x="668759" y="2260284"/>
                  <a:chExt cx="2699311" cy="1409285"/>
                </a:xfrm>
              </p:grpSpPr>
              <p:cxnSp>
                <p:nvCxnSpPr>
                  <p:cNvPr id="58" name="Straight Arrow Connector 57">
                    <a:extLst>
                      <a:ext uri="{FF2B5EF4-FFF2-40B4-BE49-F238E27FC236}">
                        <a16:creationId xmlns:a16="http://schemas.microsoft.com/office/drawing/2014/main" id="{690C6421-1D34-97BB-4B3B-8557C93DE1B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70363" y="3643964"/>
                    <a:ext cx="274320" cy="0"/>
                  </a:xfrm>
                  <a:prstGeom prst="straightConnector1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59" name="Group 58">
                    <a:extLst>
                      <a:ext uri="{FF2B5EF4-FFF2-40B4-BE49-F238E27FC236}">
                        <a16:creationId xmlns:a16="http://schemas.microsoft.com/office/drawing/2014/main" id="{0DEDFA3E-55A1-B63F-DFF2-38722697F23C}"/>
                      </a:ext>
                    </a:extLst>
                  </p:cNvPr>
                  <p:cNvGrpSpPr/>
                  <p:nvPr/>
                </p:nvGrpSpPr>
                <p:grpSpPr>
                  <a:xfrm>
                    <a:off x="1780532" y="2965993"/>
                    <a:ext cx="673038" cy="703576"/>
                    <a:chOff x="1780532" y="2965993"/>
                    <a:chExt cx="673038" cy="703576"/>
                  </a:xfrm>
                </p:grpSpPr>
                <p:cxnSp>
                  <p:nvCxnSpPr>
                    <p:cNvPr id="63" name="Elbow Connector 62">
                      <a:extLst>
                        <a:ext uri="{FF2B5EF4-FFF2-40B4-BE49-F238E27FC236}">
                          <a16:creationId xmlns:a16="http://schemas.microsoft.com/office/drawing/2014/main" id="{7FA3CA74-38AC-93BD-7DF9-2D3A4528E85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H="1" flipV="1">
                      <a:off x="1830481" y="3046480"/>
                      <a:ext cx="703576" cy="542602"/>
                    </a:xfrm>
                    <a:prstGeom prst="bentConnector3">
                      <a:avLst>
                        <a:gd name="adj1" fmla="val 100542"/>
                      </a:avLst>
                    </a:prstGeom>
                    <a:ln w="57150">
                      <a:solidFill>
                        <a:schemeClr val="accent2"/>
                      </a:solidFill>
                      <a:headEnd type="oval" w="sm" len="sm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0" name="Straight Connector 449">
                      <a:extLst>
                        <a:ext uri="{FF2B5EF4-FFF2-40B4-BE49-F238E27FC236}">
                          <a16:creationId xmlns:a16="http://schemas.microsoft.com/office/drawing/2014/main" id="{EAECD35C-9F0E-D0E5-BED3-EDC9EDA4DDB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80532" y="3655540"/>
                      <a:ext cx="130436" cy="0"/>
                    </a:xfrm>
                    <a:prstGeom prst="line">
                      <a:avLst/>
                    </a:prstGeom>
                    <a:ln w="57150">
                      <a:solidFill>
                        <a:schemeClr val="accent2"/>
                      </a:solidFill>
                      <a:tailEnd type="non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312DF2D8-E3EE-F2CC-C9A9-69E11D538D4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68759" y="2260284"/>
                    <a:ext cx="2697480" cy="1985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headEnd w="sm" len="sm"/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Elbow Connector 60">
                    <a:extLst>
                      <a:ext uri="{FF2B5EF4-FFF2-40B4-BE49-F238E27FC236}">
                        <a16:creationId xmlns:a16="http://schemas.microsoft.com/office/drawing/2014/main" id="{AB125DCD-2668-BD55-711A-E682B104BB3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2993946" y="2363686"/>
                    <a:ext cx="477525" cy="270723"/>
                  </a:xfrm>
                  <a:prstGeom prst="bentConnector3">
                    <a:avLst>
                      <a:gd name="adj1" fmla="val -5318"/>
                    </a:avLst>
                  </a:prstGeom>
                  <a:ln w="57150">
                    <a:solidFill>
                      <a:schemeClr val="accent2"/>
                    </a:solidFill>
                    <a:headEnd w="sm" len="sm"/>
                    <a:tailEnd type="oval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Elbow Connector 61">
                    <a:extLst>
                      <a:ext uri="{FF2B5EF4-FFF2-40B4-BE49-F238E27FC236}">
                        <a16:creationId xmlns:a16="http://schemas.microsoft.com/office/drawing/2014/main" id="{70A79A05-8917-1BF9-983E-DC9D6BF54EE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191279" y="2758010"/>
                    <a:ext cx="1230930" cy="235480"/>
                  </a:xfrm>
                  <a:prstGeom prst="bentConnector2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7" name="Freeform 56">
                  <a:extLst>
                    <a:ext uri="{FF2B5EF4-FFF2-40B4-BE49-F238E27FC236}">
                      <a16:creationId xmlns:a16="http://schemas.microsoft.com/office/drawing/2014/main" id="{AE5B32B8-2A4D-0684-B20D-82CBDDA7CB3C}"/>
                    </a:ext>
                  </a:extLst>
                </p:cNvPr>
                <p:cNvSpPr/>
                <p:nvPr/>
              </p:nvSpPr>
              <p:spPr>
                <a:xfrm flipV="1">
                  <a:off x="881793" y="3462503"/>
                  <a:ext cx="405114" cy="183691"/>
                </a:xfrm>
                <a:custGeom>
                  <a:avLst/>
                  <a:gdLst>
                    <a:gd name="connsiteX0" fmla="*/ 0 w 405114"/>
                    <a:gd name="connsiteY0" fmla="*/ 150471 h 162045"/>
                    <a:gd name="connsiteX1" fmla="*/ 57873 w 405114"/>
                    <a:gd name="connsiteY1" fmla="*/ 162045 h 162045"/>
                    <a:gd name="connsiteX2" fmla="*/ 104172 w 405114"/>
                    <a:gd name="connsiteY2" fmla="*/ 150471 h 162045"/>
                    <a:gd name="connsiteX3" fmla="*/ 208344 w 405114"/>
                    <a:gd name="connsiteY3" fmla="*/ 92597 h 162045"/>
                    <a:gd name="connsiteX4" fmla="*/ 254643 w 405114"/>
                    <a:gd name="connsiteY4" fmla="*/ 46298 h 162045"/>
                    <a:gd name="connsiteX5" fmla="*/ 358815 w 405114"/>
                    <a:gd name="connsiteY5" fmla="*/ 0 h 162045"/>
                    <a:gd name="connsiteX6" fmla="*/ 405114 w 405114"/>
                    <a:gd name="connsiteY6" fmla="*/ 0 h 1620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05114" h="162045">
                      <a:moveTo>
                        <a:pt x="0" y="150471"/>
                      </a:moveTo>
                      <a:cubicBezTo>
                        <a:pt x="19291" y="154329"/>
                        <a:pt x="38200" y="162045"/>
                        <a:pt x="57873" y="162045"/>
                      </a:cubicBezTo>
                      <a:cubicBezTo>
                        <a:pt x="73781" y="162045"/>
                        <a:pt x="88876" y="154841"/>
                        <a:pt x="104172" y="150471"/>
                      </a:cubicBezTo>
                      <a:cubicBezTo>
                        <a:pt x="144925" y="138827"/>
                        <a:pt x="175184" y="125757"/>
                        <a:pt x="208344" y="92597"/>
                      </a:cubicBezTo>
                      <a:cubicBezTo>
                        <a:pt x="223777" y="77164"/>
                        <a:pt x="236483" y="58405"/>
                        <a:pt x="254643" y="46298"/>
                      </a:cubicBezTo>
                      <a:cubicBezTo>
                        <a:pt x="286113" y="25318"/>
                        <a:pt x="317492" y="0"/>
                        <a:pt x="358815" y="0"/>
                      </a:cubicBezTo>
                      <a:lnTo>
                        <a:pt x="405114" y="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88C37FF3-652A-5831-934D-57BC60468C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381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55862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DE1C7-C766-E46B-E31D-B932FB914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47FABB4F-899B-70B2-BFC3-FC8A199BC758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55C04247-8AF3-226D-8F61-5AC5C35AB77C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3E5EF2-12DC-B4CD-B0CA-FCB58B354408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BC14B9CC-AAF3-73FF-FB5E-33889A0874BD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AF2D3CD-3053-7E07-ACA4-E79362C72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Tracing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dirty="0"/>
              <a:t> Datapath (3/8)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5C9EF2AF-713F-39FB-D400-816F75F9FD40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033F9C3A-81ED-0A1D-B0CF-42906A020F73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9A76C905-D4C1-BC96-32C1-F99EAA516B65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7F5BACB5-C0A7-BA6C-83FC-6191B93DBE76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13FEC3B0-3849-C506-4E0C-91B60B127FB3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AEC237A4-E796-76FC-CAC6-2F41BF41069C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A1C18F2C-792F-7454-02E4-387F6247192A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EFA08238-CAA1-CD5D-5ADC-016E96C30E26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9C2BAF82-D09C-5AC6-10C4-553510B435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DCDF6FB4-079E-E5F8-B6E6-4350AF883A87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12C0575F-2EC6-318E-BC25-3E9D0FB8F5A8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0F1AA4D2-245A-4949-39BE-A9308CDDA631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1B3F1169-FA45-4CE0-AFFD-82F3310311B9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932E7B06-BAE1-FC00-8AED-9C919838E839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E0A2BBB0-CF42-D8D1-9742-84E478C8C244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DE72F549-5380-9FEF-7D30-0EFB238937B3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55EACFF9-76B0-F87B-3E65-6ACEACDCCDF0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BA864418-3D3A-4380-B952-DB2EFF127233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E15AAEA9-CD4C-4C73-C54F-FD863E27FABB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FEA29018-E747-45AE-E10D-AAE9B5A7A676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3F2444DB-89C3-8586-311B-B75DBC58D84C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9853C7F2-17CF-B68E-5A8B-426C11F63B96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7E3300AD-B9A6-B6CD-AC53-382C11B2BB5A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B331BD0B-161C-BB1A-0291-CD8107AD1846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CA38F767-FF3F-6F8B-B2DE-636FD9480D9F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0F8D3DD7-3C2F-9D80-8C7D-E75ABDB136F1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771A7F68-ADC0-93D9-26DB-6B4625054B83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273EB665-0C2B-1346-8CFD-3BE11EBCA767}"/>
              </a:ext>
            </a:extLst>
          </p:cNvPr>
          <p:cNvCxnSpPr>
            <a:stCxn id="457" idx="0"/>
          </p:cNvCxnSpPr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1" name="TextBox 460">
            <a:extLst>
              <a:ext uri="{FF2B5EF4-FFF2-40B4-BE49-F238E27FC236}">
                <a16:creationId xmlns:a16="http://schemas.microsoft.com/office/drawing/2014/main" id="{0088018D-2897-CA95-573A-2737FBB60C02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B77109C8-ED58-1E8D-3C9B-45A04E617A24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4E0F9E7B-95E0-2597-59BB-2423D3A9F4F9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34E0009E-F476-7AAD-9C0E-AA488E081D22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1411CE76-3A18-1968-373A-1B6D9E8B98EA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466AA3A2-C1F3-74B7-18F1-652BD97E5D04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CE3F4D1F-72EB-9C71-A51B-32BA5567C87D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5788A421-345D-802B-F281-2B667E535539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62D332A0-1170-3718-907E-52661D6EB35B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6ADD14D-D079-039B-D430-700FF0D9BBD9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B6AF20C0-FE16-EDBE-70A2-AA569F5CF359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48CDF8CA-226D-0A0D-4725-A44690ED88F9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F9DCD5A4-7F3F-636C-38E7-DD4971560F33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7252B34C-6621-7575-B322-4453D7B0C1FD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D9EC06DE-BD43-92AB-FA33-19DE0FCA23E1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1CD27F-3717-E132-D3FE-D6DE8F195E91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9277C53-4426-4D1F-04B5-B892E78153E8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9940121-468C-2937-EF52-E18086A35826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E7D1019-C4E6-F17B-6F91-E86AA62751A7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C6A280B-40C0-ABF9-F9F8-E0BC8A4B11E1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BA0D5C2-18A3-6EF2-3123-C45A5BE4006D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B27C4B7F-A523-FEFD-6192-7E653E6FAE2F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E36F30F7-554F-ACAE-20ED-A4899ADC2175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59683A69-C19F-48E1-9024-7DC98C037B93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548E703-A381-8A8A-613E-0467B10D08A6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2AA4FF9B-35C5-8AB6-5C6B-D6A6DFBF25E4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5F0F562B-04CD-B972-B180-EEBFDE86BBDF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CB703005-6506-4E0F-747C-894032C03078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AC75C88F-6CEB-85B6-B436-20781C5C91BC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BE3559FB-452D-6806-3BA2-68502E6CA42C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B6AD0336-E841-8A25-F8BB-A67E0E1345D7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45E16767-7CD9-3F81-DAD1-AED4D3FC5840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AD7C6F18-4841-A3C9-2ED5-B40BC45D9451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4EA31D41-E464-F19A-854A-63D1D383FEA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C7F45E31-D0C8-3BB7-DE43-5000F68ADA47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3548DB-899C-EE0E-CE44-60CE65CCB50C}"/>
              </a:ext>
            </a:extLst>
          </p:cNvPr>
          <p:cNvGrpSpPr/>
          <p:nvPr/>
        </p:nvGrpSpPr>
        <p:grpSpPr>
          <a:xfrm>
            <a:off x="1780532" y="2965993"/>
            <a:ext cx="673038" cy="703576"/>
            <a:chOff x="1780532" y="2965993"/>
            <a:chExt cx="673038" cy="703576"/>
          </a:xfrm>
        </p:grpSpPr>
        <p:cxnSp>
          <p:nvCxnSpPr>
            <p:cNvPr id="12" name="Elbow Connector 11">
              <a:extLst>
                <a:ext uri="{FF2B5EF4-FFF2-40B4-BE49-F238E27FC236}">
                  <a16:creationId xmlns:a16="http://schemas.microsoft.com/office/drawing/2014/main" id="{31284950-1FD8-6AC5-B320-86C66151631F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94F7F89-1DF9-56DD-88BF-9A3131627067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5DCC8B5-0CF4-C0A8-FDD9-C7973C778808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F5A9048-88A2-BEFA-D8F8-E045EF937197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44" name="Elbow Connector 43">
              <a:extLst>
                <a:ext uri="{FF2B5EF4-FFF2-40B4-BE49-F238E27FC236}">
                  <a16:creationId xmlns:a16="http://schemas.microsoft.com/office/drawing/2014/main" id="{873CCC3D-3B9E-52C8-1BF5-8D37A576294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>
              <a:extLst>
                <a:ext uri="{FF2B5EF4-FFF2-40B4-BE49-F238E27FC236}">
                  <a16:creationId xmlns:a16="http://schemas.microsoft.com/office/drawing/2014/main" id="{B72B2530-3E8E-6BEB-95E2-63F6F9FE970F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14EE4361-BD8F-3F57-1FED-DA1530C49BF2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75D14F25-8659-60A6-29EC-320CE4F7FC7F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rapezoid 47">
            <a:extLst>
              <a:ext uri="{FF2B5EF4-FFF2-40B4-BE49-F238E27FC236}">
                <a16:creationId xmlns:a16="http://schemas.microsoft.com/office/drawing/2014/main" id="{74B69FE5-DD3B-1DAE-E7B4-B918EC37238B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49" name="Trapezoid 48">
            <a:extLst>
              <a:ext uri="{FF2B5EF4-FFF2-40B4-BE49-F238E27FC236}">
                <a16:creationId xmlns:a16="http://schemas.microsoft.com/office/drawing/2014/main" id="{C40F7248-FF31-D42A-A6C9-C03503595006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50" name="Trapezoid 49">
            <a:extLst>
              <a:ext uri="{FF2B5EF4-FFF2-40B4-BE49-F238E27FC236}">
                <a16:creationId xmlns:a16="http://schemas.microsoft.com/office/drawing/2014/main" id="{6EBEC521-6A8B-21C8-2657-67262E1564C4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061CEB36-AA33-D0A3-FD6B-A89F9C65E7A7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82A97C7-07B2-D2C5-59BD-AE48D587AB09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E5D0F1C-7EB3-9660-4A2B-1081E9B4F6BC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616F100-5281-0FB7-66DC-5855EFD45475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38C8730-B44B-78CF-FD26-449855B683AA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30F2F5EB-4282-18E9-7D18-569AFC4C0062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4" name="Elbow Connector 53">
                  <a:extLst>
                    <a:ext uri="{FF2B5EF4-FFF2-40B4-BE49-F238E27FC236}">
                      <a16:creationId xmlns:a16="http://schemas.microsoft.com/office/drawing/2014/main" id="{4051045A-0A61-9BF0-85D4-FA620EDA4D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F8626992-4632-6865-EA3A-CC3ECD40FE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D19EE9B3-B9FF-1A44-269F-26E0BF598B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861012E-7E39-83C0-5C91-A2D183C1C1B4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B14EE2D-B5E5-FF7F-C1A9-D446E1DD1D6F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8A08A4F-234C-012F-C9C0-A3F01BA790F9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chemeClr val="tx1">
                <a:alpha val="67000"/>
              </a:schemeClr>
            </a:glow>
          </a:effectLst>
        </p:grpSpPr>
        <p:cxnSp>
          <p:nvCxnSpPr>
            <p:cNvPr id="6" name="Elbow Connector 5">
              <a:extLst>
                <a:ext uri="{FF2B5EF4-FFF2-40B4-BE49-F238E27FC236}">
                  <a16:creationId xmlns:a16="http://schemas.microsoft.com/office/drawing/2014/main" id="{68B6A46B-58D8-4672-703E-E1B29F8DFBE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5DF3239-ADEE-D2CD-C70F-DC675073A25F}"/>
                </a:ext>
              </a:extLst>
            </p:cNvPr>
            <p:cNvCxnSpPr>
              <a:cxnSpLocks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79C48580-E94F-AA9D-FBA3-94F420527F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371BF1AF-1A17-8FA7-5DBC-52694691FBF9}"/>
              </a:ext>
            </a:extLst>
          </p:cNvPr>
          <p:cNvGrpSpPr/>
          <p:nvPr/>
        </p:nvGrpSpPr>
        <p:grpSpPr>
          <a:xfrm>
            <a:off x="10549378" y="2970605"/>
            <a:ext cx="267680" cy="873172"/>
            <a:chOff x="10468098" y="2970605"/>
            <a:chExt cx="267680" cy="873172"/>
          </a:xfrm>
        </p:grpSpPr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DABEAB4A-3ECB-AF5E-23E4-89FD6D8AEA51}"/>
                </a:ext>
              </a:extLst>
            </p:cNvPr>
            <p:cNvSpPr/>
            <p:nvPr/>
          </p:nvSpPr>
          <p:spPr>
            <a:xfrm>
              <a:off x="10468098" y="3076083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80BA1EE4-534A-5C66-C1F8-4E24C6A7E1B8}"/>
                </a:ext>
              </a:extLst>
            </p:cNvPr>
            <p:cNvSpPr/>
            <p:nvPr/>
          </p:nvSpPr>
          <p:spPr>
            <a:xfrm>
              <a:off x="10468098" y="3321131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9D95B403-F6E2-F3EE-C1EA-D55EA9E85367}"/>
                </a:ext>
              </a:extLst>
            </p:cNvPr>
            <p:cNvSpPr/>
            <p:nvPr/>
          </p:nvSpPr>
          <p:spPr>
            <a:xfrm>
              <a:off x="10468098" y="3584336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23" name="Trapezoid 322">
              <a:extLst>
                <a:ext uri="{FF2B5EF4-FFF2-40B4-BE49-F238E27FC236}">
                  <a16:creationId xmlns:a16="http://schemas.microsoft.com/office/drawing/2014/main" id="{06C944C1-8D24-7CA7-8161-ABC84D23F2E7}"/>
                </a:ext>
              </a:extLst>
            </p:cNvPr>
            <p:cNvSpPr/>
            <p:nvPr/>
          </p:nvSpPr>
          <p:spPr>
            <a:xfrm rot="5400000">
              <a:off x="10165352" y="3273351"/>
              <a:ext cx="873172" cy="267680"/>
            </a:xfrm>
            <a:prstGeom prst="trapezoid">
              <a:avLst>
                <a:gd name="adj" fmla="val 62818"/>
              </a:avLst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58C276AC-DD3C-C2EB-9AD5-757E20659529}"/>
              </a:ext>
            </a:extLst>
          </p:cNvPr>
          <p:cNvSpPr txBox="1"/>
          <p:nvPr/>
        </p:nvSpPr>
        <p:spPr>
          <a:xfrm>
            <a:off x="293424" y="1063996"/>
            <a:ext cx="263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D3249A6-6074-F23B-AA3D-114AB42A8D8C}"/>
              </a:ext>
            </a:extLst>
          </p:cNvPr>
          <p:cNvGrpSpPr/>
          <p:nvPr/>
        </p:nvGrpSpPr>
        <p:grpSpPr>
          <a:xfrm>
            <a:off x="668759" y="2260284"/>
            <a:ext cx="2699311" cy="1670895"/>
            <a:chOff x="668759" y="2260284"/>
            <a:chExt cx="2699311" cy="167089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9E672042-CD14-304B-B151-82399A2DFBFF}"/>
                </a:ext>
              </a:extLst>
            </p:cNvPr>
            <p:cNvGrpSpPr/>
            <p:nvPr/>
          </p:nvGrpSpPr>
          <p:grpSpPr>
            <a:xfrm>
              <a:off x="668759" y="2260284"/>
              <a:ext cx="2699311" cy="1670895"/>
              <a:chOff x="668759" y="2260284"/>
              <a:chExt cx="2699311" cy="1670895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C310C3D-D080-9D0D-A4C8-B230D60AE04C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0141A89F-0D63-EE97-4057-ECFCC81F9C1E}"/>
                  </a:ext>
                </a:extLst>
              </p:cNvPr>
              <p:cNvGrpSpPr/>
              <p:nvPr/>
            </p:nvGrpSpPr>
            <p:grpSpPr>
              <a:xfrm>
                <a:off x="668759" y="2260284"/>
                <a:ext cx="2699311" cy="1409285"/>
                <a:chOff x="668759" y="2260284"/>
                <a:chExt cx="2699311" cy="1409285"/>
              </a:xfr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9AF797A7-CC94-845B-83C4-BF5E8731AB16}"/>
                    </a:ext>
                  </a:extLst>
                </p:cNvPr>
                <p:cNvGrpSpPr/>
                <p:nvPr/>
              </p:nvGrpSpPr>
              <p:grpSpPr>
                <a:xfrm>
                  <a:off x="668759" y="2260284"/>
                  <a:ext cx="2699311" cy="1409285"/>
                  <a:chOff x="668759" y="2260284"/>
                  <a:chExt cx="2699311" cy="1409285"/>
                </a:xfrm>
              </p:grpSpPr>
              <p:cxnSp>
                <p:nvCxnSpPr>
                  <p:cNvPr id="58" name="Straight Arrow Connector 57">
                    <a:extLst>
                      <a:ext uri="{FF2B5EF4-FFF2-40B4-BE49-F238E27FC236}">
                        <a16:creationId xmlns:a16="http://schemas.microsoft.com/office/drawing/2014/main" id="{68C954C3-8905-0CA9-715C-81C79273AE2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70363" y="3643964"/>
                    <a:ext cx="274320" cy="0"/>
                  </a:xfrm>
                  <a:prstGeom prst="straightConnector1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59" name="Group 58">
                    <a:extLst>
                      <a:ext uri="{FF2B5EF4-FFF2-40B4-BE49-F238E27FC236}">
                        <a16:creationId xmlns:a16="http://schemas.microsoft.com/office/drawing/2014/main" id="{941296A5-1670-912C-3EF7-C85A7EA3A028}"/>
                      </a:ext>
                    </a:extLst>
                  </p:cNvPr>
                  <p:cNvGrpSpPr/>
                  <p:nvPr/>
                </p:nvGrpSpPr>
                <p:grpSpPr>
                  <a:xfrm>
                    <a:off x="1780532" y="2965993"/>
                    <a:ext cx="673038" cy="703576"/>
                    <a:chOff x="1780532" y="2965993"/>
                    <a:chExt cx="673038" cy="703576"/>
                  </a:xfrm>
                </p:grpSpPr>
                <p:cxnSp>
                  <p:nvCxnSpPr>
                    <p:cNvPr id="63" name="Elbow Connector 62">
                      <a:extLst>
                        <a:ext uri="{FF2B5EF4-FFF2-40B4-BE49-F238E27FC236}">
                          <a16:creationId xmlns:a16="http://schemas.microsoft.com/office/drawing/2014/main" id="{01D53057-A5CA-0F16-2630-2B2FEFD03F7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H="1" flipV="1">
                      <a:off x="1830481" y="3046480"/>
                      <a:ext cx="703576" cy="542602"/>
                    </a:xfrm>
                    <a:prstGeom prst="bentConnector3">
                      <a:avLst>
                        <a:gd name="adj1" fmla="val 100542"/>
                      </a:avLst>
                    </a:prstGeom>
                    <a:ln w="57150">
                      <a:solidFill>
                        <a:schemeClr val="accent2"/>
                      </a:solidFill>
                      <a:headEnd type="oval" w="sm" len="sm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0" name="Straight Connector 449">
                      <a:extLst>
                        <a:ext uri="{FF2B5EF4-FFF2-40B4-BE49-F238E27FC236}">
                          <a16:creationId xmlns:a16="http://schemas.microsoft.com/office/drawing/2014/main" id="{E3DEF971-6E78-697B-4C44-1076B922D03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80532" y="3655540"/>
                      <a:ext cx="130436" cy="0"/>
                    </a:xfrm>
                    <a:prstGeom prst="line">
                      <a:avLst/>
                    </a:prstGeom>
                    <a:ln w="57150">
                      <a:solidFill>
                        <a:schemeClr val="accent2"/>
                      </a:solidFill>
                      <a:tailEnd type="non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611AB6BF-731A-7AA8-5AEC-8C48CCDFCFA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68759" y="2260284"/>
                    <a:ext cx="2697480" cy="1985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headEnd w="sm" len="sm"/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Elbow Connector 60">
                    <a:extLst>
                      <a:ext uri="{FF2B5EF4-FFF2-40B4-BE49-F238E27FC236}">
                        <a16:creationId xmlns:a16="http://schemas.microsoft.com/office/drawing/2014/main" id="{7F2A1832-BC98-9946-1473-AB79AECAA1D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2993946" y="2363686"/>
                    <a:ext cx="477525" cy="270723"/>
                  </a:xfrm>
                  <a:prstGeom prst="bentConnector3">
                    <a:avLst>
                      <a:gd name="adj1" fmla="val -5318"/>
                    </a:avLst>
                  </a:prstGeom>
                  <a:ln w="57150">
                    <a:solidFill>
                      <a:schemeClr val="accent2"/>
                    </a:solidFill>
                    <a:headEnd w="sm" len="sm"/>
                    <a:tailEnd type="oval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Elbow Connector 61">
                    <a:extLst>
                      <a:ext uri="{FF2B5EF4-FFF2-40B4-BE49-F238E27FC236}">
                        <a16:creationId xmlns:a16="http://schemas.microsoft.com/office/drawing/2014/main" id="{2E90A645-F515-ACE3-4A26-657C4F903A4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191279" y="2758010"/>
                    <a:ext cx="1230930" cy="235480"/>
                  </a:xfrm>
                  <a:prstGeom prst="bentConnector2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7" name="Freeform 56">
                  <a:extLst>
                    <a:ext uri="{FF2B5EF4-FFF2-40B4-BE49-F238E27FC236}">
                      <a16:creationId xmlns:a16="http://schemas.microsoft.com/office/drawing/2014/main" id="{2C8C94D5-1A97-46A0-30D2-A97908D3EEA9}"/>
                    </a:ext>
                  </a:extLst>
                </p:cNvPr>
                <p:cNvSpPr/>
                <p:nvPr/>
              </p:nvSpPr>
              <p:spPr>
                <a:xfrm flipV="1">
                  <a:off x="881793" y="3462503"/>
                  <a:ext cx="405114" cy="183691"/>
                </a:xfrm>
                <a:custGeom>
                  <a:avLst/>
                  <a:gdLst>
                    <a:gd name="connsiteX0" fmla="*/ 0 w 405114"/>
                    <a:gd name="connsiteY0" fmla="*/ 150471 h 162045"/>
                    <a:gd name="connsiteX1" fmla="*/ 57873 w 405114"/>
                    <a:gd name="connsiteY1" fmla="*/ 162045 h 162045"/>
                    <a:gd name="connsiteX2" fmla="*/ 104172 w 405114"/>
                    <a:gd name="connsiteY2" fmla="*/ 150471 h 162045"/>
                    <a:gd name="connsiteX3" fmla="*/ 208344 w 405114"/>
                    <a:gd name="connsiteY3" fmla="*/ 92597 h 162045"/>
                    <a:gd name="connsiteX4" fmla="*/ 254643 w 405114"/>
                    <a:gd name="connsiteY4" fmla="*/ 46298 h 162045"/>
                    <a:gd name="connsiteX5" fmla="*/ 358815 w 405114"/>
                    <a:gd name="connsiteY5" fmla="*/ 0 h 162045"/>
                    <a:gd name="connsiteX6" fmla="*/ 405114 w 405114"/>
                    <a:gd name="connsiteY6" fmla="*/ 0 h 1620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05114" h="162045">
                      <a:moveTo>
                        <a:pt x="0" y="150471"/>
                      </a:moveTo>
                      <a:cubicBezTo>
                        <a:pt x="19291" y="154329"/>
                        <a:pt x="38200" y="162045"/>
                        <a:pt x="57873" y="162045"/>
                      </a:cubicBezTo>
                      <a:cubicBezTo>
                        <a:pt x="73781" y="162045"/>
                        <a:pt x="88876" y="154841"/>
                        <a:pt x="104172" y="150471"/>
                      </a:cubicBezTo>
                      <a:cubicBezTo>
                        <a:pt x="144925" y="138827"/>
                        <a:pt x="175184" y="125757"/>
                        <a:pt x="208344" y="92597"/>
                      </a:cubicBezTo>
                      <a:cubicBezTo>
                        <a:pt x="223777" y="77164"/>
                        <a:pt x="236483" y="58405"/>
                        <a:pt x="254643" y="46298"/>
                      </a:cubicBezTo>
                      <a:cubicBezTo>
                        <a:pt x="286113" y="25318"/>
                        <a:pt x="317492" y="0"/>
                        <a:pt x="358815" y="0"/>
                      </a:cubicBezTo>
                      <a:lnTo>
                        <a:pt x="405114" y="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40422AB6-F6C4-CD4F-86CA-33AB9B1BFA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381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2" name="Group 451">
            <a:extLst>
              <a:ext uri="{FF2B5EF4-FFF2-40B4-BE49-F238E27FC236}">
                <a16:creationId xmlns:a16="http://schemas.microsoft.com/office/drawing/2014/main" id="{9FC5598C-CDE7-1A5F-1D73-4E1C54891D2E}"/>
              </a:ext>
            </a:extLst>
          </p:cNvPr>
          <p:cNvGrpSpPr/>
          <p:nvPr/>
        </p:nvGrpSpPr>
        <p:grpSpPr>
          <a:xfrm>
            <a:off x="3191223" y="3971033"/>
            <a:ext cx="932688" cy="1575442"/>
            <a:chOff x="3191225" y="3962068"/>
            <a:chExt cx="932688" cy="1575442"/>
          </a:xfrm>
        </p:grpSpPr>
        <p:cxnSp>
          <p:nvCxnSpPr>
            <p:cNvPr id="455" name="Straight Arrow Connector 454">
              <a:extLst>
                <a:ext uri="{FF2B5EF4-FFF2-40B4-BE49-F238E27FC236}">
                  <a16:creationId xmlns:a16="http://schemas.microsoft.com/office/drawing/2014/main" id="{17E74436-EE2C-4778-17C1-28E5A88DD153}"/>
                </a:ext>
              </a:extLst>
            </p:cNvPr>
            <p:cNvCxnSpPr/>
            <p:nvPr/>
          </p:nvCxnSpPr>
          <p:spPr>
            <a:xfrm>
              <a:off x="3193946" y="3962068"/>
              <a:ext cx="0" cy="1575442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Arrow Connector 458">
              <a:extLst>
                <a:ext uri="{FF2B5EF4-FFF2-40B4-BE49-F238E27FC236}">
                  <a16:creationId xmlns:a16="http://schemas.microsoft.com/office/drawing/2014/main" id="{335AAA50-1767-3099-1926-86677F229C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91225" y="5015025"/>
              <a:ext cx="932688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4774695-CD6D-CE22-29A2-4E31EE843180}"/>
              </a:ext>
            </a:extLst>
          </p:cNvPr>
          <p:cNvCxnSpPr>
            <a:cxnSpLocks/>
          </p:cNvCxnSpPr>
          <p:nvPr/>
        </p:nvCxnSpPr>
        <p:spPr>
          <a:xfrm>
            <a:off x="3059473" y="3950047"/>
            <a:ext cx="128436" cy="0"/>
          </a:xfrm>
          <a:prstGeom prst="straightConnector1">
            <a:avLst/>
          </a:prstGeom>
          <a:ln w="57150"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940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BE54F-1C62-7150-7E85-E5D5E00CF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1442E3E4-2ACF-2181-16D1-79B64E4CBF0A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04D59EA2-6071-CE99-666B-F67BDE4D2B15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F615BEEC-B2DC-A456-68CA-3E01B58560CC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BCB7A58D-27ED-9E34-A36E-7B0FA98140F2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E88D2C5-6B97-793D-9FF6-A61DF049A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Tracing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dirty="0"/>
              <a:t> Datapath (4/8)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13ED427A-0144-31A2-22C2-7B239F011F33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15C5831B-1701-D9DC-002C-E2548724068F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88B2F1E5-1316-1E1F-3304-64DEB532AD49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37210980-45CD-9654-C35F-E860FC06B750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038D1B79-DEAE-2E8C-4185-9B97FF49CC6C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A6581845-67EA-CD9E-BB79-4E133B2073EC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7B7A7C71-A022-B397-EDE7-B0750256D405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B8F09C83-ECCE-4468-F671-C885F7DB7735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9D3FA099-7103-16D1-CE65-8C280BE7A6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ADE5FFE5-A0B6-7038-B15A-37F37326EFC7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C83BEB59-9400-19CC-92F7-ED27D7F4089E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7CF50C82-4E24-AA15-BB03-8AE4C812462E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FD8537B2-32EF-C0E1-589C-495CCE651F5C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9CD522E0-1615-7454-88D1-8E2650BF65FE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7ED8E327-122E-5D06-66EF-F5F9AA154DA1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FBD0B353-8099-D9F1-1324-D04AF3EE29CE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23B27381-8AC3-A50F-7B0D-FA9D0E7FF507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DA189AF6-9C74-2680-ECFB-EDF3DD272D5E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CA8EA56E-E501-EF3A-9BFE-6DDB3AA6512D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DF25CE05-4886-10FD-22D6-73631860C5B0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47DB712F-F0EC-BED5-CAB9-F5CC3CF3E256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84DEA59D-9159-210F-59DD-2E5480076099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211F6709-2F61-58DD-27AE-297B81DFAA83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A50F83EF-8863-F91D-3DA9-E1B7C69E9F67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4E2871C6-9D74-F7E0-CCAC-9F642444994C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3AD65B51-4AA5-626D-B796-652D4C53FD0F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7B32704B-E826-2BBF-9821-212995646616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446A21A7-984F-0314-62E5-62DC15CA61E4}"/>
              </a:ext>
            </a:extLst>
          </p:cNvPr>
          <p:cNvCxnSpPr>
            <a:stCxn id="457" idx="0"/>
          </p:cNvCxnSpPr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1" name="TextBox 460">
            <a:extLst>
              <a:ext uri="{FF2B5EF4-FFF2-40B4-BE49-F238E27FC236}">
                <a16:creationId xmlns:a16="http://schemas.microsoft.com/office/drawing/2014/main" id="{E62711D9-5DAB-80A9-B89C-163FC3B9DE27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CF7EC3E0-3BBC-F48D-EE04-81EF827145DD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A3C43E5E-9F7A-1B6A-F864-687E28E9BB00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80E3DF16-AF6D-E6F3-1053-C9B011170D6B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D83B1B3D-1AF9-741C-1E02-962783AC23A6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232930AE-D022-67B3-F47C-04C70C318404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53FD4CF2-16EC-A541-FEC9-1542F6AA39D5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92365E6A-2A96-B107-C100-A38DB66C8872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8473EFAC-E285-2B5E-B730-FBBB23497C99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1E8C541C-1B2A-7AB4-AF6A-2F7104E24A14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95272C3E-A3A8-84A5-D640-28BE2A02CC79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269D760D-794A-84E0-E01D-26B452BE277B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885F27F5-AD4D-23D4-FFF3-F9FB4DA7C6C9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DE8D5E6E-8AC9-723C-13E4-59A8708E5EC2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EDD9D904-930F-A9BC-00F0-4CB96C7F89F1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A74D47-0A15-C8AD-CE63-FDD720D4C294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9FB6434-B9F9-FD03-1937-558EDE48ED60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5B6C020-0EE7-F3AA-D43A-094920391AA2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7E76D9C-73E9-2051-E5FA-76201CC0DE9A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31D21F1-F305-905B-0864-E835ABE7B6DE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FD1E1A5-05E7-DBAC-BE54-F2F7D25A83F0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E084358C-1206-E77A-1D93-58B23243B379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BF72A1C6-4C10-2955-5CCC-B68A24579D37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80AE00CE-FC05-5FCA-6D45-57E406F3ED97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7DB5BB1-579F-6208-0F09-A173AF665813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B9E60F5B-BA46-4F47-36F8-256A17CAEFDA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9EC7CA7D-9A8C-C1DB-B556-BB23F9FFA8B0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D66C1EB2-4B0F-B3A5-4D2A-B18D77EC594F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5E4CCA3D-AFDF-8944-7CFA-94B1AB1E89A4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418F79AD-136A-AC08-CE18-0846C04A56FF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DF6DF287-FCC7-E733-7797-58087902A759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2A1B16F7-0810-879D-C720-E765E6DE61CC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3A230943-72DB-1901-7684-EEDAE3789558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2A750E0F-509C-E03B-B61D-13ABF58501E8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FCD8AA2E-E790-4C4E-E2E0-473E3CA6BF89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AC0DBE-3F13-ACB8-20AF-1EB87D838606}"/>
              </a:ext>
            </a:extLst>
          </p:cNvPr>
          <p:cNvGrpSpPr/>
          <p:nvPr/>
        </p:nvGrpSpPr>
        <p:grpSpPr>
          <a:xfrm>
            <a:off x="1780532" y="2965993"/>
            <a:ext cx="673038" cy="703576"/>
            <a:chOff x="1780532" y="2965993"/>
            <a:chExt cx="673038" cy="703576"/>
          </a:xfrm>
        </p:grpSpPr>
        <p:cxnSp>
          <p:nvCxnSpPr>
            <p:cNvPr id="12" name="Elbow Connector 11">
              <a:extLst>
                <a:ext uri="{FF2B5EF4-FFF2-40B4-BE49-F238E27FC236}">
                  <a16:creationId xmlns:a16="http://schemas.microsoft.com/office/drawing/2014/main" id="{DC5E5686-07FA-90C5-8290-765871F3745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CFEF5C9-DEDD-15FC-613D-FCEBE5A33DA1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AD7119E-5C15-7811-CB74-3139446B034F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D17F892-4D93-D85F-EC07-E6D9F7A72FF1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44" name="Elbow Connector 43">
              <a:extLst>
                <a:ext uri="{FF2B5EF4-FFF2-40B4-BE49-F238E27FC236}">
                  <a16:creationId xmlns:a16="http://schemas.microsoft.com/office/drawing/2014/main" id="{AD4463E9-776C-BC4C-3F97-609302E8CFA2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>
              <a:extLst>
                <a:ext uri="{FF2B5EF4-FFF2-40B4-BE49-F238E27FC236}">
                  <a16:creationId xmlns:a16="http://schemas.microsoft.com/office/drawing/2014/main" id="{3EEADE3D-27EB-F9AD-D9CC-30D682C2CB1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F1C7AE01-E0D4-8604-70EE-C302EA74897C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0F2CF1B7-6083-84F3-4A66-C762BEF121FC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rapezoid 47">
            <a:extLst>
              <a:ext uri="{FF2B5EF4-FFF2-40B4-BE49-F238E27FC236}">
                <a16:creationId xmlns:a16="http://schemas.microsoft.com/office/drawing/2014/main" id="{1889FACB-E058-4BBB-C500-87FDEE5D97D2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49" name="Trapezoid 48">
            <a:extLst>
              <a:ext uri="{FF2B5EF4-FFF2-40B4-BE49-F238E27FC236}">
                <a16:creationId xmlns:a16="http://schemas.microsoft.com/office/drawing/2014/main" id="{6B591946-CC2B-74B9-DDB0-8816A5601173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50" name="Trapezoid 49">
            <a:extLst>
              <a:ext uri="{FF2B5EF4-FFF2-40B4-BE49-F238E27FC236}">
                <a16:creationId xmlns:a16="http://schemas.microsoft.com/office/drawing/2014/main" id="{955683FD-D163-F93D-FD90-D5455FED1369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F7609605-6A6B-2CBD-CBE7-BFAB0D2E7B1D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398EA52-AA73-5854-4DE2-7FBAE27CF9E1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C37E705-8F3F-65DF-D532-52E84D0C8B3E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F6ACA2A-6385-0685-E03E-74419DFC10EF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0889EC44-B659-9BFC-90D6-95648CED7FCE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16D3649E-D0D2-CBCD-0C89-3AF4CB07BFBA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4" name="Elbow Connector 53">
                  <a:extLst>
                    <a:ext uri="{FF2B5EF4-FFF2-40B4-BE49-F238E27FC236}">
                      <a16:creationId xmlns:a16="http://schemas.microsoft.com/office/drawing/2014/main" id="{623AD687-324A-0751-40B4-601DBDED0F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772FB55-F8DD-3E01-D380-FECAB309B4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6B3A9DFE-35BB-20F5-8C7D-C2F10F3C633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1AB00E8-BFD7-BF09-12FA-60E88E4C7C2E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E72FCDE-A7B8-F815-C0FE-A1CA7717849A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8FC2963-8C05-0FEE-D964-9BF21F4D3129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chemeClr val="tx1">
                <a:alpha val="67000"/>
              </a:schemeClr>
            </a:glow>
          </a:effectLst>
        </p:grpSpPr>
        <p:cxnSp>
          <p:nvCxnSpPr>
            <p:cNvPr id="6" name="Elbow Connector 5">
              <a:extLst>
                <a:ext uri="{FF2B5EF4-FFF2-40B4-BE49-F238E27FC236}">
                  <a16:creationId xmlns:a16="http://schemas.microsoft.com/office/drawing/2014/main" id="{EF09C24C-17E4-0AAD-4EA9-90FF94D5D564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7FC9D46-7F0F-ACB9-3AA1-0501A1EC4D3F}"/>
                </a:ext>
              </a:extLst>
            </p:cNvPr>
            <p:cNvCxnSpPr>
              <a:cxnSpLocks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7E062E1D-0490-DC87-C5E3-700E4DE150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12B3F696-F442-D586-962A-1AA779751FA3}"/>
              </a:ext>
            </a:extLst>
          </p:cNvPr>
          <p:cNvGrpSpPr/>
          <p:nvPr/>
        </p:nvGrpSpPr>
        <p:grpSpPr>
          <a:xfrm>
            <a:off x="10549378" y="2970605"/>
            <a:ext cx="267680" cy="873172"/>
            <a:chOff x="10468098" y="2970605"/>
            <a:chExt cx="267680" cy="873172"/>
          </a:xfrm>
        </p:grpSpPr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9E7FF17D-8B22-D283-4C6A-D46435CD4B51}"/>
                </a:ext>
              </a:extLst>
            </p:cNvPr>
            <p:cNvSpPr/>
            <p:nvPr/>
          </p:nvSpPr>
          <p:spPr>
            <a:xfrm>
              <a:off x="10468098" y="3076083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54349E37-F871-62F5-FBBF-053F5BB3F13F}"/>
                </a:ext>
              </a:extLst>
            </p:cNvPr>
            <p:cNvSpPr/>
            <p:nvPr/>
          </p:nvSpPr>
          <p:spPr>
            <a:xfrm>
              <a:off x="10468098" y="3321131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7BC119E1-BB40-0983-A275-EC4B63B36B92}"/>
                </a:ext>
              </a:extLst>
            </p:cNvPr>
            <p:cNvSpPr/>
            <p:nvPr/>
          </p:nvSpPr>
          <p:spPr>
            <a:xfrm>
              <a:off x="10468098" y="3584336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23" name="Trapezoid 322">
              <a:extLst>
                <a:ext uri="{FF2B5EF4-FFF2-40B4-BE49-F238E27FC236}">
                  <a16:creationId xmlns:a16="http://schemas.microsoft.com/office/drawing/2014/main" id="{D4E6535F-0AF4-7FFB-A32A-A97EB888ED40}"/>
                </a:ext>
              </a:extLst>
            </p:cNvPr>
            <p:cNvSpPr/>
            <p:nvPr/>
          </p:nvSpPr>
          <p:spPr>
            <a:xfrm rot="5400000">
              <a:off x="10165352" y="3273351"/>
              <a:ext cx="873172" cy="267680"/>
            </a:xfrm>
            <a:prstGeom prst="trapezoid">
              <a:avLst>
                <a:gd name="adj" fmla="val 62818"/>
              </a:avLst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C1F20BCE-4578-1484-0EDC-4BE0F61BB329}"/>
              </a:ext>
            </a:extLst>
          </p:cNvPr>
          <p:cNvSpPr txBox="1"/>
          <p:nvPr/>
        </p:nvSpPr>
        <p:spPr>
          <a:xfrm>
            <a:off x="293424" y="1063996"/>
            <a:ext cx="263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36CD14E-C1FB-F967-0637-BC10C91AA0FA}"/>
              </a:ext>
            </a:extLst>
          </p:cNvPr>
          <p:cNvGrpSpPr/>
          <p:nvPr/>
        </p:nvGrpSpPr>
        <p:grpSpPr>
          <a:xfrm>
            <a:off x="668759" y="2260284"/>
            <a:ext cx="2699311" cy="1670895"/>
            <a:chOff x="668759" y="2260284"/>
            <a:chExt cx="2699311" cy="167089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4EFEC629-DDF8-0B5F-0F85-67B6B275EF1B}"/>
                </a:ext>
              </a:extLst>
            </p:cNvPr>
            <p:cNvGrpSpPr/>
            <p:nvPr/>
          </p:nvGrpSpPr>
          <p:grpSpPr>
            <a:xfrm>
              <a:off x="668759" y="2260284"/>
              <a:ext cx="2699311" cy="1670895"/>
              <a:chOff x="668759" y="2260284"/>
              <a:chExt cx="2699311" cy="1670895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21473ED-F153-0F43-06EB-722709DECB64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CBFB2F77-C1CC-A632-31CB-051DB91C0599}"/>
                  </a:ext>
                </a:extLst>
              </p:cNvPr>
              <p:cNvGrpSpPr/>
              <p:nvPr/>
            </p:nvGrpSpPr>
            <p:grpSpPr>
              <a:xfrm>
                <a:off x="668759" y="2260284"/>
                <a:ext cx="2699311" cy="1409285"/>
                <a:chOff x="668759" y="2260284"/>
                <a:chExt cx="2699311" cy="1409285"/>
              </a:xfr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7F9ED099-1465-5C24-66AC-DD0FB6B24A35}"/>
                    </a:ext>
                  </a:extLst>
                </p:cNvPr>
                <p:cNvGrpSpPr/>
                <p:nvPr/>
              </p:nvGrpSpPr>
              <p:grpSpPr>
                <a:xfrm>
                  <a:off x="668759" y="2260284"/>
                  <a:ext cx="2699311" cy="1409285"/>
                  <a:chOff x="668759" y="2260284"/>
                  <a:chExt cx="2699311" cy="1409285"/>
                </a:xfrm>
              </p:grpSpPr>
              <p:cxnSp>
                <p:nvCxnSpPr>
                  <p:cNvPr id="58" name="Straight Arrow Connector 57">
                    <a:extLst>
                      <a:ext uri="{FF2B5EF4-FFF2-40B4-BE49-F238E27FC236}">
                        <a16:creationId xmlns:a16="http://schemas.microsoft.com/office/drawing/2014/main" id="{88C1CE7D-2CBD-A644-8D0F-FF21130E03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70363" y="3643964"/>
                    <a:ext cx="274320" cy="0"/>
                  </a:xfrm>
                  <a:prstGeom prst="straightConnector1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59" name="Group 58">
                    <a:extLst>
                      <a:ext uri="{FF2B5EF4-FFF2-40B4-BE49-F238E27FC236}">
                        <a16:creationId xmlns:a16="http://schemas.microsoft.com/office/drawing/2014/main" id="{1B426BDF-1698-DCDA-6010-51B267A3259F}"/>
                      </a:ext>
                    </a:extLst>
                  </p:cNvPr>
                  <p:cNvGrpSpPr/>
                  <p:nvPr/>
                </p:nvGrpSpPr>
                <p:grpSpPr>
                  <a:xfrm>
                    <a:off x="1780532" y="2965993"/>
                    <a:ext cx="673038" cy="703576"/>
                    <a:chOff x="1780532" y="2965993"/>
                    <a:chExt cx="673038" cy="703576"/>
                  </a:xfrm>
                </p:grpSpPr>
                <p:cxnSp>
                  <p:nvCxnSpPr>
                    <p:cNvPr id="63" name="Elbow Connector 62">
                      <a:extLst>
                        <a:ext uri="{FF2B5EF4-FFF2-40B4-BE49-F238E27FC236}">
                          <a16:creationId xmlns:a16="http://schemas.microsoft.com/office/drawing/2014/main" id="{F350872D-8465-E3B1-233C-34BAF0FE9A4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H="1" flipV="1">
                      <a:off x="1830481" y="3046480"/>
                      <a:ext cx="703576" cy="542602"/>
                    </a:xfrm>
                    <a:prstGeom prst="bentConnector3">
                      <a:avLst>
                        <a:gd name="adj1" fmla="val 100542"/>
                      </a:avLst>
                    </a:prstGeom>
                    <a:ln w="57150">
                      <a:solidFill>
                        <a:schemeClr val="accent2"/>
                      </a:solidFill>
                      <a:headEnd type="oval" w="sm" len="sm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0" name="Straight Connector 449">
                      <a:extLst>
                        <a:ext uri="{FF2B5EF4-FFF2-40B4-BE49-F238E27FC236}">
                          <a16:creationId xmlns:a16="http://schemas.microsoft.com/office/drawing/2014/main" id="{D9294B15-58E6-67B0-4929-22E6C87DB61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80532" y="3655540"/>
                      <a:ext cx="130436" cy="0"/>
                    </a:xfrm>
                    <a:prstGeom prst="line">
                      <a:avLst/>
                    </a:prstGeom>
                    <a:ln w="57150">
                      <a:solidFill>
                        <a:schemeClr val="accent2"/>
                      </a:solidFill>
                      <a:tailEnd type="non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A63DBF7B-E613-6637-585B-CA398F3AE8C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68759" y="2260284"/>
                    <a:ext cx="2697480" cy="1985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headEnd w="sm" len="sm"/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Elbow Connector 60">
                    <a:extLst>
                      <a:ext uri="{FF2B5EF4-FFF2-40B4-BE49-F238E27FC236}">
                        <a16:creationId xmlns:a16="http://schemas.microsoft.com/office/drawing/2014/main" id="{B2E00CCC-4064-9C65-1086-AE779718A9E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2993946" y="2363686"/>
                    <a:ext cx="477525" cy="270723"/>
                  </a:xfrm>
                  <a:prstGeom prst="bentConnector3">
                    <a:avLst>
                      <a:gd name="adj1" fmla="val -5318"/>
                    </a:avLst>
                  </a:prstGeom>
                  <a:ln w="57150">
                    <a:solidFill>
                      <a:schemeClr val="accent2"/>
                    </a:solidFill>
                    <a:headEnd w="sm" len="sm"/>
                    <a:tailEnd type="oval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Elbow Connector 61">
                    <a:extLst>
                      <a:ext uri="{FF2B5EF4-FFF2-40B4-BE49-F238E27FC236}">
                        <a16:creationId xmlns:a16="http://schemas.microsoft.com/office/drawing/2014/main" id="{9BEA33F6-B3FB-6BF3-FFC6-6AC54B4B277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191279" y="2758010"/>
                    <a:ext cx="1230930" cy="235480"/>
                  </a:xfrm>
                  <a:prstGeom prst="bentConnector2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7" name="Freeform 56">
                  <a:extLst>
                    <a:ext uri="{FF2B5EF4-FFF2-40B4-BE49-F238E27FC236}">
                      <a16:creationId xmlns:a16="http://schemas.microsoft.com/office/drawing/2014/main" id="{6819DE59-0553-66DD-1FB0-C4E3BD60C147}"/>
                    </a:ext>
                  </a:extLst>
                </p:cNvPr>
                <p:cNvSpPr/>
                <p:nvPr/>
              </p:nvSpPr>
              <p:spPr>
                <a:xfrm flipV="1">
                  <a:off x="881793" y="3462503"/>
                  <a:ext cx="405114" cy="183691"/>
                </a:xfrm>
                <a:custGeom>
                  <a:avLst/>
                  <a:gdLst>
                    <a:gd name="connsiteX0" fmla="*/ 0 w 405114"/>
                    <a:gd name="connsiteY0" fmla="*/ 150471 h 162045"/>
                    <a:gd name="connsiteX1" fmla="*/ 57873 w 405114"/>
                    <a:gd name="connsiteY1" fmla="*/ 162045 h 162045"/>
                    <a:gd name="connsiteX2" fmla="*/ 104172 w 405114"/>
                    <a:gd name="connsiteY2" fmla="*/ 150471 h 162045"/>
                    <a:gd name="connsiteX3" fmla="*/ 208344 w 405114"/>
                    <a:gd name="connsiteY3" fmla="*/ 92597 h 162045"/>
                    <a:gd name="connsiteX4" fmla="*/ 254643 w 405114"/>
                    <a:gd name="connsiteY4" fmla="*/ 46298 h 162045"/>
                    <a:gd name="connsiteX5" fmla="*/ 358815 w 405114"/>
                    <a:gd name="connsiteY5" fmla="*/ 0 h 162045"/>
                    <a:gd name="connsiteX6" fmla="*/ 405114 w 405114"/>
                    <a:gd name="connsiteY6" fmla="*/ 0 h 1620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05114" h="162045">
                      <a:moveTo>
                        <a:pt x="0" y="150471"/>
                      </a:moveTo>
                      <a:cubicBezTo>
                        <a:pt x="19291" y="154329"/>
                        <a:pt x="38200" y="162045"/>
                        <a:pt x="57873" y="162045"/>
                      </a:cubicBezTo>
                      <a:cubicBezTo>
                        <a:pt x="73781" y="162045"/>
                        <a:pt x="88876" y="154841"/>
                        <a:pt x="104172" y="150471"/>
                      </a:cubicBezTo>
                      <a:cubicBezTo>
                        <a:pt x="144925" y="138827"/>
                        <a:pt x="175184" y="125757"/>
                        <a:pt x="208344" y="92597"/>
                      </a:cubicBezTo>
                      <a:cubicBezTo>
                        <a:pt x="223777" y="77164"/>
                        <a:pt x="236483" y="58405"/>
                        <a:pt x="254643" y="46298"/>
                      </a:cubicBezTo>
                      <a:cubicBezTo>
                        <a:pt x="286113" y="25318"/>
                        <a:pt x="317492" y="0"/>
                        <a:pt x="358815" y="0"/>
                      </a:cubicBezTo>
                      <a:lnTo>
                        <a:pt x="405114" y="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30EC3FAB-6D8C-854A-C558-955A987B48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381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2" name="Group 451">
            <a:extLst>
              <a:ext uri="{FF2B5EF4-FFF2-40B4-BE49-F238E27FC236}">
                <a16:creationId xmlns:a16="http://schemas.microsoft.com/office/drawing/2014/main" id="{A294F278-2309-B785-1638-3BC1260AA508}"/>
              </a:ext>
            </a:extLst>
          </p:cNvPr>
          <p:cNvGrpSpPr/>
          <p:nvPr/>
        </p:nvGrpSpPr>
        <p:grpSpPr>
          <a:xfrm>
            <a:off x="3191223" y="3971033"/>
            <a:ext cx="932688" cy="1575442"/>
            <a:chOff x="3191225" y="3962068"/>
            <a:chExt cx="932688" cy="1575442"/>
          </a:xfrm>
        </p:grpSpPr>
        <p:cxnSp>
          <p:nvCxnSpPr>
            <p:cNvPr id="455" name="Straight Arrow Connector 454">
              <a:extLst>
                <a:ext uri="{FF2B5EF4-FFF2-40B4-BE49-F238E27FC236}">
                  <a16:creationId xmlns:a16="http://schemas.microsoft.com/office/drawing/2014/main" id="{4905DCA0-916B-AA5B-55C0-F0B67539E486}"/>
                </a:ext>
              </a:extLst>
            </p:cNvPr>
            <p:cNvCxnSpPr/>
            <p:nvPr/>
          </p:nvCxnSpPr>
          <p:spPr>
            <a:xfrm>
              <a:off x="3193946" y="3962068"/>
              <a:ext cx="0" cy="1575442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Arrow Connector 458">
              <a:extLst>
                <a:ext uri="{FF2B5EF4-FFF2-40B4-BE49-F238E27FC236}">
                  <a16:creationId xmlns:a16="http://schemas.microsoft.com/office/drawing/2014/main" id="{D6C5A19E-A6AB-D801-E7AB-52B52FB4B4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91225" y="5015025"/>
              <a:ext cx="932688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8" name="TextBox 487">
            <a:extLst>
              <a:ext uri="{FF2B5EF4-FFF2-40B4-BE49-F238E27FC236}">
                <a16:creationId xmlns:a16="http://schemas.microsoft.com/office/drawing/2014/main" id="{986B2CE6-5208-0AFE-E0EF-F01D573D6080}"/>
              </a:ext>
            </a:extLst>
          </p:cNvPr>
          <p:cNvSpPr txBox="1"/>
          <p:nvPr/>
        </p:nvSpPr>
        <p:spPr>
          <a:xfrm>
            <a:off x="655210" y="5562420"/>
            <a:ext cx="901272" cy="4863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PCSel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2"/>
                </a:solidFill>
                <a:latin typeface="18 VAG Rounded Light   02390" pitchFamily="2" charset="0"/>
              </a:rPr>
              <a:t>not taken</a:t>
            </a: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6B93071D-6F1E-4316-AAFB-51166FFC0786}"/>
              </a:ext>
            </a:extLst>
          </p:cNvPr>
          <p:cNvSpPr txBox="1"/>
          <p:nvPr/>
        </p:nvSpPr>
        <p:spPr>
          <a:xfrm>
            <a:off x="4070302" y="5553911"/>
            <a:ext cx="806631" cy="5201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1600" dirty="0">
              <a:solidFill>
                <a:schemeClr val="accent5"/>
              </a:solidFill>
              <a:latin typeface="18 VAG Rounded Light   02390" pitchFamily="2" charset="0"/>
            </a:endParaRPr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E7A25894-E93B-1553-E5F6-ECA150FDC515}"/>
              </a:ext>
            </a:extLst>
          </p:cNvPr>
          <p:cNvSpPr txBox="1"/>
          <p:nvPr/>
        </p:nvSpPr>
        <p:spPr>
          <a:xfrm>
            <a:off x="5335397" y="5556000"/>
            <a:ext cx="885179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RegWEn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dirty="0">
                <a:solidFill>
                  <a:schemeClr val="accent4"/>
                </a:solidFill>
                <a:latin typeface="18 VAG Rounded Light   02390" pitchFamily="2" charset="0"/>
              </a:rPr>
              <a:t>1</a:t>
            </a:r>
          </a:p>
        </p:txBody>
      </p:sp>
      <p:sp>
        <p:nvSpPr>
          <p:cNvPr id="491" name="TextBox 490">
            <a:extLst>
              <a:ext uri="{FF2B5EF4-FFF2-40B4-BE49-F238E27FC236}">
                <a16:creationId xmlns:a16="http://schemas.microsoft.com/office/drawing/2014/main" id="{70A0B941-857F-8AA4-923C-4F9E9F3BF820}"/>
              </a:ext>
            </a:extLst>
          </p:cNvPr>
          <p:cNvSpPr txBox="1"/>
          <p:nvPr/>
        </p:nvSpPr>
        <p:spPr>
          <a:xfrm>
            <a:off x="6410974" y="5557569"/>
            <a:ext cx="502061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BrUn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*</a:t>
            </a:r>
          </a:p>
        </p:txBody>
      </p:sp>
      <p:sp>
        <p:nvSpPr>
          <p:cNvPr id="492" name="TextBox 491">
            <a:extLst>
              <a:ext uri="{FF2B5EF4-FFF2-40B4-BE49-F238E27FC236}">
                <a16:creationId xmlns:a16="http://schemas.microsoft.com/office/drawing/2014/main" id="{E5EFEE09-EFDA-019F-2743-6FBE264B1288}"/>
              </a:ext>
            </a:extLst>
          </p:cNvPr>
          <p:cNvSpPr txBox="1"/>
          <p:nvPr/>
        </p:nvSpPr>
        <p:spPr>
          <a:xfrm>
            <a:off x="7560125" y="5526419"/>
            <a:ext cx="449161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accent5"/>
                </a:solidFill>
                <a:latin typeface="18 VAG Rounded Light   02390" pitchFamily="2" charset="0"/>
              </a:rPr>
              <a:t>1</a:t>
            </a:r>
          </a:p>
        </p:txBody>
      </p:sp>
      <p:sp>
        <p:nvSpPr>
          <p:cNvPr id="493" name="TextBox 492">
            <a:extLst>
              <a:ext uri="{FF2B5EF4-FFF2-40B4-BE49-F238E27FC236}">
                <a16:creationId xmlns:a16="http://schemas.microsoft.com/office/drawing/2014/main" id="{50D0800C-2582-CBC1-3C1C-14297598C172}"/>
              </a:ext>
            </a:extLst>
          </p:cNvPr>
          <p:cNvSpPr txBox="1"/>
          <p:nvPr/>
        </p:nvSpPr>
        <p:spPr>
          <a:xfrm>
            <a:off x="7955924" y="5518212"/>
            <a:ext cx="460382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ASel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accent1"/>
                </a:solidFill>
                <a:latin typeface="18 VAG Rounded Light   02390" pitchFamily="2" charset="0"/>
              </a:rPr>
              <a:t>0</a:t>
            </a:r>
          </a:p>
        </p:txBody>
      </p:sp>
      <p:sp>
        <p:nvSpPr>
          <p:cNvPr id="494" name="TextBox 493">
            <a:extLst>
              <a:ext uri="{FF2B5EF4-FFF2-40B4-BE49-F238E27FC236}">
                <a16:creationId xmlns:a16="http://schemas.microsoft.com/office/drawing/2014/main" id="{E197B7E2-531C-DA3E-4E2D-AD2E267B6856}"/>
              </a:ext>
            </a:extLst>
          </p:cNvPr>
          <p:cNvSpPr txBox="1"/>
          <p:nvPr/>
        </p:nvSpPr>
        <p:spPr>
          <a:xfrm>
            <a:off x="8429817" y="5538557"/>
            <a:ext cx="688971" cy="460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495" name="TextBox 494">
            <a:extLst>
              <a:ext uri="{FF2B5EF4-FFF2-40B4-BE49-F238E27FC236}">
                <a16:creationId xmlns:a16="http://schemas.microsoft.com/office/drawing/2014/main" id="{9B8E73EB-E4C2-573B-DAB6-17D415940A26}"/>
              </a:ext>
            </a:extLst>
          </p:cNvPr>
          <p:cNvSpPr txBox="1"/>
          <p:nvPr/>
        </p:nvSpPr>
        <p:spPr>
          <a:xfrm>
            <a:off x="9282643" y="5557569"/>
            <a:ext cx="827470" cy="460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MemRW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6"/>
                </a:solidFill>
                <a:latin typeface="18 VAG Rounded Light   02390" pitchFamily="2" charset="0"/>
              </a:rPr>
              <a:t>Read</a:t>
            </a:r>
          </a:p>
        </p:txBody>
      </p:sp>
      <p:sp>
        <p:nvSpPr>
          <p:cNvPr id="496" name="TextBox 495">
            <a:extLst>
              <a:ext uri="{FF2B5EF4-FFF2-40B4-BE49-F238E27FC236}">
                <a16:creationId xmlns:a16="http://schemas.microsoft.com/office/drawing/2014/main" id="{DDCC1129-6E33-4DBD-5694-46E7A5B5ACE0}"/>
              </a:ext>
            </a:extLst>
          </p:cNvPr>
          <p:cNvSpPr txBox="1"/>
          <p:nvPr/>
        </p:nvSpPr>
        <p:spPr>
          <a:xfrm>
            <a:off x="10249476" y="5559045"/>
            <a:ext cx="655950" cy="460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WBSel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4"/>
                </a:solidFill>
                <a:latin typeface="18 VAG Rounded Light   02390" pitchFamily="2" charset="0"/>
              </a:rPr>
              <a:t>0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5318875-03AA-5A70-0BD2-BDFE8237E972}"/>
              </a:ext>
            </a:extLst>
          </p:cNvPr>
          <p:cNvCxnSpPr>
            <a:cxnSpLocks/>
          </p:cNvCxnSpPr>
          <p:nvPr/>
        </p:nvCxnSpPr>
        <p:spPr>
          <a:xfrm>
            <a:off x="3059473" y="3950047"/>
            <a:ext cx="128436" cy="0"/>
          </a:xfrm>
          <a:prstGeom prst="straightConnector1">
            <a:avLst/>
          </a:prstGeom>
          <a:ln w="57150"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893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145A7-591F-56E0-8888-AFEEB3A6D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0B85CE14-569A-63B9-56C5-CC6B5B3799CD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451D3695-200D-9497-D589-3F110C807B66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26A5A665-8A1A-B532-E34A-96A0EB3A2F67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755622A1-488F-886E-3392-D24FE39962F0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2BB147E-13E4-B76B-FE22-903626C76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Tracing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dirty="0"/>
              <a:t> Datapath (5/8)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E7F4C159-CFF4-4DA4-5CD8-827851C9B5E4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3299D461-22A2-AEDD-E007-650A86BAC3D0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9DE9D60B-D8AC-0BB8-7E73-9BBF624F2E83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ABD42D45-E519-F25E-F953-72F2E4814BCB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89E3BC12-9512-29AA-87B5-5C3FC91B67C3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7C5C5B40-1091-9D23-3ABC-BD98BEB8C241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7B191836-9938-2B86-59EB-AD1DC704724D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C6AB795F-7F8A-92E2-F745-9B244D9DF69A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22F444A3-973A-38BD-F901-38F8B43E01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97FEA9B4-77C6-0E78-ED20-0CB40DD5E304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2548ABF8-293D-1C9C-89B4-6A0CD4E5EE39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96D6A04A-4CAA-63D7-9A8D-6D92CBBF28F0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E9F7B85A-5ED0-16CB-BFCB-C23335C64395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DB6E7AEB-FFCE-2671-6007-D591D1D47492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FE30A95C-ADB3-9BB1-0DB3-67764C919661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7278D366-4FD5-BA1C-CD3A-53518798D4C4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BBD80DE1-80EB-ED26-19E5-18745DEC129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EBEC8E4C-A182-CC3F-74FE-FB1F293D753B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C53AA597-555B-B60E-BC18-BCCF5F016B65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942F20ED-BA9E-CAE4-E568-ED953622C053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0844739C-59BF-9DBC-EAB6-1B703DB8D402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2E6CA821-7751-B6CC-0DB7-BAB40C17039F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3C975F79-EB99-020E-A3C8-D40E567F73CB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24DC78F9-0BDE-4D02-58BC-5EF52A1529BB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F56FD3EF-783C-F5FE-145B-5B86848573EC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9AB45CB9-C370-C2A0-D1D2-16D28204B44B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707F84B9-9EFC-514A-DBEB-DCDD537D9FC8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5930097A-D869-F4C3-043E-AD82237965DA}"/>
              </a:ext>
            </a:extLst>
          </p:cNvPr>
          <p:cNvCxnSpPr>
            <a:stCxn id="457" idx="0"/>
          </p:cNvCxnSpPr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1" name="TextBox 460">
            <a:extLst>
              <a:ext uri="{FF2B5EF4-FFF2-40B4-BE49-F238E27FC236}">
                <a16:creationId xmlns:a16="http://schemas.microsoft.com/office/drawing/2014/main" id="{C44C17A8-83BE-3299-6679-065C7E683351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311DD123-88F6-7F49-DFBF-5B2BBCDB9568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9505A037-F5A4-AC0E-FF78-CCA6A39049B2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74CECBB6-89E3-9440-1AAA-76DB0D0B0B08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7A01DA47-0E64-4C0F-A0E2-21C89D68DA89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2D49D34C-9D52-17EE-A3E0-89C672059BAC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C036099E-BC4E-A115-D5B6-9180C6E2582A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6E97B42D-925F-6561-56A6-5FC77089CD80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BB08C484-3348-40F3-6634-47FB83545955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F3FC7F21-A25E-EB92-95CB-1E3DE76C0C0B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BB59A10E-B6CE-8C42-4030-84B21F0C18E1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9C30D88D-C2BA-E8AF-73C1-309513F04772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FED9135A-1BE8-17C0-80D7-9EDAE6803710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3D0BB3B3-2295-6D08-E304-4A8107419A64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003168E3-735B-6603-81A6-C7FD189DB43D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CFC1E2-A0B7-8187-A870-A06082254C46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6D722E7-7872-D474-885C-616BF6690C94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E066D8A-1FD0-C5E8-F3C4-D4462F43A885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12391D8-C080-0E90-9341-61B969107ECD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84877C1-19AF-7175-9823-43D7F8DCD94B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66EFDA-3C6B-C81E-D6A7-4FAEE9868CE4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0EB61993-ED27-C014-2850-87D43FF0F4E3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598B82F3-98FC-C250-0537-1114E0BACF3C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3209A681-737F-45BD-F9F1-D3D9ABC8510F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7BB28D9-C1E5-BD0E-552F-F98374DE2E1B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38627303-F7E9-B984-6348-6AE5C20F7093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17305B7D-CE51-1BD0-57A4-014759986D41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8CA54292-5012-E771-9933-D43F4805F471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5D5D061E-FE65-DBE9-6B74-C849EC821731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6C61652D-2C34-8BFB-B3B4-25964A462D5B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2CC8E2F0-7EDD-D13A-166A-718D2B72E801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B18A921A-A7A8-552A-5EBE-C2FE8E6241C8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02CF9819-CB4B-D31A-B0F8-6E51F77E85DE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9DF8A4E0-511E-D128-C3BB-00E041C7B97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D3831C30-F641-36FC-6203-BBEEDA12A3D0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68933EA-3259-F1E5-4906-7F3A33C42199}"/>
              </a:ext>
            </a:extLst>
          </p:cNvPr>
          <p:cNvGrpSpPr/>
          <p:nvPr/>
        </p:nvGrpSpPr>
        <p:grpSpPr>
          <a:xfrm>
            <a:off x="1780532" y="2965993"/>
            <a:ext cx="673038" cy="703576"/>
            <a:chOff x="1780532" y="2965993"/>
            <a:chExt cx="673038" cy="703576"/>
          </a:xfrm>
        </p:grpSpPr>
        <p:cxnSp>
          <p:nvCxnSpPr>
            <p:cNvPr id="12" name="Elbow Connector 11">
              <a:extLst>
                <a:ext uri="{FF2B5EF4-FFF2-40B4-BE49-F238E27FC236}">
                  <a16:creationId xmlns:a16="http://schemas.microsoft.com/office/drawing/2014/main" id="{7D0851C5-14EC-1BF8-031F-42728B39CA61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2085D95-E0CA-DF9A-EDD9-797AC6949482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571EDCB-A3B3-4004-72E5-6C9C802C7814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27DB8FD-D876-8F15-6D42-C783B1378984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44" name="Elbow Connector 43">
              <a:extLst>
                <a:ext uri="{FF2B5EF4-FFF2-40B4-BE49-F238E27FC236}">
                  <a16:creationId xmlns:a16="http://schemas.microsoft.com/office/drawing/2014/main" id="{7D7F5644-BF36-4012-8493-C11868FBAAE4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>
              <a:extLst>
                <a:ext uri="{FF2B5EF4-FFF2-40B4-BE49-F238E27FC236}">
                  <a16:creationId xmlns:a16="http://schemas.microsoft.com/office/drawing/2014/main" id="{AEF0FC11-0287-B9E9-3798-1C8410867C6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D93243DE-26B0-7A91-E787-158C39EB612E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CFCA2C22-37CA-E436-FC59-CD830EF22110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rapezoid 47">
            <a:extLst>
              <a:ext uri="{FF2B5EF4-FFF2-40B4-BE49-F238E27FC236}">
                <a16:creationId xmlns:a16="http://schemas.microsoft.com/office/drawing/2014/main" id="{E7DB01E4-D418-1426-7183-CD984FBE781E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49" name="Trapezoid 48">
            <a:extLst>
              <a:ext uri="{FF2B5EF4-FFF2-40B4-BE49-F238E27FC236}">
                <a16:creationId xmlns:a16="http://schemas.microsoft.com/office/drawing/2014/main" id="{396960A0-952D-5180-EE8B-541E9A86A8B1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50" name="Trapezoid 49">
            <a:extLst>
              <a:ext uri="{FF2B5EF4-FFF2-40B4-BE49-F238E27FC236}">
                <a16:creationId xmlns:a16="http://schemas.microsoft.com/office/drawing/2014/main" id="{5CE4E3A4-2EA1-EE69-8C86-F7E1FCF6E5F1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F54D68E6-8D53-221D-5E55-0778DB31244D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D0194E6-3C6C-A8DB-8630-A7CA44EB77A0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1AD1CEC-C8D9-F97F-299B-CE6317EE6BAB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4319F21-EFCB-1B9B-E345-FB0763C1036D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5C557862-685A-3546-22B4-0802165B6136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B020FB32-5DF1-F65F-F090-7C8D78FEC5D0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4" name="Elbow Connector 53">
                  <a:extLst>
                    <a:ext uri="{FF2B5EF4-FFF2-40B4-BE49-F238E27FC236}">
                      <a16:creationId xmlns:a16="http://schemas.microsoft.com/office/drawing/2014/main" id="{3125C678-9F6C-1720-9683-2C333E9C7B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42F49F8A-C02E-8838-B519-96C8DF8525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056CE31D-7228-FE41-5CFC-C99D1C7C50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90ED327-0664-3C60-B60C-DE188598A7A5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EB25111-AEC8-26E7-DCA5-9B29547BC6A2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181724D-1563-B79F-BAD4-13208019C202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chemeClr val="tx1">
                <a:alpha val="67000"/>
              </a:schemeClr>
            </a:glow>
          </a:effectLst>
        </p:grpSpPr>
        <p:cxnSp>
          <p:nvCxnSpPr>
            <p:cNvPr id="6" name="Elbow Connector 5">
              <a:extLst>
                <a:ext uri="{FF2B5EF4-FFF2-40B4-BE49-F238E27FC236}">
                  <a16:creationId xmlns:a16="http://schemas.microsoft.com/office/drawing/2014/main" id="{7A36BC49-B326-8E16-8C37-D85A43FC4C0D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32C68A3-4A29-6F0D-BFAF-F185F79FEA65}"/>
                </a:ext>
              </a:extLst>
            </p:cNvPr>
            <p:cNvCxnSpPr>
              <a:cxnSpLocks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7E2375DF-4027-06D8-623E-C7939CF085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F336EBFD-C088-FB63-892C-0574D79B457B}"/>
              </a:ext>
            </a:extLst>
          </p:cNvPr>
          <p:cNvGrpSpPr/>
          <p:nvPr/>
        </p:nvGrpSpPr>
        <p:grpSpPr>
          <a:xfrm>
            <a:off x="10549378" y="2970605"/>
            <a:ext cx="267680" cy="873172"/>
            <a:chOff x="10468098" y="2970605"/>
            <a:chExt cx="267680" cy="873172"/>
          </a:xfrm>
        </p:grpSpPr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40F76E40-F983-F232-0946-3DFB1A14E115}"/>
                </a:ext>
              </a:extLst>
            </p:cNvPr>
            <p:cNvSpPr/>
            <p:nvPr/>
          </p:nvSpPr>
          <p:spPr>
            <a:xfrm>
              <a:off x="10468098" y="3076083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03F99EED-63CB-A0E3-0135-2B6415AAE8CE}"/>
                </a:ext>
              </a:extLst>
            </p:cNvPr>
            <p:cNvSpPr/>
            <p:nvPr/>
          </p:nvSpPr>
          <p:spPr>
            <a:xfrm>
              <a:off x="10468098" y="3321131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1DC6582C-2EA2-5953-2C9A-D7B8D419D4D3}"/>
                </a:ext>
              </a:extLst>
            </p:cNvPr>
            <p:cNvSpPr/>
            <p:nvPr/>
          </p:nvSpPr>
          <p:spPr>
            <a:xfrm>
              <a:off x="10468098" y="3584336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23" name="Trapezoid 322">
              <a:extLst>
                <a:ext uri="{FF2B5EF4-FFF2-40B4-BE49-F238E27FC236}">
                  <a16:creationId xmlns:a16="http://schemas.microsoft.com/office/drawing/2014/main" id="{BBE62F4D-5352-6230-85A9-A07241646ED6}"/>
                </a:ext>
              </a:extLst>
            </p:cNvPr>
            <p:cNvSpPr/>
            <p:nvPr/>
          </p:nvSpPr>
          <p:spPr>
            <a:xfrm rot="5400000">
              <a:off x="10165352" y="3273351"/>
              <a:ext cx="873172" cy="267680"/>
            </a:xfrm>
            <a:prstGeom prst="trapezoid">
              <a:avLst>
                <a:gd name="adj" fmla="val 62818"/>
              </a:avLst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8EB64F0B-232E-D10B-FF4E-044A68AC6CFE}"/>
              </a:ext>
            </a:extLst>
          </p:cNvPr>
          <p:cNvSpPr txBox="1"/>
          <p:nvPr/>
        </p:nvSpPr>
        <p:spPr>
          <a:xfrm>
            <a:off x="293424" y="1063996"/>
            <a:ext cx="263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54948C7-447D-B07D-AE87-316DC6694D88}"/>
              </a:ext>
            </a:extLst>
          </p:cNvPr>
          <p:cNvGrpSpPr/>
          <p:nvPr/>
        </p:nvGrpSpPr>
        <p:grpSpPr>
          <a:xfrm>
            <a:off x="668759" y="2260284"/>
            <a:ext cx="2699311" cy="1670895"/>
            <a:chOff x="668759" y="2260284"/>
            <a:chExt cx="2699311" cy="167089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B06BB95-DBEE-4D92-AD47-58CA5BE8FCA5}"/>
                </a:ext>
              </a:extLst>
            </p:cNvPr>
            <p:cNvGrpSpPr/>
            <p:nvPr/>
          </p:nvGrpSpPr>
          <p:grpSpPr>
            <a:xfrm>
              <a:off x="668759" y="2260284"/>
              <a:ext cx="2699311" cy="1670895"/>
              <a:chOff x="668759" y="2260284"/>
              <a:chExt cx="2699311" cy="1670895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1D445BC-2C34-B2B3-8016-D42D690B5E44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0E0CFB39-8C0E-384F-A21E-1EF7485E0814}"/>
                  </a:ext>
                </a:extLst>
              </p:cNvPr>
              <p:cNvGrpSpPr/>
              <p:nvPr/>
            </p:nvGrpSpPr>
            <p:grpSpPr>
              <a:xfrm>
                <a:off x="668759" y="2260284"/>
                <a:ext cx="2699311" cy="1409285"/>
                <a:chOff x="668759" y="2260284"/>
                <a:chExt cx="2699311" cy="1409285"/>
              </a:xfr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7EE9CA80-DF5D-A84E-F074-81AC04D66D4B}"/>
                    </a:ext>
                  </a:extLst>
                </p:cNvPr>
                <p:cNvGrpSpPr/>
                <p:nvPr/>
              </p:nvGrpSpPr>
              <p:grpSpPr>
                <a:xfrm>
                  <a:off x="668759" y="2260284"/>
                  <a:ext cx="2699311" cy="1409285"/>
                  <a:chOff x="668759" y="2260284"/>
                  <a:chExt cx="2699311" cy="1409285"/>
                </a:xfrm>
              </p:grpSpPr>
              <p:cxnSp>
                <p:nvCxnSpPr>
                  <p:cNvPr id="58" name="Straight Arrow Connector 57">
                    <a:extLst>
                      <a:ext uri="{FF2B5EF4-FFF2-40B4-BE49-F238E27FC236}">
                        <a16:creationId xmlns:a16="http://schemas.microsoft.com/office/drawing/2014/main" id="{06A16E64-2D4D-3991-2DA6-5CC6F7598C4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70363" y="3643964"/>
                    <a:ext cx="274320" cy="0"/>
                  </a:xfrm>
                  <a:prstGeom prst="straightConnector1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59" name="Group 58">
                    <a:extLst>
                      <a:ext uri="{FF2B5EF4-FFF2-40B4-BE49-F238E27FC236}">
                        <a16:creationId xmlns:a16="http://schemas.microsoft.com/office/drawing/2014/main" id="{0053681C-955E-5C2F-52C6-378D551E5267}"/>
                      </a:ext>
                    </a:extLst>
                  </p:cNvPr>
                  <p:cNvGrpSpPr/>
                  <p:nvPr/>
                </p:nvGrpSpPr>
                <p:grpSpPr>
                  <a:xfrm>
                    <a:off x="1780532" y="2965993"/>
                    <a:ext cx="673038" cy="703576"/>
                    <a:chOff x="1780532" y="2965993"/>
                    <a:chExt cx="673038" cy="703576"/>
                  </a:xfrm>
                </p:grpSpPr>
                <p:cxnSp>
                  <p:nvCxnSpPr>
                    <p:cNvPr id="63" name="Elbow Connector 62">
                      <a:extLst>
                        <a:ext uri="{FF2B5EF4-FFF2-40B4-BE49-F238E27FC236}">
                          <a16:creationId xmlns:a16="http://schemas.microsoft.com/office/drawing/2014/main" id="{DC69E228-0E2E-74E0-220B-18C8BA775D8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H="1" flipV="1">
                      <a:off x="1830481" y="3046480"/>
                      <a:ext cx="703576" cy="542602"/>
                    </a:xfrm>
                    <a:prstGeom prst="bentConnector3">
                      <a:avLst>
                        <a:gd name="adj1" fmla="val 100542"/>
                      </a:avLst>
                    </a:prstGeom>
                    <a:ln w="57150">
                      <a:solidFill>
                        <a:schemeClr val="accent2"/>
                      </a:solidFill>
                      <a:headEnd type="oval" w="sm" len="sm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0" name="Straight Connector 449">
                      <a:extLst>
                        <a:ext uri="{FF2B5EF4-FFF2-40B4-BE49-F238E27FC236}">
                          <a16:creationId xmlns:a16="http://schemas.microsoft.com/office/drawing/2014/main" id="{3E0387F4-A107-C876-111A-BCD9AF88602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80532" y="3655540"/>
                      <a:ext cx="130436" cy="0"/>
                    </a:xfrm>
                    <a:prstGeom prst="line">
                      <a:avLst/>
                    </a:prstGeom>
                    <a:ln w="57150">
                      <a:solidFill>
                        <a:schemeClr val="accent2"/>
                      </a:solidFill>
                      <a:tailEnd type="non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E5503506-A262-50AA-5BCB-B1EEA8FB550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68759" y="2260284"/>
                    <a:ext cx="2697480" cy="1985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headEnd w="sm" len="sm"/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Elbow Connector 60">
                    <a:extLst>
                      <a:ext uri="{FF2B5EF4-FFF2-40B4-BE49-F238E27FC236}">
                        <a16:creationId xmlns:a16="http://schemas.microsoft.com/office/drawing/2014/main" id="{8B61CCC4-F4F4-BE48-F3C7-A85D93BFED3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2993946" y="2363686"/>
                    <a:ext cx="477525" cy="270723"/>
                  </a:xfrm>
                  <a:prstGeom prst="bentConnector3">
                    <a:avLst>
                      <a:gd name="adj1" fmla="val -5318"/>
                    </a:avLst>
                  </a:prstGeom>
                  <a:ln w="57150">
                    <a:solidFill>
                      <a:schemeClr val="accent2"/>
                    </a:solidFill>
                    <a:headEnd w="sm" len="sm"/>
                    <a:tailEnd type="oval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Elbow Connector 61">
                    <a:extLst>
                      <a:ext uri="{FF2B5EF4-FFF2-40B4-BE49-F238E27FC236}">
                        <a16:creationId xmlns:a16="http://schemas.microsoft.com/office/drawing/2014/main" id="{B55431BB-2611-34A3-600F-29AEA1969C8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191279" y="2758010"/>
                    <a:ext cx="1230930" cy="235480"/>
                  </a:xfrm>
                  <a:prstGeom prst="bentConnector2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7" name="Freeform 56">
                  <a:extLst>
                    <a:ext uri="{FF2B5EF4-FFF2-40B4-BE49-F238E27FC236}">
                      <a16:creationId xmlns:a16="http://schemas.microsoft.com/office/drawing/2014/main" id="{DA7C81F9-A138-FB93-5905-2D6D76B06FD6}"/>
                    </a:ext>
                  </a:extLst>
                </p:cNvPr>
                <p:cNvSpPr/>
                <p:nvPr/>
              </p:nvSpPr>
              <p:spPr>
                <a:xfrm flipV="1">
                  <a:off x="881793" y="3462503"/>
                  <a:ext cx="405114" cy="183691"/>
                </a:xfrm>
                <a:custGeom>
                  <a:avLst/>
                  <a:gdLst>
                    <a:gd name="connsiteX0" fmla="*/ 0 w 405114"/>
                    <a:gd name="connsiteY0" fmla="*/ 150471 h 162045"/>
                    <a:gd name="connsiteX1" fmla="*/ 57873 w 405114"/>
                    <a:gd name="connsiteY1" fmla="*/ 162045 h 162045"/>
                    <a:gd name="connsiteX2" fmla="*/ 104172 w 405114"/>
                    <a:gd name="connsiteY2" fmla="*/ 150471 h 162045"/>
                    <a:gd name="connsiteX3" fmla="*/ 208344 w 405114"/>
                    <a:gd name="connsiteY3" fmla="*/ 92597 h 162045"/>
                    <a:gd name="connsiteX4" fmla="*/ 254643 w 405114"/>
                    <a:gd name="connsiteY4" fmla="*/ 46298 h 162045"/>
                    <a:gd name="connsiteX5" fmla="*/ 358815 w 405114"/>
                    <a:gd name="connsiteY5" fmla="*/ 0 h 162045"/>
                    <a:gd name="connsiteX6" fmla="*/ 405114 w 405114"/>
                    <a:gd name="connsiteY6" fmla="*/ 0 h 1620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05114" h="162045">
                      <a:moveTo>
                        <a:pt x="0" y="150471"/>
                      </a:moveTo>
                      <a:cubicBezTo>
                        <a:pt x="19291" y="154329"/>
                        <a:pt x="38200" y="162045"/>
                        <a:pt x="57873" y="162045"/>
                      </a:cubicBezTo>
                      <a:cubicBezTo>
                        <a:pt x="73781" y="162045"/>
                        <a:pt x="88876" y="154841"/>
                        <a:pt x="104172" y="150471"/>
                      </a:cubicBezTo>
                      <a:cubicBezTo>
                        <a:pt x="144925" y="138827"/>
                        <a:pt x="175184" y="125757"/>
                        <a:pt x="208344" y="92597"/>
                      </a:cubicBezTo>
                      <a:cubicBezTo>
                        <a:pt x="223777" y="77164"/>
                        <a:pt x="236483" y="58405"/>
                        <a:pt x="254643" y="46298"/>
                      </a:cubicBezTo>
                      <a:cubicBezTo>
                        <a:pt x="286113" y="25318"/>
                        <a:pt x="317492" y="0"/>
                        <a:pt x="358815" y="0"/>
                      </a:cubicBezTo>
                      <a:lnTo>
                        <a:pt x="405114" y="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242C9EAB-BF2A-C9BB-97DA-B6DB685477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381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3" name="TextBox 462">
            <a:extLst>
              <a:ext uri="{FF2B5EF4-FFF2-40B4-BE49-F238E27FC236}">
                <a16:creationId xmlns:a16="http://schemas.microsoft.com/office/drawing/2014/main" id="{439A6AA0-AAD7-0797-3CF8-7570F4EAEFC2}"/>
              </a:ext>
            </a:extLst>
          </p:cNvPr>
          <p:cNvSpPr txBox="1"/>
          <p:nvPr/>
        </p:nvSpPr>
        <p:spPr>
          <a:xfrm>
            <a:off x="3486169" y="1063996"/>
            <a:ext cx="2831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Generate </a:t>
            </a:r>
            <a:r>
              <a:rPr lang="en-US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 with upper 12 bits. (I-Type)</a:t>
            </a:r>
          </a:p>
        </p:txBody>
      </p:sp>
      <p:grpSp>
        <p:nvGrpSpPr>
          <p:cNvPr id="467" name="Group 466">
            <a:extLst>
              <a:ext uri="{FF2B5EF4-FFF2-40B4-BE49-F238E27FC236}">
                <a16:creationId xmlns:a16="http://schemas.microsoft.com/office/drawing/2014/main" id="{740EEC7F-E45A-0457-F32D-912937907ECF}"/>
              </a:ext>
            </a:extLst>
          </p:cNvPr>
          <p:cNvGrpSpPr/>
          <p:nvPr/>
        </p:nvGrpSpPr>
        <p:grpSpPr>
          <a:xfrm>
            <a:off x="3062789" y="3429000"/>
            <a:ext cx="4683138" cy="2117475"/>
            <a:chOff x="3062789" y="3429000"/>
            <a:chExt cx="4683138" cy="2117475"/>
          </a:xfrm>
        </p:grpSpPr>
        <p:grpSp>
          <p:nvGrpSpPr>
            <p:cNvPr id="451" name="Group 450">
              <a:extLst>
                <a:ext uri="{FF2B5EF4-FFF2-40B4-BE49-F238E27FC236}">
                  <a16:creationId xmlns:a16="http://schemas.microsoft.com/office/drawing/2014/main" id="{E580CFBD-11E1-4D12-008C-36E08F746E6A}"/>
                </a:ext>
              </a:extLst>
            </p:cNvPr>
            <p:cNvGrpSpPr/>
            <p:nvPr/>
          </p:nvGrpSpPr>
          <p:grpSpPr>
            <a:xfrm>
              <a:off x="3062789" y="3429000"/>
              <a:ext cx="4683138" cy="2117475"/>
              <a:chOff x="3062789" y="3429000"/>
              <a:chExt cx="4683138" cy="2117475"/>
            </a:xfrm>
          </p:grpSpPr>
          <p:grpSp>
            <p:nvGrpSpPr>
              <p:cNvPr id="452" name="Group 451">
                <a:extLst>
                  <a:ext uri="{FF2B5EF4-FFF2-40B4-BE49-F238E27FC236}">
                    <a16:creationId xmlns:a16="http://schemas.microsoft.com/office/drawing/2014/main" id="{525C07EC-2860-6DCB-725D-7502B913713C}"/>
                  </a:ext>
                </a:extLst>
              </p:cNvPr>
              <p:cNvGrpSpPr/>
              <p:nvPr/>
            </p:nvGrpSpPr>
            <p:grpSpPr>
              <a:xfrm>
                <a:off x="3191223" y="3971033"/>
                <a:ext cx="4554704" cy="1575442"/>
                <a:chOff x="3191225" y="3962068"/>
                <a:chExt cx="4554704" cy="1575442"/>
              </a:xfrm>
            </p:grpSpPr>
            <p:cxnSp>
              <p:nvCxnSpPr>
                <p:cNvPr id="455" name="Straight Arrow Connector 454">
                  <a:extLst>
                    <a:ext uri="{FF2B5EF4-FFF2-40B4-BE49-F238E27FC236}">
                      <a16:creationId xmlns:a16="http://schemas.microsoft.com/office/drawing/2014/main" id="{AEE4CDC0-C5EF-A8C7-7F97-4780076392E8}"/>
                    </a:ext>
                  </a:extLst>
                </p:cNvPr>
                <p:cNvCxnSpPr/>
                <p:nvPr/>
              </p:nvCxnSpPr>
              <p:spPr>
                <a:xfrm>
                  <a:off x="3193946" y="3962068"/>
                  <a:ext cx="0" cy="1575442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9" name="Straight Arrow Connector 458">
                  <a:extLst>
                    <a:ext uri="{FF2B5EF4-FFF2-40B4-BE49-F238E27FC236}">
                      <a16:creationId xmlns:a16="http://schemas.microsoft.com/office/drawing/2014/main" id="{1DDE1B39-25C9-77CB-9650-42D3EF46A5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91225" y="5015025"/>
                  <a:ext cx="932688" cy="0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0" name="Elbow Connector 459">
                  <a:extLst>
                    <a:ext uri="{FF2B5EF4-FFF2-40B4-BE49-F238E27FC236}">
                      <a16:creationId xmlns:a16="http://schemas.microsoft.com/office/drawing/2014/main" id="{54AA941B-9428-69CB-35F2-9A7355AD33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4808959" y="4530234"/>
                  <a:ext cx="2936970" cy="596712"/>
                </a:xfrm>
                <a:prstGeom prst="bentConnector3">
                  <a:avLst>
                    <a:gd name="adj1" fmla="val 92537"/>
                  </a:avLst>
                </a:prstGeom>
                <a:ln w="57150">
                  <a:solidFill>
                    <a:schemeClr val="accent5"/>
                  </a:solidFill>
                  <a:tailEnd type="triangle" w="med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53" name="Elbow Connector 452">
                <a:extLst>
                  <a:ext uri="{FF2B5EF4-FFF2-40B4-BE49-F238E27FC236}">
                    <a16:creationId xmlns:a16="http://schemas.microsoft.com/office/drawing/2014/main" id="{4B24930C-DE1D-76BC-BE9C-A5B562AC7F1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62789" y="3429000"/>
                <a:ext cx="1765694" cy="524103"/>
              </a:xfrm>
              <a:prstGeom prst="bentConnector3">
                <a:avLst>
                  <a:gd name="adj1" fmla="val 17967"/>
                </a:avLst>
              </a:prstGeom>
              <a:ln w="57150">
                <a:solidFill>
                  <a:schemeClr val="accent5"/>
                </a:solidFill>
                <a:headEnd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64" name="Straight Arrow Connector 463">
              <a:extLst>
                <a:ext uri="{FF2B5EF4-FFF2-40B4-BE49-F238E27FC236}">
                  <a16:creationId xmlns:a16="http://schemas.microsoft.com/office/drawing/2014/main" id="{0C8CC3BA-B2BE-B33B-7705-D3B855E033AB}"/>
                </a:ext>
              </a:extLst>
            </p:cNvPr>
            <p:cNvCxnSpPr>
              <a:cxnSpLocks/>
            </p:cNvCxnSpPr>
            <p:nvPr/>
          </p:nvCxnSpPr>
          <p:spPr>
            <a:xfrm>
              <a:off x="3370822" y="3685038"/>
              <a:ext cx="1453897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8" name="TextBox 487">
            <a:extLst>
              <a:ext uri="{FF2B5EF4-FFF2-40B4-BE49-F238E27FC236}">
                <a16:creationId xmlns:a16="http://schemas.microsoft.com/office/drawing/2014/main" id="{3B589DC4-47D5-38E2-E7EA-F17129F8742D}"/>
              </a:ext>
            </a:extLst>
          </p:cNvPr>
          <p:cNvSpPr txBox="1"/>
          <p:nvPr/>
        </p:nvSpPr>
        <p:spPr>
          <a:xfrm>
            <a:off x="655210" y="5562420"/>
            <a:ext cx="901272" cy="4863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PCSel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2"/>
                </a:solidFill>
                <a:latin typeface="18 VAG Rounded Light   02390" pitchFamily="2" charset="0"/>
              </a:rPr>
              <a:t>not taken</a:t>
            </a: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757B7913-C1FF-318E-95CB-254E854FED5F}"/>
              </a:ext>
            </a:extLst>
          </p:cNvPr>
          <p:cNvSpPr txBox="1"/>
          <p:nvPr/>
        </p:nvSpPr>
        <p:spPr>
          <a:xfrm>
            <a:off x="4070302" y="5553911"/>
            <a:ext cx="806631" cy="5201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1600" dirty="0">
              <a:solidFill>
                <a:schemeClr val="accent5"/>
              </a:solidFill>
              <a:latin typeface="18 VAG Rounded Light   02390" pitchFamily="2" charset="0"/>
            </a:endParaRPr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B4DE2A9D-F493-447B-4AEA-870E063782C0}"/>
              </a:ext>
            </a:extLst>
          </p:cNvPr>
          <p:cNvSpPr txBox="1"/>
          <p:nvPr/>
        </p:nvSpPr>
        <p:spPr>
          <a:xfrm>
            <a:off x="5335397" y="5556000"/>
            <a:ext cx="885179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RegWEn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dirty="0">
                <a:solidFill>
                  <a:schemeClr val="accent4"/>
                </a:solidFill>
                <a:latin typeface="18 VAG Rounded Light   02390" pitchFamily="2" charset="0"/>
              </a:rPr>
              <a:t>1</a:t>
            </a:r>
          </a:p>
        </p:txBody>
      </p:sp>
      <p:sp>
        <p:nvSpPr>
          <p:cNvPr id="491" name="TextBox 490">
            <a:extLst>
              <a:ext uri="{FF2B5EF4-FFF2-40B4-BE49-F238E27FC236}">
                <a16:creationId xmlns:a16="http://schemas.microsoft.com/office/drawing/2014/main" id="{C8068BEE-FD82-9EAC-5995-5AA4BFFBF4B6}"/>
              </a:ext>
            </a:extLst>
          </p:cNvPr>
          <p:cNvSpPr txBox="1"/>
          <p:nvPr/>
        </p:nvSpPr>
        <p:spPr>
          <a:xfrm>
            <a:off x="6410974" y="5557569"/>
            <a:ext cx="502061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BrUn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*</a:t>
            </a:r>
          </a:p>
        </p:txBody>
      </p:sp>
      <p:sp>
        <p:nvSpPr>
          <p:cNvPr id="492" name="TextBox 491">
            <a:extLst>
              <a:ext uri="{FF2B5EF4-FFF2-40B4-BE49-F238E27FC236}">
                <a16:creationId xmlns:a16="http://schemas.microsoft.com/office/drawing/2014/main" id="{570F9F57-6227-FA34-24E8-0C864A79EBEB}"/>
              </a:ext>
            </a:extLst>
          </p:cNvPr>
          <p:cNvSpPr txBox="1"/>
          <p:nvPr/>
        </p:nvSpPr>
        <p:spPr>
          <a:xfrm>
            <a:off x="7560125" y="5526419"/>
            <a:ext cx="449161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accent5"/>
                </a:solidFill>
                <a:latin typeface="18 VAG Rounded Light   02390" pitchFamily="2" charset="0"/>
              </a:rPr>
              <a:t>1</a:t>
            </a:r>
          </a:p>
        </p:txBody>
      </p:sp>
      <p:sp>
        <p:nvSpPr>
          <p:cNvPr id="493" name="TextBox 492">
            <a:extLst>
              <a:ext uri="{FF2B5EF4-FFF2-40B4-BE49-F238E27FC236}">
                <a16:creationId xmlns:a16="http://schemas.microsoft.com/office/drawing/2014/main" id="{F26886BE-E0B1-AB0E-4901-7C81D33A29D2}"/>
              </a:ext>
            </a:extLst>
          </p:cNvPr>
          <p:cNvSpPr txBox="1"/>
          <p:nvPr/>
        </p:nvSpPr>
        <p:spPr>
          <a:xfrm>
            <a:off x="7955924" y="5518212"/>
            <a:ext cx="460382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ASel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accent1"/>
                </a:solidFill>
                <a:latin typeface="18 VAG Rounded Light   02390" pitchFamily="2" charset="0"/>
              </a:rPr>
              <a:t>0</a:t>
            </a:r>
          </a:p>
        </p:txBody>
      </p:sp>
      <p:sp>
        <p:nvSpPr>
          <p:cNvPr id="494" name="TextBox 493">
            <a:extLst>
              <a:ext uri="{FF2B5EF4-FFF2-40B4-BE49-F238E27FC236}">
                <a16:creationId xmlns:a16="http://schemas.microsoft.com/office/drawing/2014/main" id="{CDAB6FF7-C9FF-1009-B4A1-0D81BB3EC5C9}"/>
              </a:ext>
            </a:extLst>
          </p:cNvPr>
          <p:cNvSpPr txBox="1"/>
          <p:nvPr/>
        </p:nvSpPr>
        <p:spPr>
          <a:xfrm>
            <a:off x="8429817" y="5538557"/>
            <a:ext cx="688971" cy="460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495" name="TextBox 494">
            <a:extLst>
              <a:ext uri="{FF2B5EF4-FFF2-40B4-BE49-F238E27FC236}">
                <a16:creationId xmlns:a16="http://schemas.microsoft.com/office/drawing/2014/main" id="{DF974036-F7AA-1A23-ED44-18CD9BCB200A}"/>
              </a:ext>
            </a:extLst>
          </p:cNvPr>
          <p:cNvSpPr txBox="1"/>
          <p:nvPr/>
        </p:nvSpPr>
        <p:spPr>
          <a:xfrm>
            <a:off x="9282643" y="5557569"/>
            <a:ext cx="827470" cy="460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MemRW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6"/>
                </a:solidFill>
                <a:latin typeface="18 VAG Rounded Light   02390" pitchFamily="2" charset="0"/>
              </a:rPr>
              <a:t>Read</a:t>
            </a:r>
          </a:p>
        </p:txBody>
      </p:sp>
      <p:sp>
        <p:nvSpPr>
          <p:cNvPr id="496" name="TextBox 495">
            <a:extLst>
              <a:ext uri="{FF2B5EF4-FFF2-40B4-BE49-F238E27FC236}">
                <a16:creationId xmlns:a16="http://schemas.microsoft.com/office/drawing/2014/main" id="{CF3BB371-50FE-77D2-D3F5-B9F3A2230242}"/>
              </a:ext>
            </a:extLst>
          </p:cNvPr>
          <p:cNvSpPr txBox="1"/>
          <p:nvPr/>
        </p:nvSpPr>
        <p:spPr>
          <a:xfrm>
            <a:off x="10249476" y="5559045"/>
            <a:ext cx="655950" cy="460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WBSel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4"/>
                </a:solidFill>
                <a:latin typeface="18 VAG Rounded Light   02390" pitchFamily="2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666388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DA946-D2C4-96C5-A61D-D8A096BF4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420B2770-05F1-5A18-B06A-47718BA1F0CD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B30FE35E-5670-E664-E0EA-239EE65D7721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D8A5D697-21AC-C1D6-2D4E-5C4117078968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87B1093B-FDC4-8CC9-FF84-B1BCE71D46DD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514ACB0-490E-61A8-FF52-280A90916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Tracing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dirty="0"/>
              <a:t> Datapath (6/8)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4A1079CE-5998-869A-2C61-4175E05B7F47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08E64A61-4A87-9250-FFFF-0417144AF81C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CCC0AE4F-BFED-76F4-5DF8-FD51ADAF8C10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35693574-D86A-946B-A2D0-01591A4775DF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62C2B3C3-AD20-3534-5AF3-CAF994540117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7C44A758-FF09-1541-E5D5-48D9ABC09C44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D04D6D75-74CE-2912-AEA2-A6A549FD8EF2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D73F7628-161E-943A-6D0B-D79AF116A3D5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70D65DAA-F533-F132-1FBB-04F81E4C36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F899000D-86EB-ABF1-DDAB-7C0FFC9E5D96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4C0FBF82-7C38-645D-54AA-F78891663F1F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4E4FCE51-EE82-44AD-37CD-A03943EBB3E6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8C8EB28A-32FA-E986-A48B-C8DD2AAC44A3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F840C458-9E41-39ED-AB83-59676A5D124B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DB315F78-8BF8-0293-3A76-8619D32D268D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1AA81D82-EEA2-2656-7C6D-123052BD9638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874AD777-7AD4-38FC-53F8-50217DD601FD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D5E48A1D-08E6-C4BC-468F-D80B292E813B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120AA4CF-0FC7-BE4A-0488-3ED13B2B5357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09E27DAB-29BF-2BB2-2D8F-AA36771D212E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9A0F009E-FC8D-B81C-3FCB-8006BA22D7D4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DFCDF179-5282-6240-E93B-F5A88E09E62A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6B96DE65-FB95-169C-6D31-C571D90742D4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B19B7AE1-0463-AB8B-9444-D0437106A8A6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F32D67A5-6070-DFE9-E7E8-9DCA4C6348DD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722E6173-4BB5-1AAB-8A79-375A717C4EBE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0FD7BAED-D493-8323-3089-6E8F6E91834C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087363DA-DBA8-DA8C-9AB0-8F3D8122F706}"/>
              </a:ext>
            </a:extLst>
          </p:cNvPr>
          <p:cNvCxnSpPr>
            <a:stCxn id="457" idx="0"/>
          </p:cNvCxnSpPr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1" name="TextBox 460">
            <a:extLst>
              <a:ext uri="{FF2B5EF4-FFF2-40B4-BE49-F238E27FC236}">
                <a16:creationId xmlns:a16="http://schemas.microsoft.com/office/drawing/2014/main" id="{5DF7B4D2-4DFD-4C70-64FA-26B2D14DB000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B8CDEFAE-7492-B7E1-AB34-CFE9C1A87918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15BD71C4-DBB0-AAA9-8D92-FDE9C3BEC2D6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C50C44D4-722F-2122-EDD5-F0B80165E383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0FF3EA8F-D246-5381-9CA5-4304C9BE94A9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81C0C83E-6DE0-8088-DADB-57E8AD6A88F9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A3F195AC-6C2C-82C9-94B5-52186F31523C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782EDE97-AA7A-AA9D-5CCB-5060C1CC66FD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EC79E2F3-0B1A-D55C-546F-D2965CE51F1C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5A76242D-B501-9B04-969F-D0CC613DE15E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46DE8FDF-5A9E-5B43-1044-62E2E23ED155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19C1F24A-280C-19B3-A5E9-C9037698F7C0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9078AB96-7FDD-F656-B7FF-F2A3E77C36A9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B593363E-86B5-13BE-9DE5-1AA4847A4781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3CD2BA72-7131-044C-733D-B0D08A78A982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A6E999-793B-7410-E442-001A71B3DB2F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2A10755-115B-9C88-229A-F045F6473790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7C5547A-EE8D-7507-275C-62DCBF5A46F0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173B5A8-30ED-A9A7-0788-07BBC9FD7B29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A38E5E5-44FC-DF97-5CE7-26F575609499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8CC71ED-E356-D86E-24B8-7B1E170F4DB5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CB5FF392-BDA9-8C9A-7FDB-FD58F91973E3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0AD905D2-7263-1428-C47B-F68D598338D2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9B12CB0D-99A1-E467-1EA2-FFCBBD9DDDFE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EB9FB101-8D6C-DDDD-EE7D-E264348EAF37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6DF0C006-95AF-6A83-171C-FF36B2EBC870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A0496D43-474D-7B9B-5CB6-67AC8457F785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0BBDD71F-2D78-767D-0E95-5F0D963ED43E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244F12D8-E178-A672-39D8-D2E5E1CC0B4B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024BD360-BA88-A8CD-3C04-033AD0C5D5D8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5B0D4270-318C-E5A5-8713-A368178E9CBF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7C68ACBB-9C4C-DB9F-1862-2D0915BE6EC1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B0A85B83-9D83-3D30-D7A9-72285EC40B83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85BD8B13-BCF5-2FCF-DE69-6E587AF1F5C8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D8E21F2F-D9D8-1D20-0A1E-1B92DD83E985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62A4E6E-42B0-8940-BAF0-FC3194506AFA}"/>
              </a:ext>
            </a:extLst>
          </p:cNvPr>
          <p:cNvGrpSpPr/>
          <p:nvPr/>
        </p:nvGrpSpPr>
        <p:grpSpPr>
          <a:xfrm>
            <a:off x="1780532" y="2965993"/>
            <a:ext cx="673038" cy="703576"/>
            <a:chOff x="1780532" y="2965993"/>
            <a:chExt cx="673038" cy="703576"/>
          </a:xfrm>
        </p:grpSpPr>
        <p:cxnSp>
          <p:nvCxnSpPr>
            <p:cNvPr id="12" name="Elbow Connector 11">
              <a:extLst>
                <a:ext uri="{FF2B5EF4-FFF2-40B4-BE49-F238E27FC236}">
                  <a16:creationId xmlns:a16="http://schemas.microsoft.com/office/drawing/2014/main" id="{7CF3DB47-EAD1-893F-809B-F9B7BDA8F1E1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04C0E9-615C-28D2-DA65-82B66E7FAB35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4D0B230-92BD-1387-C24E-D8491CD854A6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61549C5-8B19-B88F-E17D-DEA9B3FE3D3A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44" name="Elbow Connector 43">
              <a:extLst>
                <a:ext uri="{FF2B5EF4-FFF2-40B4-BE49-F238E27FC236}">
                  <a16:creationId xmlns:a16="http://schemas.microsoft.com/office/drawing/2014/main" id="{B5201000-6AFF-363B-83E2-BAC649C2D2AE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>
              <a:extLst>
                <a:ext uri="{FF2B5EF4-FFF2-40B4-BE49-F238E27FC236}">
                  <a16:creationId xmlns:a16="http://schemas.microsoft.com/office/drawing/2014/main" id="{9FA42935-3042-78F3-AD26-5228B2144754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8B535D12-FACF-B161-7C3A-36729B334394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8B6602C0-339A-E792-62FB-2796DEFF03D2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rapezoid 47">
            <a:extLst>
              <a:ext uri="{FF2B5EF4-FFF2-40B4-BE49-F238E27FC236}">
                <a16:creationId xmlns:a16="http://schemas.microsoft.com/office/drawing/2014/main" id="{18356164-F934-32D9-27A8-9A67EF8E5931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49" name="Trapezoid 48">
            <a:extLst>
              <a:ext uri="{FF2B5EF4-FFF2-40B4-BE49-F238E27FC236}">
                <a16:creationId xmlns:a16="http://schemas.microsoft.com/office/drawing/2014/main" id="{2228DAE0-804F-32A2-DD47-1D6844CCE87C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50" name="Trapezoid 49">
            <a:extLst>
              <a:ext uri="{FF2B5EF4-FFF2-40B4-BE49-F238E27FC236}">
                <a16:creationId xmlns:a16="http://schemas.microsoft.com/office/drawing/2014/main" id="{CD99E5EB-31B3-324F-FBDD-FE49DE28B682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61EF47C9-086E-F6EF-34C3-C03CF9DD42B3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5E6EBE0-F06D-6052-D84E-AC6C556DF393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5A62C51-5691-59F3-B50E-FB3D7E707AAD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DACC4B2-FF3C-D162-E43C-FEBF7A4E69D4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A5EC103C-EF32-C0E7-E9B1-848A4D25F6AA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9AD01B5D-F86D-E4AE-6CD3-2B383F78C84D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4" name="Elbow Connector 53">
                  <a:extLst>
                    <a:ext uri="{FF2B5EF4-FFF2-40B4-BE49-F238E27FC236}">
                      <a16:creationId xmlns:a16="http://schemas.microsoft.com/office/drawing/2014/main" id="{6DA8390B-6D88-1908-8E17-AB6486DEE9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68143B6D-5D90-EAF1-F5CF-BBD51986D4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8B015C89-86A2-C8C6-9061-901BCDC32C5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66B570D-D84E-26F7-84D5-78BF135065C5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36A7B12-B6C5-6F9B-D8A3-C664A2866BF7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14E8D44-DD17-561B-43BE-31E27FDC731F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chemeClr val="tx1">
                <a:alpha val="67000"/>
              </a:schemeClr>
            </a:glow>
          </a:effectLst>
        </p:grpSpPr>
        <p:cxnSp>
          <p:nvCxnSpPr>
            <p:cNvPr id="6" name="Elbow Connector 5">
              <a:extLst>
                <a:ext uri="{FF2B5EF4-FFF2-40B4-BE49-F238E27FC236}">
                  <a16:creationId xmlns:a16="http://schemas.microsoft.com/office/drawing/2014/main" id="{7E5FDB8F-E857-D16F-9954-98A06E93DF1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8F67E7F-C80D-EDB5-A508-198ECEB80E5A}"/>
                </a:ext>
              </a:extLst>
            </p:cNvPr>
            <p:cNvCxnSpPr>
              <a:cxnSpLocks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DEDC1322-4B85-FCF7-D91B-56E3C2E1D9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89E271A7-024A-22A1-CAD3-8F3A450DA84E}"/>
              </a:ext>
            </a:extLst>
          </p:cNvPr>
          <p:cNvGrpSpPr/>
          <p:nvPr/>
        </p:nvGrpSpPr>
        <p:grpSpPr>
          <a:xfrm>
            <a:off x="10549378" y="2970605"/>
            <a:ext cx="267680" cy="873172"/>
            <a:chOff x="10468098" y="2970605"/>
            <a:chExt cx="267680" cy="873172"/>
          </a:xfrm>
        </p:grpSpPr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CCC93B80-6241-50F4-A173-66E7333DAEE7}"/>
                </a:ext>
              </a:extLst>
            </p:cNvPr>
            <p:cNvSpPr/>
            <p:nvPr/>
          </p:nvSpPr>
          <p:spPr>
            <a:xfrm>
              <a:off x="10468098" y="3076083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ECB8DE8F-BEEF-1863-FB6B-C32D68D18922}"/>
                </a:ext>
              </a:extLst>
            </p:cNvPr>
            <p:cNvSpPr/>
            <p:nvPr/>
          </p:nvSpPr>
          <p:spPr>
            <a:xfrm>
              <a:off x="10468098" y="3321131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09CA813E-5DCD-D76A-9B98-306B7A12366A}"/>
                </a:ext>
              </a:extLst>
            </p:cNvPr>
            <p:cNvSpPr/>
            <p:nvPr/>
          </p:nvSpPr>
          <p:spPr>
            <a:xfrm>
              <a:off x="10468098" y="3584336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23" name="Trapezoid 322">
              <a:extLst>
                <a:ext uri="{FF2B5EF4-FFF2-40B4-BE49-F238E27FC236}">
                  <a16:creationId xmlns:a16="http://schemas.microsoft.com/office/drawing/2014/main" id="{C4775D1B-98A0-CA5B-E712-FE74BC223ACC}"/>
                </a:ext>
              </a:extLst>
            </p:cNvPr>
            <p:cNvSpPr/>
            <p:nvPr/>
          </p:nvSpPr>
          <p:spPr>
            <a:xfrm rot="5400000">
              <a:off x="10165352" y="3273351"/>
              <a:ext cx="873172" cy="267680"/>
            </a:xfrm>
            <a:prstGeom prst="trapezoid">
              <a:avLst>
                <a:gd name="adj" fmla="val 62818"/>
              </a:avLst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521F86E2-C96F-236B-B54C-A59A76D68430}"/>
              </a:ext>
            </a:extLst>
          </p:cNvPr>
          <p:cNvSpPr txBox="1"/>
          <p:nvPr/>
        </p:nvSpPr>
        <p:spPr>
          <a:xfrm>
            <a:off x="293424" y="1063996"/>
            <a:ext cx="263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BC49B88-B81E-4961-BA91-74A4C86E6FBA}"/>
              </a:ext>
            </a:extLst>
          </p:cNvPr>
          <p:cNvGrpSpPr/>
          <p:nvPr/>
        </p:nvGrpSpPr>
        <p:grpSpPr>
          <a:xfrm>
            <a:off x="668759" y="2260284"/>
            <a:ext cx="2699311" cy="1670895"/>
            <a:chOff x="668759" y="2260284"/>
            <a:chExt cx="2699311" cy="167089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0BB6EE79-71CA-B4F5-8A17-49AFF72AAF6B}"/>
                </a:ext>
              </a:extLst>
            </p:cNvPr>
            <p:cNvGrpSpPr/>
            <p:nvPr/>
          </p:nvGrpSpPr>
          <p:grpSpPr>
            <a:xfrm>
              <a:off x="668759" y="2260284"/>
              <a:ext cx="2699311" cy="1670895"/>
              <a:chOff x="668759" y="2260284"/>
              <a:chExt cx="2699311" cy="1670895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98A97F5-111D-AA50-CF94-A83553D20F11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F15C3935-11B0-4DBB-1B30-68AD8BC26E3F}"/>
                  </a:ext>
                </a:extLst>
              </p:cNvPr>
              <p:cNvGrpSpPr/>
              <p:nvPr/>
            </p:nvGrpSpPr>
            <p:grpSpPr>
              <a:xfrm>
                <a:off x="668759" y="2260284"/>
                <a:ext cx="2699311" cy="1409285"/>
                <a:chOff x="668759" y="2260284"/>
                <a:chExt cx="2699311" cy="1409285"/>
              </a:xfr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B06CE1A3-CB9E-2D19-7519-411D5E3373F4}"/>
                    </a:ext>
                  </a:extLst>
                </p:cNvPr>
                <p:cNvGrpSpPr/>
                <p:nvPr/>
              </p:nvGrpSpPr>
              <p:grpSpPr>
                <a:xfrm>
                  <a:off x="668759" y="2260284"/>
                  <a:ext cx="2699311" cy="1409285"/>
                  <a:chOff x="668759" y="2260284"/>
                  <a:chExt cx="2699311" cy="1409285"/>
                </a:xfrm>
              </p:grpSpPr>
              <p:cxnSp>
                <p:nvCxnSpPr>
                  <p:cNvPr id="58" name="Straight Arrow Connector 57">
                    <a:extLst>
                      <a:ext uri="{FF2B5EF4-FFF2-40B4-BE49-F238E27FC236}">
                        <a16:creationId xmlns:a16="http://schemas.microsoft.com/office/drawing/2014/main" id="{F6BAF134-19C6-6B34-E813-F506C8741F0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70363" y="3643964"/>
                    <a:ext cx="274320" cy="0"/>
                  </a:xfrm>
                  <a:prstGeom prst="straightConnector1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59" name="Group 58">
                    <a:extLst>
                      <a:ext uri="{FF2B5EF4-FFF2-40B4-BE49-F238E27FC236}">
                        <a16:creationId xmlns:a16="http://schemas.microsoft.com/office/drawing/2014/main" id="{BEB7B8F7-A9ED-10E4-6B1E-2921541070B0}"/>
                      </a:ext>
                    </a:extLst>
                  </p:cNvPr>
                  <p:cNvGrpSpPr/>
                  <p:nvPr/>
                </p:nvGrpSpPr>
                <p:grpSpPr>
                  <a:xfrm>
                    <a:off x="1780532" y="2965993"/>
                    <a:ext cx="673038" cy="703576"/>
                    <a:chOff x="1780532" y="2965993"/>
                    <a:chExt cx="673038" cy="703576"/>
                  </a:xfrm>
                </p:grpSpPr>
                <p:cxnSp>
                  <p:nvCxnSpPr>
                    <p:cNvPr id="63" name="Elbow Connector 62">
                      <a:extLst>
                        <a:ext uri="{FF2B5EF4-FFF2-40B4-BE49-F238E27FC236}">
                          <a16:creationId xmlns:a16="http://schemas.microsoft.com/office/drawing/2014/main" id="{3F957B86-8185-2359-CDEC-E51598415B2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H="1" flipV="1">
                      <a:off x="1830481" y="3046480"/>
                      <a:ext cx="703576" cy="542602"/>
                    </a:xfrm>
                    <a:prstGeom prst="bentConnector3">
                      <a:avLst>
                        <a:gd name="adj1" fmla="val 100542"/>
                      </a:avLst>
                    </a:prstGeom>
                    <a:ln w="57150">
                      <a:solidFill>
                        <a:schemeClr val="accent2"/>
                      </a:solidFill>
                      <a:headEnd type="oval" w="sm" len="sm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0" name="Straight Connector 449">
                      <a:extLst>
                        <a:ext uri="{FF2B5EF4-FFF2-40B4-BE49-F238E27FC236}">
                          <a16:creationId xmlns:a16="http://schemas.microsoft.com/office/drawing/2014/main" id="{44F96D29-53DF-56CE-1A57-5EA4DC49CCE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80532" y="3655540"/>
                      <a:ext cx="130436" cy="0"/>
                    </a:xfrm>
                    <a:prstGeom prst="line">
                      <a:avLst/>
                    </a:prstGeom>
                    <a:ln w="57150">
                      <a:solidFill>
                        <a:schemeClr val="accent2"/>
                      </a:solidFill>
                      <a:tailEnd type="non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980E9CCB-DF0E-03A1-7CC7-CAD4319974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68759" y="2260284"/>
                    <a:ext cx="2697480" cy="1985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headEnd w="sm" len="sm"/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Elbow Connector 60">
                    <a:extLst>
                      <a:ext uri="{FF2B5EF4-FFF2-40B4-BE49-F238E27FC236}">
                        <a16:creationId xmlns:a16="http://schemas.microsoft.com/office/drawing/2014/main" id="{981569B2-DE17-64FB-B17E-CFA1D14C5C1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2993946" y="2363686"/>
                    <a:ext cx="477525" cy="270723"/>
                  </a:xfrm>
                  <a:prstGeom prst="bentConnector3">
                    <a:avLst>
                      <a:gd name="adj1" fmla="val -5318"/>
                    </a:avLst>
                  </a:prstGeom>
                  <a:ln w="57150">
                    <a:solidFill>
                      <a:schemeClr val="accent2"/>
                    </a:solidFill>
                    <a:headEnd w="sm" len="sm"/>
                    <a:tailEnd type="oval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Elbow Connector 61">
                    <a:extLst>
                      <a:ext uri="{FF2B5EF4-FFF2-40B4-BE49-F238E27FC236}">
                        <a16:creationId xmlns:a16="http://schemas.microsoft.com/office/drawing/2014/main" id="{B529EE75-87C6-5D28-F7F7-0126712DF42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191279" y="2758010"/>
                    <a:ext cx="1230930" cy="235480"/>
                  </a:xfrm>
                  <a:prstGeom prst="bentConnector2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7" name="Freeform 56">
                  <a:extLst>
                    <a:ext uri="{FF2B5EF4-FFF2-40B4-BE49-F238E27FC236}">
                      <a16:creationId xmlns:a16="http://schemas.microsoft.com/office/drawing/2014/main" id="{BAA19DBC-5125-6AFD-B77C-FCD07F4D5066}"/>
                    </a:ext>
                  </a:extLst>
                </p:cNvPr>
                <p:cNvSpPr/>
                <p:nvPr/>
              </p:nvSpPr>
              <p:spPr>
                <a:xfrm flipV="1">
                  <a:off x="881793" y="3462503"/>
                  <a:ext cx="405114" cy="183691"/>
                </a:xfrm>
                <a:custGeom>
                  <a:avLst/>
                  <a:gdLst>
                    <a:gd name="connsiteX0" fmla="*/ 0 w 405114"/>
                    <a:gd name="connsiteY0" fmla="*/ 150471 h 162045"/>
                    <a:gd name="connsiteX1" fmla="*/ 57873 w 405114"/>
                    <a:gd name="connsiteY1" fmla="*/ 162045 h 162045"/>
                    <a:gd name="connsiteX2" fmla="*/ 104172 w 405114"/>
                    <a:gd name="connsiteY2" fmla="*/ 150471 h 162045"/>
                    <a:gd name="connsiteX3" fmla="*/ 208344 w 405114"/>
                    <a:gd name="connsiteY3" fmla="*/ 92597 h 162045"/>
                    <a:gd name="connsiteX4" fmla="*/ 254643 w 405114"/>
                    <a:gd name="connsiteY4" fmla="*/ 46298 h 162045"/>
                    <a:gd name="connsiteX5" fmla="*/ 358815 w 405114"/>
                    <a:gd name="connsiteY5" fmla="*/ 0 h 162045"/>
                    <a:gd name="connsiteX6" fmla="*/ 405114 w 405114"/>
                    <a:gd name="connsiteY6" fmla="*/ 0 h 1620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05114" h="162045">
                      <a:moveTo>
                        <a:pt x="0" y="150471"/>
                      </a:moveTo>
                      <a:cubicBezTo>
                        <a:pt x="19291" y="154329"/>
                        <a:pt x="38200" y="162045"/>
                        <a:pt x="57873" y="162045"/>
                      </a:cubicBezTo>
                      <a:cubicBezTo>
                        <a:pt x="73781" y="162045"/>
                        <a:pt x="88876" y="154841"/>
                        <a:pt x="104172" y="150471"/>
                      </a:cubicBezTo>
                      <a:cubicBezTo>
                        <a:pt x="144925" y="138827"/>
                        <a:pt x="175184" y="125757"/>
                        <a:pt x="208344" y="92597"/>
                      </a:cubicBezTo>
                      <a:cubicBezTo>
                        <a:pt x="223777" y="77164"/>
                        <a:pt x="236483" y="58405"/>
                        <a:pt x="254643" y="46298"/>
                      </a:cubicBezTo>
                      <a:cubicBezTo>
                        <a:pt x="286113" y="25318"/>
                        <a:pt x="317492" y="0"/>
                        <a:pt x="358815" y="0"/>
                      </a:cubicBezTo>
                      <a:lnTo>
                        <a:pt x="405114" y="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C6EBE1B6-8F96-F869-6D16-8E612A619F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381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3" name="TextBox 462">
            <a:extLst>
              <a:ext uri="{FF2B5EF4-FFF2-40B4-BE49-F238E27FC236}">
                <a16:creationId xmlns:a16="http://schemas.microsoft.com/office/drawing/2014/main" id="{0CDA05D8-040E-6DB0-B1C9-D49C757356CA}"/>
              </a:ext>
            </a:extLst>
          </p:cNvPr>
          <p:cNvSpPr txBox="1"/>
          <p:nvPr/>
        </p:nvSpPr>
        <p:spPr>
          <a:xfrm>
            <a:off x="3486169" y="1063996"/>
            <a:ext cx="2831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Generate </a:t>
            </a:r>
            <a:r>
              <a:rPr lang="en-US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 with upper 12 bits. (I-Type)</a:t>
            </a:r>
          </a:p>
        </p:txBody>
      </p:sp>
      <p:grpSp>
        <p:nvGrpSpPr>
          <p:cNvPr id="467" name="Group 466">
            <a:extLst>
              <a:ext uri="{FF2B5EF4-FFF2-40B4-BE49-F238E27FC236}">
                <a16:creationId xmlns:a16="http://schemas.microsoft.com/office/drawing/2014/main" id="{A9007702-AA12-D277-E6B8-0F2E49EE5AD3}"/>
              </a:ext>
            </a:extLst>
          </p:cNvPr>
          <p:cNvGrpSpPr/>
          <p:nvPr/>
        </p:nvGrpSpPr>
        <p:grpSpPr>
          <a:xfrm>
            <a:off x="3062789" y="3429000"/>
            <a:ext cx="4683138" cy="2117475"/>
            <a:chOff x="3062789" y="3429000"/>
            <a:chExt cx="4683138" cy="2117475"/>
          </a:xfrm>
        </p:grpSpPr>
        <p:grpSp>
          <p:nvGrpSpPr>
            <p:cNvPr id="451" name="Group 450">
              <a:extLst>
                <a:ext uri="{FF2B5EF4-FFF2-40B4-BE49-F238E27FC236}">
                  <a16:creationId xmlns:a16="http://schemas.microsoft.com/office/drawing/2014/main" id="{8AD4F305-FE8B-0275-EFD8-1497EA12AF1A}"/>
                </a:ext>
              </a:extLst>
            </p:cNvPr>
            <p:cNvGrpSpPr/>
            <p:nvPr/>
          </p:nvGrpSpPr>
          <p:grpSpPr>
            <a:xfrm>
              <a:off x="3062789" y="3429000"/>
              <a:ext cx="4683138" cy="2117475"/>
              <a:chOff x="3062789" y="3429000"/>
              <a:chExt cx="4683138" cy="2117475"/>
            </a:xfrm>
          </p:grpSpPr>
          <p:grpSp>
            <p:nvGrpSpPr>
              <p:cNvPr id="452" name="Group 451">
                <a:extLst>
                  <a:ext uri="{FF2B5EF4-FFF2-40B4-BE49-F238E27FC236}">
                    <a16:creationId xmlns:a16="http://schemas.microsoft.com/office/drawing/2014/main" id="{363CA005-1155-64AF-53EC-BD9A11FE12F5}"/>
                  </a:ext>
                </a:extLst>
              </p:cNvPr>
              <p:cNvGrpSpPr/>
              <p:nvPr/>
            </p:nvGrpSpPr>
            <p:grpSpPr>
              <a:xfrm>
                <a:off x="3191223" y="3971033"/>
                <a:ext cx="4554704" cy="1575442"/>
                <a:chOff x="3191225" y="3962068"/>
                <a:chExt cx="4554704" cy="1575442"/>
              </a:xfrm>
            </p:grpSpPr>
            <p:cxnSp>
              <p:nvCxnSpPr>
                <p:cNvPr id="455" name="Straight Arrow Connector 454">
                  <a:extLst>
                    <a:ext uri="{FF2B5EF4-FFF2-40B4-BE49-F238E27FC236}">
                      <a16:creationId xmlns:a16="http://schemas.microsoft.com/office/drawing/2014/main" id="{CCD45A41-CD1D-78EB-FC19-0DCA937B7B18}"/>
                    </a:ext>
                  </a:extLst>
                </p:cNvPr>
                <p:cNvCxnSpPr/>
                <p:nvPr/>
              </p:nvCxnSpPr>
              <p:spPr>
                <a:xfrm>
                  <a:off x="3193946" y="3962068"/>
                  <a:ext cx="0" cy="1575442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9" name="Straight Arrow Connector 458">
                  <a:extLst>
                    <a:ext uri="{FF2B5EF4-FFF2-40B4-BE49-F238E27FC236}">
                      <a16:creationId xmlns:a16="http://schemas.microsoft.com/office/drawing/2014/main" id="{D3720C7C-8A0F-D5C3-4E2E-F7438478B3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91225" y="5015025"/>
                  <a:ext cx="932688" cy="0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0" name="Elbow Connector 459">
                  <a:extLst>
                    <a:ext uri="{FF2B5EF4-FFF2-40B4-BE49-F238E27FC236}">
                      <a16:creationId xmlns:a16="http://schemas.microsoft.com/office/drawing/2014/main" id="{22B06DB4-6ABD-E8AD-FA9F-09EA08D2BE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4808959" y="4530234"/>
                  <a:ext cx="2936970" cy="596712"/>
                </a:xfrm>
                <a:prstGeom prst="bentConnector3">
                  <a:avLst>
                    <a:gd name="adj1" fmla="val 92537"/>
                  </a:avLst>
                </a:prstGeom>
                <a:ln w="57150">
                  <a:solidFill>
                    <a:schemeClr val="accent5"/>
                  </a:solidFill>
                  <a:tailEnd type="triangle" w="med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53" name="Elbow Connector 452">
                <a:extLst>
                  <a:ext uri="{FF2B5EF4-FFF2-40B4-BE49-F238E27FC236}">
                    <a16:creationId xmlns:a16="http://schemas.microsoft.com/office/drawing/2014/main" id="{156EED24-27F1-7930-3789-892B5CBAEA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62789" y="3429000"/>
                <a:ext cx="1765694" cy="524103"/>
              </a:xfrm>
              <a:prstGeom prst="bentConnector3">
                <a:avLst>
                  <a:gd name="adj1" fmla="val 17967"/>
                </a:avLst>
              </a:prstGeom>
              <a:ln w="57150">
                <a:solidFill>
                  <a:schemeClr val="accent5"/>
                </a:solidFill>
                <a:headEnd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64" name="Straight Arrow Connector 463">
              <a:extLst>
                <a:ext uri="{FF2B5EF4-FFF2-40B4-BE49-F238E27FC236}">
                  <a16:creationId xmlns:a16="http://schemas.microsoft.com/office/drawing/2014/main" id="{7C6B6417-6249-30DC-B9B7-B81461C10F3C}"/>
                </a:ext>
              </a:extLst>
            </p:cNvPr>
            <p:cNvCxnSpPr>
              <a:cxnSpLocks/>
            </p:cNvCxnSpPr>
            <p:nvPr/>
          </p:nvCxnSpPr>
          <p:spPr>
            <a:xfrm>
              <a:off x="3370822" y="3685038"/>
              <a:ext cx="1453897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8" name="Group 467">
            <a:extLst>
              <a:ext uri="{FF2B5EF4-FFF2-40B4-BE49-F238E27FC236}">
                <a16:creationId xmlns:a16="http://schemas.microsoft.com/office/drawing/2014/main" id="{7B03F278-E423-77E4-C18E-DEC737E1FE61}"/>
              </a:ext>
            </a:extLst>
          </p:cNvPr>
          <p:cNvGrpSpPr/>
          <p:nvPr/>
        </p:nvGrpSpPr>
        <p:grpSpPr>
          <a:xfrm>
            <a:off x="7709119" y="3666625"/>
            <a:ext cx="585916" cy="88926"/>
            <a:chOff x="7709119" y="3666625"/>
            <a:chExt cx="585916" cy="88926"/>
          </a:xfrm>
        </p:grpSpPr>
        <p:cxnSp>
          <p:nvCxnSpPr>
            <p:cNvPr id="470" name="Straight Arrow Connector 469">
              <a:extLst>
                <a:ext uri="{FF2B5EF4-FFF2-40B4-BE49-F238E27FC236}">
                  <a16:creationId xmlns:a16="http://schemas.microsoft.com/office/drawing/2014/main" id="{FE6E8280-419D-C7CC-65C0-5EDCA556EF08}"/>
                </a:ext>
              </a:extLst>
            </p:cNvPr>
            <p:cNvCxnSpPr>
              <a:cxnSpLocks/>
            </p:cNvCxnSpPr>
            <p:nvPr/>
          </p:nvCxnSpPr>
          <p:spPr>
            <a:xfrm>
              <a:off x="7993283" y="3671810"/>
              <a:ext cx="301752" cy="149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1" name="Freeform 470">
              <a:extLst>
                <a:ext uri="{FF2B5EF4-FFF2-40B4-BE49-F238E27FC236}">
                  <a16:creationId xmlns:a16="http://schemas.microsoft.com/office/drawing/2014/main" id="{94B5F95D-5792-CCC1-3141-A5783D7E3E28}"/>
                </a:ext>
              </a:extLst>
            </p:cNvPr>
            <p:cNvSpPr/>
            <p:nvPr/>
          </p:nvSpPr>
          <p:spPr>
            <a:xfrm flipV="1">
              <a:off x="7709119" y="3666625"/>
              <a:ext cx="310910" cy="88926"/>
            </a:xfrm>
            <a:custGeom>
              <a:avLst/>
              <a:gdLst>
                <a:gd name="connsiteX0" fmla="*/ 0 w 532436"/>
                <a:gd name="connsiteY0" fmla="*/ 0 h 219937"/>
                <a:gd name="connsiteX1" fmla="*/ 57874 w 532436"/>
                <a:gd name="connsiteY1" fmla="*/ 23150 h 219937"/>
                <a:gd name="connsiteX2" fmla="*/ 127322 w 532436"/>
                <a:gd name="connsiteY2" fmla="*/ 34724 h 219937"/>
                <a:gd name="connsiteX3" fmla="*/ 208344 w 532436"/>
                <a:gd name="connsiteY3" fmla="*/ 57874 h 219937"/>
                <a:gd name="connsiteX4" fmla="*/ 231494 w 532436"/>
                <a:gd name="connsiteY4" fmla="*/ 81023 h 219937"/>
                <a:gd name="connsiteX5" fmla="*/ 300942 w 532436"/>
                <a:gd name="connsiteY5" fmla="*/ 127322 h 219937"/>
                <a:gd name="connsiteX6" fmla="*/ 324091 w 532436"/>
                <a:gd name="connsiteY6" fmla="*/ 162046 h 219937"/>
                <a:gd name="connsiteX7" fmla="*/ 393539 w 532436"/>
                <a:gd name="connsiteY7" fmla="*/ 185195 h 219937"/>
                <a:gd name="connsiteX8" fmla="*/ 416689 w 532436"/>
                <a:gd name="connsiteY8" fmla="*/ 208345 h 219937"/>
                <a:gd name="connsiteX9" fmla="*/ 497712 w 532436"/>
                <a:gd name="connsiteY9" fmla="*/ 208345 h 219937"/>
                <a:gd name="connsiteX10" fmla="*/ 532436 w 532436"/>
                <a:gd name="connsiteY10" fmla="*/ 173621 h 219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32436" h="219937">
                  <a:moveTo>
                    <a:pt x="0" y="0"/>
                  </a:moveTo>
                  <a:cubicBezTo>
                    <a:pt x="19291" y="7717"/>
                    <a:pt x="37829" y="17683"/>
                    <a:pt x="57874" y="23150"/>
                  </a:cubicBezTo>
                  <a:cubicBezTo>
                    <a:pt x="80516" y="29325"/>
                    <a:pt x="104309" y="30121"/>
                    <a:pt x="127322" y="34724"/>
                  </a:cubicBezTo>
                  <a:cubicBezTo>
                    <a:pt x="163652" y="41990"/>
                    <a:pt x="175252" y="46843"/>
                    <a:pt x="208344" y="57874"/>
                  </a:cubicBezTo>
                  <a:cubicBezTo>
                    <a:pt x="216061" y="65590"/>
                    <a:pt x="222764" y="74475"/>
                    <a:pt x="231494" y="81023"/>
                  </a:cubicBezTo>
                  <a:cubicBezTo>
                    <a:pt x="253752" y="97716"/>
                    <a:pt x="300942" y="127322"/>
                    <a:pt x="300942" y="127322"/>
                  </a:cubicBezTo>
                  <a:cubicBezTo>
                    <a:pt x="308658" y="138897"/>
                    <a:pt x="312295" y="154673"/>
                    <a:pt x="324091" y="162046"/>
                  </a:cubicBezTo>
                  <a:cubicBezTo>
                    <a:pt x="344783" y="174979"/>
                    <a:pt x="393539" y="185195"/>
                    <a:pt x="393539" y="185195"/>
                  </a:cubicBezTo>
                  <a:cubicBezTo>
                    <a:pt x="401256" y="192912"/>
                    <a:pt x="407331" y="202730"/>
                    <a:pt x="416689" y="208345"/>
                  </a:cubicBezTo>
                  <a:cubicBezTo>
                    <a:pt x="450875" y="228856"/>
                    <a:pt x="459955" y="217784"/>
                    <a:pt x="497712" y="208345"/>
                  </a:cubicBezTo>
                  <a:lnTo>
                    <a:pt x="532436" y="173621"/>
                  </a:lnTo>
                </a:path>
              </a:pathLst>
            </a:custGeom>
            <a:noFill/>
            <a:ln w="571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2E1C7307-A5DD-CED1-4423-BF4FF21FCB17}"/>
              </a:ext>
            </a:extLst>
          </p:cNvPr>
          <p:cNvGrpSpPr/>
          <p:nvPr/>
        </p:nvGrpSpPr>
        <p:grpSpPr>
          <a:xfrm>
            <a:off x="6249574" y="3670874"/>
            <a:ext cx="1513202" cy="94632"/>
            <a:chOff x="6249574" y="3681034"/>
            <a:chExt cx="1513202" cy="94632"/>
          </a:xfrm>
        </p:grpSpPr>
        <p:cxnSp>
          <p:nvCxnSpPr>
            <p:cNvPr id="480" name="Elbow Connector 479">
              <a:extLst>
                <a:ext uri="{FF2B5EF4-FFF2-40B4-BE49-F238E27FC236}">
                  <a16:creationId xmlns:a16="http://schemas.microsoft.com/office/drawing/2014/main" id="{135D3F16-1D5D-1A94-66EB-5B9FF760BA3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031628" y="3044518"/>
              <a:ext cx="94632" cy="1367664"/>
            </a:xfrm>
            <a:prstGeom prst="bentConnector4">
              <a:avLst>
                <a:gd name="adj1" fmla="val -456294"/>
                <a:gd name="adj2" fmla="val 76963"/>
              </a:avLst>
            </a:prstGeom>
            <a:ln w="57150">
              <a:solidFill>
                <a:schemeClr val="accent1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>
              <a:extLst>
                <a:ext uri="{FF2B5EF4-FFF2-40B4-BE49-F238E27FC236}">
                  <a16:creationId xmlns:a16="http://schemas.microsoft.com/office/drawing/2014/main" id="{868B3106-AEAA-C68E-18A8-E159DE6D05BB}"/>
                </a:ext>
              </a:extLst>
            </p:cNvPr>
            <p:cNvCxnSpPr/>
            <p:nvPr/>
          </p:nvCxnSpPr>
          <p:spPr>
            <a:xfrm flipH="1" flipV="1">
              <a:off x="6249574" y="3687560"/>
              <a:ext cx="121965" cy="0"/>
            </a:xfrm>
            <a:prstGeom prst="line">
              <a:avLst/>
            </a:prstGeom>
            <a:ln w="571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2" name="Group 481">
            <a:extLst>
              <a:ext uri="{FF2B5EF4-FFF2-40B4-BE49-F238E27FC236}">
                <a16:creationId xmlns:a16="http://schemas.microsoft.com/office/drawing/2014/main" id="{33DA58BE-6C4E-43DC-41BC-E1D9A85FE4DA}"/>
              </a:ext>
            </a:extLst>
          </p:cNvPr>
          <p:cNvGrpSpPr/>
          <p:nvPr/>
        </p:nvGrpSpPr>
        <p:grpSpPr>
          <a:xfrm>
            <a:off x="7685590" y="4427042"/>
            <a:ext cx="599285" cy="120728"/>
            <a:chOff x="7685590" y="4427042"/>
            <a:chExt cx="599285" cy="120728"/>
          </a:xfrm>
        </p:grpSpPr>
        <p:cxnSp>
          <p:nvCxnSpPr>
            <p:cNvPr id="483" name="Straight Arrow Connector 482">
              <a:extLst>
                <a:ext uri="{FF2B5EF4-FFF2-40B4-BE49-F238E27FC236}">
                  <a16:creationId xmlns:a16="http://schemas.microsoft.com/office/drawing/2014/main" id="{A5CD9232-9E2E-3A06-AC02-8E7C9585FE9F}"/>
                </a:ext>
              </a:extLst>
            </p:cNvPr>
            <p:cNvCxnSpPr>
              <a:cxnSpLocks/>
            </p:cNvCxnSpPr>
            <p:nvPr/>
          </p:nvCxnSpPr>
          <p:spPr>
            <a:xfrm>
              <a:off x="7983123" y="4427042"/>
              <a:ext cx="301752" cy="1490"/>
            </a:xfrm>
            <a:prstGeom prst="straightConnector1">
              <a:avLst/>
            </a:prstGeom>
            <a:ln w="57150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4" name="Freeform 483">
              <a:extLst>
                <a:ext uri="{FF2B5EF4-FFF2-40B4-BE49-F238E27FC236}">
                  <a16:creationId xmlns:a16="http://schemas.microsoft.com/office/drawing/2014/main" id="{3773597B-370A-0C12-DA98-0AEAF02BF820}"/>
                </a:ext>
              </a:extLst>
            </p:cNvPr>
            <p:cNvSpPr/>
            <p:nvPr/>
          </p:nvSpPr>
          <p:spPr>
            <a:xfrm>
              <a:off x="7685590" y="4433105"/>
              <a:ext cx="405114" cy="114665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5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5" name="TextBox 484">
            <a:extLst>
              <a:ext uri="{FF2B5EF4-FFF2-40B4-BE49-F238E27FC236}">
                <a16:creationId xmlns:a16="http://schemas.microsoft.com/office/drawing/2014/main" id="{DBD56C88-85EF-8427-B558-56BE34BD50A7}"/>
              </a:ext>
            </a:extLst>
          </p:cNvPr>
          <p:cNvSpPr txBox="1"/>
          <p:nvPr/>
        </p:nvSpPr>
        <p:spPr>
          <a:xfrm>
            <a:off x="6277443" y="1060450"/>
            <a:ext cx="2541732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ALU computes</a:t>
            </a:r>
            <a:b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</a:b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address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alu =</a:t>
            </a:r>
            <a:b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R[rs1] + </a:t>
            </a:r>
            <a:r>
              <a:rPr lang="en-US" sz="18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8179AE2F-4444-396C-968D-C778D9AF02AD}"/>
              </a:ext>
            </a:extLst>
          </p:cNvPr>
          <p:cNvSpPr txBox="1"/>
          <p:nvPr/>
        </p:nvSpPr>
        <p:spPr>
          <a:xfrm>
            <a:off x="655210" y="5562420"/>
            <a:ext cx="901272" cy="4863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PCSel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2"/>
                </a:solidFill>
                <a:latin typeface="18 VAG Rounded Light   02390" pitchFamily="2" charset="0"/>
              </a:rPr>
              <a:t>not taken</a:t>
            </a: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7BA76253-5A75-DB4F-8E2C-FAC1ADB5B79C}"/>
              </a:ext>
            </a:extLst>
          </p:cNvPr>
          <p:cNvSpPr txBox="1"/>
          <p:nvPr/>
        </p:nvSpPr>
        <p:spPr>
          <a:xfrm>
            <a:off x="4070302" y="5553911"/>
            <a:ext cx="806631" cy="5201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1600" dirty="0">
              <a:solidFill>
                <a:schemeClr val="accent5"/>
              </a:solidFill>
              <a:latin typeface="18 VAG Rounded Light   02390" pitchFamily="2" charset="0"/>
            </a:endParaRPr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073B7BD6-348E-0E24-A064-06F1A017FF7C}"/>
              </a:ext>
            </a:extLst>
          </p:cNvPr>
          <p:cNvSpPr txBox="1"/>
          <p:nvPr/>
        </p:nvSpPr>
        <p:spPr>
          <a:xfrm>
            <a:off x="5335397" y="5556000"/>
            <a:ext cx="885179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RegWEn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dirty="0">
                <a:solidFill>
                  <a:schemeClr val="accent4"/>
                </a:solidFill>
                <a:latin typeface="18 VAG Rounded Light   02390" pitchFamily="2" charset="0"/>
              </a:rPr>
              <a:t>1</a:t>
            </a:r>
          </a:p>
        </p:txBody>
      </p:sp>
      <p:sp>
        <p:nvSpPr>
          <p:cNvPr id="491" name="TextBox 490">
            <a:extLst>
              <a:ext uri="{FF2B5EF4-FFF2-40B4-BE49-F238E27FC236}">
                <a16:creationId xmlns:a16="http://schemas.microsoft.com/office/drawing/2014/main" id="{137223FE-9416-47EC-A476-6CFB8D0DB944}"/>
              </a:ext>
            </a:extLst>
          </p:cNvPr>
          <p:cNvSpPr txBox="1"/>
          <p:nvPr/>
        </p:nvSpPr>
        <p:spPr>
          <a:xfrm>
            <a:off x="6410974" y="5557569"/>
            <a:ext cx="502061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BrUn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*</a:t>
            </a:r>
          </a:p>
        </p:txBody>
      </p:sp>
      <p:sp>
        <p:nvSpPr>
          <p:cNvPr id="492" name="TextBox 491">
            <a:extLst>
              <a:ext uri="{FF2B5EF4-FFF2-40B4-BE49-F238E27FC236}">
                <a16:creationId xmlns:a16="http://schemas.microsoft.com/office/drawing/2014/main" id="{0BD546CB-2133-B90C-09EE-C2B884AC5284}"/>
              </a:ext>
            </a:extLst>
          </p:cNvPr>
          <p:cNvSpPr txBox="1"/>
          <p:nvPr/>
        </p:nvSpPr>
        <p:spPr>
          <a:xfrm>
            <a:off x="7560125" y="5526419"/>
            <a:ext cx="449161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accent5"/>
                </a:solidFill>
                <a:latin typeface="18 VAG Rounded Light   02390" pitchFamily="2" charset="0"/>
              </a:rPr>
              <a:t>1</a:t>
            </a:r>
          </a:p>
        </p:txBody>
      </p:sp>
      <p:sp>
        <p:nvSpPr>
          <p:cNvPr id="493" name="TextBox 492">
            <a:extLst>
              <a:ext uri="{FF2B5EF4-FFF2-40B4-BE49-F238E27FC236}">
                <a16:creationId xmlns:a16="http://schemas.microsoft.com/office/drawing/2014/main" id="{A0B40ACC-CBF6-B4AE-6395-CF080CC46B65}"/>
              </a:ext>
            </a:extLst>
          </p:cNvPr>
          <p:cNvSpPr txBox="1"/>
          <p:nvPr/>
        </p:nvSpPr>
        <p:spPr>
          <a:xfrm>
            <a:off x="7955924" y="5518212"/>
            <a:ext cx="460382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ASel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accent1"/>
                </a:solidFill>
                <a:latin typeface="18 VAG Rounded Light   02390" pitchFamily="2" charset="0"/>
              </a:rPr>
              <a:t>0</a:t>
            </a:r>
          </a:p>
        </p:txBody>
      </p:sp>
      <p:sp>
        <p:nvSpPr>
          <p:cNvPr id="494" name="TextBox 493">
            <a:extLst>
              <a:ext uri="{FF2B5EF4-FFF2-40B4-BE49-F238E27FC236}">
                <a16:creationId xmlns:a16="http://schemas.microsoft.com/office/drawing/2014/main" id="{7690EABC-2AB4-EF1D-191A-502536956047}"/>
              </a:ext>
            </a:extLst>
          </p:cNvPr>
          <p:cNvSpPr txBox="1"/>
          <p:nvPr/>
        </p:nvSpPr>
        <p:spPr>
          <a:xfrm>
            <a:off x="8429817" y="5538557"/>
            <a:ext cx="688971" cy="460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495" name="TextBox 494">
            <a:extLst>
              <a:ext uri="{FF2B5EF4-FFF2-40B4-BE49-F238E27FC236}">
                <a16:creationId xmlns:a16="http://schemas.microsoft.com/office/drawing/2014/main" id="{549D99DB-10FA-40C9-6E63-B0D03A6E9F6C}"/>
              </a:ext>
            </a:extLst>
          </p:cNvPr>
          <p:cNvSpPr txBox="1"/>
          <p:nvPr/>
        </p:nvSpPr>
        <p:spPr>
          <a:xfrm>
            <a:off x="9282643" y="5557569"/>
            <a:ext cx="827470" cy="460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MemRW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6"/>
                </a:solidFill>
                <a:latin typeface="18 VAG Rounded Light   02390" pitchFamily="2" charset="0"/>
              </a:rPr>
              <a:t>Read</a:t>
            </a:r>
          </a:p>
        </p:txBody>
      </p:sp>
      <p:sp>
        <p:nvSpPr>
          <p:cNvPr id="496" name="TextBox 495">
            <a:extLst>
              <a:ext uri="{FF2B5EF4-FFF2-40B4-BE49-F238E27FC236}">
                <a16:creationId xmlns:a16="http://schemas.microsoft.com/office/drawing/2014/main" id="{D9FB5B34-7C38-74E4-8FF8-7A5A66EDE180}"/>
              </a:ext>
            </a:extLst>
          </p:cNvPr>
          <p:cNvSpPr txBox="1"/>
          <p:nvPr/>
        </p:nvSpPr>
        <p:spPr>
          <a:xfrm>
            <a:off x="10249476" y="5559045"/>
            <a:ext cx="655950" cy="460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WBSel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4"/>
                </a:solidFill>
                <a:latin typeface="18 VAG Rounded Light   02390" pitchFamily="2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151098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152D8-6E00-DC97-3368-3130E7832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41822E89-E94A-1FA0-AD44-5044BFD01C04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D4A54337-E365-B635-CA33-CF877FC094C6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2993FB1F-D309-0D48-CCBA-378F66417A9E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0052F837-7341-2064-9937-CAA54442BFCA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14C9E0-0B7E-9A77-7539-2A2FD0A14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Tracing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dirty="0"/>
              <a:t> Datapath (7/8)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F8ADF9CA-7244-7F90-63F9-A10836943B72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9720F189-6531-300B-548C-F2CD61681C16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38B6073E-1BF7-F0C0-851F-199807E864CA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8C363FC3-1697-5917-81C4-AD17613EA658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2C3BD9EA-1CA4-D386-7875-EE048DC5BF6B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0F3FC8E5-4CFE-1B1F-97E8-A61A49F33E19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A01DA16C-E978-A70C-D26F-474FC04B83FE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BE9F2DF4-ABFE-39C7-81F7-A6918A26A6C6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DB26195E-29E2-FE2A-F9B7-92EC068FF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BEF05AD6-7F5D-4D61-554F-294577B96CED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73877E1B-3CB3-D842-F41C-624FD65911DF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061DBE6A-4437-A695-B4D6-90C203385DFE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61091585-79AD-5247-6245-C1FE22EF9FFC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18D6268D-1F1A-A71C-25C3-5C60AC10C728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B28FB23E-E76E-BC48-FBD0-72BB2AB8AFC5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6CB87A57-735D-2F08-EAB4-3E74683C6315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EE7501C1-3521-E60B-7350-C7121E50258E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C0BA7A52-B3DA-D090-9A01-AFD1600B1A80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7AB0B16F-6A1E-9036-8F5E-12B09EC91BBC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43801159-C285-BB4F-E917-F63368B492E7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D24EB638-5DC1-AFCE-CDD2-3D35B9ADD116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51F06250-3518-8784-FE2C-CB932BB0F6B6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4C93AE93-6A78-360F-9D5C-8495F4C3B08C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B4E00C8E-ACE1-4105-3012-85B5908355C3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DD9DAA6C-38A3-10CB-6E9E-811B3FD700FA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BD2B9445-E2DF-8D5B-CDE8-C349E824ABF0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D20C7042-FE5B-F54A-809E-FDB517E4DE50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851DA3E4-C6C0-F4C2-6377-CB607BB37143}"/>
              </a:ext>
            </a:extLst>
          </p:cNvPr>
          <p:cNvCxnSpPr>
            <a:stCxn id="457" idx="0"/>
          </p:cNvCxnSpPr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1" name="TextBox 460">
            <a:extLst>
              <a:ext uri="{FF2B5EF4-FFF2-40B4-BE49-F238E27FC236}">
                <a16:creationId xmlns:a16="http://schemas.microsoft.com/office/drawing/2014/main" id="{B83F9959-A13D-BB74-8634-0F54B9C20A2B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BFC97970-D518-C615-AD4C-3BA440830C66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20FB80F4-FB35-775A-E38A-92BDF64EB03E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D00563BA-C5C3-48DE-5A2B-932A6703C157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A1523F1E-60A8-339C-7860-D8A801701A86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50530850-53DB-3FE5-B2C0-2D2BAF006692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22D731F7-68EF-02B7-85DE-CC38BC39E1B2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CDD03691-7E7F-C5B2-162D-22FA8DFA0624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BD92EB8A-31CF-9CBF-8974-0A0F0AC7E3D1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3510F32D-AC1A-41E1-49F2-1BDF36A27194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CA727ACE-A029-CE4B-00D6-287FC2DB53D2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2C6CA080-D7F3-CD78-4CF9-90C02963C14E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476C28BC-D348-9EEF-DDB7-3D704BB38851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067F08A0-AEF5-B5AD-DF9C-D70AB6B80F41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D683C3AD-6296-A40E-7690-B624DE5D116B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485508-A869-8B98-461A-3E2AA5009CB6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D520274-40F9-478B-CC07-DB1EE45CA712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5076889-7AF0-AA68-918B-D80D90D96A22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8E1F8D7-6B79-C499-578A-2B54DE44FA1D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39A255F-F52A-73DC-A631-93803CE862FE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3F0CBD3-4C7C-5BE1-B97D-655AA14D748E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2F40AE51-D8E0-1AC1-931E-71F40D1A7736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B06CF403-B089-0ECD-4C87-01DA0E9AE368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53AF8191-0C82-1435-E6A5-84DFCD1EB03D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75489CCA-2E15-C282-ECD9-39E7926C1336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00BFCC4-25F2-EBF3-3DC2-9D9D9FFC64D3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D31952D6-DDF5-DA75-E542-B4D47F4C02D2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A7794B92-6C57-C939-AEBC-03322EBD8F9D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879AE5A1-ECA3-45B6-E1A7-6840346170EE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C5167A55-466A-2ABE-AC49-2FEB35952454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0458AACD-B11D-8B6F-AA9E-3DAC547AA6C7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9580BB1B-C47F-3530-3C03-013255910016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9C7E2037-6DD3-D435-ACFE-E349919121EC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534083D7-8A46-AF76-A8E8-360C1E1FE9EF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BB80C5A7-7901-D8C6-37A3-5E52D99AF890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E2F1798-42DA-9681-F1A7-66A4BD4D7DC4}"/>
              </a:ext>
            </a:extLst>
          </p:cNvPr>
          <p:cNvGrpSpPr/>
          <p:nvPr/>
        </p:nvGrpSpPr>
        <p:grpSpPr>
          <a:xfrm>
            <a:off x="1780532" y="2965993"/>
            <a:ext cx="673038" cy="703576"/>
            <a:chOff x="1780532" y="2965993"/>
            <a:chExt cx="673038" cy="703576"/>
          </a:xfrm>
        </p:grpSpPr>
        <p:cxnSp>
          <p:nvCxnSpPr>
            <p:cNvPr id="12" name="Elbow Connector 11">
              <a:extLst>
                <a:ext uri="{FF2B5EF4-FFF2-40B4-BE49-F238E27FC236}">
                  <a16:creationId xmlns:a16="http://schemas.microsoft.com/office/drawing/2014/main" id="{A26677AF-C400-30D7-9039-0577328A1972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C701A2D-1F24-9A06-645C-C56A46108FD4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8BC56D6-ECF0-E02A-61B2-19567A7106FB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14FD243-0B48-7097-025E-8CD57DB8648B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44" name="Elbow Connector 43">
              <a:extLst>
                <a:ext uri="{FF2B5EF4-FFF2-40B4-BE49-F238E27FC236}">
                  <a16:creationId xmlns:a16="http://schemas.microsoft.com/office/drawing/2014/main" id="{9A5DF491-8653-8809-CE17-CCAECF7AC1A0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>
              <a:extLst>
                <a:ext uri="{FF2B5EF4-FFF2-40B4-BE49-F238E27FC236}">
                  <a16:creationId xmlns:a16="http://schemas.microsoft.com/office/drawing/2014/main" id="{16104241-2AC8-A00F-FBE1-D269DE0AA068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6D032334-35F6-77C4-6726-492DB2A0312D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C91DA9B1-5928-A49F-EC40-37ED0C4FCECD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rapezoid 47">
            <a:extLst>
              <a:ext uri="{FF2B5EF4-FFF2-40B4-BE49-F238E27FC236}">
                <a16:creationId xmlns:a16="http://schemas.microsoft.com/office/drawing/2014/main" id="{D1A01847-C7EB-561D-D6CE-8247DA77A943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49" name="Trapezoid 48">
            <a:extLst>
              <a:ext uri="{FF2B5EF4-FFF2-40B4-BE49-F238E27FC236}">
                <a16:creationId xmlns:a16="http://schemas.microsoft.com/office/drawing/2014/main" id="{A825341C-B68D-E897-646C-EC211D500DEE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50" name="Trapezoid 49">
            <a:extLst>
              <a:ext uri="{FF2B5EF4-FFF2-40B4-BE49-F238E27FC236}">
                <a16:creationId xmlns:a16="http://schemas.microsoft.com/office/drawing/2014/main" id="{F11738CC-DC89-4743-D6AE-004623CFD4F8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6ED0DEEF-4755-E076-DAD8-A05A775CB468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D14F6C0-E82B-618C-C9C7-8B93A439FF0D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E865278-B9F8-60E6-1D2D-D42126D8C013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D5A6EF7-02FF-8891-ACBC-DA6EB608927B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90B964D6-E278-C1B2-B8C5-4AA3C8E6DD53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92EFCD75-5848-9A22-F634-4152CCB5DF10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4" name="Elbow Connector 53">
                  <a:extLst>
                    <a:ext uri="{FF2B5EF4-FFF2-40B4-BE49-F238E27FC236}">
                      <a16:creationId xmlns:a16="http://schemas.microsoft.com/office/drawing/2014/main" id="{869BEC8A-4B3E-7017-9F28-BE34524A96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28C83519-FB0B-B334-4D1E-E18F4DCB8D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37B07417-AD87-01DB-FCAF-BE929327257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09CCA78F-BB65-EBB1-24A3-E633213093AA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66B7697-F2F8-13EF-9983-4E6359EBB975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0612B63-EE3B-C03B-B531-FE4687C757CD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chemeClr val="tx1">
                <a:alpha val="67000"/>
              </a:schemeClr>
            </a:glow>
          </a:effectLst>
        </p:grpSpPr>
        <p:cxnSp>
          <p:nvCxnSpPr>
            <p:cNvPr id="6" name="Elbow Connector 5">
              <a:extLst>
                <a:ext uri="{FF2B5EF4-FFF2-40B4-BE49-F238E27FC236}">
                  <a16:creationId xmlns:a16="http://schemas.microsoft.com/office/drawing/2014/main" id="{E40CE816-FA66-C8E2-DF50-15C3E85FCFA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2E7CC87-FC9A-487B-6CC5-1DED47FE28D4}"/>
                </a:ext>
              </a:extLst>
            </p:cNvPr>
            <p:cNvCxnSpPr>
              <a:cxnSpLocks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6447195A-5D86-16B4-A10F-D426E5DFCD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29FC46F8-9F39-1C2C-C391-790BC3E95A08}"/>
              </a:ext>
            </a:extLst>
          </p:cNvPr>
          <p:cNvGrpSpPr/>
          <p:nvPr/>
        </p:nvGrpSpPr>
        <p:grpSpPr>
          <a:xfrm>
            <a:off x="10549378" y="2970605"/>
            <a:ext cx="267680" cy="873172"/>
            <a:chOff x="10468098" y="2970605"/>
            <a:chExt cx="267680" cy="873172"/>
          </a:xfrm>
        </p:grpSpPr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4B75FE74-0A2F-84B2-7588-A1095F0BBC1D}"/>
                </a:ext>
              </a:extLst>
            </p:cNvPr>
            <p:cNvSpPr/>
            <p:nvPr/>
          </p:nvSpPr>
          <p:spPr>
            <a:xfrm>
              <a:off x="10468098" y="3076083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F784DEDA-DE02-A882-D38E-90D721717ECB}"/>
                </a:ext>
              </a:extLst>
            </p:cNvPr>
            <p:cNvSpPr/>
            <p:nvPr/>
          </p:nvSpPr>
          <p:spPr>
            <a:xfrm>
              <a:off x="10468098" y="3321131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C350308D-F845-7C37-A065-41F3D8176207}"/>
                </a:ext>
              </a:extLst>
            </p:cNvPr>
            <p:cNvSpPr/>
            <p:nvPr/>
          </p:nvSpPr>
          <p:spPr>
            <a:xfrm>
              <a:off x="10468098" y="3584336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23" name="Trapezoid 322">
              <a:extLst>
                <a:ext uri="{FF2B5EF4-FFF2-40B4-BE49-F238E27FC236}">
                  <a16:creationId xmlns:a16="http://schemas.microsoft.com/office/drawing/2014/main" id="{3D8C52E7-65D4-BF85-9A0F-6A991DAF51B0}"/>
                </a:ext>
              </a:extLst>
            </p:cNvPr>
            <p:cNvSpPr/>
            <p:nvPr/>
          </p:nvSpPr>
          <p:spPr>
            <a:xfrm rot="5400000">
              <a:off x="10165352" y="3273351"/>
              <a:ext cx="873172" cy="267680"/>
            </a:xfrm>
            <a:prstGeom prst="trapezoid">
              <a:avLst>
                <a:gd name="adj" fmla="val 62818"/>
              </a:avLst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F386AEF4-3BF1-D387-3651-171B8F12E549}"/>
              </a:ext>
            </a:extLst>
          </p:cNvPr>
          <p:cNvSpPr txBox="1"/>
          <p:nvPr/>
        </p:nvSpPr>
        <p:spPr>
          <a:xfrm>
            <a:off x="293424" y="1063996"/>
            <a:ext cx="263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81F775E-1570-BA89-039C-03D1F865E2B1}"/>
              </a:ext>
            </a:extLst>
          </p:cNvPr>
          <p:cNvGrpSpPr/>
          <p:nvPr/>
        </p:nvGrpSpPr>
        <p:grpSpPr>
          <a:xfrm>
            <a:off x="668759" y="2260284"/>
            <a:ext cx="2699311" cy="1670895"/>
            <a:chOff x="668759" y="2260284"/>
            <a:chExt cx="2699311" cy="167089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0DF8D7F0-4DC4-C5DD-A0CF-DC82FDE26144}"/>
                </a:ext>
              </a:extLst>
            </p:cNvPr>
            <p:cNvGrpSpPr/>
            <p:nvPr/>
          </p:nvGrpSpPr>
          <p:grpSpPr>
            <a:xfrm>
              <a:off x="668759" y="2260284"/>
              <a:ext cx="2699311" cy="1670895"/>
              <a:chOff x="668759" y="2260284"/>
              <a:chExt cx="2699311" cy="1670895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EE8A4E0-E4FB-C1D4-FC62-6C6660C19D3F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5BF4E170-B0B6-8C18-E148-8D49F412D276}"/>
                  </a:ext>
                </a:extLst>
              </p:cNvPr>
              <p:cNvGrpSpPr/>
              <p:nvPr/>
            </p:nvGrpSpPr>
            <p:grpSpPr>
              <a:xfrm>
                <a:off x="668759" y="2260284"/>
                <a:ext cx="2699311" cy="1409285"/>
                <a:chOff x="668759" y="2260284"/>
                <a:chExt cx="2699311" cy="1409285"/>
              </a:xfr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10622DBC-B62F-6277-748D-078D482843AE}"/>
                    </a:ext>
                  </a:extLst>
                </p:cNvPr>
                <p:cNvGrpSpPr/>
                <p:nvPr/>
              </p:nvGrpSpPr>
              <p:grpSpPr>
                <a:xfrm>
                  <a:off x="668759" y="2260284"/>
                  <a:ext cx="2699311" cy="1409285"/>
                  <a:chOff x="668759" y="2260284"/>
                  <a:chExt cx="2699311" cy="1409285"/>
                </a:xfrm>
              </p:grpSpPr>
              <p:cxnSp>
                <p:nvCxnSpPr>
                  <p:cNvPr id="58" name="Straight Arrow Connector 57">
                    <a:extLst>
                      <a:ext uri="{FF2B5EF4-FFF2-40B4-BE49-F238E27FC236}">
                        <a16:creationId xmlns:a16="http://schemas.microsoft.com/office/drawing/2014/main" id="{F6334478-ABE3-8C3A-ADC4-DAF53365F30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70363" y="3643964"/>
                    <a:ext cx="274320" cy="0"/>
                  </a:xfrm>
                  <a:prstGeom prst="straightConnector1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59" name="Group 58">
                    <a:extLst>
                      <a:ext uri="{FF2B5EF4-FFF2-40B4-BE49-F238E27FC236}">
                        <a16:creationId xmlns:a16="http://schemas.microsoft.com/office/drawing/2014/main" id="{9C1F9907-A196-AA0D-1C9C-54ADC5DB31AC}"/>
                      </a:ext>
                    </a:extLst>
                  </p:cNvPr>
                  <p:cNvGrpSpPr/>
                  <p:nvPr/>
                </p:nvGrpSpPr>
                <p:grpSpPr>
                  <a:xfrm>
                    <a:off x="1780532" y="2965993"/>
                    <a:ext cx="673038" cy="703576"/>
                    <a:chOff x="1780532" y="2965993"/>
                    <a:chExt cx="673038" cy="703576"/>
                  </a:xfrm>
                </p:grpSpPr>
                <p:cxnSp>
                  <p:nvCxnSpPr>
                    <p:cNvPr id="63" name="Elbow Connector 62">
                      <a:extLst>
                        <a:ext uri="{FF2B5EF4-FFF2-40B4-BE49-F238E27FC236}">
                          <a16:creationId xmlns:a16="http://schemas.microsoft.com/office/drawing/2014/main" id="{B4B03D24-B2CA-34B7-22A4-A91759F8F6A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H="1" flipV="1">
                      <a:off x="1830481" y="3046480"/>
                      <a:ext cx="703576" cy="542602"/>
                    </a:xfrm>
                    <a:prstGeom prst="bentConnector3">
                      <a:avLst>
                        <a:gd name="adj1" fmla="val 100542"/>
                      </a:avLst>
                    </a:prstGeom>
                    <a:ln w="57150">
                      <a:solidFill>
                        <a:schemeClr val="accent2"/>
                      </a:solidFill>
                      <a:headEnd type="oval" w="sm" len="sm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0" name="Straight Connector 449">
                      <a:extLst>
                        <a:ext uri="{FF2B5EF4-FFF2-40B4-BE49-F238E27FC236}">
                          <a16:creationId xmlns:a16="http://schemas.microsoft.com/office/drawing/2014/main" id="{AB406EFF-D2F5-D12B-85F0-CF607E96008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80532" y="3655540"/>
                      <a:ext cx="130436" cy="0"/>
                    </a:xfrm>
                    <a:prstGeom prst="line">
                      <a:avLst/>
                    </a:prstGeom>
                    <a:ln w="57150">
                      <a:solidFill>
                        <a:schemeClr val="accent2"/>
                      </a:solidFill>
                      <a:tailEnd type="non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392E672F-1297-2E72-AAC4-39EE95B420C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68759" y="2260284"/>
                    <a:ext cx="2697480" cy="1985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headEnd w="sm" len="sm"/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Elbow Connector 60">
                    <a:extLst>
                      <a:ext uri="{FF2B5EF4-FFF2-40B4-BE49-F238E27FC236}">
                        <a16:creationId xmlns:a16="http://schemas.microsoft.com/office/drawing/2014/main" id="{CAEC86B0-2262-9732-BEB9-EAA5A83A20E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2993946" y="2363686"/>
                    <a:ext cx="477525" cy="270723"/>
                  </a:xfrm>
                  <a:prstGeom prst="bentConnector3">
                    <a:avLst>
                      <a:gd name="adj1" fmla="val -5318"/>
                    </a:avLst>
                  </a:prstGeom>
                  <a:ln w="57150">
                    <a:solidFill>
                      <a:schemeClr val="accent2"/>
                    </a:solidFill>
                    <a:headEnd w="sm" len="sm"/>
                    <a:tailEnd type="oval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Elbow Connector 61">
                    <a:extLst>
                      <a:ext uri="{FF2B5EF4-FFF2-40B4-BE49-F238E27FC236}">
                        <a16:creationId xmlns:a16="http://schemas.microsoft.com/office/drawing/2014/main" id="{0668E03D-7CC6-1E37-EFEE-18737748EC2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191279" y="2758010"/>
                    <a:ext cx="1230930" cy="235480"/>
                  </a:xfrm>
                  <a:prstGeom prst="bentConnector2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7" name="Freeform 56">
                  <a:extLst>
                    <a:ext uri="{FF2B5EF4-FFF2-40B4-BE49-F238E27FC236}">
                      <a16:creationId xmlns:a16="http://schemas.microsoft.com/office/drawing/2014/main" id="{BC1B17AC-8850-3252-377D-D196416DE2D8}"/>
                    </a:ext>
                  </a:extLst>
                </p:cNvPr>
                <p:cNvSpPr/>
                <p:nvPr/>
              </p:nvSpPr>
              <p:spPr>
                <a:xfrm flipV="1">
                  <a:off x="881793" y="3462503"/>
                  <a:ext cx="405114" cy="183691"/>
                </a:xfrm>
                <a:custGeom>
                  <a:avLst/>
                  <a:gdLst>
                    <a:gd name="connsiteX0" fmla="*/ 0 w 405114"/>
                    <a:gd name="connsiteY0" fmla="*/ 150471 h 162045"/>
                    <a:gd name="connsiteX1" fmla="*/ 57873 w 405114"/>
                    <a:gd name="connsiteY1" fmla="*/ 162045 h 162045"/>
                    <a:gd name="connsiteX2" fmla="*/ 104172 w 405114"/>
                    <a:gd name="connsiteY2" fmla="*/ 150471 h 162045"/>
                    <a:gd name="connsiteX3" fmla="*/ 208344 w 405114"/>
                    <a:gd name="connsiteY3" fmla="*/ 92597 h 162045"/>
                    <a:gd name="connsiteX4" fmla="*/ 254643 w 405114"/>
                    <a:gd name="connsiteY4" fmla="*/ 46298 h 162045"/>
                    <a:gd name="connsiteX5" fmla="*/ 358815 w 405114"/>
                    <a:gd name="connsiteY5" fmla="*/ 0 h 162045"/>
                    <a:gd name="connsiteX6" fmla="*/ 405114 w 405114"/>
                    <a:gd name="connsiteY6" fmla="*/ 0 h 1620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05114" h="162045">
                      <a:moveTo>
                        <a:pt x="0" y="150471"/>
                      </a:moveTo>
                      <a:cubicBezTo>
                        <a:pt x="19291" y="154329"/>
                        <a:pt x="38200" y="162045"/>
                        <a:pt x="57873" y="162045"/>
                      </a:cubicBezTo>
                      <a:cubicBezTo>
                        <a:pt x="73781" y="162045"/>
                        <a:pt x="88876" y="154841"/>
                        <a:pt x="104172" y="150471"/>
                      </a:cubicBezTo>
                      <a:cubicBezTo>
                        <a:pt x="144925" y="138827"/>
                        <a:pt x="175184" y="125757"/>
                        <a:pt x="208344" y="92597"/>
                      </a:cubicBezTo>
                      <a:cubicBezTo>
                        <a:pt x="223777" y="77164"/>
                        <a:pt x="236483" y="58405"/>
                        <a:pt x="254643" y="46298"/>
                      </a:cubicBezTo>
                      <a:cubicBezTo>
                        <a:pt x="286113" y="25318"/>
                        <a:pt x="317492" y="0"/>
                        <a:pt x="358815" y="0"/>
                      </a:cubicBezTo>
                      <a:lnTo>
                        <a:pt x="405114" y="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6F25D642-9886-51AD-1B30-36A5BE39E8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381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3" name="TextBox 462">
            <a:extLst>
              <a:ext uri="{FF2B5EF4-FFF2-40B4-BE49-F238E27FC236}">
                <a16:creationId xmlns:a16="http://schemas.microsoft.com/office/drawing/2014/main" id="{D56646ED-1AF9-F45A-53EE-2CD11B352159}"/>
              </a:ext>
            </a:extLst>
          </p:cNvPr>
          <p:cNvSpPr txBox="1"/>
          <p:nvPr/>
        </p:nvSpPr>
        <p:spPr>
          <a:xfrm>
            <a:off x="3486169" y="1063996"/>
            <a:ext cx="2831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Generate </a:t>
            </a:r>
            <a:r>
              <a:rPr lang="en-US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 with upper 12 bits. (I-Type)</a:t>
            </a:r>
          </a:p>
        </p:txBody>
      </p:sp>
      <p:grpSp>
        <p:nvGrpSpPr>
          <p:cNvPr id="467" name="Group 466">
            <a:extLst>
              <a:ext uri="{FF2B5EF4-FFF2-40B4-BE49-F238E27FC236}">
                <a16:creationId xmlns:a16="http://schemas.microsoft.com/office/drawing/2014/main" id="{E5F756A5-D568-5ABF-DB89-F2E83B72C554}"/>
              </a:ext>
            </a:extLst>
          </p:cNvPr>
          <p:cNvGrpSpPr/>
          <p:nvPr/>
        </p:nvGrpSpPr>
        <p:grpSpPr>
          <a:xfrm>
            <a:off x="3062789" y="3429000"/>
            <a:ext cx="4683138" cy="2117475"/>
            <a:chOff x="3062789" y="3429000"/>
            <a:chExt cx="4683138" cy="2117475"/>
          </a:xfrm>
        </p:grpSpPr>
        <p:grpSp>
          <p:nvGrpSpPr>
            <p:cNvPr id="451" name="Group 450">
              <a:extLst>
                <a:ext uri="{FF2B5EF4-FFF2-40B4-BE49-F238E27FC236}">
                  <a16:creationId xmlns:a16="http://schemas.microsoft.com/office/drawing/2014/main" id="{C3B2FC5A-F2C7-8075-8164-3D174019A8F9}"/>
                </a:ext>
              </a:extLst>
            </p:cNvPr>
            <p:cNvGrpSpPr/>
            <p:nvPr/>
          </p:nvGrpSpPr>
          <p:grpSpPr>
            <a:xfrm>
              <a:off x="3062789" y="3429000"/>
              <a:ext cx="4683138" cy="2117475"/>
              <a:chOff x="3062789" y="3429000"/>
              <a:chExt cx="4683138" cy="2117475"/>
            </a:xfrm>
          </p:grpSpPr>
          <p:grpSp>
            <p:nvGrpSpPr>
              <p:cNvPr id="452" name="Group 451">
                <a:extLst>
                  <a:ext uri="{FF2B5EF4-FFF2-40B4-BE49-F238E27FC236}">
                    <a16:creationId xmlns:a16="http://schemas.microsoft.com/office/drawing/2014/main" id="{F790C18A-22F2-D73C-B8F7-0232D5EF2784}"/>
                  </a:ext>
                </a:extLst>
              </p:cNvPr>
              <p:cNvGrpSpPr/>
              <p:nvPr/>
            </p:nvGrpSpPr>
            <p:grpSpPr>
              <a:xfrm>
                <a:off x="3191223" y="3971033"/>
                <a:ext cx="4554704" cy="1575442"/>
                <a:chOff x="3191225" y="3962068"/>
                <a:chExt cx="4554704" cy="1575442"/>
              </a:xfrm>
            </p:grpSpPr>
            <p:cxnSp>
              <p:nvCxnSpPr>
                <p:cNvPr id="455" name="Straight Arrow Connector 454">
                  <a:extLst>
                    <a:ext uri="{FF2B5EF4-FFF2-40B4-BE49-F238E27FC236}">
                      <a16:creationId xmlns:a16="http://schemas.microsoft.com/office/drawing/2014/main" id="{DE4F67B8-D8E3-A442-8CB8-1B4AD72FB123}"/>
                    </a:ext>
                  </a:extLst>
                </p:cNvPr>
                <p:cNvCxnSpPr/>
                <p:nvPr/>
              </p:nvCxnSpPr>
              <p:spPr>
                <a:xfrm>
                  <a:off x="3193946" y="3962068"/>
                  <a:ext cx="0" cy="1575442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9" name="Straight Arrow Connector 458">
                  <a:extLst>
                    <a:ext uri="{FF2B5EF4-FFF2-40B4-BE49-F238E27FC236}">
                      <a16:creationId xmlns:a16="http://schemas.microsoft.com/office/drawing/2014/main" id="{B5C27EAB-7C9A-18DB-EE56-F9A0942AC5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91225" y="5015025"/>
                  <a:ext cx="932688" cy="0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0" name="Elbow Connector 459">
                  <a:extLst>
                    <a:ext uri="{FF2B5EF4-FFF2-40B4-BE49-F238E27FC236}">
                      <a16:creationId xmlns:a16="http://schemas.microsoft.com/office/drawing/2014/main" id="{2C7247A2-A994-2E07-EF26-F4F9BA902D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4808959" y="4530234"/>
                  <a:ext cx="2936970" cy="596712"/>
                </a:xfrm>
                <a:prstGeom prst="bentConnector3">
                  <a:avLst>
                    <a:gd name="adj1" fmla="val 92537"/>
                  </a:avLst>
                </a:prstGeom>
                <a:ln w="57150">
                  <a:solidFill>
                    <a:schemeClr val="accent5"/>
                  </a:solidFill>
                  <a:tailEnd type="triangle" w="med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53" name="Elbow Connector 452">
                <a:extLst>
                  <a:ext uri="{FF2B5EF4-FFF2-40B4-BE49-F238E27FC236}">
                    <a16:creationId xmlns:a16="http://schemas.microsoft.com/office/drawing/2014/main" id="{6A54DBAB-A6D6-E1D2-66EA-3CFF53392B1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62789" y="3429000"/>
                <a:ext cx="1765694" cy="524103"/>
              </a:xfrm>
              <a:prstGeom prst="bentConnector3">
                <a:avLst>
                  <a:gd name="adj1" fmla="val 17967"/>
                </a:avLst>
              </a:prstGeom>
              <a:ln w="57150">
                <a:solidFill>
                  <a:schemeClr val="accent5"/>
                </a:solidFill>
                <a:headEnd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64" name="Straight Arrow Connector 463">
              <a:extLst>
                <a:ext uri="{FF2B5EF4-FFF2-40B4-BE49-F238E27FC236}">
                  <a16:creationId xmlns:a16="http://schemas.microsoft.com/office/drawing/2014/main" id="{C58F8180-4BA3-51EF-C355-8B1B7726C335}"/>
                </a:ext>
              </a:extLst>
            </p:cNvPr>
            <p:cNvCxnSpPr>
              <a:cxnSpLocks/>
            </p:cNvCxnSpPr>
            <p:nvPr/>
          </p:nvCxnSpPr>
          <p:spPr>
            <a:xfrm>
              <a:off x="3370822" y="3685038"/>
              <a:ext cx="1453897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8" name="Group 467">
            <a:extLst>
              <a:ext uri="{FF2B5EF4-FFF2-40B4-BE49-F238E27FC236}">
                <a16:creationId xmlns:a16="http://schemas.microsoft.com/office/drawing/2014/main" id="{1B241F7D-C9CC-B332-DBC2-EB51DEB64198}"/>
              </a:ext>
            </a:extLst>
          </p:cNvPr>
          <p:cNvGrpSpPr/>
          <p:nvPr/>
        </p:nvGrpSpPr>
        <p:grpSpPr>
          <a:xfrm>
            <a:off x="7709119" y="3666625"/>
            <a:ext cx="585916" cy="88926"/>
            <a:chOff x="7709119" y="3666625"/>
            <a:chExt cx="585916" cy="88926"/>
          </a:xfrm>
        </p:grpSpPr>
        <p:cxnSp>
          <p:nvCxnSpPr>
            <p:cNvPr id="470" name="Straight Arrow Connector 469">
              <a:extLst>
                <a:ext uri="{FF2B5EF4-FFF2-40B4-BE49-F238E27FC236}">
                  <a16:creationId xmlns:a16="http://schemas.microsoft.com/office/drawing/2014/main" id="{D95232C4-10AA-E3D4-BB6E-C97BEC6E3C1B}"/>
                </a:ext>
              </a:extLst>
            </p:cNvPr>
            <p:cNvCxnSpPr>
              <a:cxnSpLocks/>
            </p:cNvCxnSpPr>
            <p:nvPr/>
          </p:nvCxnSpPr>
          <p:spPr>
            <a:xfrm>
              <a:off x="7993283" y="3671810"/>
              <a:ext cx="301752" cy="149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1" name="Freeform 470">
              <a:extLst>
                <a:ext uri="{FF2B5EF4-FFF2-40B4-BE49-F238E27FC236}">
                  <a16:creationId xmlns:a16="http://schemas.microsoft.com/office/drawing/2014/main" id="{3ACE04AA-476A-5CA8-77F0-5F055FDD5F69}"/>
                </a:ext>
              </a:extLst>
            </p:cNvPr>
            <p:cNvSpPr/>
            <p:nvPr/>
          </p:nvSpPr>
          <p:spPr>
            <a:xfrm flipV="1">
              <a:off x="7709119" y="3666625"/>
              <a:ext cx="310910" cy="88926"/>
            </a:xfrm>
            <a:custGeom>
              <a:avLst/>
              <a:gdLst>
                <a:gd name="connsiteX0" fmla="*/ 0 w 532436"/>
                <a:gd name="connsiteY0" fmla="*/ 0 h 219937"/>
                <a:gd name="connsiteX1" fmla="*/ 57874 w 532436"/>
                <a:gd name="connsiteY1" fmla="*/ 23150 h 219937"/>
                <a:gd name="connsiteX2" fmla="*/ 127322 w 532436"/>
                <a:gd name="connsiteY2" fmla="*/ 34724 h 219937"/>
                <a:gd name="connsiteX3" fmla="*/ 208344 w 532436"/>
                <a:gd name="connsiteY3" fmla="*/ 57874 h 219937"/>
                <a:gd name="connsiteX4" fmla="*/ 231494 w 532436"/>
                <a:gd name="connsiteY4" fmla="*/ 81023 h 219937"/>
                <a:gd name="connsiteX5" fmla="*/ 300942 w 532436"/>
                <a:gd name="connsiteY5" fmla="*/ 127322 h 219937"/>
                <a:gd name="connsiteX6" fmla="*/ 324091 w 532436"/>
                <a:gd name="connsiteY6" fmla="*/ 162046 h 219937"/>
                <a:gd name="connsiteX7" fmla="*/ 393539 w 532436"/>
                <a:gd name="connsiteY7" fmla="*/ 185195 h 219937"/>
                <a:gd name="connsiteX8" fmla="*/ 416689 w 532436"/>
                <a:gd name="connsiteY8" fmla="*/ 208345 h 219937"/>
                <a:gd name="connsiteX9" fmla="*/ 497712 w 532436"/>
                <a:gd name="connsiteY9" fmla="*/ 208345 h 219937"/>
                <a:gd name="connsiteX10" fmla="*/ 532436 w 532436"/>
                <a:gd name="connsiteY10" fmla="*/ 173621 h 219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32436" h="219937">
                  <a:moveTo>
                    <a:pt x="0" y="0"/>
                  </a:moveTo>
                  <a:cubicBezTo>
                    <a:pt x="19291" y="7717"/>
                    <a:pt x="37829" y="17683"/>
                    <a:pt x="57874" y="23150"/>
                  </a:cubicBezTo>
                  <a:cubicBezTo>
                    <a:pt x="80516" y="29325"/>
                    <a:pt x="104309" y="30121"/>
                    <a:pt x="127322" y="34724"/>
                  </a:cubicBezTo>
                  <a:cubicBezTo>
                    <a:pt x="163652" y="41990"/>
                    <a:pt x="175252" y="46843"/>
                    <a:pt x="208344" y="57874"/>
                  </a:cubicBezTo>
                  <a:cubicBezTo>
                    <a:pt x="216061" y="65590"/>
                    <a:pt x="222764" y="74475"/>
                    <a:pt x="231494" y="81023"/>
                  </a:cubicBezTo>
                  <a:cubicBezTo>
                    <a:pt x="253752" y="97716"/>
                    <a:pt x="300942" y="127322"/>
                    <a:pt x="300942" y="127322"/>
                  </a:cubicBezTo>
                  <a:cubicBezTo>
                    <a:pt x="308658" y="138897"/>
                    <a:pt x="312295" y="154673"/>
                    <a:pt x="324091" y="162046"/>
                  </a:cubicBezTo>
                  <a:cubicBezTo>
                    <a:pt x="344783" y="174979"/>
                    <a:pt x="393539" y="185195"/>
                    <a:pt x="393539" y="185195"/>
                  </a:cubicBezTo>
                  <a:cubicBezTo>
                    <a:pt x="401256" y="192912"/>
                    <a:pt x="407331" y="202730"/>
                    <a:pt x="416689" y="208345"/>
                  </a:cubicBezTo>
                  <a:cubicBezTo>
                    <a:pt x="450875" y="228856"/>
                    <a:pt x="459955" y="217784"/>
                    <a:pt x="497712" y="208345"/>
                  </a:cubicBezTo>
                  <a:lnTo>
                    <a:pt x="532436" y="173621"/>
                  </a:lnTo>
                </a:path>
              </a:pathLst>
            </a:custGeom>
            <a:noFill/>
            <a:ln w="571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3E6EDC3D-C532-F747-69D5-844DB59ED8CF}"/>
              </a:ext>
            </a:extLst>
          </p:cNvPr>
          <p:cNvGrpSpPr/>
          <p:nvPr/>
        </p:nvGrpSpPr>
        <p:grpSpPr>
          <a:xfrm>
            <a:off x="6249574" y="3670874"/>
            <a:ext cx="1513202" cy="94632"/>
            <a:chOff x="6249574" y="3681034"/>
            <a:chExt cx="1513202" cy="94632"/>
          </a:xfrm>
        </p:grpSpPr>
        <p:cxnSp>
          <p:nvCxnSpPr>
            <p:cNvPr id="480" name="Elbow Connector 479">
              <a:extLst>
                <a:ext uri="{FF2B5EF4-FFF2-40B4-BE49-F238E27FC236}">
                  <a16:creationId xmlns:a16="http://schemas.microsoft.com/office/drawing/2014/main" id="{B1A80FA3-3FBA-94A4-58F9-A414AFAEA092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031628" y="3044518"/>
              <a:ext cx="94632" cy="1367664"/>
            </a:xfrm>
            <a:prstGeom prst="bentConnector4">
              <a:avLst>
                <a:gd name="adj1" fmla="val -456294"/>
                <a:gd name="adj2" fmla="val 76963"/>
              </a:avLst>
            </a:prstGeom>
            <a:ln w="57150">
              <a:solidFill>
                <a:schemeClr val="accent1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>
              <a:extLst>
                <a:ext uri="{FF2B5EF4-FFF2-40B4-BE49-F238E27FC236}">
                  <a16:creationId xmlns:a16="http://schemas.microsoft.com/office/drawing/2014/main" id="{B6EF73AF-3C5B-A62C-92BC-CBDCCC363C98}"/>
                </a:ext>
              </a:extLst>
            </p:cNvPr>
            <p:cNvCxnSpPr/>
            <p:nvPr/>
          </p:nvCxnSpPr>
          <p:spPr>
            <a:xfrm flipH="1" flipV="1">
              <a:off x="6249574" y="3687560"/>
              <a:ext cx="121965" cy="0"/>
            </a:xfrm>
            <a:prstGeom prst="line">
              <a:avLst/>
            </a:prstGeom>
            <a:ln w="571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2" name="Group 481">
            <a:extLst>
              <a:ext uri="{FF2B5EF4-FFF2-40B4-BE49-F238E27FC236}">
                <a16:creationId xmlns:a16="http://schemas.microsoft.com/office/drawing/2014/main" id="{66E1EBB6-64ED-AA50-7FE1-E2676F2F583E}"/>
              </a:ext>
            </a:extLst>
          </p:cNvPr>
          <p:cNvGrpSpPr/>
          <p:nvPr/>
        </p:nvGrpSpPr>
        <p:grpSpPr>
          <a:xfrm>
            <a:off x="7685590" y="4427042"/>
            <a:ext cx="599285" cy="120728"/>
            <a:chOff x="7685590" y="4427042"/>
            <a:chExt cx="599285" cy="120728"/>
          </a:xfrm>
        </p:grpSpPr>
        <p:cxnSp>
          <p:nvCxnSpPr>
            <p:cNvPr id="483" name="Straight Arrow Connector 482">
              <a:extLst>
                <a:ext uri="{FF2B5EF4-FFF2-40B4-BE49-F238E27FC236}">
                  <a16:creationId xmlns:a16="http://schemas.microsoft.com/office/drawing/2014/main" id="{9DE7277A-AE2C-1506-E365-84FF10D6AEC2}"/>
                </a:ext>
              </a:extLst>
            </p:cNvPr>
            <p:cNvCxnSpPr>
              <a:cxnSpLocks/>
            </p:cNvCxnSpPr>
            <p:nvPr/>
          </p:nvCxnSpPr>
          <p:spPr>
            <a:xfrm>
              <a:off x="7983123" y="4427042"/>
              <a:ext cx="301752" cy="1490"/>
            </a:xfrm>
            <a:prstGeom prst="straightConnector1">
              <a:avLst/>
            </a:prstGeom>
            <a:ln w="57150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4" name="Freeform 483">
              <a:extLst>
                <a:ext uri="{FF2B5EF4-FFF2-40B4-BE49-F238E27FC236}">
                  <a16:creationId xmlns:a16="http://schemas.microsoft.com/office/drawing/2014/main" id="{DDFBFE25-1B32-9C37-B8D0-5506F0E358CE}"/>
                </a:ext>
              </a:extLst>
            </p:cNvPr>
            <p:cNvSpPr/>
            <p:nvPr/>
          </p:nvSpPr>
          <p:spPr>
            <a:xfrm>
              <a:off x="7685590" y="4433105"/>
              <a:ext cx="405114" cy="114665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5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5" name="TextBox 484">
            <a:extLst>
              <a:ext uri="{FF2B5EF4-FFF2-40B4-BE49-F238E27FC236}">
                <a16:creationId xmlns:a16="http://schemas.microsoft.com/office/drawing/2014/main" id="{3BE62700-5EF1-A22A-579C-8A6BA4A4F990}"/>
              </a:ext>
            </a:extLst>
          </p:cNvPr>
          <p:cNvSpPr txBox="1"/>
          <p:nvPr/>
        </p:nvSpPr>
        <p:spPr>
          <a:xfrm>
            <a:off x="6277443" y="1060450"/>
            <a:ext cx="2541732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ALU computes</a:t>
            </a:r>
            <a:b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</a:b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address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alu =</a:t>
            </a:r>
            <a:b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R[rs1] + </a:t>
            </a:r>
            <a:r>
              <a:rPr lang="en-US" sz="18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6CA0DF-31D4-49B6-3511-036D69696100}"/>
              </a:ext>
            </a:extLst>
          </p:cNvPr>
          <p:cNvSpPr txBox="1"/>
          <p:nvPr/>
        </p:nvSpPr>
        <p:spPr>
          <a:xfrm>
            <a:off x="8331951" y="998582"/>
            <a:ext cx="2356549" cy="622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800" dirty="0">
                <a:solidFill>
                  <a:schemeClr val="accent6"/>
                </a:solidFill>
                <a:latin typeface="18 VAG Rounded Light   02390" pitchFamily="2" charset="0"/>
              </a:rPr>
              <a:t>Read memory at address </a:t>
            </a:r>
            <a:r>
              <a:rPr lang="en-US" sz="18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alu</a:t>
            </a:r>
            <a:r>
              <a:rPr lang="en-US" sz="1800" dirty="0">
                <a:solidFill>
                  <a:schemeClr val="accent6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94A7673-A4D0-BE03-3F1E-4970BA261443}"/>
              </a:ext>
            </a:extLst>
          </p:cNvPr>
          <p:cNvGrpSpPr/>
          <p:nvPr/>
        </p:nvGrpSpPr>
        <p:grpSpPr>
          <a:xfrm>
            <a:off x="8868629" y="3703397"/>
            <a:ext cx="1685023" cy="260828"/>
            <a:chOff x="8868629" y="3703397"/>
            <a:chExt cx="1685023" cy="260828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1D5FE0A-A326-3E58-9AE2-A78C42D30D06}"/>
                </a:ext>
              </a:extLst>
            </p:cNvPr>
            <p:cNvCxnSpPr>
              <a:cxnSpLocks/>
            </p:cNvCxnSpPr>
            <p:nvPr/>
          </p:nvCxnSpPr>
          <p:spPr>
            <a:xfrm>
              <a:off x="8868629" y="3964225"/>
              <a:ext cx="297442" cy="0"/>
            </a:xfrm>
            <a:prstGeom prst="straightConnector1">
              <a:avLst/>
            </a:prstGeom>
            <a:ln w="57150">
              <a:solidFill>
                <a:schemeClr val="accent6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CF0EB37-722D-BE10-3341-520A82F186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50196" y="3703397"/>
              <a:ext cx="403456" cy="7631"/>
            </a:xfrm>
            <a:prstGeom prst="straightConnector1">
              <a:avLst/>
            </a:prstGeom>
            <a:ln w="57150">
              <a:solidFill>
                <a:schemeClr val="accent6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8" name="TextBox 487">
            <a:extLst>
              <a:ext uri="{FF2B5EF4-FFF2-40B4-BE49-F238E27FC236}">
                <a16:creationId xmlns:a16="http://schemas.microsoft.com/office/drawing/2014/main" id="{E2A20986-136A-CF57-42E2-88B33B17334D}"/>
              </a:ext>
            </a:extLst>
          </p:cNvPr>
          <p:cNvSpPr txBox="1"/>
          <p:nvPr/>
        </p:nvSpPr>
        <p:spPr>
          <a:xfrm>
            <a:off x="655210" y="5562420"/>
            <a:ext cx="901272" cy="4863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PCSel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2"/>
                </a:solidFill>
                <a:latin typeface="18 VAG Rounded Light   02390" pitchFamily="2" charset="0"/>
              </a:rPr>
              <a:t>not taken</a:t>
            </a: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709C80A1-EC09-0612-B28D-26870107E73B}"/>
              </a:ext>
            </a:extLst>
          </p:cNvPr>
          <p:cNvSpPr txBox="1"/>
          <p:nvPr/>
        </p:nvSpPr>
        <p:spPr>
          <a:xfrm>
            <a:off x="4070302" y="5553911"/>
            <a:ext cx="806631" cy="5201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1600" dirty="0">
              <a:solidFill>
                <a:schemeClr val="accent5"/>
              </a:solidFill>
              <a:latin typeface="18 VAG Rounded Light   02390" pitchFamily="2" charset="0"/>
            </a:endParaRPr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42CFEA9C-3D09-1FE1-6038-6F95B9F67B9E}"/>
              </a:ext>
            </a:extLst>
          </p:cNvPr>
          <p:cNvSpPr txBox="1"/>
          <p:nvPr/>
        </p:nvSpPr>
        <p:spPr>
          <a:xfrm>
            <a:off x="5335397" y="5556000"/>
            <a:ext cx="885179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RegWEn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dirty="0">
                <a:solidFill>
                  <a:schemeClr val="accent4"/>
                </a:solidFill>
                <a:latin typeface="18 VAG Rounded Light   02390" pitchFamily="2" charset="0"/>
              </a:rPr>
              <a:t>1</a:t>
            </a:r>
          </a:p>
        </p:txBody>
      </p:sp>
      <p:sp>
        <p:nvSpPr>
          <p:cNvPr id="491" name="TextBox 490">
            <a:extLst>
              <a:ext uri="{FF2B5EF4-FFF2-40B4-BE49-F238E27FC236}">
                <a16:creationId xmlns:a16="http://schemas.microsoft.com/office/drawing/2014/main" id="{70C5FF4C-A2C1-A7A7-415E-3AB5E0BA4652}"/>
              </a:ext>
            </a:extLst>
          </p:cNvPr>
          <p:cNvSpPr txBox="1"/>
          <p:nvPr/>
        </p:nvSpPr>
        <p:spPr>
          <a:xfrm>
            <a:off x="6410974" y="5557569"/>
            <a:ext cx="502061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BrUn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*</a:t>
            </a:r>
          </a:p>
        </p:txBody>
      </p:sp>
      <p:sp>
        <p:nvSpPr>
          <p:cNvPr id="492" name="TextBox 491">
            <a:extLst>
              <a:ext uri="{FF2B5EF4-FFF2-40B4-BE49-F238E27FC236}">
                <a16:creationId xmlns:a16="http://schemas.microsoft.com/office/drawing/2014/main" id="{9E5BE8ED-3784-6732-8088-A36A418D1AA9}"/>
              </a:ext>
            </a:extLst>
          </p:cNvPr>
          <p:cNvSpPr txBox="1"/>
          <p:nvPr/>
        </p:nvSpPr>
        <p:spPr>
          <a:xfrm>
            <a:off x="7560125" y="5526419"/>
            <a:ext cx="449161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accent5"/>
                </a:solidFill>
                <a:latin typeface="18 VAG Rounded Light   02390" pitchFamily="2" charset="0"/>
              </a:rPr>
              <a:t>1</a:t>
            </a:r>
          </a:p>
        </p:txBody>
      </p:sp>
      <p:sp>
        <p:nvSpPr>
          <p:cNvPr id="493" name="TextBox 492">
            <a:extLst>
              <a:ext uri="{FF2B5EF4-FFF2-40B4-BE49-F238E27FC236}">
                <a16:creationId xmlns:a16="http://schemas.microsoft.com/office/drawing/2014/main" id="{8794E30D-69C9-1A09-0704-5A5BFE10F92C}"/>
              </a:ext>
            </a:extLst>
          </p:cNvPr>
          <p:cNvSpPr txBox="1"/>
          <p:nvPr/>
        </p:nvSpPr>
        <p:spPr>
          <a:xfrm>
            <a:off x="7955924" y="5518212"/>
            <a:ext cx="460382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ASel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accent1"/>
                </a:solidFill>
                <a:latin typeface="18 VAG Rounded Light   02390" pitchFamily="2" charset="0"/>
              </a:rPr>
              <a:t>0</a:t>
            </a:r>
          </a:p>
        </p:txBody>
      </p:sp>
      <p:sp>
        <p:nvSpPr>
          <p:cNvPr id="494" name="TextBox 493">
            <a:extLst>
              <a:ext uri="{FF2B5EF4-FFF2-40B4-BE49-F238E27FC236}">
                <a16:creationId xmlns:a16="http://schemas.microsoft.com/office/drawing/2014/main" id="{A2CFC351-138B-ACC6-584F-5FED53E7329D}"/>
              </a:ext>
            </a:extLst>
          </p:cNvPr>
          <p:cNvSpPr txBox="1"/>
          <p:nvPr/>
        </p:nvSpPr>
        <p:spPr>
          <a:xfrm>
            <a:off x="8429817" y="5538557"/>
            <a:ext cx="688971" cy="460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495" name="TextBox 494">
            <a:extLst>
              <a:ext uri="{FF2B5EF4-FFF2-40B4-BE49-F238E27FC236}">
                <a16:creationId xmlns:a16="http://schemas.microsoft.com/office/drawing/2014/main" id="{392D561B-1D3A-45F7-56A2-CFB22D99AA5E}"/>
              </a:ext>
            </a:extLst>
          </p:cNvPr>
          <p:cNvSpPr txBox="1"/>
          <p:nvPr/>
        </p:nvSpPr>
        <p:spPr>
          <a:xfrm>
            <a:off x="9282643" y="5557569"/>
            <a:ext cx="827470" cy="460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MemRW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6"/>
                </a:solidFill>
                <a:latin typeface="18 VAG Rounded Light   02390" pitchFamily="2" charset="0"/>
              </a:rPr>
              <a:t>Read</a:t>
            </a:r>
          </a:p>
        </p:txBody>
      </p:sp>
      <p:sp>
        <p:nvSpPr>
          <p:cNvPr id="496" name="TextBox 495">
            <a:extLst>
              <a:ext uri="{FF2B5EF4-FFF2-40B4-BE49-F238E27FC236}">
                <a16:creationId xmlns:a16="http://schemas.microsoft.com/office/drawing/2014/main" id="{46446076-82F0-570E-B011-24C668C63CB8}"/>
              </a:ext>
            </a:extLst>
          </p:cNvPr>
          <p:cNvSpPr txBox="1"/>
          <p:nvPr/>
        </p:nvSpPr>
        <p:spPr>
          <a:xfrm>
            <a:off x="10249476" y="5559045"/>
            <a:ext cx="655950" cy="460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WBSel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4"/>
                </a:solidFill>
                <a:latin typeface="18 VAG Rounded Light   02390" pitchFamily="2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128094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9F0EF-AD71-22D5-80BB-598DAF527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EB2B21ED-2CC9-EC00-315A-BF6550CAFECC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2FC89B16-D18D-A728-D5B3-7C74CD54315B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36A6C404-C57C-F28F-ECF3-76ED388B4CDB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0C74A4EC-9111-18B3-0BE3-E8D33441672A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977DF57-836B-3E37-6547-7650EC277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Tracing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dirty="0"/>
              <a:t> Datapath (8/8)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18B6D2C2-F8C4-AECB-89CB-B4AC2855B66E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4748ACC9-A213-2760-FF45-2162C2C72576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E3E7E392-8836-452F-32DA-524E14359FEB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2AC5063C-BD16-50B8-057D-9D98DF16BCB7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40EF7C53-61D6-E5F8-7AE4-67C4AE202450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BA8ED889-1D86-1838-DDEB-8FD56091F751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BCDDAF01-46E2-FBF6-B1C8-3405C93DD5D9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F5011C1D-FABA-EC2F-4824-3C0F882D29F3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27FC1093-F4AB-B60F-4C40-C7D68374C1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31B6DF4E-1E93-0AB8-A35F-6757E623DD84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8517BCF5-3DD3-C40F-5361-4B5E10CE5F4A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08EBDF19-A4DF-BFCC-FB2C-263B0C169C99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8846402C-EC50-9F50-DC76-871F7EB93D7D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BEE3A357-4C5B-4EA6-853B-FC008F014CF8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EEA52B76-0D0B-0A77-09AC-40397877E7A5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9529BC6B-514F-10A6-8559-8C1B3E8179F8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6B6AFB11-3A9E-9B7C-E3ED-7E3D684A1F5F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7716CC68-CA67-CDF6-A936-6889C04E84B1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23CF4094-FB52-2D35-41F3-A0C1180FB840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74A85610-DFE8-71C8-4065-1C4F21A3E2D0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6E7C8470-163A-1838-E577-B8CD6B8A9E54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AEA527E7-1F1F-D911-E09E-06DDE6D1D1D1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3BB7E2C5-4DEE-7092-1432-4B23AD0CFB1E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9882FC73-22FD-9B56-AA8E-DBA411113FAF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BC8F1F3F-0F63-B9E7-0300-95A2DDBDCEEA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5DB6BE5B-8888-AB8D-5697-2CC5E2924673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BA343C1D-52D7-62C1-4B63-FEE53F8D2308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0E1362F2-A28B-022B-DA4E-CEAFC2B88970}"/>
              </a:ext>
            </a:extLst>
          </p:cNvPr>
          <p:cNvCxnSpPr>
            <a:stCxn id="457" idx="0"/>
          </p:cNvCxnSpPr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1" name="TextBox 460">
            <a:extLst>
              <a:ext uri="{FF2B5EF4-FFF2-40B4-BE49-F238E27FC236}">
                <a16:creationId xmlns:a16="http://schemas.microsoft.com/office/drawing/2014/main" id="{C004E140-5083-13DB-1478-9CA03BAC64D1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C3AF7348-FC17-1909-68A8-4882EF287D10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31CAF59B-E595-B0AB-1DAF-8426F9BA845C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52178A71-ADE9-FBC0-9573-5656CD00F10C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D6420B3E-980E-D201-702F-F762FA208560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D70DED58-ACAE-6B9E-8E54-0719A6768A38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646CFB3A-8A24-765D-0613-70D14A104690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4F319BEF-BEF4-B795-E950-752E9E1C4A29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CDA6B2DC-48FF-9221-08A1-2204779781CF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841FA00D-28CF-97C2-883A-910BC604730C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9BC61E0E-8B87-FE55-15D1-B8491EF5BF73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953C4242-0705-392E-E965-98F4971EE05A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4DDD0B90-5A18-DB24-1FC8-EDF75469E1D6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BDD91EDB-B021-07A6-0108-FCF097F9C4E4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4666AE51-F6DE-83A1-9D56-F28BABB082B9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8EBFD5-EEB4-A2EB-16C2-B820F92B85DE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AB966F7-4863-10A5-3AFE-E2DEC4825116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C7688C8-4B5B-64ED-FF8F-CAA20D493083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6EAD4AF-9A94-C253-E49B-B535F5DB2D9C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1CEB14-0E11-4EC9-6071-728E3CA7FFB0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DE43D20-7F41-BB91-64E4-D003A8E9554F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1564A78E-AB98-6A3A-1938-0FB23BD9C90C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FF3C5AC1-ED5F-5324-F5ED-3C3617A8550C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91354B9E-5FB7-5FA0-46A8-A49274E15CDB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DCC6E2BC-CB83-26F9-29F1-051E3B506AE8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66062CD3-47B0-4918-6845-3E7A4ACC640D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E3587F8D-82B3-FDB0-FC53-15509C6D4C36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14362747-4303-569F-B677-C4DE85ACA8BE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5B587FA6-E81B-16FA-51BD-25CEF3A726C4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0A6E6BAA-6E22-60E8-E3A4-824F1919C0B4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1D404294-9B22-8D66-5C3D-8D5139D710F7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7D3594C0-12AA-9CAD-3B38-6F1E1AF9F8C3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78FF1A33-2BC0-0C5C-5496-176C6ADE987F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89669D34-2FBE-0B3F-920A-986E5AE03ABF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8A5A6BD8-DD52-FA3B-B8A8-443B81E33007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AFF18FA-23F0-EECF-CA1E-DD4D7873508A}"/>
              </a:ext>
            </a:extLst>
          </p:cNvPr>
          <p:cNvGrpSpPr/>
          <p:nvPr/>
        </p:nvGrpSpPr>
        <p:grpSpPr>
          <a:xfrm>
            <a:off x="1780532" y="2965993"/>
            <a:ext cx="673038" cy="703576"/>
            <a:chOff x="1780532" y="2965993"/>
            <a:chExt cx="673038" cy="703576"/>
          </a:xfrm>
        </p:grpSpPr>
        <p:cxnSp>
          <p:nvCxnSpPr>
            <p:cNvPr id="12" name="Elbow Connector 11">
              <a:extLst>
                <a:ext uri="{FF2B5EF4-FFF2-40B4-BE49-F238E27FC236}">
                  <a16:creationId xmlns:a16="http://schemas.microsoft.com/office/drawing/2014/main" id="{D92E1612-569F-C14F-8CCF-58E59E4F5CBF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018ACA9-B1F9-D749-8EC6-8A75B76210F1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CD7F337-26CD-8A8A-0AB2-89EA727A0966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66530CF-9090-A08C-8520-8DDE58178A9B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44" name="Elbow Connector 43">
              <a:extLst>
                <a:ext uri="{FF2B5EF4-FFF2-40B4-BE49-F238E27FC236}">
                  <a16:creationId xmlns:a16="http://schemas.microsoft.com/office/drawing/2014/main" id="{4D25FB25-A00B-16FA-D523-DC9F55CD27A5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>
              <a:extLst>
                <a:ext uri="{FF2B5EF4-FFF2-40B4-BE49-F238E27FC236}">
                  <a16:creationId xmlns:a16="http://schemas.microsoft.com/office/drawing/2014/main" id="{BC03DE7D-7B11-C679-008E-8AFBB3F0BDE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CAAC8FAD-A1DC-61CB-328C-A599B850ADB6}"/>
                </a:ext>
              </a:extLst>
            </p:cNvPr>
            <p:cNvCxnSpPr>
              <a:cxnSpLocks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481B35E8-8B49-E3C5-99BE-570991499113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rapezoid 47">
            <a:extLst>
              <a:ext uri="{FF2B5EF4-FFF2-40B4-BE49-F238E27FC236}">
                <a16:creationId xmlns:a16="http://schemas.microsoft.com/office/drawing/2014/main" id="{30D31370-A2D0-45DC-2599-06D0610F80B6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49" name="Trapezoid 48">
            <a:extLst>
              <a:ext uri="{FF2B5EF4-FFF2-40B4-BE49-F238E27FC236}">
                <a16:creationId xmlns:a16="http://schemas.microsoft.com/office/drawing/2014/main" id="{82ACFE00-2F8B-5790-094F-88357AC2FD02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50" name="Trapezoid 49">
            <a:extLst>
              <a:ext uri="{FF2B5EF4-FFF2-40B4-BE49-F238E27FC236}">
                <a16:creationId xmlns:a16="http://schemas.microsoft.com/office/drawing/2014/main" id="{820D4871-4F65-3893-CA71-92BC758704E9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4E3E2C7B-BECA-4431-8F2E-B260778CA7D5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44E7D77-CB21-48F6-1FED-4AEC62CB3218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74CCAC6-F45C-4580-BA0E-44A3E043354A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962CD93-554C-7417-5C8B-6710753D88B6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0F86BE6-AE8E-85CB-6939-D42EDB91DAE5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DA8B3597-B4B0-FD29-7205-2E0BE87B2FD0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54" name="Elbow Connector 53">
                  <a:extLst>
                    <a:ext uri="{FF2B5EF4-FFF2-40B4-BE49-F238E27FC236}">
                      <a16:creationId xmlns:a16="http://schemas.microsoft.com/office/drawing/2014/main" id="{D72FA893-3395-1E53-1C6D-E0E010892D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510F759F-C1A9-648D-8FC0-25D818E357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84AAB208-DC78-1683-2412-9BD135A4A5B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8CE0B24-AE78-85DB-C79E-AEABAD1F7990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2616277-867B-6058-EFFE-2CB110B1CA6E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9DD1436-39E0-A194-1858-88ED5F457267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chemeClr val="tx1">
                <a:alpha val="67000"/>
              </a:schemeClr>
            </a:glow>
          </a:effectLst>
        </p:grpSpPr>
        <p:cxnSp>
          <p:nvCxnSpPr>
            <p:cNvPr id="6" name="Elbow Connector 5">
              <a:extLst>
                <a:ext uri="{FF2B5EF4-FFF2-40B4-BE49-F238E27FC236}">
                  <a16:creationId xmlns:a16="http://schemas.microsoft.com/office/drawing/2014/main" id="{04A75E4C-CF46-1A48-44ED-C13B2FCBBC3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D76FFB0-D666-3F79-14F8-84FCD0AA24AE}"/>
                </a:ext>
              </a:extLst>
            </p:cNvPr>
            <p:cNvCxnSpPr>
              <a:cxnSpLocks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D73CCF6C-D32B-274D-A18D-6BAB6BE350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54E339D3-AECC-3903-3ACB-300B083C0089}"/>
              </a:ext>
            </a:extLst>
          </p:cNvPr>
          <p:cNvGrpSpPr/>
          <p:nvPr/>
        </p:nvGrpSpPr>
        <p:grpSpPr>
          <a:xfrm>
            <a:off x="10549378" y="2970605"/>
            <a:ext cx="267680" cy="873172"/>
            <a:chOff x="10468098" y="2970605"/>
            <a:chExt cx="267680" cy="873172"/>
          </a:xfrm>
        </p:grpSpPr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3A7A4DBA-16F1-30E3-FEEA-956848F6CE2C}"/>
                </a:ext>
              </a:extLst>
            </p:cNvPr>
            <p:cNvSpPr/>
            <p:nvPr/>
          </p:nvSpPr>
          <p:spPr>
            <a:xfrm>
              <a:off x="10468098" y="3076083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75002764-7A8A-BFA4-A6D7-B541DCCFB549}"/>
                </a:ext>
              </a:extLst>
            </p:cNvPr>
            <p:cNvSpPr/>
            <p:nvPr/>
          </p:nvSpPr>
          <p:spPr>
            <a:xfrm>
              <a:off x="10468098" y="3321131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1AD8DEB0-678E-B31F-67F6-EDCBA8E26F6F}"/>
                </a:ext>
              </a:extLst>
            </p:cNvPr>
            <p:cNvSpPr/>
            <p:nvPr/>
          </p:nvSpPr>
          <p:spPr>
            <a:xfrm>
              <a:off x="10468098" y="3584336"/>
              <a:ext cx="158767" cy="130407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23" name="Trapezoid 322">
              <a:extLst>
                <a:ext uri="{FF2B5EF4-FFF2-40B4-BE49-F238E27FC236}">
                  <a16:creationId xmlns:a16="http://schemas.microsoft.com/office/drawing/2014/main" id="{0DAB1C34-5FE6-A27D-0648-BD130F4CBA61}"/>
                </a:ext>
              </a:extLst>
            </p:cNvPr>
            <p:cNvSpPr/>
            <p:nvPr/>
          </p:nvSpPr>
          <p:spPr>
            <a:xfrm rot="5400000">
              <a:off x="10165352" y="3273351"/>
              <a:ext cx="873172" cy="267680"/>
            </a:xfrm>
            <a:prstGeom prst="trapezoid">
              <a:avLst>
                <a:gd name="adj" fmla="val 62818"/>
              </a:avLst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</a:p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6506A55C-58F3-AD85-9C22-A9A7159B9D6D}"/>
              </a:ext>
            </a:extLst>
          </p:cNvPr>
          <p:cNvSpPr txBox="1"/>
          <p:nvPr/>
        </p:nvSpPr>
        <p:spPr>
          <a:xfrm>
            <a:off x="293424" y="1063996"/>
            <a:ext cx="263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593B93E-B23F-3A4D-FB7C-2FA9ABE6D865}"/>
              </a:ext>
            </a:extLst>
          </p:cNvPr>
          <p:cNvGrpSpPr/>
          <p:nvPr/>
        </p:nvGrpSpPr>
        <p:grpSpPr>
          <a:xfrm>
            <a:off x="668759" y="2260284"/>
            <a:ext cx="2699311" cy="1670895"/>
            <a:chOff x="668759" y="2260284"/>
            <a:chExt cx="2699311" cy="167089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A5CF6E2C-C47D-A175-8587-5612F5E05092}"/>
                </a:ext>
              </a:extLst>
            </p:cNvPr>
            <p:cNvGrpSpPr/>
            <p:nvPr/>
          </p:nvGrpSpPr>
          <p:grpSpPr>
            <a:xfrm>
              <a:off x="668759" y="2260284"/>
              <a:ext cx="2699311" cy="1670895"/>
              <a:chOff x="668759" y="2260284"/>
              <a:chExt cx="2699311" cy="1670895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79C324E-D736-9D79-F217-407499A10B7F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D84686B6-D4FA-3E7B-F31E-526E409E5E7C}"/>
                  </a:ext>
                </a:extLst>
              </p:cNvPr>
              <p:cNvGrpSpPr/>
              <p:nvPr/>
            </p:nvGrpSpPr>
            <p:grpSpPr>
              <a:xfrm>
                <a:off x="668759" y="2260284"/>
                <a:ext cx="2699311" cy="1409285"/>
                <a:chOff x="668759" y="2260284"/>
                <a:chExt cx="2699311" cy="1409285"/>
              </a:xfr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07367CA7-E58A-5CF3-279A-6E87441F23B7}"/>
                    </a:ext>
                  </a:extLst>
                </p:cNvPr>
                <p:cNvGrpSpPr/>
                <p:nvPr/>
              </p:nvGrpSpPr>
              <p:grpSpPr>
                <a:xfrm>
                  <a:off x="668759" y="2260284"/>
                  <a:ext cx="2699311" cy="1409285"/>
                  <a:chOff x="668759" y="2260284"/>
                  <a:chExt cx="2699311" cy="1409285"/>
                </a:xfrm>
              </p:grpSpPr>
              <p:cxnSp>
                <p:nvCxnSpPr>
                  <p:cNvPr id="58" name="Straight Arrow Connector 57">
                    <a:extLst>
                      <a:ext uri="{FF2B5EF4-FFF2-40B4-BE49-F238E27FC236}">
                        <a16:creationId xmlns:a16="http://schemas.microsoft.com/office/drawing/2014/main" id="{495D9404-BCF5-5B1C-B4C6-C095A5CFA95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70363" y="3643964"/>
                    <a:ext cx="274320" cy="0"/>
                  </a:xfrm>
                  <a:prstGeom prst="straightConnector1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59" name="Group 58">
                    <a:extLst>
                      <a:ext uri="{FF2B5EF4-FFF2-40B4-BE49-F238E27FC236}">
                        <a16:creationId xmlns:a16="http://schemas.microsoft.com/office/drawing/2014/main" id="{4C3D8C2E-44BE-DB89-FD55-5566B8213EA2}"/>
                      </a:ext>
                    </a:extLst>
                  </p:cNvPr>
                  <p:cNvGrpSpPr/>
                  <p:nvPr/>
                </p:nvGrpSpPr>
                <p:grpSpPr>
                  <a:xfrm>
                    <a:off x="1780532" y="2965993"/>
                    <a:ext cx="673038" cy="703576"/>
                    <a:chOff x="1780532" y="2965993"/>
                    <a:chExt cx="673038" cy="703576"/>
                  </a:xfrm>
                </p:grpSpPr>
                <p:cxnSp>
                  <p:nvCxnSpPr>
                    <p:cNvPr id="63" name="Elbow Connector 62">
                      <a:extLst>
                        <a:ext uri="{FF2B5EF4-FFF2-40B4-BE49-F238E27FC236}">
                          <a16:creationId xmlns:a16="http://schemas.microsoft.com/office/drawing/2014/main" id="{2AA56F72-2321-E18E-7F6C-4EF7F4781DA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H="1" flipV="1">
                      <a:off x="1830481" y="3046480"/>
                      <a:ext cx="703576" cy="542602"/>
                    </a:xfrm>
                    <a:prstGeom prst="bentConnector3">
                      <a:avLst>
                        <a:gd name="adj1" fmla="val 100542"/>
                      </a:avLst>
                    </a:prstGeom>
                    <a:ln w="57150">
                      <a:solidFill>
                        <a:schemeClr val="accent2"/>
                      </a:solidFill>
                      <a:headEnd type="oval" w="sm" len="sm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0" name="Straight Connector 449">
                      <a:extLst>
                        <a:ext uri="{FF2B5EF4-FFF2-40B4-BE49-F238E27FC236}">
                          <a16:creationId xmlns:a16="http://schemas.microsoft.com/office/drawing/2014/main" id="{12E50942-8AAC-35B6-2CC6-1FCD94A00DA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80532" y="3655540"/>
                      <a:ext cx="130436" cy="0"/>
                    </a:xfrm>
                    <a:prstGeom prst="line">
                      <a:avLst/>
                    </a:prstGeom>
                    <a:ln w="57150">
                      <a:solidFill>
                        <a:schemeClr val="accent2"/>
                      </a:solidFill>
                      <a:tailEnd type="non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C001A62B-7AED-7AD9-A746-A2B28E45CC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68759" y="2260284"/>
                    <a:ext cx="2697480" cy="1985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headEnd w="sm" len="sm"/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Elbow Connector 60">
                    <a:extLst>
                      <a:ext uri="{FF2B5EF4-FFF2-40B4-BE49-F238E27FC236}">
                        <a16:creationId xmlns:a16="http://schemas.microsoft.com/office/drawing/2014/main" id="{19A938CE-B8C0-6036-4740-22E612F34C7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2993946" y="2363686"/>
                    <a:ext cx="477525" cy="270723"/>
                  </a:xfrm>
                  <a:prstGeom prst="bentConnector3">
                    <a:avLst>
                      <a:gd name="adj1" fmla="val -5318"/>
                    </a:avLst>
                  </a:prstGeom>
                  <a:ln w="57150">
                    <a:solidFill>
                      <a:schemeClr val="accent2"/>
                    </a:solidFill>
                    <a:headEnd w="sm" len="sm"/>
                    <a:tailEnd type="oval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Elbow Connector 61">
                    <a:extLst>
                      <a:ext uri="{FF2B5EF4-FFF2-40B4-BE49-F238E27FC236}">
                        <a16:creationId xmlns:a16="http://schemas.microsoft.com/office/drawing/2014/main" id="{523BF0D7-45C2-F1FE-CDB2-0EFF5457BC9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191279" y="2758010"/>
                    <a:ext cx="1230930" cy="235480"/>
                  </a:xfrm>
                  <a:prstGeom prst="bentConnector2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7" name="Freeform 56">
                  <a:extLst>
                    <a:ext uri="{FF2B5EF4-FFF2-40B4-BE49-F238E27FC236}">
                      <a16:creationId xmlns:a16="http://schemas.microsoft.com/office/drawing/2014/main" id="{CE914871-41A1-5DFC-3998-49EDCAB7DF1F}"/>
                    </a:ext>
                  </a:extLst>
                </p:cNvPr>
                <p:cNvSpPr/>
                <p:nvPr/>
              </p:nvSpPr>
              <p:spPr>
                <a:xfrm flipV="1">
                  <a:off x="881793" y="3462503"/>
                  <a:ext cx="405114" cy="183691"/>
                </a:xfrm>
                <a:custGeom>
                  <a:avLst/>
                  <a:gdLst>
                    <a:gd name="connsiteX0" fmla="*/ 0 w 405114"/>
                    <a:gd name="connsiteY0" fmla="*/ 150471 h 162045"/>
                    <a:gd name="connsiteX1" fmla="*/ 57873 w 405114"/>
                    <a:gd name="connsiteY1" fmla="*/ 162045 h 162045"/>
                    <a:gd name="connsiteX2" fmla="*/ 104172 w 405114"/>
                    <a:gd name="connsiteY2" fmla="*/ 150471 h 162045"/>
                    <a:gd name="connsiteX3" fmla="*/ 208344 w 405114"/>
                    <a:gd name="connsiteY3" fmla="*/ 92597 h 162045"/>
                    <a:gd name="connsiteX4" fmla="*/ 254643 w 405114"/>
                    <a:gd name="connsiteY4" fmla="*/ 46298 h 162045"/>
                    <a:gd name="connsiteX5" fmla="*/ 358815 w 405114"/>
                    <a:gd name="connsiteY5" fmla="*/ 0 h 162045"/>
                    <a:gd name="connsiteX6" fmla="*/ 405114 w 405114"/>
                    <a:gd name="connsiteY6" fmla="*/ 0 h 1620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05114" h="162045">
                      <a:moveTo>
                        <a:pt x="0" y="150471"/>
                      </a:moveTo>
                      <a:cubicBezTo>
                        <a:pt x="19291" y="154329"/>
                        <a:pt x="38200" y="162045"/>
                        <a:pt x="57873" y="162045"/>
                      </a:cubicBezTo>
                      <a:cubicBezTo>
                        <a:pt x="73781" y="162045"/>
                        <a:pt x="88876" y="154841"/>
                        <a:pt x="104172" y="150471"/>
                      </a:cubicBezTo>
                      <a:cubicBezTo>
                        <a:pt x="144925" y="138827"/>
                        <a:pt x="175184" y="125757"/>
                        <a:pt x="208344" y="92597"/>
                      </a:cubicBezTo>
                      <a:cubicBezTo>
                        <a:pt x="223777" y="77164"/>
                        <a:pt x="236483" y="58405"/>
                        <a:pt x="254643" y="46298"/>
                      </a:cubicBezTo>
                      <a:cubicBezTo>
                        <a:pt x="286113" y="25318"/>
                        <a:pt x="317492" y="0"/>
                        <a:pt x="358815" y="0"/>
                      </a:cubicBezTo>
                      <a:lnTo>
                        <a:pt x="405114" y="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79BC3AF-8CBC-9286-09A2-DFD1763CB1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381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3" name="TextBox 462">
            <a:extLst>
              <a:ext uri="{FF2B5EF4-FFF2-40B4-BE49-F238E27FC236}">
                <a16:creationId xmlns:a16="http://schemas.microsoft.com/office/drawing/2014/main" id="{081B780B-DB68-116B-B465-5B0E38AFCD13}"/>
              </a:ext>
            </a:extLst>
          </p:cNvPr>
          <p:cNvSpPr txBox="1"/>
          <p:nvPr/>
        </p:nvSpPr>
        <p:spPr>
          <a:xfrm>
            <a:off x="3486169" y="1063996"/>
            <a:ext cx="2831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Generate </a:t>
            </a:r>
            <a:r>
              <a:rPr lang="en-US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 with upper 12 bits. (I-Type)</a:t>
            </a:r>
          </a:p>
        </p:txBody>
      </p:sp>
      <p:grpSp>
        <p:nvGrpSpPr>
          <p:cNvPr id="467" name="Group 466">
            <a:extLst>
              <a:ext uri="{FF2B5EF4-FFF2-40B4-BE49-F238E27FC236}">
                <a16:creationId xmlns:a16="http://schemas.microsoft.com/office/drawing/2014/main" id="{4E1492F2-F86C-24C9-C53F-951896243CED}"/>
              </a:ext>
            </a:extLst>
          </p:cNvPr>
          <p:cNvGrpSpPr/>
          <p:nvPr/>
        </p:nvGrpSpPr>
        <p:grpSpPr>
          <a:xfrm>
            <a:off x="3062789" y="3429000"/>
            <a:ext cx="4683138" cy="2117475"/>
            <a:chOff x="3062789" y="3429000"/>
            <a:chExt cx="4683138" cy="2117475"/>
          </a:xfrm>
        </p:grpSpPr>
        <p:grpSp>
          <p:nvGrpSpPr>
            <p:cNvPr id="451" name="Group 450">
              <a:extLst>
                <a:ext uri="{FF2B5EF4-FFF2-40B4-BE49-F238E27FC236}">
                  <a16:creationId xmlns:a16="http://schemas.microsoft.com/office/drawing/2014/main" id="{500505D9-B1F8-72AC-21E8-B276DFDD2515}"/>
                </a:ext>
              </a:extLst>
            </p:cNvPr>
            <p:cNvGrpSpPr/>
            <p:nvPr/>
          </p:nvGrpSpPr>
          <p:grpSpPr>
            <a:xfrm>
              <a:off x="3062789" y="3429000"/>
              <a:ext cx="4683138" cy="2117475"/>
              <a:chOff x="3062789" y="3429000"/>
              <a:chExt cx="4683138" cy="2117475"/>
            </a:xfrm>
          </p:grpSpPr>
          <p:grpSp>
            <p:nvGrpSpPr>
              <p:cNvPr id="452" name="Group 451">
                <a:extLst>
                  <a:ext uri="{FF2B5EF4-FFF2-40B4-BE49-F238E27FC236}">
                    <a16:creationId xmlns:a16="http://schemas.microsoft.com/office/drawing/2014/main" id="{81645F30-FA43-6D4F-4B4A-2EBC53D95125}"/>
                  </a:ext>
                </a:extLst>
              </p:cNvPr>
              <p:cNvGrpSpPr/>
              <p:nvPr/>
            </p:nvGrpSpPr>
            <p:grpSpPr>
              <a:xfrm>
                <a:off x="3191223" y="3971033"/>
                <a:ext cx="4554704" cy="1575442"/>
                <a:chOff x="3191225" y="3962068"/>
                <a:chExt cx="4554704" cy="1575442"/>
              </a:xfrm>
            </p:grpSpPr>
            <p:cxnSp>
              <p:nvCxnSpPr>
                <p:cNvPr id="455" name="Straight Arrow Connector 454">
                  <a:extLst>
                    <a:ext uri="{FF2B5EF4-FFF2-40B4-BE49-F238E27FC236}">
                      <a16:creationId xmlns:a16="http://schemas.microsoft.com/office/drawing/2014/main" id="{5E158FAB-1AA9-9606-4327-BD22A269CD47}"/>
                    </a:ext>
                  </a:extLst>
                </p:cNvPr>
                <p:cNvCxnSpPr/>
                <p:nvPr/>
              </p:nvCxnSpPr>
              <p:spPr>
                <a:xfrm>
                  <a:off x="3193946" y="3962068"/>
                  <a:ext cx="0" cy="1575442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9" name="Straight Arrow Connector 458">
                  <a:extLst>
                    <a:ext uri="{FF2B5EF4-FFF2-40B4-BE49-F238E27FC236}">
                      <a16:creationId xmlns:a16="http://schemas.microsoft.com/office/drawing/2014/main" id="{11461EE2-25AD-C10F-118F-2B2C25CDD3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91225" y="5015025"/>
                  <a:ext cx="932688" cy="0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0" name="Elbow Connector 459">
                  <a:extLst>
                    <a:ext uri="{FF2B5EF4-FFF2-40B4-BE49-F238E27FC236}">
                      <a16:creationId xmlns:a16="http://schemas.microsoft.com/office/drawing/2014/main" id="{E1FCA04A-8EE4-C1E8-B7EE-C7DDC66B19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4808959" y="4530234"/>
                  <a:ext cx="2936970" cy="596712"/>
                </a:xfrm>
                <a:prstGeom prst="bentConnector3">
                  <a:avLst>
                    <a:gd name="adj1" fmla="val 92537"/>
                  </a:avLst>
                </a:prstGeom>
                <a:ln w="57150">
                  <a:solidFill>
                    <a:schemeClr val="accent5"/>
                  </a:solidFill>
                  <a:tailEnd type="triangle" w="med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53" name="Elbow Connector 452">
                <a:extLst>
                  <a:ext uri="{FF2B5EF4-FFF2-40B4-BE49-F238E27FC236}">
                    <a16:creationId xmlns:a16="http://schemas.microsoft.com/office/drawing/2014/main" id="{AB6A16A5-AD49-C933-0CF9-EB1FD9A6A6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62789" y="3429000"/>
                <a:ext cx="1765694" cy="524103"/>
              </a:xfrm>
              <a:prstGeom prst="bentConnector3">
                <a:avLst>
                  <a:gd name="adj1" fmla="val 17967"/>
                </a:avLst>
              </a:prstGeom>
              <a:ln w="57150">
                <a:solidFill>
                  <a:schemeClr val="accent5"/>
                </a:solidFill>
                <a:headEnd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64" name="Straight Arrow Connector 463">
              <a:extLst>
                <a:ext uri="{FF2B5EF4-FFF2-40B4-BE49-F238E27FC236}">
                  <a16:creationId xmlns:a16="http://schemas.microsoft.com/office/drawing/2014/main" id="{EFAA6472-626A-D920-8788-43528B476845}"/>
                </a:ext>
              </a:extLst>
            </p:cNvPr>
            <p:cNvCxnSpPr>
              <a:cxnSpLocks/>
            </p:cNvCxnSpPr>
            <p:nvPr/>
          </p:nvCxnSpPr>
          <p:spPr>
            <a:xfrm>
              <a:off x="3370822" y="3685038"/>
              <a:ext cx="1453897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8" name="Group 467">
            <a:extLst>
              <a:ext uri="{FF2B5EF4-FFF2-40B4-BE49-F238E27FC236}">
                <a16:creationId xmlns:a16="http://schemas.microsoft.com/office/drawing/2014/main" id="{4D1B1427-492F-F8B1-FD64-F526AAE36263}"/>
              </a:ext>
            </a:extLst>
          </p:cNvPr>
          <p:cNvGrpSpPr/>
          <p:nvPr/>
        </p:nvGrpSpPr>
        <p:grpSpPr>
          <a:xfrm>
            <a:off x="7709119" y="3666625"/>
            <a:ext cx="585916" cy="88926"/>
            <a:chOff x="7709119" y="3666625"/>
            <a:chExt cx="585916" cy="88926"/>
          </a:xfrm>
        </p:grpSpPr>
        <p:cxnSp>
          <p:nvCxnSpPr>
            <p:cNvPr id="470" name="Straight Arrow Connector 469">
              <a:extLst>
                <a:ext uri="{FF2B5EF4-FFF2-40B4-BE49-F238E27FC236}">
                  <a16:creationId xmlns:a16="http://schemas.microsoft.com/office/drawing/2014/main" id="{005B8C43-BC36-506E-86BD-920A876CCF2C}"/>
                </a:ext>
              </a:extLst>
            </p:cNvPr>
            <p:cNvCxnSpPr>
              <a:cxnSpLocks/>
            </p:cNvCxnSpPr>
            <p:nvPr/>
          </p:nvCxnSpPr>
          <p:spPr>
            <a:xfrm>
              <a:off x="7993283" y="3671810"/>
              <a:ext cx="301752" cy="149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1" name="Freeform 470">
              <a:extLst>
                <a:ext uri="{FF2B5EF4-FFF2-40B4-BE49-F238E27FC236}">
                  <a16:creationId xmlns:a16="http://schemas.microsoft.com/office/drawing/2014/main" id="{F80C63E0-2148-EC7E-E046-9CD15E628DC1}"/>
                </a:ext>
              </a:extLst>
            </p:cNvPr>
            <p:cNvSpPr/>
            <p:nvPr/>
          </p:nvSpPr>
          <p:spPr>
            <a:xfrm flipV="1">
              <a:off x="7709119" y="3666625"/>
              <a:ext cx="310910" cy="88926"/>
            </a:xfrm>
            <a:custGeom>
              <a:avLst/>
              <a:gdLst>
                <a:gd name="connsiteX0" fmla="*/ 0 w 532436"/>
                <a:gd name="connsiteY0" fmla="*/ 0 h 219937"/>
                <a:gd name="connsiteX1" fmla="*/ 57874 w 532436"/>
                <a:gd name="connsiteY1" fmla="*/ 23150 h 219937"/>
                <a:gd name="connsiteX2" fmla="*/ 127322 w 532436"/>
                <a:gd name="connsiteY2" fmla="*/ 34724 h 219937"/>
                <a:gd name="connsiteX3" fmla="*/ 208344 w 532436"/>
                <a:gd name="connsiteY3" fmla="*/ 57874 h 219937"/>
                <a:gd name="connsiteX4" fmla="*/ 231494 w 532436"/>
                <a:gd name="connsiteY4" fmla="*/ 81023 h 219937"/>
                <a:gd name="connsiteX5" fmla="*/ 300942 w 532436"/>
                <a:gd name="connsiteY5" fmla="*/ 127322 h 219937"/>
                <a:gd name="connsiteX6" fmla="*/ 324091 w 532436"/>
                <a:gd name="connsiteY6" fmla="*/ 162046 h 219937"/>
                <a:gd name="connsiteX7" fmla="*/ 393539 w 532436"/>
                <a:gd name="connsiteY7" fmla="*/ 185195 h 219937"/>
                <a:gd name="connsiteX8" fmla="*/ 416689 w 532436"/>
                <a:gd name="connsiteY8" fmla="*/ 208345 h 219937"/>
                <a:gd name="connsiteX9" fmla="*/ 497712 w 532436"/>
                <a:gd name="connsiteY9" fmla="*/ 208345 h 219937"/>
                <a:gd name="connsiteX10" fmla="*/ 532436 w 532436"/>
                <a:gd name="connsiteY10" fmla="*/ 173621 h 219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32436" h="219937">
                  <a:moveTo>
                    <a:pt x="0" y="0"/>
                  </a:moveTo>
                  <a:cubicBezTo>
                    <a:pt x="19291" y="7717"/>
                    <a:pt x="37829" y="17683"/>
                    <a:pt x="57874" y="23150"/>
                  </a:cubicBezTo>
                  <a:cubicBezTo>
                    <a:pt x="80516" y="29325"/>
                    <a:pt x="104309" y="30121"/>
                    <a:pt x="127322" y="34724"/>
                  </a:cubicBezTo>
                  <a:cubicBezTo>
                    <a:pt x="163652" y="41990"/>
                    <a:pt x="175252" y="46843"/>
                    <a:pt x="208344" y="57874"/>
                  </a:cubicBezTo>
                  <a:cubicBezTo>
                    <a:pt x="216061" y="65590"/>
                    <a:pt x="222764" y="74475"/>
                    <a:pt x="231494" y="81023"/>
                  </a:cubicBezTo>
                  <a:cubicBezTo>
                    <a:pt x="253752" y="97716"/>
                    <a:pt x="300942" y="127322"/>
                    <a:pt x="300942" y="127322"/>
                  </a:cubicBezTo>
                  <a:cubicBezTo>
                    <a:pt x="308658" y="138897"/>
                    <a:pt x="312295" y="154673"/>
                    <a:pt x="324091" y="162046"/>
                  </a:cubicBezTo>
                  <a:cubicBezTo>
                    <a:pt x="344783" y="174979"/>
                    <a:pt x="393539" y="185195"/>
                    <a:pt x="393539" y="185195"/>
                  </a:cubicBezTo>
                  <a:cubicBezTo>
                    <a:pt x="401256" y="192912"/>
                    <a:pt x="407331" y="202730"/>
                    <a:pt x="416689" y="208345"/>
                  </a:cubicBezTo>
                  <a:cubicBezTo>
                    <a:pt x="450875" y="228856"/>
                    <a:pt x="459955" y="217784"/>
                    <a:pt x="497712" y="208345"/>
                  </a:cubicBezTo>
                  <a:lnTo>
                    <a:pt x="532436" y="173621"/>
                  </a:lnTo>
                </a:path>
              </a:pathLst>
            </a:custGeom>
            <a:noFill/>
            <a:ln w="571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182F3505-BF05-B609-AD2F-BEDFE7536929}"/>
              </a:ext>
            </a:extLst>
          </p:cNvPr>
          <p:cNvGrpSpPr/>
          <p:nvPr/>
        </p:nvGrpSpPr>
        <p:grpSpPr>
          <a:xfrm>
            <a:off x="6249574" y="3670874"/>
            <a:ext cx="1513202" cy="94632"/>
            <a:chOff x="6249574" y="3681034"/>
            <a:chExt cx="1513202" cy="94632"/>
          </a:xfrm>
        </p:grpSpPr>
        <p:cxnSp>
          <p:nvCxnSpPr>
            <p:cNvPr id="480" name="Elbow Connector 479">
              <a:extLst>
                <a:ext uri="{FF2B5EF4-FFF2-40B4-BE49-F238E27FC236}">
                  <a16:creationId xmlns:a16="http://schemas.microsoft.com/office/drawing/2014/main" id="{E5D99879-7AA3-E0A1-8554-C0EE71C7E6A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031628" y="3044518"/>
              <a:ext cx="94632" cy="1367664"/>
            </a:xfrm>
            <a:prstGeom prst="bentConnector4">
              <a:avLst>
                <a:gd name="adj1" fmla="val -456294"/>
                <a:gd name="adj2" fmla="val 76963"/>
              </a:avLst>
            </a:prstGeom>
            <a:ln w="57150">
              <a:solidFill>
                <a:schemeClr val="accent1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>
              <a:extLst>
                <a:ext uri="{FF2B5EF4-FFF2-40B4-BE49-F238E27FC236}">
                  <a16:creationId xmlns:a16="http://schemas.microsoft.com/office/drawing/2014/main" id="{992617B9-B75B-74BF-1315-C2C1685BCB38}"/>
                </a:ext>
              </a:extLst>
            </p:cNvPr>
            <p:cNvCxnSpPr/>
            <p:nvPr/>
          </p:nvCxnSpPr>
          <p:spPr>
            <a:xfrm flipH="1" flipV="1">
              <a:off x="6249574" y="3687560"/>
              <a:ext cx="121965" cy="0"/>
            </a:xfrm>
            <a:prstGeom prst="line">
              <a:avLst/>
            </a:prstGeom>
            <a:ln w="5715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2" name="Group 481">
            <a:extLst>
              <a:ext uri="{FF2B5EF4-FFF2-40B4-BE49-F238E27FC236}">
                <a16:creationId xmlns:a16="http://schemas.microsoft.com/office/drawing/2014/main" id="{F721D63D-46C8-8DDA-9097-7692437EC0FE}"/>
              </a:ext>
            </a:extLst>
          </p:cNvPr>
          <p:cNvGrpSpPr/>
          <p:nvPr/>
        </p:nvGrpSpPr>
        <p:grpSpPr>
          <a:xfrm>
            <a:off x="7685590" y="4427042"/>
            <a:ext cx="599285" cy="120728"/>
            <a:chOff x="7685590" y="4427042"/>
            <a:chExt cx="599285" cy="120728"/>
          </a:xfrm>
        </p:grpSpPr>
        <p:cxnSp>
          <p:nvCxnSpPr>
            <p:cNvPr id="483" name="Straight Arrow Connector 482">
              <a:extLst>
                <a:ext uri="{FF2B5EF4-FFF2-40B4-BE49-F238E27FC236}">
                  <a16:creationId xmlns:a16="http://schemas.microsoft.com/office/drawing/2014/main" id="{C9D6EC79-4F17-AC2B-2947-F19433897C20}"/>
                </a:ext>
              </a:extLst>
            </p:cNvPr>
            <p:cNvCxnSpPr>
              <a:cxnSpLocks/>
            </p:cNvCxnSpPr>
            <p:nvPr/>
          </p:nvCxnSpPr>
          <p:spPr>
            <a:xfrm>
              <a:off x="7983123" y="4427042"/>
              <a:ext cx="301752" cy="1490"/>
            </a:xfrm>
            <a:prstGeom prst="straightConnector1">
              <a:avLst/>
            </a:prstGeom>
            <a:ln w="57150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4" name="Freeform 483">
              <a:extLst>
                <a:ext uri="{FF2B5EF4-FFF2-40B4-BE49-F238E27FC236}">
                  <a16:creationId xmlns:a16="http://schemas.microsoft.com/office/drawing/2014/main" id="{5C589544-D26A-D297-D9CD-CE51EA9CDDA4}"/>
                </a:ext>
              </a:extLst>
            </p:cNvPr>
            <p:cNvSpPr/>
            <p:nvPr/>
          </p:nvSpPr>
          <p:spPr>
            <a:xfrm>
              <a:off x="7685590" y="4433105"/>
              <a:ext cx="405114" cy="114665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5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5" name="TextBox 484">
            <a:extLst>
              <a:ext uri="{FF2B5EF4-FFF2-40B4-BE49-F238E27FC236}">
                <a16:creationId xmlns:a16="http://schemas.microsoft.com/office/drawing/2014/main" id="{52953EF6-52C5-553E-A4C1-CB9F7240A509}"/>
              </a:ext>
            </a:extLst>
          </p:cNvPr>
          <p:cNvSpPr txBox="1"/>
          <p:nvPr/>
        </p:nvSpPr>
        <p:spPr>
          <a:xfrm>
            <a:off x="6277443" y="1060450"/>
            <a:ext cx="2541732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ALU computes</a:t>
            </a:r>
            <a:b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</a:b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address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alu =</a:t>
            </a:r>
            <a:b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R[rs1] + </a:t>
            </a:r>
            <a:r>
              <a:rPr lang="en-US" sz="18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323B4C-A94E-C392-3153-19510B92F7E5}"/>
              </a:ext>
            </a:extLst>
          </p:cNvPr>
          <p:cNvSpPr txBox="1"/>
          <p:nvPr/>
        </p:nvSpPr>
        <p:spPr>
          <a:xfrm>
            <a:off x="8331951" y="998582"/>
            <a:ext cx="2356549" cy="622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800" dirty="0">
                <a:solidFill>
                  <a:schemeClr val="accent6"/>
                </a:solidFill>
                <a:latin typeface="18 VAG Rounded Light   02390" pitchFamily="2" charset="0"/>
              </a:rPr>
              <a:t>Read memory at address </a:t>
            </a:r>
            <a:r>
              <a:rPr lang="en-US" sz="18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alu</a:t>
            </a:r>
            <a:r>
              <a:rPr lang="en-US" sz="1800" dirty="0">
                <a:solidFill>
                  <a:schemeClr val="accent6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35BFB5F-995D-EB66-0D62-B6C5F45B6733}"/>
              </a:ext>
            </a:extLst>
          </p:cNvPr>
          <p:cNvGrpSpPr/>
          <p:nvPr/>
        </p:nvGrpSpPr>
        <p:grpSpPr>
          <a:xfrm>
            <a:off x="8868629" y="3703397"/>
            <a:ext cx="1685023" cy="260828"/>
            <a:chOff x="8868629" y="3703397"/>
            <a:chExt cx="1685023" cy="260828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5D35316-16B3-0A36-B46A-8ADED7F2B942}"/>
                </a:ext>
              </a:extLst>
            </p:cNvPr>
            <p:cNvCxnSpPr>
              <a:cxnSpLocks/>
            </p:cNvCxnSpPr>
            <p:nvPr/>
          </p:nvCxnSpPr>
          <p:spPr>
            <a:xfrm>
              <a:off x="8868629" y="3964225"/>
              <a:ext cx="297442" cy="0"/>
            </a:xfrm>
            <a:prstGeom prst="straightConnector1">
              <a:avLst/>
            </a:prstGeom>
            <a:ln w="57150">
              <a:solidFill>
                <a:schemeClr val="accent6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B34334F-8E9E-2D9F-B6FE-C1B8EDEFC8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50196" y="3703397"/>
              <a:ext cx="403456" cy="7631"/>
            </a:xfrm>
            <a:prstGeom prst="straightConnector1">
              <a:avLst/>
            </a:prstGeom>
            <a:ln w="57150">
              <a:solidFill>
                <a:schemeClr val="accent6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529D5D7B-7713-3B6E-90AB-832A34667DFB}"/>
              </a:ext>
            </a:extLst>
          </p:cNvPr>
          <p:cNvSpPr txBox="1"/>
          <p:nvPr/>
        </p:nvSpPr>
        <p:spPr>
          <a:xfrm>
            <a:off x="10229952" y="998582"/>
            <a:ext cx="19071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4"/>
                </a:solidFill>
                <a:latin typeface="18 VAG Rounded Light   02390" pitchFamily="2" charset="0"/>
              </a:rPr>
              <a:t>Write loaded memory value </a:t>
            </a:r>
            <a:r>
              <a:rPr lang="en-US" sz="20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</a:t>
            </a:r>
            <a:r>
              <a:rPr lang="en-US" sz="2000" dirty="0">
                <a:solidFill>
                  <a:schemeClr val="accent4"/>
                </a:solidFill>
                <a:latin typeface="18 VAG Rounded Light   02390" pitchFamily="2" charset="0"/>
              </a:rPr>
              <a:t> to register.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540BE0F-D63A-7C14-B5C8-8E723C3449A4}"/>
              </a:ext>
            </a:extLst>
          </p:cNvPr>
          <p:cNvGrpSpPr/>
          <p:nvPr/>
        </p:nvGrpSpPr>
        <p:grpSpPr>
          <a:xfrm>
            <a:off x="3790286" y="2375192"/>
            <a:ext cx="7347065" cy="1329829"/>
            <a:chOff x="3790286" y="2375192"/>
            <a:chExt cx="7347065" cy="1329829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0AEE722-0AFE-EB3C-1DAA-F54DA7C5B7C0}"/>
                </a:ext>
              </a:extLst>
            </p:cNvPr>
            <p:cNvGrpSpPr/>
            <p:nvPr/>
          </p:nvGrpSpPr>
          <p:grpSpPr>
            <a:xfrm>
              <a:off x="3790286" y="2375192"/>
              <a:ext cx="7347065" cy="1031999"/>
              <a:chOff x="3790286" y="2375192"/>
              <a:chExt cx="7347065" cy="1031999"/>
            </a:xfrm>
            <a:effectLst/>
          </p:grpSpPr>
          <p:cxnSp>
            <p:nvCxnSpPr>
              <p:cNvPr id="34" name="Elbow Connector 33">
                <a:extLst>
                  <a:ext uri="{FF2B5EF4-FFF2-40B4-BE49-F238E27FC236}">
                    <a16:creationId xmlns:a16="http://schemas.microsoft.com/office/drawing/2014/main" id="{4AFC769F-E581-8F8F-F849-DAF7095CD23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970539" y="2216906"/>
                <a:ext cx="657210" cy="993002"/>
              </a:xfrm>
              <a:prstGeom prst="bentConnector2">
                <a:avLst/>
              </a:prstGeom>
              <a:ln w="57150">
                <a:solidFill>
                  <a:schemeClr val="accent4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Connector 485">
                <a:extLst>
                  <a:ext uri="{FF2B5EF4-FFF2-40B4-BE49-F238E27FC236}">
                    <a16:creationId xmlns:a16="http://schemas.microsoft.com/office/drawing/2014/main" id="{CC812B2C-EB71-B683-A09A-550A7EF00344}"/>
                  </a:ext>
                </a:extLst>
              </p:cNvPr>
              <p:cNvCxnSpPr/>
              <p:nvPr/>
            </p:nvCxnSpPr>
            <p:spPr>
              <a:xfrm>
                <a:off x="3790286" y="2384802"/>
                <a:ext cx="7334708" cy="0"/>
              </a:xfrm>
              <a:prstGeom prst="line">
                <a:avLst/>
              </a:prstGeom>
              <a:ln w="57150">
                <a:solidFill>
                  <a:schemeClr val="accent4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Elbow Connector 486">
                <a:extLst>
                  <a:ext uri="{FF2B5EF4-FFF2-40B4-BE49-F238E27FC236}">
                    <a16:creationId xmlns:a16="http://schemas.microsoft.com/office/drawing/2014/main" id="{D0AF2832-77D8-8D64-0526-C846C2F1439A}"/>
                  </a:ext>
                </a:extLst>
              </p:cNvPr>
              <p:cNvCxnSpPr>
                <a:cxnSpLocks/>
                <a:stCxn id="323" idx="0"/>
              </p:cNvCxnSpPr>
              <p:nvPr/>
            </p:nvCxnSpPr>
            <p:spPr>
              <a:xfrm flipV="1">
                <a:off x="10817058" y="2375192"/>
                <a:ext cx="320293" cy="1031999"/>
              </a:xfrm>
              <a:prstGeom prst="bentConnector2">
                <a:avLst/>
              </a:prstGeom>
              <a:ln w="57150">
                <a:solidFill>
                  <a:schemeClr val="accent4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CC316F48-37CE-3C9F-EAAC-BF0675460DAD}"/>
                </a:ext>
              </a:extLst>
            </p:cNvPr>
            <p:cNvSpPr/>
            <p:nvPr/>
          </p:nvSpPr>
          <p:spPr>
            <a:xfrm>
              <a:off x="10489131" y="3420761"/>
              <a:ext cx="403447" cy="284260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4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8" name="TextBox 487">
            <a:extLst>
              <a:ext uri="{FF2B5EF4-FFF2-40B4-BE49-F238E27FC236}">
                <a16:creationId xmlns:a16="http://schemas.microsoft.com/office/drawing/2014/main" id="{CB325B06-BDC9-C34D-2900-1BD979E8FB3F}"/>
              </a:ext>
            </a:extLst>
          </p:cNvPr>
          <p:cNvSpPr txBox="1"/>
          <p:nvPr/>
        </p:nvSpPr>
        <p:spPr>
          <a:xfrm>
            <a:off x="655210" y="5562420"/>
            <a:ext cx="901272" cy="4863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PCSel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2"/>
                </a:solidFill>
                <a:latin typeface="18 VAG Rounded Light   02390" pitchFamily="2" charset="0"/>
              </a:rPr>
              <a:t>not taken</a:t>
            </a: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5BA64A70-17C2-52DD-A87A-DE50F10013D1}"/>
              </a:ext>
            </a:extLst>
          </p:cNvPr>
          <p:cNvSpPr txBox="1"/>
          <p:nvPr/>
        </p:nvSpPr>
        <p:spPr>
          <a:xfrm>
            <a:off x="4070302" y="5553911"/>
            <a:ext cx="806631" cy="5201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1600" dirty="0">
              <a:solidFill>
                <a:schemeClr val="accent5"/>
              </a:solidFill>
              <a:latin typeface="18 VAG Rounded Light   02390" pitchFamily="2" charset="0"/>
            </a:endParaRPr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81ECBD64-18C7-88E3-69B8-E919BE345F1D}"/>
              </a:ext>
            </a:extLst>
          </p:cNvPr>
          <p:cNvSpPr txBox="1"/>
          <p:nvPr/>
        </p:nvSpPr>
        <p:spPr>
          <a:xfrm>
            <a:off x="5335397" y="5556000"/>
            <a:ext cx="885179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RegWEn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dirty="0">
                <a:solidFill>
                  <a:schemeClr val="accent4"/>
                </a:solidFill>
                <a:latin typeface="18 VAG Rounded Light   02390" pitchFamily="2" charset="0"/>
              </a:rPr>
              <a:t>1</a:t>
            </a:r>
          </a:p>
        </p:txBody>
      </p:sp>
      <p:sp>
        <p:nvSpPr>
          <p:cNvPr id="491" name="TextBox 490">
            <a:extLst>
              <a:ext uri="{FF2B5EF4-FFF2-40B4-BE49-F238E27FC236}">
                <a16:creationId xmlns:a16="http://schemas.microsoft.com/office/drawing/2014/main" id="{5065B6B1-4006-09D6-0A69-C8F11CE6F2F0}"/>
              </a:ext>
            </a:extLst>
          </p:cNvPr>
          <p:cNvSpPr txBox="1"/>
          <p:nvPr/>
        </p:nvSpPr>
        <p:spPr>
          <a:xfrm>
            <a:off x="6410974" y="5557569"/>
            <a:ext cx="502061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BrUn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*</a:t>
            </a:r>
          </a:p>
        </p:txBody>
      </p:sp>
      <p:sp>
        <p:nvSpPr>
          <p:cNvPr id="492" name="TextBox 491">
            <a:extLst>
              <a:ext uri="{FF2B5EF4-FFF2-40B4-BE49-F238E27FC236}">
                <a16:creationId xmlns:a16="http://schemas.microsoft.com/office/drawing/2014/main" id="{52770898-3E1D-D0AA-20A3-2176DFE63461}"/>
              </a:ext>
            </a:extLst>
          </p:cNvPr>
          <p:cNvSpPr txBox="1"/>
          <p:nvPr/>
        </p:nvSpPr>
        <p:spPr>
          <a:xfrm>
            <a:off x="7560125" y="5526419"/>
            <a:ext cx="449161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BSel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accent5"/>
                </a:solidFill>
                <a:latin typeface="18 VAG Rounded Light   02390" pitchFamily="2" charset="0"/>
              </a:rPr>
              <a:t>1</a:t>
            </a:r>
          </a:p>
        </p:txBody>
      </p:sp>
      <p:sp>
        <p:nvSpPr>
          <p:cNvPr id="493" name="TextBox 492">
            <a:extLst>
              <a:ext uri="{FF2B5EF4-FFF2-40B4-BE49-F238E27FC236}">
                <a16:creationId xmlns:a16="http://schemas.microsoft.com/office/drawing/2014/main" id="{25E92F6B-2515-3470-7A58-AE9AE35EEECD}"/>
              </a:ext>
            </a:extLst>
          </p:cNvPr>
          <p:cNvSpPr txBox="1"/>
          <p:nvPr/>
        </p:nvSpPr>
        <p:spPr>
          <a:xfrm>
            <a:off x="7955924" y="5518212"/>
            <a:ext cx="460382" cy="408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accent3"/>
                </a:solidFill>
                <a:latin typeface="18 VAG Rounded Light   02390" pitchFamily="2" charset="0"/>
              </a:rPr>
              <a:t>ASel</a:t>
            </a:r>
            <a:endParaRPr lang="en-US" sz="12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200" dirty="0">
                <a:solidFill>
                  <a:schemeClr val="accent1"/>
                </a:solidFill>
                <a:latin typeface="18 VAG Rounded Light   02390" pitchFamily="2" charset="0"/>
              </a:rPr>
              <a:t>0</a:t>
            </a:r>
          </a:p>
        </p:txBody>
      </p:sp>
      <p:sp>
        <p:nvSpPr>
          <p:cNvPr id="494" name="TextBox 493">
            <a:extLst>
              <a:ext uri="{FF2B5EF4-FFF2-40B4-BE49-F238E27FC236}">
                <a16:creationId xmlns:a16="http://schemas.microsoft.com/office/drawing/2014/main" id="{B5F4C436-AF6F-7B4A-08B3-6262F0425264}"/>
              </a:ext>
            </a:extLst>
          </p:cNvPr>
          <p:cNvSpPr txBox="1"/>
          <p:nvPr/>
        </p:nvSpPr>
        <p:spPr>
          <a:xfrm>
            <a:off x="8429817" y="5538557"/>
            <a:ext cx="688971" cy="460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495" name="TextBox 494">
            <a:extLst>
              <a:ext uri="{FF2B5EF4-FFF2-40B4-BE49-F238E27FC236}">
                <a16:creationId xmlns:a16="http://schemas.microsoft.com/office/drawing/2014/main" id="{F2DDDAB5-14FE-E840-9771-172CCE47722E}"/>
              </a:ext>
            </a:extLst>
          </p:cNvPr>
          <p:cNvSpPr txBox="1"/>
          <p:nvPr/>
        </p:nvSpPr>
        <p:spPr>
          <a:xfrm>
            <a:off x="9282643" y="5557569"/>
            <a:ext cx="827470" cy="460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MemRW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6"/>
                </a:solidFill>
                <a:latin typeface="18 VAG Rounded Light   02390" pitchFamily="2" charset="0"/>
              </a:rPr>
              <a:t>Read</a:t>
            </a:r>
          </a:p>
        </p:txBody>
      </p:sp>
      <p:sp>
        <p:nvSpPr>
          <p:cNvPr id="496" name="TextBox 495">
            <a:extLst>
              <a:ext uri="{FF2B5EF4-FFF2-40B4-BE49-F238E27FC236}">
                <a16:creationId xmlns:a16="http://schemas.microsoft.com/office/drawing/2014/main" id="{C7FA354B-5060-62F8-F515-3DBD2A15770F}"/>
              </a:ext>
            </a:extLst>
          </p:cNvPr>
          <p:cNvSpPr txBox="1"/>
          <p:nvPr/>
        </p:nvSpPr>
        <p:spPr>
          <a:xfrm>
            <a:off x="10249476" y="5559045"/>
            <a:ext cx="655950" cy="460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dirty="0" err="1">
                <a:solidFill>
                  <a:schemeClr val="accent3"/>
                </a:solidFill>
                <a:latin typeface="18 VAG Rounded Light   02390" pitchFamily="2" charset="0"/>
              </a:rPr>
              <a:t>WBSel</a:t>
            </a:r>
            <a:endParaRPr lang="en-US" sz="14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400" dirty="0">
                <a:solidFill>
                  <a:schemeClr val="accent4"/>
                </a:solidFill>
                <a:latin typeface="18 VAG Rounded Light   02390" pitchFamily="2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882229351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CS61C-ly-new">
  <a:themeElements>
    <a:clrScheme name="Custom 10">
      <a:dk1>
        <a:srgbClr val="000000"/>
      </a:dk1>
      <a:lt1>
        <a:srgbClr val="FFFFFF"/>
      </a:lt1>
      <a:dk2>
        <a:srgbClr val="002E5D"/>
      </a:dk2>
      <a:lt2>
        <a:srgbClr val="E5DCD1"/>
      </a:lt2>
      <a:accent1>
        <a:srgbClr val="00BDE2"/>
      </a:accent1>
      <a:accent2>
        <a:srgbClr val="C6DAC3"/>
      </a:accent2>
      <a:accent3>
        <a:srgbClr val="FEC016"/>
      </a:accent3>
      <a:accent4>
        <a:srgbClr val="D9E056"/>
      </a:accent4>
      <a:accent5>
        <a:srgbClr val="EB1379"/>
      </a:accent5>
      <a:accent6>
        <a:srgbClr val="A97EFA"/>
      </a:accent6>
      <a:hlink>
        <a:srgbClr val="9ED1FF"/>
      </a:hlink>
      <a:folHlink>
        <a:srgbClr val="93C9F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tailEnd type="triangle" w="lg" len="lg"/>
        </a:ln>
      </a:spPr>
      <a:bodyPr rtlCol="0" anchor="ctr"/>
      <a:lstStyle>
        <a:defPPr algn="ctr">
          <a:defRPr sz="2000" dirty="0">
            <a:solidFill>
              <a:schemeClr val="accent1"/>
            </a:solidFill>
            <a:latin typeface="18 VAG Rounded Light   02390" pitchFamily="2" charset="0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400" dirty="0">
            <a:solidFill>
              <a:schemeClr val="accent1"/>
            </a:solidFill>
            <a:latin typeface="18 VAG Rounded Light   0239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S61C-ly-new" id="{DFFA2BFF-9357-A24D-A947-9735921D71C4}" vid="{3C32BE93-C896-F84B-BEA8-5E6C5AC7E2C8}"/>
    </a:ext>
  </a:extLst>
</a:theme>
</file>

<file path=ppt/theme/theme2.xml><?xml version="1.0" encoding="utf-8"?>
<a:theme xmlns:a="http://schemas.openxmlformats.org/drawingml/2006/main" name="Metro">
  <a:themeElements>
    <a:clrScheme name="Custom 1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134770"/>
      </a:hlink>
      <a:folHlink>
        <a:srgbClr val="7AF8CC"/>
      </a:folHlink>
    </a:clrScheme>
    <a:fontScheme name="Custom 1">
      <a:majorFont>
        <a:latin typeface="VAGRundschriftD"/>
        <a:ea typeface=""/>
        <a:cs typeface=""/>
      </a:majorFont>
      <a:minorFont>
        <a:latin typeface="VAGRundschriftD"/>
        <a:ea typeface=""/>
        <a:cs typeface="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400" dirty="0">
            <a:latin typeface="18 VAG Rounded Thin   55390" pitchFamily="2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CS61C-ly-new</Template>
  <TotalTime>28131</TotalTime>
  <Words>1187</Words>
  <Application>Microsoft Macintosh PowerPoint</Application>
  <PresentationFormat>Widescreen</PresentationFormat>
  <Paragraphs>615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8" baseType="lpstr">
      <vt:lpstr>18 VAG Rounded Black   09390</vt:lpstr>
      <vt:lpstr>18 VAG Rounded Bold   07390</vt:lpstr>
      <vt:lpstr>18 VAG ROUNDED LIGHT   02390</vt:lpstr>
      <vt:lpstr>18 VAG ROUNDED LIGHT   02390</vt:lpstr>
      <vt:lpstr>18 VAG Rounded Thin   55390</vt:lpstr>
      <vt:lpstr>VAG Rundschrift D Light</vt:lpstr>
      <vt:lpstr>VAGRundschriftD</vt:lpstr>
      <vt:lpstr>VAGRundschriftDLig</vt:lpstr>
      <vt:lpstr>Arial</vt:lpstr>
      <vt:lpstr>Calibri</vt:lpstr>
      <vt:lpstr>Corbel</vt:lpstr>
      <vt:lpstr>Courier</vt:lpstr>
      <vt:lpstr>Courier New</vt:lpstr>
      <vt:lpstr>Helvetica</vt:lpstr>
      <vt:lpstr>Helvetica Neue</vt:lpstr>
      <vt:lpstr>Wingdings</vt:lpstr>
      <vt:lpstr>Wingdings 2</vt:lpstr>
      <vt:lpstr>CS61C-ly-new</vt:lpstr>
      <vt:lpstr>Metro</vt:lpstr>
      <vt:lpstr>Tracing the lw Datapath (8/8)</vt:lpstr>
      <vt:lpstr>Tracing the lw Datapath (1/8)</vt:lpstr>
      <vt:lpstr>Tracing the lw Datapath (2/8)</vt:lpstr>
      <vt:lpstr>Tracing the lw Datapath (3/8)</vt:lpstr>
      <vt:lpstr>Tracing the lw Datapath (4/8)</vt:lpstr>
      <vt:lpstr>Tracing the lw Datapath (5/8)</vt:lpstr>
      <vt:lpstr>Tracing the lw Datapath (6/8)</vt:lpstr>
      <vt:lpstr>Tracing the lw Datapath (7/8)</vt:lpstr>
      <vt:lpstr>Tracing the lw Datapath (8/8)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RISC-V (California Gold)</dc:title>
  <dc:creator>Lisa Yan</dc:creator>
  <cp:lastModifiedBy>Lisa Yan</cp:lastModifiedBy>
  <cp:revision>896</cp:revision>
  <cp:lastPrinted>2022-09-30T17:03:13Z</cp:lastPrinted>
  <dcterms:created xsi:type="dcterms:W3CDTF">2022-09-05T20:39:51Z</dcterms:created>
  <dcterms:modified xsi:type="dcterms:W3CDTF">2026-03-26T00:20:09Z</dcterms:modified>
</cp:coreProperties>
</file>